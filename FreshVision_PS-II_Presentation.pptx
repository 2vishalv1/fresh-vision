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0083800" cy="7556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83800" cy="762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1_X7.png"/>
          <p:cNvPicPr>
            <a:picLocks noChangeAspect="1"/>
          </p:cNvPicPr>
          <p:nvPr/>
        </p:nvPicPr>
        <p:blipFill>
          <a:blip r:embed="rId2"/>
          <a:stretch>
            <a:fillRect/>
          </a:stretch>
        </p:blipFill>
        <p:spPr>
          <a:xfrm>
            <a:off x="4686300" y="660400"/>
            <a:ext cx="711200" cy="723900"/>
          </a:xfrm>
          <a:prstGeom prst="rect">
            <a:avLst/>
          </a:prstGeom>
        </p:spPr>
      </p:pic>
      <p:sp>
        <p:nvSpPr>
          <p:cNvPr id="4" name="TextBox 3"/>
          <p:cNvSpPr txBox="1"/>
          <p:nvPr/>
        </p:nvSpPr>
        <p:spPr>
          <a:xfrm>
            <a:off x="584200" y="1625600"/>
            <a:ext cx="8915400" cy="230957"/>
          </a:xfrm>
          <a:prstGeom prst="rect">
            <a:avLst/>
          </a:prstGeom>
          <a:noFill/>
        </p:spPr>
        <p:txBody>
          <a:bodyPr wrap="square" lIns="0" rIns="0" tIns="0" bIns="0" anchor="t">
            <a:spAutoFit/>
          </a:bodyPr>
          <a:lstStyle/>
          <a:p>
            <a:pPr algn="ctr">
              <a:lnSpc>
                <a:spcPct val="124000"/>
              </a:lnSpc>
              <a:spcBef>
                <a:spcPts val="0"/>
              </a:spcBef>
              <a:spcAft>
                <a:spcPts val="0"/>
              </a:spcAft>
            </a:pPr>
            <a:r>
              <a:rPr sz="1100" b="1" i="0">
                <a:solidFill>
                  <a:srgbClr val="666666"/>
                </a:solidFill>
                <a:latin typeface="Calibri"/>
              </a:rPr>
              <a:t>PRACTICE SCHOOL-II   |   PROJECT PRESENTATION</a:t>
            </a:r>
          </a:p>
        </p:txBody>
      </p:sp>
      <p:sp>
        <p:nvSpPr>
          <p:cNvPr id="5" name="TextBox 4"/>
          <p:cNvSpPr txBox="1"/>
          <p:nvPr/>
        </p:nvSpPr>
        <p:spPr>
          <a:xfrm>
            <a:off x="584200" y="1981200"/>
            <a:ext cx="8915400" cy="552704"/>
          </a:xfrm>
          <a:prstGeom prst="rect">
            <a:avLst/>
          </a:prstGeom>
          <a:noFill/>
        </p:spPr>
        <p:txBody>
          <a:bodyPr wrap="square" lIns="0" rIns="0" tIns="0" bIns="0" anchor="t">
            <a:spAutoFit/>
          </a:bodyPr>
          <a:lstStyle/>
          <a:p>
            <a:pPr algn="ctr">
              <a:lnSpc>
                <a:spcPct val="100000"/>
              </a:lnSpc>
              <a:spcBef>
                <a:spcPts val="0"/>
              </a:spcBef>
              <a:spcAft>
                <a:spcPts val="0"/>
              </a:spcAft>
            </a:pPr>
            <a:r>
              <a:rPr sz="3800" b="1" i="0">
                <a:solidFill>
                  <a:srgbClr val="0070C0"/>
                </a:solidFill>
                <a:latin typeface="Calibri"/>
              </a:rPr>
              <a:t>FRESHVISION</a:t>
            </a:r>
          </a:p>
        </p:txBody>
      </p:sp>
      <p:sp>
        <p:nvSpPr>
          <p:cNvPr id="6" name="TextBox 5"/>
          <p:cNvSpPr txBox="1"/>
          <p:nvPr/>
        </p:nvSpPr>
        <p:spPr>
          <a:xfrm>
            <a:off x="1473200" y="2692400"/>
            <a:ext cx="7137400" cy="574893"/>
          </a:xfrm>
          <a:prstGeom prst="rect">
            <a:avLst/>
          </a:prstGeom>
          <a:noFill/>
        </p:spPr>
        <p:txBody>
          <a:bodyPr wrap="square" lIns="0" rIns="0" tIns="0" bIns="0" anchor="t">
            <a:spAutoFit/>
          </a:bodyPr>
          <a:lstStyle/>
          <a:p>
            <a:pPr algn="ctr">
              <a:lnSpc>
                <a:spcPct val="124000"/>
              </a:lnSpc>
              <a:spcBef>
                <a:spcPts val="0"/>
              </a:spcBef>
              <a:spcAft>
                <a:spcPts val="0"/>
              </a:spcAft>
            </a:pPr>
            <a:r>
              <a:rPr sz="1600" b="0" i="0">
                <a:solidFill>
                  <a:srgbClr val="1A1A1A"/>
                </a:solidFill>
                <a:latin typeface="Calibri"/>
              </a:rPr>
              <a:t>Identification and 5-Level Classification of Fruits and Vegetables using Machine Learning</a:t>
            </a:r>
          </a:p>
        </p:txBody>
      </p:sp>
      <p:cxnSp>
        <p:nvCxnSpPr>
          <p:cNvPr id="7" name="Connector 6"/>
          <p:cNvCxnSpPr/>
          <p:nvPr/>
        </p:nvCxnSpPr>
        <p:spPr>
          <a:xfrm>
            <a:off x="4343400" y="3454400"/>
            <a:ext cx="1397000" cy="0"/>
          </a:xfrm>
          <a:prstGeom prst="line">
            <a:avLst/>
          </a:prstGeom>
          <a:ln w="17780">
            <a:solidFill>
              <a:srgbClr val="0070C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84200" y="3708400"/>
            <a:ext cx="8915400" cy="547684"/>
          </a:xfrm>
          <a:prstGeom prst="rect">
            <a:avLst/>
          </a:prstGeom>
          <a:noFill/>
        </p:spPr>
        <p:txBody>
          <a:bodyPr wrap="square" lIns="0" rIns="0" tIns="0" bIns="0" anchor="t">
            <a:spAutoFit/>
          </a:bodyPr>
          <a:lstStyle/>
          <a:p>
            <a:pPr algn="ctr">
              <a:lnSpc>
                <a:spcPct val="124000"/>
              </a:lnSpc>
              <a:spcBef>
                <a:spcPts val="0"/>
              </a:spcBef>
              <a:spcAft>
                <a:spcPts val="600"/>
              </a:spcAft>
            </a:pPr>
            <a:r>
              <a:rPr sz="1050" b="0" i="0">
                <a:solidFill>
                  <a:srgbClr val="666666"/>
                </a:solidFill>
                <a:latin typeface="Calibri"/>
              </a:rPr>
              <a:t>Submitted by</a:t>
            </a:r>
          </a:p>
          <a:p>
            <a:pPr algn="ctr">
              <a:lnSpc>
                <a:spcPct val="124000"/>
              </a:lnSpc>
              <a:spcBef>
                <a:spcPts val="0"/>
              </a:spcBef>
              <a:spcAft>
                <a:spcPts val="0"/>
              </a:spcAft>
            </a:pPr>
            <a:r>
              <a:rPr sz="1500" b="1" i="0">
                <a:solidFill>
                  <a:srgbClr val="1A1A1A"/>
                </a:solidFill>
                <a:latin typeface="Calibri"/>
              </a:rPr>
              <a:t>Vishal Verma</a:t>
            </a:r>
            <a:r>
              <a:rPr sz="1500" b="0" i="0">
                <a:solidFill>
                  <a:srgbClr val="303030"/>
                </a:solidFill>
                <a:latin typeface="Calibri"/>
              </a:rPr>
              <a:t>  (240691)</a:t>
            </a:r>
            <a:r>
              <a:rPr sz="1500" b="0" i="0">
                <a:solidFill>
                  <a:srgbClr val="303030"/>
                </a:solidFill>
                <a:latin typeface="Calibri"/>
              </a:rPr>
              <a:t>          </a:t>
            </a:r>
            <a:r>
              <a:rPr sz="1500" b="1" i="0">
                <a:solidFill>
                  <a:srgbClr val="1A1A1A"/>
                </a:solidFill>
                <a:latin typeface="Calibri"/>
              </a:rPr>
              <a:t>Harshul Saini</a:t>
            </a:r>
          </a:p>
        </p:txBody>
      </p:sp>
      <p:sp>
        <p:nvSpPr>
          <p:cNvPr id="9" name="TextBox 8"/>
          <p:cNvSpPr txBox="1"/>
          <p:nvPr/>
        </p:nvSpPr>
        <p:spPr>
          <a:xfrm>
            <a:off x="584200" y="4521200"/>
            <a:ext cx="8915400" cy="780674"/>
          </a:xfrm>
          <a:prstGeom prst="rect">
            <a:avLst/>
          </a:prstGeom>
          <a:noFill/>
        </p:spPr>
        <p:txBody>
          <a:bodyPr wrap="square" lIns="0" rIns="0" tIns="0" bIns="0" anchor="t">
            <a:spAutoFit/>
          </a:bodyPr>
          <a:lstStyle/>
          <a:p>
            <a:pPr algn="ctr">
              <a:lnSpc>
                <a:spcPct val="124000"/>
              </a:lnSpc>
              <a:spcBef>
                <a:spcPts val="0"/>
              </a:spcBef>
              <a:spcAft>
                <a:spcPts val="600"/>
              </a:spcAft>
            </a:pPr>
            <a:r>
              <a:rPr sz="1050" b="0" i="0">
                <a:solidFill>
                  <a:srgbClr val="666666"/>
                </a:solidFill>
                <a:latin typeface="Calibri"/>
              </a:rPr>
              <a:t>Under the supervision of</a:t>
            </a:r>
          </a:p>
          <a:p>
            <a:pPr algn="ctr">
              <a:lnSpc>
                <a:spcPct val="124000"/>
              </a:lnSpc>
              <a:spcBef>
                <a:spcPts val="0"/>
              </a:spcBef>
              <a:spcAft>
                <a:spcPts val="400"/>
              </a:spcAft>
            </a:pPr>
            <a:r>
              <a:rPr sz="1500" b="1" i="0">
                <a:solidFill>
                  <a:srgbClr val="1A1A1A"/>
                </a:solidFill>
                <a:latin typeface="Calibri"/>
              </a:rPr>
              <a:t>Dr. Aurobindo Behera</a:t>
            </a:r>
          </a:p>
          <a:p>
            <a:pPr algn="ctr">
              <a:lnSpc>
                <a:spcPct val="124000"/>
              </a:lnSpc>
              <a:spcBef>
                <a:spcPts val="0"/>
              </a:spcBef>
              <a:spcAft>
                <a:spcPts val="0"/>
              </a:spcAft>
            </a:pPr>
            <a:r>
              <a:rPr sz="1100" b="0" i="0">
                <a:solidFill>
                  <a:srgbClr val="303030"/>
                </a:solidFill>
                <a:latin typeface="Calibri"/>
              </a:rPr>
              <a:t>Department of Computer Science and Engineering (AI/ML)</a:t>
            </a:r>
          </a:p>
        </p:txBody>
      </p:sp>
      <p:cxnSp>
        <p:nvCxnSpPr>
          <p:cNvPr id="10" name="Connector 9"/>
          <p:cNvCxnSpPr/>
          <p:nvPr/>
        </p:nvCxnSpPr>
        <p:spPr>
          <a:xfrm>
            <a:off x="3124200" y="5511800"/>
            <a:ext cx="3835400" cy="0"/>
          </a:xfrm>
          <a:prstGeom prst="line">
            <a:avLst/>
          </a:prstGeom>
          <a:ln w="11430">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4200" y="5715000"/>
            <a:ext cx="8915400" cy="774334"/>
          </a:xfrm>
          <a:prstGeom prst="rect">
            <a:avLst/>
          </a:prstGeom>
          <a:noFill/>
        </p:spPr>
        <p:txBody>
          <a:bodyPr wrap="square" lIns="0" rIns="0" tIns="0" bIns="0" anchor="t">
            <a:spAutoFit/>
          </a:bodyPr>
          <a:lstStyle/>
          <a:p>
            <a:pPr algn="ctr">
              <a:lnSpc>
                <a:spcPct val="124000"/>
              </a:lnSpc>
              <a:spcBef>
                <a:spcPts val="0"/>
              </a:spcBef>
              <a:spcAft>
                <a:spcPts val="400"/>
              </a:spcAft>
            </a:pPr>
            <a:r>
              <a:rPr sz="1250" b="1" i="0">
                <a:solidFill>
                  <a:srgbClr val="1A1A1A"/>
                </a:solidFill>
                <a:latin typeface="Calibri"/>
              </a:rPr>
              <a:t>School of Engineering and Technology</a:t>
            </a:r>
          </a:p>
          <a:p>
            <a:pPr algn="ctr">
              <a:lnSpc>
                <a:spcPct val="124000"/>
              </a:lnSpc>
              <a:spcBef>
                <a:spcPts val="0"/>
              </a:spcBef>
              <a:spcAft>
                <a:spcPts val="800"/>
              </a:spcAft>
            </a:pPr>
            <a:r>
              <a:rPr sz="1100" b="0" i="0">
                <a:solidFill>
                  <a:srgbClr val="303030"/>
                </a:solidFill>
                <a:latin typeface="Calibri"/>
              </a:rPr>
              <a:t>BML Munjal University, Haryana 122413, India</a:t>
            </a:r>
          </a:p>
          <a:p>
            <a:pPr algn="ctr">
              <a:lnSpc>
                <a:spcPct val="124000"/>
              </a:lnSpc>
              <a:spcBef>
                <a:spcPts val="0"/>
              </a:spcBef>
              <a:spcAft>
                <a:spcPts val="0"/>
              </a:spcAft>
            </a:pPr>
            <a:r>
              <a:rPr sz="1100" b="1" i="0">
                <a:solidFill>
                  <a:srgbClr val="666666"/>
                </a:solidFill>
                <a:latin typeface="Calibri"/>
              </a:rPr>
              <a:t>August 2026</a:t>
            </a:r>
          </a:p>
        </p:txBody>
      </p:sp>
      <p:sp>
        <p:nvSpPr>
          <p:cNvPr id="12" name="Rectangle 11"/>
          <p:cNvSpPr/>
          <p:nvPr/>
        </p:nvSpPr>
        <p:spPr>
          <a:xfrm>
            <a:off x="0" y="7480300"/>
            <a:ext cx="10083800" cy="762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PS-II STATION AND PROJECT OVERVIEW</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2</a:t>
            </a:r>
          </a:p>
        </p:txBody>
      </p:sp>
      <p:sp>
        <p:nvSpPr>
          <p:cNvPr id="7" name="Rectangle 6"/>
          <p:cNvSpPr/>
          <p:nvPr/>
        </p:nvSpPr>
        <p:spPr>
          <a:xfrm>
            <a:off x="584200" y="1270000"/>
            <a:ext cx="4318000" cy="2197668"/>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181600" y="1270000"/>
            <a:ext cx="4318000" cy="2197668"/>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1447800"/>
            <a:ext cx="3911600" cy="1842068"/>
          </a:xfrm>
          <a:prstGeom prst="rect">
            <a:avLst/>
          </a:prstGeom>
          <a:noFill/>
        </p:spPr>
        <p:txBody>
          <a:bodyPr wrap="square" lIns="0" rIns="0" tIns="0" bIns="0" anchor="t">
            <a:spAutoFit/>
          </a:bodyPr>
          <a:lstStyle/>
          <a:p>
            <a:pPr algn="l">
              <a:lnSpc>
                <a:spcPct val="124000"/>
              </a:lnSpc>
              <a:spcBef>
                <a:spcPts val="0"/>
              </a:spcBef>
              <a:spcAft>
                <a:spcPts val="1000"/>
              </a:spcAft>
            </a:pPr>
            <a:r>
              <a:rPr sz="950" b="1" i="0">
                <a:solidFill>
                  <a:srgbClr val="0070C0"/>
                </a:solidFill>
                <a:latin typeface="Calibri"/>
              </a:rPr>
              <a:t>PS-II STATION</a:t>
            </a:r>
          </a:p>
          <a:p>
            <a:pPr algn="l">
              <a:lnSpc>
                <a:spcPct val="124000"/>
              </a:lnSpc>
              <a:spcBef>
                <a:spcPts val="0"/>
              </a:spcBef>
              <a:spcAft>
                <a:spcPts val="800"/>
              </a:spcAft>
            </a:pPr>
            <a:r>
              <a:rPr sz="1100" b="0" i="0">
                <a:solidFill>
                  <a:srgbClr val="666666"/>
                </a:solidFill>
                <a:latin typeface="Calibri"/>
              </a:rPr>
              <a:t>Station   </a:t>
            </a:r>
            <a:r>
              <a:rPr sz="1100" b="1" i="0">
                <a:solidFill>
                  <a:srgbClr val="1A1A1A"/>
                </a:solidFill>
                <a:latin typeface="Calibri"/>
              </a:rPr>
              <a:t>BML Munjal University</a:t>
            </a:r>
          </a:p>
          <a:p>
            <a:pPr algn="l">
              <a:lnSpc>
                <a:spcPct val="124000"/>
              </a:lnSpc>
              <a:spcBef>
                <a:spcPts val="0"/>
              </a:spcBef>
              <a:spcAft>
                <a:spcPts val="800"/>
              </a:spcAft>
            </a:pPr>
            <a:r>
              <a:rPr sz="1100" b="0" i="0">
                <a:solidFill>
                  <a:srgbClr val="666666"/>
                </a:solidFill>
                <a:latin typeface="Calibri"/>
              </a:rPr>
              <a:t>Department   </a:t>
            </a:r>
            <a:r>
              <a:rPr sz="1100" b="1" i="0">
                <a:solidFill>
                  <a:srgbClr val="1A1A1A"/>
                </a:solidFill>
                <a:latin typeface="Calibri"/>
              </a:rPr>
              <a:t>Computer Science and Engineering (AI/ML)</a:t>
            </a:r>
          </a:p>
          <a:p>
            <a:pPr algn="l">
              <a:lnSpc>
                <a:spcPct val="124000"/>
              </a:lnSpc>
              <a:spcBef>
                <a:spcPts val="0"/>
              </a:spcBef>
              <a:spcAft>
                <a:spcPts val="800"/>
              </a:spcAft>
            </a:pPr>
            <a:r>
              <a:rPr sz="1100" b="0" i="0">
                <a:solidFill>
                  <a:srgbClr val="666666"/>
                </a:solidFill>
                <a:latin typeface="Calibri"/>
              </a:rPr>
              <a:t>Supervisor   </a:t>
            </a:r>
            <a:r>
              <a:rPr sz="1100" b="1" i="0">
                <a:solidFill>
                  <a:srgbClr val="1A1A1A"/>
                </a:solidFill>
                <a:latin typeface="Calibri"/>
              </a:rPr>
              <a:t>Dr. Aurobindo Behera</a:t>
            </a:r>
          </a:p>
          <a:p>
            <a:pPr algn="l">
              <a:lnSpc>
                <a:spcPct val="124000"/>
              </a:lnSpc>
              <a:spcBef>
                <a:spcPts val="0"/>
              </a:spcBef>
              <a:spcAft>
                <a:spcPts val="800"/>
              </a:spcAft>
            </a:pPr>
            <a:r>
              <a:rPr sz="1100" b="0" i="0">
                <a:solidFill>
                  <a:srgbClr val="666666"/>
                </a:solidFill>
                <a:latin typeface="Calibri"/>
              </a:rPr>
              <a:t>Nature of work   </a:t>
            </a:r>
            <a:r>
              <a:rPr sz="1100" b="1" i="0">
                <a:solidFill>
                  <a:srgbClr val="1A1A1A"/>
                </a:solidFill>
                <a:latin typeface="Calibri"/>
              </a:rPr>
              <a:t>Image-based produce quality assessment using deep learning</a:t>
            </a:r>
          </a:p>
        </p:txBody>
      </p:sp>
      <p:sp>
        <p:nvSpPr>
          <p:cNvPr id="10" name="TextBox 9"/>
          <p:cNvSpPr txBox="1"/>
          <p:nvPr/>
        </p:nvSpPr>
        <p:spPr>
          <a:xfrm>
            <a:off x="5384800" y="1447800"/>
            <a:ext cx="3911600" cy="1538284"/>
          </a:xfrm>
          <a:prstGeom prst="rect">
            <a:avLst/>
          </a:prstGeom>
          <a:noFill/>
        </p:spPr>
        <p:txBody>
          <a:bodyPr wrap="square" lIns="0" rIns="0" tIns="0" bIns="0" anchor="t">
            <a:spAutoFit/>
          </a:bodyPr>
          <a:lstStyle/>
          <a:p>
            <a:pPr algn="l">
              <a:lnSpc>
                <a:spcPct val="124000"/>
              </a:lnSpc>
              <a:spcBef>
                <a:spcPts val="0"/>
              </a:spcBef>
              <a:spcAft>
                <a:spcPts val="1000"/>
              </a:spcAft>
            </a:pPr>
            <a:r>
              <a:rPr sz="950" b="1" i="0">
                <a:solidFill>
                  <a:srgbClr val="0070C0"/>
                </a:solidFill>
                <a:latin typeface="Calibri"/>
              </a:rPr>
              <a:t>SCOPE OF THE WORK</a:t>
            </a:r>
          </a:p>
          <a:p>
            <a:pPr algn="l">
              <a:lnSpc>
                <a:spcPct val="124000"/>
              </a:lnSpc>
              <a:spcBef>
                <a:spcPts val="0"/>
              </a:spcBef>
              <a:spcAft>
                <a:spcPts val="900"/>
              </a:spcAft>
            </a:pPr>
            <a:r>
              <a:rPr sz="1100" b="0" i="0">
                <a:solidFill>
                  <a:srgbClr val="303030"/>
                </a:solidFill>
                <a:latin typeface="Calibri"/>
              </a:rPr>
              <a:t>External, image-based visual assessment only. Internal quality such as sugar content or firmness is not covered, since that would need destructive testing or a different sensing approach.</a:t>
            </a:r>
          </a:p>
          <a:p>
            <a:pPr algn="l">
              <a:lnSpc>
                <a:spcPct val="124000"/>
              </a:lnSpc>
              <a:spcBef>
                <a:spcPts val="0"/>
              </a:spcBef>
              <a:spcAft>
                <a:spcPts val="0"/>
              </a:spcAft>
            </a:pPr>
            <a:r>
              <a:rPr sz="1100" b="0" i="0">
                <a:solidFill>
                  <a:srgbClr val="303030"/>
                </a:solidFill>
                <a:latin typeface="Calibri"/>
              </a:rPr>
              <a:t>The 14 produce types are simply the ones present in the source dataset.</a:t>
            </a:r>
          </a:p>
        </p:txBody>
      </p:sp>
      <p:sp>
        <p:nvSpPr>
          <p:cNvPr id="11" name="TextBox 10"/>
          <p:cNvSpPr txBox="1"/>
          <p:nvPr/>
        </p:nvSpPr>
        <p:spPr>
          <a:xfrm>
            <a:off x="584200" y="3797868"/>
            <a:ext cx="89154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HOW THE PROJECT DEVELOPED  —  THREE SUCCESSIVE ATTEMPTS</a:t>
            </a:r>
          </a:p>
        </p:txBody>
      </p:sp>
      <p:sp>
        <p:nvSpPr>
          <p:cNvPr id="12" name="Rectangle 11"/>
          <p:cNvSpPr/>
          <p:nvPr/>
        </p:nvSpPr>
        <p:spPr>
          <a:xfrm>
            <a:off x="584200" y="4139092"/>
            <a:ext cx="2836333" cy="1746443"/>
          </a:xfrm>
          <a:prstGeom prst="rect">
            <a:avLst/>
          </a:prstGeom>
          <a:solidFill>
            <a:srgbClr val="FFFFFF"/>
          </a:solidFill>
          <a:ln w="1143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700" y="4304192"/>
            <a:ext cx="2455333" cy="1228029"/>
          </a:xfrm>
          <a:prstGeom prst="rect">
            <a:avLst/>
          </a:prstGeom>
          <a:noFill/>
        </p:spPr>
        <p:txBody>
          <a:bodyPr wrap="square" lIns="0" rIns="0" tIns="0" bIns="0" anchor="t">
            <a:spAutoFit/>
          </a:bodyPr>
          <a:lstStyle/>
          <a:p>
            <a:pPr algn="l">
              <a:lnSpc>
                <a:spcPct val="124000"/>
              </a:lnSpc>
              <a:spcBef>
                <a:spcPts val="0"/>
              </a:spcBef>
              <a:spcAft>
                <a:spcPts val="700"/>
              </a:spcAft>
            </a:pPr>
            <a:r>
              <a:rPr sz="900" b="1" i="0">
                <a:solidFill>
                  <a:srgbClr val="0070C0"/>
                </a:solidFill>
                <a:latin typeface="Calibri"/>
              </a:rPr>
              <a:t>ATTEMPT 1</a:t>
            </a:r>
          </a:p>
          <a:p>
            <a:pPr algn="l">
              <a:lnSpc>
                <a:spcPct val="114000"/>
              </a:lnSpc>
              <a:spcBef>
                <a:spcPts val="0"/>
              </a:spcBef>
              <a:spcAft>
                <a:spcPts val="600"/>
              </a:spcAft>
            </a:pPr>
            <a:r>
              <a:rPr sz="1250" b="1" i="0">
                <a:solidFill>
                  <a:srgbClr val="1A1A1A"/>
                </a:solidFill>
                <a:latin typeface="Calibri"/>
              </a:rPr>
              <a:t>Unsupervised clustering</a:t>
            </a:r>
          </a:p>
          <a:p>
            <a:pPr algn="l">
              <a:lnSpc>
                <a:spcPct val="126000"/>
              </a:lnSpc>
              <a:spcBef>
                <a:spcPts val="0"/>
              </a:spcBef>
              <a:spcAft>
                <a:spcPts val="1000"/>
              </a:spcAft>
            </a:pPr>
            <a:r>
              <a:rPr sz="1050" b="0" i="0">
                <a:solidFill>
                  <a:srgbClr val="303030"/>
                </a:solidFill>
                <a:latin typeface="Calibri"/>
              </a:rPr>
              <a:t>DBSCAN over EfficientNetB0 features</a:t>
            </a:r>
          </a:p>
          <a:p>
            <a:pPr algn="l">
              <a:lnSpc>
                <a:spcPct val="124000"/>
              </a:lnSpc>
              <a:spcBef>
                <a:spcPts val="0"/>
              </a:spcBef>
              <a:spcAft>
                <a:spcPts val="0"/>
              </a:spcAft>
            </a:pPr>
            <a:r>
              <a:rPr sz="1150" b="1" i="0">
                <a:solidFill>
                  <a:srgbClr val="1A1A1A"/>
                </a:solidFill>
                <a:latin typeface="Calibri"/>
              </a:rPr>
              <a:t>61.64% cluster purity</a:t>
            </a:r>
          </a:p>
        </p:txBody>
      </p:sp>
      <p:sp>
        <p:nvSpPr>
          <p:cNvPr id="14" name="TextBox 13"/>
          <p:cNvSpPr txBox="1"/>
          <p:nvPr/>
        </p:nvSpPr>
        <p:spPr>
          <a:xfrm>
            <a:off x="3445933" y="4898014"/>
            <a:ext cx="152400" cy="263712"/>
          </a:xfrm>
          <a:prstGeom prst="rect">
            <a:avLst/>
          </a:prstGeom>
          <a:noFill/>
        </p:spPr>
        <p:txBody>
          <a:bodyPr wrap="square" lIns="0" rIns="0" tIns="0" bIns="0" anchor="t">
            <a:spAutoFit/>
          </a:bodyPr>
          <a:lstStyle/>
          <a:p>
            <a:pPr algn="ctr">
              <a:lnSpc>
                <a:spcPct val="124000"/>
              </a:lnSpc>
              <a:spcBef>
                <a:spcPts val="0"/>
              </a:spcBef>
              <a:spcAft>
                <a:spcPts val="0"/>
              </a:spcAft>
            </a:pPr>
            <a:r>
              <a:rPr sz="1300" b="1" i="0">
                <a:solidFill>
                  <a:srgbClr val="0070C0"/>
                </a:solidFill>
                <a:latin typeface="Calibri"/>
              </a:rPr>
              <a:t>→</a:t>
            </a:r>
          </a:p>
        </p:txBody>
      </p:sp>
      <p:sp>
        <p:nvSpPr>
          <p:cNvPr id="15" name="Rectangle 14"/>
          <p:cNvSpPr/>
          <p:nvPr/>
        </p:nvSpPr>
        <p:spPr>
          <a:xfrm>
            <a:off x="3623733" y="4139092"/>
            <a:ext cx="2836333" cy="1746443"/>
          </a:xfrm>
          <a:prstGeom prst="rect">
            <a:avLst/>
          </a:prstGeom>
          <a:solidFill>
            <a:srgbClr val="FFFFFF"/>
          </a:solidFill>
          <a:ln w="1143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4233" y="4304192"/>
            <a:ext cx="2455333" cy="1416243"/>
          </a:xfrm>
          <a:prstGeom prst="rect">
            <a:avLst/>
          </a:prstGeom>
          <a:noFill/>
        </p:spPr>
        <p:txBody>
          <a:bodyPr wrap="square" lIns="0" rIns="0" tIns="0" bIns="0" anchor="t">
            <a:spAutoFit/>
          </a:bodyPr>
          <a:lstStyle/>
          <a:p>
            <a:pPr algn="l">
              <a:lnSpc>
                <a:spcPct val="124000"/>
              </a:lnSpc>
              <a:spcBef>
                <a:spcPts val="0"/>
              </a:spcBef>
              <a:spcAft>
                <a:spcPts val="700"/>
              </a:spcAft>
            </a:pPr>
            <a:r>
              <a:rPr sz="900" b="1" i="0">
                <a:solidFill>
                  <a:srgbClr val="0070C0"/>
                </a:solidFill>
                <a:latin typeface="Calibri"/>
              </a:rPr>
              <a:t>ATTEMPT 2</a:t>
            </a:r>
          </a:p>
          <a:p>
            <a:pPr algn="l">
              <a:lnSpc>
                <a:spcPct val="114000"/>
              </a:lnSpc>
              <a:spcBef>
                <a:spcPts val="0"/>
              </a:spcBef>
              <a:spcAft>
                <a:spcPts val="600"/>
              </a:spcAft>
            </a:pPr>
            <a:r>
              <a:rPr sz="1250" b="1" i="0">
                <a:solidFill>
                  <a:srgbClr val="1A1A1A"/>
                </a:solidFill>
                <a:latin typeface="Calibri"/>
              </a:rPr>
              <a:t>Semi-supervised pseudo-labelling</a:t>
            </a:r>
          </a:p>
          <a:p>
            <a:pPr algn="l">
              <a:lnSpc>
                <a:spcPct val="126000"/>
              </a:lnSpc>
              <a:spcBef>
                <a:spcPts val="0"/>
              </a:spcBef>
              <a:spcAft>
                <a:spcPts val="1000"/>
              </a:spcAft>
            </a:pPr>
            <a:r>
              <a:rPr sz="1050" b="0" i="0">
                <a:solidFill>
                  <a:srgbClr val="303030"/>
                </a:solidFill>
                <a:latin typeface="Calibri"/>
              </a:rPr>
              <a:t>900-image labelled seed, confidence ≥ 0.90</a:t>
            </a:r>
          </a:p>
          <a:p>
            <a:pPr algn="l">
              <a:lnSpc>
                <a:spcPct val="124000"/>
              </a:lnSpc>
              <a:spcBef>
                <a:spcPts val="0"/>
              </a:spcBef>
              <a:spcAft>
                <a:spcPts val="0"/>
              </a:spcAft>
            </a:pPr>
            <a:r>
              <a:rPr sz="1150" b="1" i="0">
                <a:solidFill>
                  <a:srgbClr val="1A1A1A"/>
                </a:solidFill>
                <a:latin typeface="Calibri"/>
              </a:rPr>
              <a:t>89.14% test accuracy</a:t>
            </a:r>
          </a:p>
        </p:txBody>
      </p:sp>
      <p:sp>
        <p:nvSpPr>
          <p:cNvPr id="17" name="TextBox 16"/>
          <p:cNvSpPr txBox="1"/>
          <p:nvPr/>
        </p:nvSpPr>
        <p:spPr>
          <a:xfrm>
            <a:off x="6485466" y="4898014"/>
            <a:ext cx="152400" cy="263712"/>
          </a:xfrm>
          <a:prstGeom prst="rect">
            <a:avLst/>
          </a:prstGeom>
          <a:noFill/>
        </p:spPr>
        <p:txBody>
          <a:bodyPr wrap="square" lIns="0" rIns="0" tIns="0" bIns="0" anchor="t">
            <a:spAutoFit/>
          </a:bodyPr>
          <a:lstStyle/>
          <a:p>
            <a:pPr algn="ctr">
              <a:lnSpc>
                <a:spcPct val="124000"/>
              </a:lnSpc>
              <a:spcBef>
                <a:spcPts val="0"/>
              </a:spcBef>
              <a:spcAft>
                <a:spcPts val="0"/>
              </a:spcAft>
            </a:pPr>
            <a:r>
              <a:rPr sz="1300" b="1" i="0">
                <a:solidFill>
                  <a:srgbClr val="0070C0"/>
                </a:solidFill>
                <a:latin typeface="Calibri"/>
              </a:rPr>
              <a:t>→</a:t>
            </a:r>
          </a:p>
        </p:txBody>
      </p:sp>
      <p:sp>
        <p:nvSpPr>
          <p:cNvPr id="18" name="Rectangle 17"/>
          <p:cNvSpPr/>
          <p:nvPr/>
        </p:nvSpPr>
        <p:spPr>
          <a:xfrm>
            <a:off x="6663266" y="4139092"/>
            <a:ext cx="2836333" cy="1746443"/>
          </a:xfrm>
          <a:prstGeom prst="rect">
            <a:avLst/>
          </a:prstGeom>
          <a:solidFill>
            <a:srgbClr val="FFFFFF"/>
          </a:solidFill>
          <a:ln w="2032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3766" y="4304192"/>
            <a:ext cx="2455333" cy="1416243"/>
          </a:xfrm>
          <a:prstGeom prst="rect">
            <a:avLst/>
          </a:prstGeom>
          <a:noFill/>
        </p:spPr>
        <p:txBody>
          <a:bodyPr wrap="square" lIns="0" rIns="0" tIns="0" bIns="0" anchor="t">
            <a:spAutoFit/>
          </a:bodyPr>
          <a:lstStyle/>
          <a:p>
            <a:pPr algn="l">
              <a:lnSpc>
                <a:spcPct val="124000"/>
              </a:lnSpc>
              <a:spcBef>
                <a:spcPts val="0"/>
              </a:spcBef>
              <a:spcAft>
                <a:spcPts val="700"/>
              </a:spcAft>
            </a:pPr>
            <a:r>
              <a:rPr sz="900" b="1" i="0">
                <a:solidFill>
                  <a:srgbClr val="0070C0"/>
                </a:solidFill>
                <a:latin typeface="Calibri"/>
              </a:rPr>
              <a:t>ATTEMPT 3</a:t>
            </a:r>
          </a:p>
          <a:p>
            <a:pPr algn="l">
              <a:lnSpc>
                <a:spcPct val="114000"/>
              </a:lnSpc>
              <a:spcBef>
                <a:spcPts val="0"/>
              </a:spcBef>
              <a:spcAft>
                <a:spcPts val="600"/>
              </a:spcAft>
            </a:pPr>
            <a:r>
              <a:rPr sz="1250" b="1" i="0">
                <a:solidFill>
                  <a:srgbClr val="1A1A1A"/>
                </a:solidFill>
                <a:latin typeface="Calibri"/>
              </a:rPr>
              <a:t>FreshVision — supervised pipeline</a:t>
            </a:r>
          </a:p>
          <a:p>
            <a:pPr algn="l">
              <a:lnSpc>
                <a:spcPct val="126000"/>
              </a:lnSpc>
              <a:spcBef>
                <a:spcPts val="0"/>
              </a:spcBef>
              <a:spcAft>
                <a:spcPts val="1000"/>
              </a:spcAft>
            </a:pPr>
            <a:r>
              <a:rPr sz="1050" b="0" i="0">
                <a:solidFill>
                  <a:srgbClr val="303030"/>
                </a:solidFill>
                <a:latin typeface="Calibri"/>
              </a:rPr>
              <a:t>14-class identifier + 5-level freshness grader</a:t>
            </a:r>
          </a:p>
          <a:p>
            <a:pPr algn="l">
              <a:lnSpc>
                <a:spcPct val="124000"/>
              </a:lnSpc>
              <a:spcBef>
                <a:spcPts val="0"/>
              </a:spcBef>
              <a:spcAft>
                <a:spcPts val="0"/>
              </a:spcAft>
            </a:pPr>
            <a:r>
              <a:rPr sz="1150" b="1" i="0">
                <a:solidFill>
                  <a:srgbClr val="1A1A1A"/>
                </a:solidFill>
                <a:latin typeface="Calibri"/>
              </a:rPr>
              <a:t>97.83%  /  80.41%</a:t>
            </a:r>
          </a:p>
        </p:txBody>
      </p:sp>
      <p:sp>
        <p:nvSpPr>
          <p:cNvPr id="20" name="TextBox 19"/>
          <p:cNvSpPr txBox="1"/>
          <p:nvPr/>
        </p:nvSpPr>
        <p:spPr>
          <a:xfrm>
            <a:off x="584200" y="6088735"/>
            <a:ext cx="89154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0" i="1">
                <a:solidFill>
                  <a:srgbClr val="666666"/>
                </a:solidFill>
                <a:latin typeface="Calibri"/>
              </a:rPr>
              <a:t>Each attempt fed directly into the next — the reasoning behind moving on is itself part of the contribution.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PROBLEM IDENTIFICATION AND RESEARCH GAP</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3</a:t>
            </a:r>
          </a:p>
        </p:txBody>
      </p:sp>
      <p:sp>
        <p:nvSpPr>
          <p:cNvPr id="7" name="TextBox 6"/>
          <p:cNvSpPr txBox="1"/>
          <p:nvPr/>
        </p:nvSpPr>
        <p:spPr>
          <a:xfrm>
            <a:off x="584200" y="1270000"/>
            <a:ext cx="8915400" cy="296468"/>
          </a:xfrm>
          <a:prstGeom prst="rect">
            <a:avLst/>
          </a:prstGeom>
          <a:noFill/>
        </p:spPr>
        <p:txBody>
          <a:bodyPr wrap="square" lIns="0" rIns="0" tIns="0" bIns="0" anchor="t">
            <a:spAutoFit/>
          </a:bodyPr>
          <a:lstStyle/>
          <a:p>
            <a:pPr algn="l">
              <a:lnSpc>
                <a:spcPct val="124000"/>
              </a:lnSpc>
              <a:spcBef>
                <a:spcPts val="0"/>
              </a:spcBef>
              <a:spcAft>
                <a:spcPts val="0"/>
              </a:spcAft>
            </a:pPr>
            <a:r>
              <a:rPr sz="1500" b="1" i="0">
                <a:solidFill>
                  <a:srgbClr val="1A1A1A"/>
                </a:solidFill>
                <a:latin typeface="Calibri"/>
              </a:rPr>
              <a:t>Why automate produce quality checking?</a:t>
            </a:r>
          </a:p>
        </p:txBody>
      </p:sp>
      <p:sp>
        <p:nvSpPr>
          <p:cNvPr id="8" name="TextBox 7"/>
          <p:cNvSpPr txBox="1"/>
          <p:nvPr/>
        </p:nvSpPr>
        <p:spPr>
          <a:xfrm>
            <a:off x="584200" y="1744268"/>
            <a:ext cx="8915400" cy="1840484"/>
          </a:xfrm>
          <a:prstGeom prst="rect">
            <a:avLst/>
          </a:prstGeom>
          <a:noFill/>
        </p:spPr>
        <p:txBody>
          <a:bodyPr wrap="square" lIns="0" rIns="0" tIns="0" bIns="0" anchor="t">
            <a:spAutoFit/>
          </a:bodyPr>
          <a:lstStyle/>
          <a:p>
            <a:pPr algn="l">
              <a:lnSpc>
                <a:spcPct val="124000"/>
              </a:lnSpc>
              <a:spcBef>
                <a:spcPts val="0"/>
              </a:spcBef>
              <a:spcAft>
                <a:spcPts val="900"/>
              </a:spcAft>
            </a:pPr>
            <a:r>
              <a:rPr sz="1250" b="1">
                <a:solidFill>
                  <a:srgbClr val="0070C0"/>
                </a:solidFill>
                <a:latin typeface="Calibri"/>
              </a:rPr>
              <a:t>•   </a:t>
            </a:r>
            <a:r>
              <a:rPr sz="1250" b="0" i="0">
                <a:solidFill>
                  <a:srgbClr val="303030"/>
                </a:solidFill>
                <a:latin typeface="Calibri"/>
              </a:rPr>
              <a:t>At most points in the supply chain, a person still judges freshness by eye — from colour and surface condition.</a:t>
            </a:r>
          </a:p>
          <a:p>
            <a:pPr algn="l">
              <a:lnSpc>
                <a:spcPct val="124000"/>
              </a:lnSpc>
              <a:spcBef>
                <a:spcPts val="0"/>
              </a:spcBef>
              <a:spcAft>
                <a:spcPts val="900"/>
              </a:spcAft>
            </a:pPr>
            <a:r>
              <a:rPr sz="1250" b="1">
                <a:solidFill>
                  <a:srgbClr val="0070C0"/>
                </a:solidFill>
                <a:latin typeface="Calibri"/>
              </a:rPr>
              <a:t>•   </a:t>
            </a:r>
            <a:r>
              <a:rPr sz="1250" b="0" i="0">
                <a:solidFill>
                  <a:srgbClr val="303030"/>
                </a:solidFill>
                <a:latin typeface="Calibri"/>
              </a:rPr>
              <a:t>Graders disagree with each other, the same grader gets less consistent late in a shift, and none of it is fast enough when thousands of items need sorting in a day.</a:t>
            </a:r>
          </a:p>
          <a:p>
            <a:pPr algn="l">
              <a:lnSpc>
                <a:spcPct val="124000"/>
              </a:lnSpc>
              <a:spcBef>
                <a:spcPts val="0"/>
              </a:spcBef>
              <a:spcAft>
                <a:spcPts val="900"/>
              </a:spcAft>
            </a:pPr>
            <a:r>
              <a:rPr sz="1250" b="1">
                <a:solidFill>
                  <a:srgbClr val="0070C0"/>
                </a:solidFill>
                <a:latin typeface="Calibri"/>
              </a:rPr>
              <a:t>•   </a:t>
            </a:r>
            <a:r>
              <a:rPr sz="1250" b="0" i="0">
                <a:solidFill>
                  <a:srgbClr val="303030"/>
                </a:solidFill>
                <a:latin typeface="Calibri"/>
              </a:rPr>
              <a:t>Produce type is an unambiguous label. </a:t>
            </a:r>
            <a:r>
              <a:rPr sz="1250" b="1" i="0">
                <a:solidFill>
                  <a:srgbClr val="1A1A1A"/>
                </a:solidFill>
                <a:latin typeface="Calibri"/>
              </a:rPr>
              <a:t>Freshness is a graded judgement</a:t>
            </a:r>
            <a:r>
              <a:rPr sz="1250" b="0" i="0">
                <a:solidFill>
                  <a:srgbClr val="303030"/>
                </a:solidFill>
                <a:latin typeface="Calibri"/>
              </a:rPr>
              <a:t> — and collecting consistent human freshness labels for tens of thousands of images costs far more than labelling produce type ever would.</a:t>
            </a:r>
          </a:p>
        </p:txBody>
      </p:sp>
      <p:cxnSp>
        <p:nvCxnSpPr>
          <p:cNvPr id="9" name="Connector 8"/>
          <p:cNvCxnSpPr/>
          <p:nvPr/>
        </p:nvCxnSpPr>
        <p:spPr>
          <a:xfrm>
            <a:off x="584200" y="3787952"/>
            <a:ext cx="8915400" cy="0"/>
          </a:xfrm>
          <a:prstGeom prst="line">
            <a:avLst/>
          </a:prstGeom>
          <a:ln w="11430">
            <a:solidFill>
              <a:srgbClr val="DDDDD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84200" y="3965752"/>
            <a:ext cx="89154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RESEARCH GAP</a:t>
            </a:r>
          </a:p>
        </p:txBody>
      </p:sp>
      <p:cxnSp>
        <p:nvCxnSpPr>
          <p:cNvPr id="11" name="Connector 10"/>
          <p:cNvCxnSpPr/>
          <p:nvPr/>
        </p:nvCxnSpPr>
        <p:spPr>
          <a:xfrm>
            <a:off x="584200" y="4306976"/>
            <a:ext cx="89154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5000" y="4357776"/>
            <a:ext cx="3276867"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1A1A1A"/>
                </a:solidFill>
                <a:latin typeface="Calibri"/>
              </a:rPr>
              <a:t>Existing approach</a:t>
            </a:r>
          </a:p>
        </p:txBody>
      </p:sp>
      <p:sp>
        <p:nvSpPr>
          <p:cNvPr id="13" name="TextBox 12"/>
          <p:cNvSpPr txBox="1"/>
          <p:nvPr/>
        </p:nvSpPr>
        <p:spPr>
          <a:xfrm>
            <a:off x="4013467" y="4357776"/>
            <a:ext cx="1118402" cy="326847"/>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Produce
types</a:t>
            </a:r>
          </a:p>
        </p:txBody>
      </p:sp>
      <p:sp>
        <p:nvSpPr>
          <p:cNvPr id="14" name="TextBox 13"/>
          <p:cNvSpPr txBox="1"/>
          <p:nvPr/>
        </p:nvSpPr>
        <p:spPr>
          <a:xfrm>
            <a:off x="5233469" y="4357776"/>
            <a:ext cx="1212248" cy="326847"/>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Freshness
levels</a:t>
            </a:r>
          </a:p>
        </p:txBody>
      </p:sp>
      <p:sp>
        <p:nvSpPr>
          <p:cNvPr id="15" name="TextBox 14"/>
          <p:cNvSpPr txBox="1"/>
          <p:nvPr/>
        </p:nvSpPr>
        <p:spPr>
          <a:xfrm>
            <a:off x="6547317" y="4357776"/>
            <a:ext cx="1399941"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Labelling</a:t>
            </a:r>
          </a:p>
        </p:txBody>
      </p:sp>
      <p:sp>
        <p:nvSpPr>
          <p:cNvPr id="16" name="TextBox 15"/>
          <p:cNvSpPr txBox="1"/>
          <p:nvPr/>
        </p:nvSpPr>
        <p:spPr>
          <a:xfrm>
            <a:off x="8048858" y="4357776"/>
            <a:ext cx="1399941"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Accuracy</a:t>
            </a:r>
          </a:p>
        </p:txBody>
      </p:sp>
      <p:cxnSp>
        <p:nvCxnSpPr>
          <p:cNvPr id="17" name="Connector 16"/>
          <p:cNvCxnSpPr/>
          <p:nvPr/>
        </p:nvCxnSpPr>
        <p:spPr>
          <a:xfrm>
            <a:off x="584200" y="4686706"/>
            <a:ext cx="8915400" cy="0"/>
          </a:xfrm>
          <a:prstGeom prst="line">
            <a:avLst/>
          </a:prstGeom>
          <a:ln w="10160">
            <a:solidFill>
              <a:srgbClr val="1A1A1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5000" y="4737506"/>
            <a:ext cx="3276867"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Amin et al. (2023) — AlexNet</a:t>
            </a:r>
          </a:p>
        </p:txBody>
      </p:sp>
      <p:sp>
        <p:nvSpPr>
          <p:cNvPr id="19" name="TextBox 18"/>
          <p:cNvSpPr txBox="1"/>
          <p:nvPr/>
        </p:nvSpPr>
        <p:spPr>
          <a:xfrm>
            <a:off x="4013467" y="4737506"/>
            <a:ext cx="1118402"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3</a:t>
            </a:r>
          </a:p>
        </p:txBody>
      </p:sp>
      <p:sp>
        <p:nvSpPr>
          <p:cNvPr id="20" name="TextBox 19"/>
          <p:cNvSpPr txBox="1"/>
          <p:nvPr/>
        </p:nvSpPr>
        <p:spPr>
          <a:xfrm>
            <a:off x="5233469" y="4737506"/>
            <a:ext cx="121224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2 (binary)</a:t>
            </a:r>
          </a:p>
        </p:txBody>
      </p:sp>
      <p:sp>
        <p:nvSpPr>
          <p:cNvPr id="21" name="TextBox 20"/>
          <p:cNvSpPr txBox="1"/>
          <p:nvPr/>
        </p:nvSpPr>
        <p:spPr>
          <a:xfrm>
            <a:off x="6547317" y="4737506"/>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Manual</a:t>
            </a:r>
          </a:p>
        </p:txBody>
      </p:sp>
      <p:sp>
        <p:nvSpPr>
          <p:cNvPr id="22" name="TextBox 21"/>
          <p:cNvSpPr txBox="1"/>
          <p:nvPr/>
        </p:nvSpPr>
        <p:spPr>
          <a:xfrm>
            <a:off x="8048858" y="4737506"/>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&gt; 99%</a:t>
            </a:r>
          </a:p>
        </p:txBody>
      </p:sp>
      <p:sp>
        <p:nvSpPr>
          <p:cNvPr id="23" name="TextBox 22"/>
          <p:cNvSpPr txBox="1"/>
          <p:nvPr/>
        </p:nvSpPr>
        <p:spPr>
          <a:xfrm>
            <a:off x="635000" y="4998491"/>
            <a:ext cx="3276867"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Ghosh &amp; Singh (2026) — CNN-LSTM</a:t>
            </a:r>
          </a:p>
        </p:txBody>
      </p:sp>
      <p:sp>
        <p:nvSpPr>
          <p:cNvPr id="24" name="TextBox 23"/>
          <p:cNvSpPr txBox="1"/>
          <p:nvPr/>
        </p:nvSpPr>
        <p:spPr>
          <a:xfrm>
            <a:off x="4013467" y="4998491"/>
            <a:ext cx="1118402"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3</a:t>
            </a:r>
          </a:p>
        </p:txBody>
      </p:sp>
      <p:sp>
        <p:nvSpPr>
          <p:cNvPr id="25" name="TextBox 24"/>
          <p:cNvSpPr txBox="1"/>
          <p:nvPr/>
        </p:nvSpPr>
        <p:spPr>
          <a:xfrm>
            <a:off x="5233469" y="4998491"/>
            <a:ext cx="121224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2 (binary)</a:t>
            </a:r>
          </a:p>
        </p:txBody>
      </p:sp>
      <p:sp>
        <p:nvSpPr>
          <p:cNvPr id="26" name="TextBox 25"/>
          <p:cNvSpPr txBox="1"/>
          <p:nvPr/>
        </p:nvSpPr>
        <p:spPr>
          <a:xfrm>
            <a:off x="6547317" y="4998491"/>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Manual</a:t>
            </a:r>
          </a:p>
        </p:txBody>
      </p:sp>
      <p:sp>
        <p:nvSpPr>
          <p:cNvPr id="27" name="TextBox 26"/>
          <p:cNvSpPr txBox="1"/>
          <p:nvPr/>
        </p:nvSpPr>
        <p:spPr>
          <a:xfrm>
            <a:off x="8048858" y="4998491"/>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98.9%</a:t>
            </a:r>
          </a:p>
        </p:txBody>
      </p:sp>
      <p:sp>
        <p:nvSpPr>
          <p:cNvPr id="28" name="TextBox 27"/>
          <p:cNvSpPr txBox="1"/>
          <p:nvPr/>
        </p:nvSpPr>
        <p:spPr>
          <a:xfrm>
            <a:off x="635000" y="5259476"/>
            <a:ext cx="3276867"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Fahad et al. (2022) — VGG-16 / YOLOv5</a:t>
            </a:r>
          </a:p>
        </p:txBody>
      </p:sp>
      <p:sp>
        <p:nvSpPr>
          <p:cNvPr id="29" name="TextBox 28"/>
          <p:cNvSpPr txBox="1"/>
          <p:nvPr/>
        </p:nvSpPr>
        <p:spPr>
          <a:xfrm>
            <a:off x="4013467" y="5259476"/>
            <a:ext cx="1118402"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11</a:t>
            </a:r>
          </a:p>
        </p:txBody>
      </p:sp>
      <p:sp>
        <p:nvSpPr>
          <p:cNvPr id="30" name="TextBox 29"/>
          <p:cNvSpPr txBox="1"/>
          <p:nvPr/>
        </p:nvSpPr>
        <p:spPr>
          <a:xfrm>
            <a:off x="5233469" y="5259476"/>
            <a:ext cx="121224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3</a:t>
            </a:r>
          </a:p>
        </p:txBody>
      </p:sp>
      <p:sp>
        <p:nvSpPr>
          <p:cNvPr id="31" name="TextBox 30"/>
          <p:cNvSpPr txBox="1"/>
          <p:nvPr/>
        </p:nvSpPr>
        <p:spPr>
          <a:xfrm>
            <a:off x="6547317" y="5259476"/>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Fully manual</a:t>
            </a:r>
          </a:p>
        </p:txBody>
      </p:sp>
      <p:sp>
        <p:nvSpPr>
          <p:cNvPr id="32" name="TextBox 31"/>
          <p:cNvSpPr txBox="1"/>
          <p:nvPr/>
        </p:nvSpPr>
        <p:spPr>
          <a:xfrm>
            <a:off x="8048858" y="5259476"/>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82–84%</a:t>
            </a:r>
          </a:p>
        </p:txBody>
      </p:sp>
      <p:sp>
        <p:nvSpPr>
          <p:cNvPr id="33" name="TextBox 32"/>
          <p:cNvSpPr txBox="1"/>
          <p:nvPr/>
        </p:nvSpPr>
        <p:spPr>
          <a:xfrm>
            <a:off x="635000" y="5520461"/>
            <a:ext cx="3276867" cy="20335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A1A1A"/>
                </a:solidFill>
                <a:latin typeface="Calibri"/>
              </a:rPr>
              <a:t>This work — FreshVision</a:t>
            </a:r>
          </a:p>
        </p:txBody>
      </p:sp>
      <p:sp>
        <p:nvSpPr>
          <p:cNvPr id="34" name="TextBox 33"/>
          <p:cNvSpPr txBox="1"/>
          <p:nvPr/>
        </p:nvSpPr>
        <p:spPr>
          <a:xfrm>
            <a:off x="4013467" y="5520461"/>
            <a:ext cx="1118402"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14</a:t>
            </a:r>
          </a:p>
        </p:txBody>
      </p:sp>
      <p:sp>
        <p:nvSpPr>
          <p:cNvPr id="35" name="TextBox 34"/>
          <p:cNvSpPr txBox="1"/>
          <p:nvPr/>
        </p:nvSpPr>
        <p:spPr>
          <a:xfrm>
            <a:off x="5233469" y="5520461"/>
            <a:ext cx="121224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5</a:t>
            </a:r>
          </a:p>
        </p:txBody>
      </p:sp>
      <p:sp>
        <p:nvSpPr>
          <p:cNvPr id="36" name="TextBox 35"/>
          <p:cNvSpPr txBox="1"/>
          <p:nvPr/>
        </p:nvSpPr>
        <p:spPr>
          <a:xfrm>
            <a:off x="6547317" y="5520461"/>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Automatic</a:t>
            </a:r>
          </a:p>
        </p:txBody>
      </p:sp>
      <p:sp>
        <p:nvSpPr>
          <p:cNvPr id="37" name="TextBox 36"/>
          <p:cNvSpPr txBox="1"/>
          <p:nvPr/>
        </p:nvSpPr>
        <p:spPr>
          <a:xfrm>
            <a:off x="8048858" y="5520461"/>
            <a:ext cx="1399941"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97.8% / 80.4%</a:t>
            </a:r>
          </a:p>
        </p:txBody>
      </p:sp>
      <p:cxnSp>
        <p:nvCxnSpPr>
          <p:cNvPr id="38" name="Connector 37"/>
          <p:cNvCxnSpPr/>
          <p:nvPr/>
        </p:nvCxnSpPr>
        <p:spPr>
          <a:xfrm>
            <a:off x="584200" y="5730646"/>
            <a:ext cx="89154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84200" y="5959246"/>
            <a:ext cx="8915400" cy="4800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1A1A1A"/>
                </a:solidFill>
                <a:latin typeface="Calibri"/>
              </a:rPr>
              <a:t>No existing work achieves wide produce coverage, fine-grained freshness and low labelling cost at the same time. That is the gap this project targets.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PROBLEM STATEMENT AND OBJECTIVES</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4</a:t>
            </a:r>
          </a:p>
        </p:txBody>
      </p:sp>
      <p:sp>
        <p:nvSpPr>
          <p:cNvPr id="7" name="Rectangle 6"/>
          <p:cNvSpPr/>
          <p:nvPr/>
        </p:nvSpPr>
        <p:spPr>
          <a:xfrm>
            <a:off x="584200" y="1270000"/>
            <a:ext cx="8915400" cy="1311544"/>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4200" y="1270000"/>
            <a:ext cx="50800" cy="1311544"/>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600" y="1447800"/>
            <a:ext cx="8331200" cy="955944"/>
          </a:xfrm>
          <a:prstGeom prst="rect">
            <a:avLst/>
          </a:prstGeom>
          <a:noFill/>
        </p:spPr>
        <p:txBody>
          <a:bodyPr wrap="square" lIns="0" rIns="0" tIns="0" bIns="0" anchor="t">
            <a:spAutoFit/>
          </a:bodyPr>
          <a:lstStyle/>
          <a:p>
            <a:pPr algn="l">
              <a:lnSpc>
                <a:spcPct val="124000"/>
              </a:lnSpc>
              <a:spcBef>
                <a:spcPts val="0"/>
              </a:spcBef>
              <a:spcAft>
                <a:spcPts val="800"/>
              </a:spcAft>
            </a:pPr>
            <a:r>
              <a:rPr sz="950" b="1" i="0">
                <a:solidFill>
                  <a:srgbClr val="0070C0"/>
                </a:solidFill>
                <a:latin typeface="Calibri"/>
              </a:rPr>
              <a:t>PROBLEM STATEMENT</a:t>
            </a:r>
          </a:p>
          <a:p>
            <a:pPr algn="l">
              <a:lnSpc>
                <a:spcPct val="130000"/>
              </a:lnSpc>
              <a:spcBef>
                <a:spcPts val="0"/>
              </a:spcBef>
              <a:spcAft>
                <a:spcPts val="0"/>
              </a:spcAft>
            </a:pPr>
            <a:r>
              <a:rPr sz="1250" b="0" i="0">
                <a:solidFill>
                  <a:srgbClr val="1A1A1A"/>
                </a:solidFill>
                <a:latin typeface="Calibri"/>
              </a:rPr>
              <a:t>Pair a 14-class produce identifier with a five-level freshness grader whose training labels come from an automated colour heuristic rather than manual annotation, and check whether an ensemble stage can clean up the label noise that heuristic introduces.</a:t>
            </a:r>
          </a:p>
        </p:txBody>
      </p:sp>
      <p:sp>
        <p:nvSpPr>
          <p:cNvPr id="10" name="TextBox 9"/>
          <p:cNvSpPr txBox="1"/>
          <p:nvPr/>
        </p:nvSpPr>
        <p:spPr>
          <a:xfrm>
            <a:off x="584200" y="2835544"/>
            <a:ext cx="89154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OBJECTIVES</a:t>
            </a:r>
          </a:p>
        </p:txBody>
      </p:sp>
      <p:sp>
        <p:nvSpPr>
          <p:cNvPr id="11" name="TextBox 10"/>
          <p:cNvSpPr txBox="1"/>
          <p:nvPr/>
        </p:nvSpPr>
        <p:spPr>
          <a:xfrm>
            <a:off x="584200" y="3176767"/>
            <a:ext cx="3556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O1</a:t>
            </a:r>
          </a:p>
        </p:txBody>
      </p:sp>
      <p:sp>
        <p:nvSpPr>
          <p:cNvPr id="12" name="TextBox 11"/>
          <p:cNvSpPr txBox="1"/>
          <p:nvPr/>
        </p:nvSpPr>
        <p:spPr>
          <a:xfrm>
            <a:off x="1016000" y="3176767"/>
            <a:ext cx="8483600" cy="644763"/>
          </a:xfrm>
          <a:prstGeom prst="rect">
            <a:avLst/>
          </a:prstGeom>
          <a:noFill/>
        </p:spPr>
        <p:txBody>
          <a:bodyPr wrap="square" lIns="0" rIns="0" tIns="0" bIns="0" anchor="t">
            <a:spAutoFit/>
          </a:bodyPr>
          <a:lstStyle/>
          <a:p>
            <a:pPr algn="l">
              <a:lnSpc>
                <a:spcPct val="114000"/>
              </a:lnSpc>
              <a:spcBef>
                <a:spcPts val="0"/>
              </a:spcBef>
              <a:spcAft>
                <a:spcPts val="300"/>
              </a:spcAft>
            </a:pPr>
            <a:r>
              <a:rPr sz="1250" b="1" i="0">
                <a:solidFill>
                  <a:srgbClr val="1A1A1A"/>
                </a:solidFill>
                <a:latin typeface="Calibri"/>
              </a:rPr>
              <a:t>Evaluate unsupervised clustering</a:t>
            </a:r>
          </a:p>
          <a:p>
            <a:pPr algn="l">
              <a:lnSpc>
                <a:spcPct val="126000"/>
              </a:lnSpc>
              <a:spcBef>
                <a:spcPts val="0"/>
              </a:spcBef>
              <a:spcAft>
                <a:spcPts val="0"/>
              </a:spcAft>
            </a:pPr>
            <a:r>
              <a:rPr sz="1100" b="0" i="0">
                <a:solidFill>
                  <a:srgbClr val="303030"/>
                </a:solidFill>
                <a:latin typeface="Calibri"/>
              </a:rPr>
              <a:t>DBSCAN over EfficientNetB0 features reduced with UMAP — can useful freshness labels be obtained with no annotation at all?</a:t>
            </a:r>
          </a:p>
        </p:txBody>
      </p:sp>
      <p:sp>
        <p:nvSpPr>
          <p:cNvPr id="13" name="TextBox 12"/>
          <p:cNvSpPr txBox="1"/>
          <p:nvPr/>
        </p:nvSpPr>
        <p:spPr>
          <a:xfrm>
            <a:off x="584200" y="3973931"/>
            <a:ext cx="3556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O2</a:t>
            </a:r>
          </a:p>
        </p:txBody>
      </p:sp>
      <p:sp>
        <p:nvSpPr>
          <p:cNvPr id="14" name="TextBox 13"/>
          <p:cNvSpPr txBox="1"/>
          <p:nvPr/>
        </p:nvSpPr>
        <p:spPr>
          <a:xfrm>
            <a:off x="1016000" y="3973931"/>
            <a:ext cx="8483600" cy="461700"/>
          </a:xfrm>
          <a:prstGeom prst="rect">
            <a:avLst/>
          </a:prstGeom>
          <a:noFill/>
        </p:spPr>
        <p:txBody>
          <a:bodyPr wrap="square" lIns="0" rIns="0" tIns="0" bIns="0" anchor="t">
            <a:spAutoFit/>
          </a:bodyPr>
          <a:lstStyle/>
          <a:p>
            <a:pPr algn="l">
              <a:lnSpc>
                <a:spcPct val="114000"/>
              </a:lnSpc>
              <a:spcBef>
                <a:spcPts val="0"/>
              </a:spcBef>
              <a:spcAft>
                <a:spcPts val="300"/>
              </a:spcAft>
            </a:pPr>
            <a:r>
              <a:rPr sz="1250" b="1" i="0">
                <a:solidFill>
                  <a:srgbClr val="1A1A1A"/>
                </a:solidFill>
                <a:latin typeface="Calibri"/>
              </a:rPr>
              <a:t>Evaluate semi-supervised pseudo-labelling</a:t>
            </a:r>
          </a:p>
          <a:p>
            <a:pPr algn="l">
              <a:lnSpc>
                <a:spcPct val="126000"/>
              </a:lnSpc>
              <a:spcBef>
                <a:spcPts val="0"/>
              </a:spcBef>
              <a:spcAft>
                <a:spcPts val="0"/>
              </a:spcAft>
            </a:pPr>
            <a:r>
              <a:rPr sz="1100" b="0" i="0">
                <a:solidFill>
                  <a:srgbClr val="303030"/>
                </a:solidFill>
                <a:latin typeface="Calibri"/>
              </a:rPr>
              <a:t>A second, more targeted attempt at cutting labelling effort, and identify where it plateaus and why.</a:t>
            </a:r>
          </a:p>
        </p:txBody>
      </p:sp>
      <p:sp>
        <p:nvSpPr>
          <p:cNvPr id="15" name="TextBox 14"/>
          <p:cNvSpPr txBox="1"/>
          <p:nvPr/>
        </p:nvSpPr>
        <p:spPr>
          <a:xfrm>
            <a:off x="584200" y="4588032"/>
            <a:ext cx="3556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O3</a:t>
            </a:r>
          </a:p>
        </p:txBody>
      </p:sp>
      <p:sp>
        <p:nvSpPr>
          <p:cNvPr id="16" name="TextBox 15"/>
          <p:cNvSpPr txBox="1"/>
          <p:nvPr/>
        </p:nvSpPr>
        <p:spPr>
          <a:xfrm>
            <a:off x="1016000" y="4588032"/>
            <a:ext cx="8483600" cy="461700"/>
          </a:xfrm>
          <a:prstGeom prst="rect">
            <a:avLst/>
          </a:prstGeom>
          <a:noFill/>
        </p:spPr>
        <p:txBody>
          <a:bodyPr wrap="square" lIns="0" rIns="0" tIns="0" bIns="0" anchor="t">
            <a:spAutoFit/>
          </a:bodyPr>
          <a:lstStyle/>
          <a:p>
            <a:pPr algn="l">
              <a:lnSpc>
                <a:spcPct val="114000"/>
              </a:lnSpc>
              <a:spcBef>
                <a:spcPts val="0"/>
              </a:spcBef>
              <a:spcAft>
                <a:spcPts val="300"/>
              </a:spcAft>
            </a:pPr>
            <a:r>
              <a:rPr sz="1250" b="1" i="0">
                <a:solidFill>
                  <a:srgbClr val="1A1A1A"/>
                </a:solidFill>
                <a:latin typeface="Calibri"/>
              </a:rPr>
              <a:t>Train a 14-class produce identifier</a:t>
            </a:r>
          </a:p>
          <a:p>
            <a:pPr algn="l">
              <a:lnSpc>
                <a:spcPct val="126000"/>
              </a:lnSpc>
              <a:spcBef>
                <a:spcPts val="0"/>
              </a:spcBef>
              <a:spcAft>
                <a:spcPts val="0"/>
              </a:spcAft>
            </a:pPr>
            <a:r>
              <a:rPr sz="1100" b="0" i="0">
                <a:solidFill>
                  <a:srgbClr val="303030"/>
                </a:solidFill>
                <a:latin typeface="Calibri"/>
              </a:rPr>
              <a:t>MobileNetV2 transfer learning, targeting validation accuracy above 95%.</a:t>
            </a:r>
          </a:p>
        </p:txBody>
      </p:sp>
      <p:sp>
        <p:nvSpPr>
          <p:cNvPr id="17" name="TextBox 16"/>
          <p:cNvSpPr txBox="1"/>
          <p:nvPr/>
        </p:nvSpPr>
        <p:spPr>
          <a:xfrm>
            <a:off x="584200" y="5202133"/>
            <a:ext cx="3556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O4</a:t>
            </a:r>
          </a:p>
        </p:txBody>
      </p:sp>
      <p:sp>
        <p:nvSpPr>
          <p:cNvPr id="18" name="TextBox 17"/>
          <p:cNvSpPr txBox="1"/>
          <p:nvPr/>
        </p:nvSpPr>
        <p:spPr>
          <a:xfrm>
            <a:off x="1016000" y="5202133"/>
            <a:ext cx="8483600" cy="644763"/>
          </a:xfrm>
          <a:prstGeom prst="rect">
            <a:avLst/>
          </a:prstGeom>
          <a:noFill/>
        </p:spPr>
        <p:txBody>
          <a:bodyPr wrap="square" lIns="0" rIns="0" tIns="0" bIns="0" anchor="t">
            <a:spAutoFit/>
          </a:bodyPr>
          <a:lstStyle/>
          <a:p>
            <a:pPr algn="l">
              <a:lnSpc>
                <a:spcPct val="114000"/>
              </a:lnSpc>
              <a:spcBef>
                <a:spcPts val="0"/>
              </a:spcBef>
              <a:spcAft>
                <a:spcPts val="300"/>
              </a:spcAft>
            </a:pPr>
            <a:r>
              <a:rPr sz="1250" b="1" i="0">
                <a:solidFill>
                  <a:srgbClr val="1A1A1A"/>
                </a:solidFill>
                <a:latin typeface="Calibri"/>
              </a:rPr>
              <a:t>Design an HSV decay-scoring heuristic</a:t>
            </a:r>
          </a:p>
          <a:p>
            <a:pPr algn="l">
              <a:lnSpc>
                <a:spcPct val="126000"/>
              </a:lnSpc>
              <a:spcBef>
                <a:spcPts val="0"/>
              </a:spcBef>
              <a:spcAft>
                <a:spcPts val="0"/>
              </a:spcAft>
            </a:pPr>
            <a:r>
              <a:rPr sz="1100" b="0" i="0">
                <a:solidFill>
                  <a:srgbClr val="303030"/>
                </a:solidFill>
                <a:latin typeface="Calibri"/>
              </a:rPr>
              <a:t>Measure surface decay automatically, then convert that continuous score into five freshness levels using a rank-based percentile split.</a:t>
            </a:r>
          </a:p>
        </p:txBody>
      </p:sp>
      <p:sp>
        <p:nvSpPr>
          <p:cNvPr id="19" name="TextBox 18"/>
          <p:cNvSpPr txBox="1"/>
          <p:nvPr/>
        </p:nvSpPr>
        <p:spPr>
          <a:xfrm>
            <a:off x="584200" y="5999297"/>
            <a:ext cx="3556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O5</a:t>
            </a:r>
          </a:p>
        </p:txBody>
      </p:sp>
      <p:sp>
        <p:nvSpPr>
          <p:cNvPr id="20" name="TextBox 19"/>
          <p:cNvSpPr txBox="1"/>
          <p:nvPr/>
        </p:nvSpPr>
        <p:spPr>
          <a:xfrm>
            <a:off x="1016000" y="5999297"/>
            <a:ext cx="8483600" cy="644763"/>
          </a:xfrm>
          <a:prstGeom prst="rect">
            <a:avLst/>
          </a:prstGeom>
          <a:noFill/>
        </p:spPr>
        <p:txBody>
          <a:bodyPr wrap="square" lIns="0" rIns="0" tIns="0" bIns="0" anchor="t">
            <a:spAutoFit/>
          </a:bodyPr>
          <a:lstStyle/>
          <a:p>
            <a:pPr algn="l">
              <a:lnSpc>
                <a:spcPct val="114000"/>
              </a:lnSpc>
              <a:spcBef>
                <a:spcPts val="0"/>
              </a:spcBef>
              <a:spcAft>
                <a:spcPts val="300"/>
              </a:spcAft>
            </a:pPr>
            <a:r>
              <a:rPr sz="1250" b="1" i="0">
                <a:solidFill>
                  <a:srgbClr val="1A1A1A"/>
                </a:solidFill>
                <a:latin typeface="Calibri"/>
              </a:rPr>
              <a:t>Measure the effect of fine-tuning</a:t>
            </a:r>
          </a:p>
          <a:p>
            <a:pPr algn="l">
              <a:lnSpc>
                <a:spcPct val="126000"/>
              </a:lnSpc>
              <a:spcBef>
                <a:spcPts val="0"/>
              </a:spcBef>
              <a:spcAft>
                <a:spcPts val="0"/>
              </a:spcAft>
            </a:pPr>
            <a:r>
              <a:rPr sz="1100" b="0" i="0">
                <a:solidFill>
                  <a:srgbClr val="303030"/>
                </a:solidFill>
                <a:latin typeface="Calibri"/>
              </a:rPr>
              <a:t>Compare a frozen backbone against unfreezing the last 30 layers, and design an ensemble stage to reduce the heuristic's label noise.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PRELIMINARY EXPERIMENTS</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5</a:t>
            </a:r>
          </a:p>
        </p:txBody>
      </p:sp>
      <p:sp>
        <p:nvSpPr>
          <p:cNvPr id="7" name="TextBox 6"/>
          <p:cNvSpPr txBox="1"/>
          <p:nvPr/>
        </p:nvSpPr>
        <p:spPr>
          <a:xfrm>
            <a:off x="584200" y="1270000"/>
            <a:ext cx="42672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EXPERIMENT 1  —  UNSUPERVISED CLUSTERING</a:t>
            </a:r>
          </a:p>
        </p:txBody>
      </p:sp>
      <p:sp>
        <p:nvSpPr>
          <p:cNvPr id="8" name="TextBox 7"/>
          <p:cNvSpPr txBox="1"/>
          <p:nvPr/>
        </p:nvSpPr>
        <p:spPr>
          <a:xfrm>
            <a:off x="584200" y="1585823"/>
            <a:ext cx="4267200" cy="2115738"/>
          </a:xfrm>
          <a:prstGeom prst="rect">
            <a:avLst/>
          </a:prstGeom>
          <a:noFill/>
        </p:spPr>
        <p:txBody>
          <a:bodyPr wrap="square" lIns="0" rIns="0" tIns="0" bIns="0" anchor="t">
            <a:spAutoFit/>
          </a:bodyPr>
          <a:lstStyle/>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Fruits-360 dataset: 124,548 images across 231 categories.</a:t>
            </a:r>
          </a:p>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EfficientNetB0 features (1,280-D) → UMAP to 10 dimensions → DBSCAN (ε = 4.40, min_samples = 20).</a:t>
            </a:r>
          </a:p>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Result: 253 clusters against 231 true classes, </a:t>
            </a:r>
            <a:r>
              <a:rPr sz="1150" b="1" i="0">
                <a:solidFill>
                  <a:srgbClr val="1A1A1A"/>
                </a:solidFill>
                <a:latin typeface="Calibri"/>
              </a:rPr>
              <a:t>61.64% purity</a:t>
            </a:r>
            <a:r>
              <a:rPr sz="1150" b="0" i="0">
                <a:solidFill>
                  <a:srgbClr val="303030"/>
                </a:solidFill>
                <a:latin typeface="Calibri"/>
              </a:rPr>
              <a:t>, silhouette 0.4971.</a:t>
            </a:r>
          </a:p>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Too noisy to trust as a labelling source — a cluster's majority label covers only about six in ten of the images actually in it.</a:t>
            </a:r>
          </a:p>
        </p:txBody>
      </p:sp>
      <p:sp>
        <p:nvSpPr>
          <p:cNvPr id="9" name="TextBox 8"/>
          <p:cNvSpPr txBox="1"/>
          <p:nvPr/>
        </p:nvSpPr>
        <p:spPr>
          <a:xfrm>
            <a:off x="584200" y="3955562"/>
            <a:ext cx="42672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EXPERIMENT 2  —  SEMI-SUPERVISED PSEUDO-LABELLING</a:t>
            </a:r>
          </a:p>
        </p:txBody>
      </p:sp>
      <p:sp>
        <p:nvSpPr>
          <p:cNvPr id="10" name="TextBox 9"/>
          <p:cNvSpPr txBox="1"/>
          <p:nvPr/>
        </p:nvSpPr>
        <p:spPr>
          <a:xfrm>
            <a:off x="584200" y="4271385"/>
            <a:ext cx="4267200" cy="1269898"/>
          </a:xfrm>
          <a:prstGeom prst="rect">
            <a:avLst/>
          </a:prstGeom>
          <a:noFill/>
        </p:spPr>
        <p:txBody>
          <a:bodyPr wrap="square" lIns="0" rIns="0" tIns="0" bIns="0" anchor="t">
            <a:spAutoFit/>
          </a:bodyPr>
          <a:lstStyle/>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36-class dataset, 3,825 images, with a hand-labelled seed of 900 images (25 per class).</a:t>
            </a:r>
          </a:p>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Predictions at confidence ≥ 0.90 were kept as pseudo-labels and folded back into training.</a:t>
            </a:r>
          </a:p>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Plateaued at </a:t>
            </a:r>
            <a:r>
              <a:rPr sz="1150" b="1" i="0">
                <a:solidFill>
                  <a:srgbClr val="1A1A1A"/>
                </a:solidFill>
                <a:latin typeface="Calibri"/>
              </a:rPr>
              <a:t>89.14% test accuracy</a:t>
            </a:r>
            <a:r>
              <a:rPr sz="1150" b="0" i="0">
                <a:solidFill>
                  <a:srgbClr val="303030"/>
                </a:solidFill>
                <a:latin typeface="Calibri"/>
              </a:rPr>
              <a:t>.</a:t>
            </a:r>
          </a:p>
        </p:txBody>
      </p:sp>
      <p:pic>
        <p:nvPicPr>
          <p:cNvPr id="11" name="Picture 10" descr="fig_ssl.png"/>
          <p:cNvPicPr>
            <a:picLocks noChangeAspect="1"/>
          </p:cNvPicPr>
          <p:nvPr/>
        </p:nvPicPr>
        <p:blipFill>
          <a:blip r:embed="rId2"/>
          <a:stretch>
            <a:fillRect/>
          </a:stretch>
        </p:blipFill>
        <p:spPr>
          <a:xfrm>
            <a:off x="5181600" y="1346200"/>
            <a:ext cx="4318000" cy="2239674"/>
          </a:xfrm>
          <a:prstGeom prst="rect">
            <a:avLst/>
          </a:prstGeom>
          <a:ln w="9525">
            <a:solidFill>
              <a:srgbClr val="DDDDDD"/>
            </a:solidFill>
          </a:ln>
        </p:spPr>
      </p:pic>
      <p:sp>
        <p:nvSpPr>
          <p:cNvPr id="12" name="TextBox 11"/>
          <p:cNvSpPr txBox="1"/>
          <p:nvPr/>
        </p:nvSpPr>
        <p:spPr>
          <a:xfrm>
            <a:off x="5181600" y="3649374"/>
            <a:ext cx="4318000" cy="181030"/>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Figure 3.2 (report): accuracy across the three semi-supervised stages.</a:t>
            </a:r>
          </a:p>
        </p:txBody>
      </p:sp>
      <p:sp>
        <p:nvSpPr>
          <p:cNvPr id="13" name="Rectangle 12"/>
          <p:cNvSpPr/>
          <p:nvPr/>
        </p:nvSpPr>
        <p:spPr>
          <a:xfrm>
            <a:off x="5181600" y="4059005"/>
            <a:ext cx="4318000" cy="1662826"/>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84800" y="4236805"/>
            <a:ext cx="3911600" cy="1256426"/>
          </a:xfrm>
          <a:prstGeom prst="rect">
            <a:avLst/>
          </a:prstGeom>
          <a:noFill/>
        </p:spPr>
        <p:txBody>
          <a:bodyPr wrap="square" lIns="0" rIns="0" tIns="0" bIns="0" anchor="t">
            <a:spAutoFit/>
          </a:bodyPr>
          <a:lstStyle/>
          <a:p>
            <a:pPr algn="l">
              <a:lnSpc>
                <a:spcPct val="124000"/>
              </a:lnSpc>
              <a:spcBef>
                <a:spcPts val="0"/>
              </a:spcBef>
              <a:spcAft>
                <a:spcPts val="800"/>
              </a:spcAft>
            </a:pPr>
            <a:r>
              <a:rPr sz="950" b="1" i="0">
                <a:solidFill>
                  <a:srgbClr val="0070C0"/>
                </a:solidFill>
                <a:latin typeface="Calibri"/>
              </a:rPr>
              <a:t>WHY IT STOPPED IMPROVING</a:t>
            </a:r>
          </a:p>
          <a:p>
            <a:pPr algn="l">
              <a:lnSpc>
                <a:spcPct val="130000"/>
              </a:lnSpc>
              <a:spcBef>
                <a:spcPts val="0"/>
              </a:spcBef>
              <a:spcAft>
                <a:spcPts val="0"/>
              </a:spcAft>
            </a:pPr>
            <a:r>
              <a:rPr sz="1100" b="0" i="0">
                <a:solidFill>
                  <a:srgbClr val="303030"/>
                </a:solidFill>
                <a:latin typeface="Calibri"/>
              </a:rPr>
              <a:t>Pseudo-label agreement fell from 97% in round 1 to 83% in round 2. The images left over were the genuinely hard ones, not a random sample — so the bottleneck was the size of the labelled seed, not the method itself.</a:t>
            </a:r>
          </a:p>
        </p:txBody>
      </p:sp>
      <p:sp>
        <p:nvSpPr>
          <p:cNvPr id="15" name="TextBox 14"/>
          <p:cNvSpPr txBox="1"/>
          <p:nvPr/>
        </p:nvSpPr>
        <p:spPr>
          <a:xfrm>
            <a:off x="584200" y="5874231"/>
            <a:ext cx="8915400" cy="473456"/>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0070C0"/>
                </a:solidFill>
                <a:latin typeface="Calibri"/>
              </a:rPr>
              <a:t>Conclusion   </a:t>
            </a:r>
            <a:r>
              <a:rPr sz="1250" b="0" i="0">
                <a:solidFill>
                  <a:srgbClr val="1A1A1A"/>
                </a:solidFill>
                <a:latin typeface="Calibri"/>
              </a:rPr>
              <a:t>move to a large dataset with a labelling rule that needs no manual seed at all — the HSV decay-score heuristic.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PROPOSED METHODOLOGY AND ARCHITECTURE</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6</a:t>
            </a:r>
          </a:p>
        </p:txBody>
      </p:sp>
      <p:pic>
        <p:nvPicPr>
          <p:cNvPr id="7" name="Picture 6" descr="fig_arch.png"/>
          <p:cNvPicPr>
            <a:picLocks noChangeAspect="1"/>
          </p:cNvPicPr>
          <p:nvPr/>
        </p:nvPicPr>
        <p:blipFill>
          <a:blip r:embed="rId2"/>
          <a:stretch>
            <a:fillRect/>
          </a:stretch>
        </p:blipFill>
        <p:spPr>
          <a:xfrm>
            <a:off x="584200" y="1346200"/>
            <a:ext cx="4876800" cy="3423039"/>
          </a:xfrm>
          <a:prstGeom prst="rect">
            <a:avLst/>
          </a:prstGeom>
          <a:ln w="9525">
            <a:solidFill>
              <a:srgbClr val="DDDDDD"/>
            </a:solidFill>
          </a:ln>
        </p:spPr>
      </p:pic>
      <p:sp>
        <p:nvSpPr>
          <p:cNvPr id="8" name="TextBox 7"/>
          <p:cNvSpPr txBox="1"/>
          <p:nvPr/>
        </p:nvSpPr>
        <p:spPr>
          <a:xfrm>
            <a:off x="584200" y="4832739"/>
            <a:ext cx="4876800" cy="181030"/>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Figure 4.1 (report): both branches run over the same input image.</a:t>
            </a:r>
          </a:p>
        </p:txBody>
      </p:sp>
      <p:sp>
        <p:nvSpPr>
          <p:cNvPr id="9" name="TextBox 8"/>
          <p:cNvSpPr txBox="1"/>
          <p:nvPr/>
        </p:nvSpPr>
        <p:spPr>
          <a:xfrm>
            <a:off x="5791200" y="1295400"/>
            <a:ext cx="3708400" cy="3222437"/>
          </a:xfrm>
          <a:prstGeom prst="rect">
            <a:avLst/>
          </a:prstGeom>
          <a:noFill/>
        </p:spPr>
        <p:txBody>
          <a:bodyPr wrap="square" lIns="0" rIns="0" tIns="0" bIns="0" anchor="t">
            <a:spAutoFit/>
          </a:bodyPr>
          <a:lstStyle/>
          <a:p>
            <a:pPr algn="l">
              <a:lnSpc>
                <a:spcPct val="124000"/>
              </a:lnSpc>
              <a:spcBef>
                <a:spcPts val="0"/>
              </a:spcBef>
              <a:spcAft>
                <a:spcPts val="1000"/>
              </a:spcAft>
            </a:pPr>
            <a:r>
              <a:rPr sz="950" b="1" i="0">
                <a:solidFill>
                  <a:srgbClr val="0070C0"/>
                </a:solidFill>
                <a:latin typeface="Calibri"/>
              </a:rPr>
              <a:t>TWO BRANCHES, ONE IMAGE</a:t>
            </a:r>
          </a:p>
          <a:p>
            <a:pPr algn="l">
              <a:lnSpc>
                <a:spcPct val="130000"/>
              </a:lnSpc>
              <a:spcBef>
                <a:spcPts val="0"/>
              </a:spcBef>
              <a:spcAft>
                <a:spcPts val="1200"/>
              </a:spcAft>
            </a:pPr>
            <a:r>
              <a:rPr sz="1150" b="1" i="0">
                <a:solidFill>
                  <a:srgbClr val="1A1A1A"/>
                </a:solidFill>
                <a:latin typeface="Calibri"/>
              </a:rPr>
              <a:t>Identification branch.  </a:t>
            </a:r>
            <a:r>
              <a:rPr sz="1150" b="0" i="0">
                <a:solidFill>
                  <a:srgbClr val="303030"/>
                </a:solidFill>
                <a:latin typeface="Calibri"/>
              </a:rPr>
              <a:t>A MobileNetV2 classifier predicts one of 14 produce types, trained on the dataset's existing folder labels — ground truth already exists here.</a:t>
            </a:r>
          </a:p>
          <a:p>
            <a:pPr algn="l">
              <a:lnSpc>
                <a:spcPct val="130000"/>
              </a:lnSpc>
              <a:spcBef>
                <a:spcPts val="0"/>
              </a:spcBef>
              <a:spcAft>
                <a:spcPts val="1200"/>
              </a:spcAft>
            </a:pPr>
            <a:r>
              <a:rPr sz="1150" b="1" i="0">
                <a:solidFill>
                  <a:srgbClr val="1A1A1A"/>
                </a:solidFill>
                <a:latin typeface="Calibri"/>
              </a:rPr>
              <a:t>Freshness branch.  </a:t>
            </a:r>
            <a:r>
              <a:rPr sz="1150" b="0" i="0">
                <a:solidFill>
                  <a:srgbClr val="303030"/>
                </a:solidFill>
                <a:latin typeface="Calibri"/>
              </a:rPr>
              <a:t>No ready-made labels. The image gets an HSV decay score, that score becomes one of five classes through a rank-based split, and a second MobileNetV2 is trained on the result.</a:t>
            </a:r>
          </a:p>
          <a:p>
            <a:pPr algn="l">
              <a:lnSpc>
                <a:spcPct val="130000"/>
              </a:lnSpc>
              <a:spcBef>
                <a:spcPts val="0"/>
              </a:spcBef>
              <a:spcAft>
                <a:spcPts val="0"/>
              </a:spcAft>
            </a:pPr>
            <a:r>
              <a:rPr sz="1150" b="1" i="0">
                <a:solidFill>
                  <a:srgbClr val="1A1A1A"/>
                </a:solidFill>
                <a:latin typeface="Calibri"/>
              </a:rPr>
              <a:t>Phase 2 (proposed).  </a:t>
            </a:r>
            <a:r>
              <a:rPr sz="1150" b="0" i="0">
                <a:solidFill>
                  <a:srgbClr val="303030"/>
                </a:solidFill>
                <a:latin typeface="Calibri"/>
              </a:rPr>
              <a:t>EfficientNetB0 features feeding an SVM, Random Forest, Logistic Regression, KNN and XGBoost ensemble, to reduce label noise. Designed, not yet evaluated.</a:t>
            </a:r>
          </a:p>
        </p:txBody>
      </p:sp>
      <p:sp>
        <p:nvSpPr>
          <p:cNvPr id="10" name="Rectangle 9"/>
          <p:cNvSpPr/>
          <p:nvPr/>
        </p:nvSpPr>
        <p:spPr>
          <a:xfrm>
            <a:off x="584200" y="5293170"/>
            <a:ext cx="4876800" cy="1532900"/>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7400" y="5445570"/>
            <a:ext cx="4470400" cy="1101100"/>
          </a:xfrm>
          <a:prstGeom prst="rect">
            <a:avLst/>
          </a:prstGeom>
          <a:noFill/>
        </p:spPr>
        <p:txBody>
          <a:bodyPr wrap="square" lIns="0" rIns="0" tIns="0" bIns="0" anchor="t">
            <a:spAutoFit/>
          </a:bodyPr>
          <a:lstStyle/>
          <a:p>
            <a:pPr algn="l">
              <a:lnSpc>
                <a:spcPct val="124000"/>
              </a:lnSpc>
              <a:spcBef>
                <a:spcPts val="0"/>
              </a:spcBef>
              <a:spcAft>
                <a:spcPts val="800"/>
              </a:spcAft>
            </a:pPr>
            <a:r>
              <a:rPr sz="950" b="1" i="0">
                <a:solidFill>
                  <a:srgbClr val="0070C0"/>
                </a:solidFill>
                <a:latin typeface="Calibri"/>
              </a:rPr>
              <a:t>SHARED MODEL HEAD  (both Phase 1 models)</a:t>
            </a:r>
          </a:p>
          <a:p>
            <a:pPr algn="l">
              <a:lnSpc>
                <a:spcPct val="134000"/>
              </a:lnSpc>
              <a:spcBef>
                <a:spcPts val="0"/>
              </a:spcBef>
              <a:spcAft>
                <a:spcPts val="600"/>
              </a:spcAft>
            </a:pPr>
            <a:r>
              <a:rPr sz="1050" b="0" i="0">
                <a:solidFill>
                  <a:srgbClr val="1A1A1A"/>
                </a:solidFill>
                <a:latin typeface="Calibri"/>
              </a:rPr>
              <a:t>MobileNetV2 (ImageNet, head removed)   →   GlobalAveragePooling   →   Dense(128, ReLU)   →   Dropout(0.3)   →   Dense(C, softmax)</a:t>
            </a:r>
          </a:p>
          <a:p>
            <a:pPr algn="l">
              <a:lnSpc>
                <a:spcPct val="128000"/>
              </a:lnSpc>
              <a:spcBef>
                <a:spcPts val="0"/>
              </a:spcBef>
              <a:spcAft>
                <a:spcPts val="0"/>
              </a:spcAft>
            </a:pPr>
            <a:r>
              <a:rPr sz="1000" b="0" i="0">
                <a:solidFill>
                  <a:srgbClr val="666666"/>
                </a:solidFill>
                <a:latin typeface="Calibri"/>
              </a:rPr>
              <a:t>C = 14 for identification, C = 5 for freshness. Trained with Adam and categorical cross-entropy.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HSV DECAY-SCORE HEURISTIC</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7</a:t>
            </a:r>
          </a:p>
        </p:txBody>
      </p:sp>
      <p:sp>
        <p:nvSpPr>
          <p:cNvPr id="7" name="TextBox 6"/>
          <p:cNvSpPr txBox="1"/>
          <p:nvPr/>
        </p:nvSpPr>
        <p:spPr>
          <a:xfrm>
            <a:off x="584200" y="1270000"/>
            <a:ext cx="4978400" cy="485871"/>
          </a:xfrm>
          <a:prstGeom prst="rect">
            <a:avLst/>
          </a:prstGeom>
          <a:noFill/>
        </p:spPr>
        <p:txBody>
          <a:bodyPr wrap="square" lIns="0" rIns="0" tIns="0" bIns="0" anchor="t">
            <a:spAutoFit/>
          </a:bodyPr>
          <a:lstStyle/>
          <a:p>
            <a:pPr algn="l">
              <a:lnSpc>
                <a:spcPct val="122000"/>
              </a:lnSpc>
              <a:spcBef>
                <a:spcPts val="0"/>
              </a:spcBef>
              <a:spcAft>
                <a:spcPts val="0"/>
              </a:spcAft>
            </a:pPr>
            <a:r>
              <a:rPr sz="1350" b="1" i="0">
                <a:solidFill>
                  <a:srgbClr val="1A1A1A"/>
                </a:solidFill>
                <a:latin typeface="Calibri"/>
              </a:rPr>
              <a:t>The problem: the dataset has only two labels — fresh and rotten. We needed five.</a:t>
            </a:r>
          </a:p>
        </p:txBody>
      </p:sp>
      <p:sp>
        <p:nvSpPr>
          <p:cNvPr id="8" name="TextBox 7"/>
          <p:cNvSpPr txBox="1"/>
          <p:nvPr/>
        </p:nvSpPr>
        <p:spPr>
          <a:xfrm>
            <a:off x="584200" y="1959071"/>
            <a:ext cx="279400" cy="247335"/>
          </a:xfrm>
          <a:prstGeom prst="rect">
            <a:avLst/>
          </a:prstGeom>
          <a:noFill/>
        </p:spPr>
        <p:txBody>
          <a:bodyPr wrap="square" lIns="0" rIns="0" tIns="0" bIns="0" anchor="t">
            <a:spAutoFit/>
          </a:bodyPr>
          <a:lstStyle/>
          <a:p>
            <a:pPr algn="l">
              <a:lnSpc>
                <a:spcPct val="124000"/>
              </a:lnSpc>
              <a:spcBef>
                <a:spcPts val="0"/>
              </a:spcBef>
              <a:spcAft>
                <a:spcPts val="0"/>
              </a:spcAft>
            </a:pPr>
            <a:r>
              <a:rPr sz="1200" b="1" i="0">
                <a:solidFill>
                  <a:srgbClr val="0070C0"/>
                </a:solidFill>
                <a:latin typeface="Calibri"/>
              </a:rPr>
              <a:t>1.</a:t>
            </a:r>
          </a:p>
        </p:txBody>
      </p:sp>
      <p:sp>
        <p:nvSpPr>
          <p:cNvPr id="9" name="TextBox 8"/>
          <p:cNvSpPr txBox="1"/>
          <p:nvPr/>
        </p:nvSpPr>
        <p:spPr>
          <a:xfrm>
            <a:off x="914400" y="1959071"/>
            <a:ext cx="4648200" cy="829015"/>
          </a:xfrm>
          <a:prstGeom prst="rect">
            <a:avLst/>
          </a:prstGeom>
          <a:noFill/>
        </p:spPr>
        <p:txBody>
          <a:bodyPr wrap="square" lIns="0" rIns="0" tIns="0" bIns="0" anchor="t">
            <a:spAutoFit/>
          </a:bodyPr>
          <a:lstStyle/>
          <a:p>
            <a:pPr algn="l">
              <a:lnSpc>
                <a:spcPct val="114000"/>
              </a:lnSpc>
              <a:spcBef>
                <a:spcPts val="0"/>
              </a:spcBef>
              <a:spcAft>
                <a:spcPts val="300"/>
              </a:spcAft>
            </a:pPr>
            <a:r>
              <a:rPr sz="1200" b="1" i="0">
                <a:solidFill>
                  <a:srgbClr val="1A1A1A"/>
                </a:solidFill>
                <a:latin typeface="Calibri"/>
              </a:rPr>
              <a:t>Foreground mask</a:t>
            </a:r>
          </a:p>
          <a:p>
            <a:pPr algn="l">
              <a:lnSpc>
                <a:spcPct val="128000"/>
              </a:lnSpc>
              <a:spcBef>
                <a:spcPts val="0"/>
              </a:spcBef>
              <a:spcAft>
                <a:spcPts val="0"/>
              </a:spcAft>
            </a:pPr>
            <a:r>
              <a:rPr sz="1100" b="0" i="0">
                <a:solidFill>
                  <a:srgbClr val="303030"/>
                </a:solidFill>
                <a:latin typeface="Calibri"/>
              </a:rPr>
              <a:t>Threshold the HSV saturation channel at S &gt; 40 to separate the produce from the background, then clean it up with morphological closing and opening (7 × 7 kernel).</a:t>
            </a:r>
          </a:p>
        </p:txBody>
      </p:sp>
      <p:sp>
        <p:nvSpPr>
          <p:cNvPr id="10" name="TextBox 9"/>
          <p:cNvSpPr txBox="1"/>
          <p:nvPr/>
        </p:nvSpPr>
        <p:spPr>
          <a:xfrm>
            <a:off x="584200" y="2940486"/>
            <a:ext cx="279400" cy="247335"/>
          </a:xfrm>
          <a:prstGeom prst="rect">
            <a:avLst/>
          </a:prstGeom>
          <a:noFill/>
        </p:spPr>
        <p:txBody>
          <a:bodyPr wrap="square" lIns="0" rIns="0" tIns="0" bIns="0" anchor="t">
            <a:spAutoFit/>
          </a:bodyPr>
          <a:lstStyle/>
          <a:p>
            <a:pPr algn="l">
              <a:lnSpc>
                <a:spcPct val="124000"/>
              </a:lnSpc>
              <a:spcBef>
                <a:spcPts val="0"/>
              </a:spcBef>
              <a:spcAft>
                <a:spcPts val="0"/>
              </a:spcAft>
            </a:pPr>
            <a:r>
              <a:rPr sz="1200" b="1" i="0">
                <a:solidFill>
                  <a:srgbClr val="0070C0"/>
                </a:solidFill>
                <a:latin typeface="Calibri"/>
              </a:rPr>
              <a:t>2.</a:t>
            </a:r>
          </a:p>
        </p:txBody>
      </p:sp>
      <p:sp>
        <p:nvSpPr>
          <p:cNvPr id="11" name="TextBox 10"/>
          <p:cNvSpPr txBox="1"/>
          <p:nvPr/>
        </p:nvSpPr>
        <p:spPr>
          <a:xfrm>
            <a:off x="914400" y="2940486"/>
            <a:ext cx="4648200" cy="829015"/>
          </a:xfrm>
          <a:prstGeom prst="rect">
            <a:avLst/>
          </a:prstGeom>
          <a:noFill/>
        </p:spPr>
        <p:txBody>
          <a:bodyPr wrap="square" lIns="0" rIns="0" tIns="0" bIns="0" anchor="t">
            <a:spAutoFit/>
          </a:bodyPr>
          <a:lstStyle/>
          <a:p>
            <a:pPr algn="l">
              <a:lnSpc>
                <a:spcPct val="114000"/>
              </a:lnSpc>
              <a:spcBef>
                <a:spcPts val="0"/>
              </a:spcBef>
              <a:spcAft>
                <a:spcPts val="300"/>
              </a:spcAft>
            </a:pPr>
            <a:r>
              <a:rPr sz="1200" b="1" i="0">
                <a:solidFill>
                  <a:srgbClr val="1A1A1A"/>
                </a:solidFill>
                <a:latin typeface="Calibri"/>
              </a:rPr>
              <a:t>Discoloured-spot mask</a:t>
            </a:r>
          </a:p>
          <a:p>
            <a:pPr algn="l">
              <a:lnSpc>
                <a:spcPct val="128000"/>
              </a:lnSpc>
              <a:spcBef>
                <a:spcPts val="0"/>
              </a:spcBef>
              <a:spcAft>
                <a:spcPts val="0"/>
              </a:spcAft>
            </a:pPr>
            <a:r>
              <a:rPr sz="1100" b="0" i="0">
                <a:solidFill>
                  <a:srgbClr val="303030"/>
                </a:solidFill>
                <a:latin typeface="Calibri"/>
              </a:rPr>
              <a:t>Threshold within H ∈ [0, 35], S ∈ [30, 255], V ∈ [20, 160] — an empirically chosen range that picks up the brown patches typical of bruising and decay — restricted to the foreground region.</a:t>
            </a:r>
          </a:p>
        </p:txBody>
      </p:sp>
      <p:sp>
        <p:nvSpPr>
          <p:cNvPr id="12" name="TextBox 11"/>
          <p:cNvSpPr txBox="1"/>
          <p:nvPr/>
        </p:nvSpPr>
        <p:spPr>
          <a:xfrm>
            <a:off x="584200" y="3921902"/>
            <a:ext cx="279400" cy="247335"/>
          </a:xfrm>
          <a:prstGeom prst="rect">
            <a:avLst/>
          </a:prstGeom>
          <a:noFill/>
        </p:spPr>
        <p:txBody>
          <a:bodyPr wrap="square" lIns="0" rIns="0" tIns="0" bIns="0" anchor="t">
            <a:spAutoFit/>
          </a:bodyPr>
          <a:lstStyle/>
          <a:p>
            <a:pPr algn="l">
              <a:lnSpc>
                <a:spcPct val="124000"/>
              </a:lnSpc>
              <a:spcBef>
                <a:spcPts val="0"/>
              </a:spcBef>
              <a:spcAft>
                <a:spcPts val="0"/>
              </a:spcAft>
            </a:pPr>
            <a:r>
              <a:rPr sz="1200" b="1" i="0">
                <a:solidFill>
                  <a:srgbClr val="0070C0"/>
                </a:solidFill>
                <a:latin typeface="Calibri"/>
              </a:rPr>
              <a:t>3.</a:t>
            </a:r>
          </a:p>
        </p:txBody>
      </p:sp>
      <p:sp>
        <p:nvSpPr>
          <p:cNvPr id="13" name="TextBox 12"/>
          <p:cNvSpPr txBox="1"/>
          <p:nvPr/>
        </p:nvSpPr>
        <p:spPr>
          <a:xfrm>
            <a:off x="914400" y="3921902"/>
            <a:ext cx="4648200" cy="457078"/>
          </a:xfrm>
          <a:prstGeom prst="rect">
            <a:avLst/>
          </a:prstGeom>
          <a:noFill/>
        </p:spPr>
        <p:txBody>
          <a:bodyPr wrap="square" lIns="0" rIns="0" tIns="0" bIns="0" anchor="t">
            <a:spAutoFit/>
          </a:bodyPr>
          <a:lstStyle/>
          <a:p>
            <a:pPr algn="l">
              <a:lnSpc>
                <a:spcPct val="114000"/>
              </a:lnSpc>
              <a:spcBef>
                <a:spcPts val="0"/>
              </a:spcBef>
              <a:spcAft>
                <a:spcPts val="300"/>
              </a:spcAft>
            </a:pPr>
            <a:r>
              <a:rPr sz="1200" b="1" i="0">
                <a:solidFill>
                  <a:srgbClr val="1A1A1A"/>
                </a:solidFill>
                <a:latin typeface="Calibri"/>
              </a:rPr>
              <a:t>Decay score</a:t>
            </a:r>
          </a:p>
          <a:p>
            <a:pPr algn="l">
              <a:lnSpc>
                <a:spcPct val="128000"/>
              </a:lnSpc>
              <a:spcBef>
                <a:spcPts val="0"/>
              </a:spcBef>
              <a:spcAft>
                <a:spcPts val="0"/>
              </a:spcAft>
            </a:pPr>
            <a:r>
              <a:rPr sz="1100" b="0" i="0">
                <a:solidFill>
                  <a:srgbClr val="303030"/>
                </a:solidFill>
                <a:latin typeface="Calibri"/>
              </a:rPr>
              <a:t>The percentage of foreground pixels flagged as decayed.</a:t>
            </a:r>
          </a:p>
        </p:txBody>
      </p:sp>
      <p:sp>
        <p:nvSpPr>
          <p:cNvPr id="14" name="Rectangle 13"/>
          <p:cNvSpPr/>
          <p:nvPr/>
        </p:nvSpPr>
        <p:spPr>
          <a:xfrm>
            <a:off x="584200" y="4607580"/>
            <a:ext cx="4978400" cy="508000"/>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4759980"/>
            <a:ext cx="4978400" cy="263712"/>
          </a:xfrm>
          <a:prstGeom prst="rect">
            <a:avLst/>
          </a:prstGeom>
          <a:noFill/>
        </p:spPr>
        <p:txBody>
          <a:bodyPr wrap="square" lIns="0" rIns="0" tIns="0" bIns="0" anchor="t">
            <a:spAutoFit/>
          </a:bodyPr>
          <a:lstStyle/>
          <a:p>
            <a:pPr algn="ctr">
              <a:lnSpc>
                <a:spcPct val="124000"/>
              </a:lnSpc>
              <a:spcBef>
                <a:spcPts val="0"/>
              </a:spcBef>
              <a:spcAft>
                <a:spcPts val="0"/>
              </a:spcAft>
            </a:pPr>
            <a:r>
              <a:rPr sz="1300" b="1" i="0">
                <a:solidFill>
                  <a:srgbClr val="1A1A1A"/>
                </a:solidFill>
                <a:latin typeface="Calibri"/>
              </a:rPr>
              <a:t>Decay Score  =  | M spot, fg |  ÷  | M fg |  ×  100</a:t>
            </a:r>
          </a:p>
        </p:txBody>
      </p:sp>
      <p:sp>
        <p:nvSpPr>
          <p:cNvPr id="16" name="TextBox 15"/>
          <p:cNvSpPr txBox="1"/>
          <p:nvPr/>
        </p:nvSpPr>
        <p:spPr>
          <a:xfrm>
            <a:off x="584200" y="5318780"/>
            <a:ext cx="4978400" cy="643178"/>
          </a:xfrm>
          <a:prstGeom prst="rect">
            <a:avLst/>
          </a:prstGeom>
          <a:noFill/>
        </p:spPr>
        <p:txBody>
          <a:bodyPr wrap="square" lIns="0" rIns="0" tIns="0" bIns="0" anchor="t">
            <a:spAutoFit/>
          </a:bodyPr>
          <a:lstStyle/>
          <a:p>
            <a:pPr algn="l">
              <a:lnSpc>
                <a:spcPct val="130000"/>
              </a:lnSpc>
              <a:spcBef>
                <a:spcPts val="0"/>
              </a:spcBef>
              <a:spcAft>
                <a:spcPts val="0"/>
              </a:spcAft>
            </a:pPr>
            <a:r>
              <a:rPr sz="1150" b="0" i="0">
                <a:solidFill>
                  <a:srgbClr val="303030"/>
                </a:solidFill>
                <a:latin typeface="Calibri"/>
              </a:rPr>
              <a:t>On 20 fresh and 20 rotten apple images the mean decay score was </a:t>
            </a:r>
            <a:r>
              <a:rPr sz="1150" b="1" i="0">
                <a:solidFill>
                  <a:srgbClr val="1A1A1A"/>
                </a:solidFill>
                <a:latin typeface="Calibri"/>
              </a:rPr>
              <a:t>16.48%</a:t>
            </a:r>
            <a:r>
              <a:rPr sz="1150" b="0" i="0">
                <a:solidFill>
                  <a:srgbClr val="303030"/>
                </a:solidFill>
                <a:latin typeface="Calibri"/>
              </a:rPr>
              <a:t> for fresh against </a:t>
            </a:r>
            <a:r>
              <a:rPr sz="1150" b="1" i="0">
                <a:solidFill>
                  <a:srgbClr val="1A1A1A"/>
                </a:solidFill>
                <a:latin typeface="Calibri"/>
              </a:rPr>
              <a:t>35.79%</a:t>
            </a:r>
            <a:r>
              <a:rPr sz="1150" b="0" i="0">
                <a:solidFill>
                  <a:srgbClr val="303030"/>
                </a:solidFill>
                <a:latin typeface="Calibri"/>
              </a:rPr>
              <a:t> for rotten — the heuristic clearly separates the two groups on average.</a:t>
            </a:r>
          </a:p>
        </p:txBody>
      </p:sp>
      <p:pic>
        <p:nvPicPr>
          <p:cNvPr id="17" name="Picture 16" descr="fig_hsv_pipeline.png"/>
          <p:cNvPicPr>
            <a:picLocks noChangeAspect="1"/>
          </p:cNvPicPr>
          <p:nvPr/>
        </p:nvPicPr>
        <p:blipFill>
          <a:blip r:embed="rId2"/>
          <a:stretch>
            <a:fillRect/>
          </a:stretch>
        </p:blipFill>
        <p:spPr>
          <a:xfrm>
            <a:off x="6064723" y="1270000"/>
            <a:ext cx="3237552" cy="4648200"/>
          </a:xfrm>
          <a:prstGeom prst="rect">
            <a:avLst/>
          </a:prstGeom>
          <a:ln w="9525">
            <a:solidFill>
              <a:srgbClr val="DDDDDD"/>
            </a:solidFill>
          </a:ln>
        </p:spPr>
      </p:pic>
      <p:sp>
        <p:nvSpPr>
          <p:cNvPr id="18" name="TextBox 17"/>
          <p:cNvSpPr txBox="1"/>
          <p:nvPr/>
        </p:nvSpPr>
        <p:spPr>
          <a:xfrm>
            <a:off x="5867400" y="5981700"/>
            <a:ext cx="3632200" cy="311261"/>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Report Fig. 5.3: original image, foreground mask and detected decay spots, for a fresh and a rotten apple.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684784"/>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FROM DECAY SCORES TO FIVE FRESHNESS LABELS</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8</a:t>
            </a:r>
          </a:p>
        </p:txBody>
      </p:sp>
      <p:sp>
        <p:nvSpPr>
          <p:cNvPr id="7" name="TextBox 6"/>
          <p:cNvSpPr txBox="1"/>
          <p:nvPr/>
        </p:nvSpPr>
        <p:spPr>
          <a:xfrm>
            <a:off x="584200" y="1270000"/>
            <a:ext cx="89154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RANK-BASED PERCENTILE SPLIT</a:t>
            </a:r>
          </a:p>
        </p:txBody>
      </p:sp>
      <p:sp>
        <p:nvSpPr>
          <p:cNvPr id="8" name="TextBox 7"/>
          <p:cNvSpPr txBox="1"/>
          <p:nvPr/>
        </p:nvSpPr>
        <p:spPr>
          <a:xfrm>
            <a:off x="584200" y="1585823"/>
            <a:ext cx="8915400" cy="1310843"/>
          </a:xfrm>
          <a:prstGeom prst="rect">
            <a:avLst/>
          </a:prstGeom>
          <a:noFill/>
        </p:spPr>
        <p:txBody>
          <a:bodyPr wrap="square" lIns="0" rIns="0" tIns="0" bIns="0" anchor="t">
            <a:spAutoFit/>
          </a:bodyPr>
          <a:lstStyle/>
          <a:p>
            <a:pPr algn="l">
              <a:lnSpc>
                <a:spcPct val="124000"/>
              </a:lnSpc>
              <a:spcBef>
                <a:spcPts val="0"/>
              </a:spcBef>
              <a:spcAft>
                <a:spcPts val="700"/>
              </a:spcAft>
            </a:pPr>
            <a:r>
              <a:rPr sz="1200" b="1">
                <a:solidFill>
                  <a:srgbClr val="0070C0"/>
                </a:solidFill>
                <a:latin typeface="Calibri"/>
              </a:rPr>
              <a:t>•   </a:t>
            </a:r>
            <a:r>
              <a:rPr sz="1200" b="0" i="0">
                <a:solidFill>
                  <a:srgbClr val="303030"/>
                </a:solidFill>
                <a:latin typeface="Calibri"/>
              </a:rPr>
              <a:t>Group the images by produce type and by their original fresh / rotten folder.</a:t>
            </a:r>
          </a:p>
          <a:p>
            <a:pPr algn="l">
              <a:lnSpc>
                <a:spcPct val="124000"/>
              </a:lnSpc>
              <a:spcBef>
                <a:spcPts val="0"/>
              </a:spcBef>
              <a:spcAft>
                <a:spcPts val="700"/>
              </a:spcAft>
            </a:pPr>
            <a:r>
              <a:rPr sz="1200" b="1">
                <a:solidFill>
                  <a:srgbClr val="0070C0"/>
                </a:solidFill>
                <a:latin typeface="Calibri"/>
              </a:rPr>
              <a:t>•   </a:t>
            </a:r>
            <a:r>
              <a:rPr sz="1200" b="0" i="0">
                <a:solidFill>
                  <a:srgbClr val="303030"/>
                </a:solidFill>
                <a:latin typeface="Calibri"/>
              </a:rPr>
              <a:t>Sort by ascending decay score within each group, then split into equal-sized rank buckets — two from a “fresh” folder (very_fresh, fresh) and three from a “rotten” folder (slightly_rotten, rotten, very_rotten).</a:t>
            </a:r>
          </a:p>
          <a:p>
            <a:pPr algn="l">
              <a:lnSpc>
                <a:spcPct val="124000"/>
              </a:lnSpc>
              <a:spcBef>
                <a:spcPts val="0"/>
              </a:spcBef>
              <a:spcAft>
                <a:spcPts val="700"/>
              </a:spcAft>
            </a:pPr>
            <a:r>
              <a:rPr sz="1200" b="1">
                <a:solidFill>
                  <a:srgbClr val="0070C0"/>
                </a:solidFill>
                <a:latin typeface="Calibri"/>
              </a:rPr>
              <a:t>•   </a:t>
            </a:r>
            <a:r>
              <a:rPr sz="1200" b="0" i="0">
                <a:solidFill>
                  <a:srgbClr val="303030"/>
                </a:solidFill>
                <a:latin typeface="Calibri"/>
              </a:rPr>
              <a:t>Grouping per produce type matters: a rotten banana and a rotten apple are not the same colour, so a single global threshold would be wrong.</a:t>
            </a:r>
          </a:p>
        </p:txBody>
      </p:sp>
      <p:pic>
        <p:nvPicPr>
          <p:cNvPr id="9" name="Picture 8" descr="fig_decay_box.png"/>
          <p:cNvPicPr>
            <a:picLocks noChangeAspect="1"/>
          </p:cNvPicPr>
          <p:nvPr/>
        </p:nvPicPr>
        <p:blipFill>
          <a:blip r:embed="rId2"/>
          <a:stretch>
            <a:fillRect/>
          </a:stretch>
        </p:blipFill>
        <p:spPr>
          <a:xfrm>
            <a:off x="1066398" y="3099866"/>
            <a:ext cx="3328202" cy="1905000"/>
          </a:xfrm>
          <a:prstGeom prst="rect">
            <a:avLst/>
          </a:prstGeom>
          <a:ln w="9525">
            <a:solidFill>
              <a:srgbClr val="DDDDDD"/>
            </a:solidFill>
          </a:ln>
        </p:spPr>
      </p:pic>
      <p:sp>
        <p:nvSpPr>
          <p:cNvPr id="10" name="TextBox 9"/>
          <p:cNvSpPr txBox="1"/>
          <p:nvPr/>
        </p:nvSpPr>
        <p:spPr>
          <a:xfrm>
            <a:off x="584200" y="5068366"/>
            <a:ext cx="4292600" cy="181030"/>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Figure 4.2: decay-score spread, 20 fresh vs 20 rotten apples.</a:t>
            </a:r>
          </a:p>
        </p:txBody>
      </p:sp>
      <p:pic>
        <p:nvPicPr>
          <p:cNvPr id="11" name="Picture 10" descr="fig_label_dist.png"/>
          <p:cNvPicPr>
            <a:picLocks noChangeAspect="1"/>
          </p:cNvPicPr>
          <p:nvPr/>
        </p:nvPicPr>
        <p:blipFill>
          <a:blip r:embed="rId3"/>
          <a:stretch>
            <a:fillRect/>
          </a:stretch>
        </p:blipFill>
        <p:spPr>
          <a:xfrm>
            <a:off x="5531276" y="3099866"/>
            <a:ext cx="3644047" cy="1905000"/>
          </a:xfrm>
          <a:prstGeom prst="rect">
            <a:avLst/>
          </a:prstGeom>
          <a:ln w="9525">
            <a:solidFill>
              <a:srgbClr val="DDDDDD"/>
            </a:solidFill>
          </a:ln>
        </p:spPr>
      </p:pic>
      <p:sp>
        <p:nvSpPr>
          <p:cNvPr id="12" name="TextBox 11"/>
          <p:cNvSpPr txBox="1"/>
          <p:nvPr/>
        </p:nvSpPr>
        <p:spPr>
          <a:xfrm>
            <a:off x="5207000" y="5068366"/>
            <a:ext cx="4292600" cy="181030"/>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Figure 4.3: the five auto-generated labels across 29,291 images.</a:t>
            </a:r>
          </a:p>
        </p:txBody>
      </p:sp>
      <p:sp>
        <p:nvSpPr>
          <p:cNvPr id="13" name="Rectangle 12"/>
          <p:cNvSpPr/>
          <p:nvPr/>
        </p:nvSpPr>
        <p:spPr>
          <a:xfrm>
            <a:off x="584200" y="5477997"/>
            <a:ext cx="8915400" cy="947978"/>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5630397"/>
            <a:ext cx="8458200" cy="643178"/>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A1A1A"/>
                </a:solidFill>
                <a:latin typeface="Calibri"/>
              </a:rPr>
              <a:t>Balanced by construction, but not perfect.  </a:t>
            </a:r>
            <a:r>
              <a:rPr sz="1150" b="0" i="0">
                <a:solidFill>
                  <a:srgbClr val="303030"/>
                </a:solidFill>
                <a:latin typeface="Calibri"/>
              </a:rPr>
              <a:t>The two distributions overlap, so an image sitting right at a percentile boundary can end up on the wrong side of it. That overlap is where the label noise comes from — and it is exactly what the proposed Phase 2 ensemble is meant to correct.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DATASET AND TRAINING SETUP</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9</a:t>
            </a:r>
          </a:p>
        </p:txBody>
      </p:sp>
      <p:sp>
        <p:nvSpPr>
          <p:cNvPr id="7" name="TextBox 6"/>
          <p:cNvSpPr txBox="1"/>
          <p:nvPr/>
        </p:nvSpPr>
        <p:spPr>
          <a:xfrm>
            <a:off x="584200" y="1270000"/>
            <a:ext cx="46736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DATASET</a:t>
            </a:r>
          </a:p>
        </p:txBody>
      </p:sp>
      <p:sp>
        <p:nvSpPr>
          <p:cNvPr id="8" name="TextBox 7"/>
          <p:cNvSpPr txBox="1"/>
          <p:nvPr/>
        </p:nvSpPr>
        <p:spPr>
          <a:xfrm>
            <a:off x="584200" y="1585823"/>
            <a:ext cx="4673600" cy="1646590"/>
          </a:xfrm>
          <a:prstGeom prst="rect">
            <a:avLst/>
          </a:prstGeom>
          <a:noFill/>
        </p:spPr>
        <p:txBody>
          <a:bodyPr wrap="square" lIns="0" rIns="0" tIns="0" bIns="0" anchor="t">
            <a:spAutoFit/>
          </a:bodyPr>
          <a:lstStyle/>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Fruit and Vegetable Dataset (Fresh vs. Rotten), from Kaggle — one folder per produce type, with fresh and rotten subfolders.</a:t>
            </a:r>
          </a:p>
          <a:p>
            <a:pPr algn="l">
              <a:lnSpc>
                <a:spcPct val="124000"/>
              </a:lnSpc>
              <a:spcBef>
                <a:spcPts val="0"/>
              </a:spcBef>
              <a:spcAft>
                <a:spcPts val="700"/>
              </a:spcAft>
            </a:pPr>
            <a:r>
              <a:rPr sz="1150" b="1">
                <a:solidFill>
                  <a:srgbClr val="0070C0"/>
                </a:solidFill>
                <a:latin typeface="Calibri"/>
              </a:rPr>
              <a:t>•   </a:t>
            </a:r>
            <a:r>
              <a:rPr sz="1150" b="1" i="0">
                <a:solidFill>
                  <a:srgbClr val="1A1A1A"/>
                </a:solidFill>
                <a:latin typeface="Calibri"/>
              </a:rPr>
              <a:t>29,291 images</a:t>
            </a:r>
            <a:r>
              <a:rPr sz="1150" b="0" i="0">
                <a:solidFill>
                  <a:srgbClr val="303030"/>
                </a:solidFill>
                <a:latin typeface="Calibri"/>
              </a:rPr>
              <a:t> across </a:t>
            </a:r>
            <a:r>
              <a:rPr sz="1150" b="1" i="0">
                <a:solidFill>
                  <a:srgbClr val="1A1A1A"/>
                </a:solidFill>
                <a:latin typeface="Calibri"/>
              </a:rPr>
              <a:t>14 produce types</a:t>
            </a:r>
            <a:r>
              <a:rPr sz="1150" b="0" i="0">
                <a:solidFill>
                  <a:srgbClr val="303030"/>
                </a:solidFill>
                <a:latin typeface="Calibri"/>
              </a:rPr>
              <a:t>.</a:t>
            </a:r>
          </a:p>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Unevenly balanced: apple, banana, orange and mango alone make up 61.6% of the dataset, while grape, guava, pomegranate and jujube contribute only 400 each.</a:t>
            </a:r>
          </a:p>
        </p:txBody>
      </p:sp>
      <p:pic>
        <p:nvPicPr>
          <p:cNvPr id="9" name="Picture 8" descr="fig_class_dist.png"/>
          <p:cNvPicPr>
            <a:picLocks noChangeAspect="1"/>
          </p:cNvPicPr>
          <p:nvPr/>
        </p:nvPicPr>
        <p:blipFill>
          <a:blip r:embed="rId2"/>
          <a:stretch>
            <a:fillRect/>
          </a:stretch>
        </p:blipFill>
        <p:spPr>
          <a:xfrm>
            <a:off x="968119" y="3384814"/>
            <a:ext cx="3905760" cy="2006600"/>
          </a:xfrm>
          <a:prstGeom prst="rect">
            <a:avLst/>
          </a:prstGeom>
          <a:ln w="9525">
            <a:solidFill>
              <a:srgbClr val="DDDDDD"/>
            </a:solidFill>
          </a:ln>
        </p:spPr>
      </p:pic>
      <p:sp>
        <p:nvSpPr>
          <p:cNvPr id="10" name="TextBox 9"/>
          <p:cNvSpPr txBox="1"/>
          <p:nvPr/>
        </p:nvSpPr>
        <p:spPr>
          <a:xfrm>
            <a:off x="584200" y="5454914"/>
            <a:ext cx="4673600" cy="181030"/>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Figure 4.4: class-wise image distribution.</a:t>
            </a:r>
          </a:p>
        </p:txBody>
      </p:sp>
      <p:sp>
        <p:nvSpPr>
          <p:cNvPr id="11" name="TextBox 10"/>
          <p:cNvSpPr txBox="1"/>
          <p:nvPr/>
        </p:nvSpPr>
        <p:spPr>
          <a:xfrm>
            <a:off x="5588000" y="1270000"/>
            <a:ext cx="39116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PRE-PROCESSING AND SPLIT</a:t>
            </a:r>
          </a:p>
        </p:txBody>
      </p:sp>
      <p:sp>
        <p:nvSpPr>
          <p:cNvPr id="12" name="TextBox 11"/>
          <p:cNvSpPr txBox="1"/>
          <p:nvPr/>
        </p:nvSpPr>
        <p:spPr>
          <a:xfrm>
            <a:off x="5588000" y="1585823"/>
            <a:ext cx="3911600" cy="1365788"/>
          </a:xfrm>
          <a:prstGeom prst="rect">
            <a:avLst/>
          </a:prstGeom>
          <a:noFill/>
        </p:spPr>
        <p:txBody>
          <a:bodyPr wrap="square" lIns="0" rIns="0" tIns="0" bIns="0" anchor="t">
            <a:spAutoFit/>
          </a:bodyPr>
          <a:lstStyle/>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Resized to 224 × 224 × 3 and normalised with MobileNetV2's own preprocess_input, matching how the network was originally pretrained.</a:t>
            </a:r>
          </a:p>
          <a:p>
            <a:pPr algn="l">
              <a:lnSpc>
                <a:spcPct val="124000"/>
              </a:lnSpc>
              <a:spcBef>
                <a:spcPts val="0"/>
              </a:spcBef>
              <a:spcAft>
                <a:spcPts val="700"/>
              </a:spcAft>
            </a:pPr>
            <a:r>
              <a:rPr sz="1150" b="1">
                <a:solidFill>
                  <a:srgbClr val="0070C0"/>
                </a:solidFill>
                <a:latin typeface="Calibri"/>
              </a:rPr>
              <a:t>•   </a:t>
            </a:r>
            <a:r>
              <a:rPr sz="1150" b="0" i="0">
                <a:solidFill>
                  <a:srgbClr val="303030"/>
                </a:solidFill>
                <a:latin typeface="Calibri"/>
              </a:rPr>
              <a:t>80 / 20 stratified train / validation split with a fixed seed — 23,432 training and 5,859 validation images.</a:t>
            </a:r>
          </a:p>
        </p:txBody>
      </p:sp>
      <p:sp>
        <p:nvSpPr>
          <p:cNvPr id="13" name="TextBox 12"/>
          <p:cNvSpPr txBox="1"/>
          <p:nvPr/>
        </p:nvSpPr>
        <p:spPr>
          <a:xfrm>
            <a:off x="5588000" y="3154812"/>
            <a:ext cx="39116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TRAINING</a:t>
            </a:r>
          </a:p>
        </p:txBody>
      </p:sp>
      <p:cxnSp>
        <p:nvCxnSpPr>
          <p:cNvPr id="14" name="Connector 13"/>
          <p:cNvCxnSpPr/>
          <p:nvPr/>
        </p:nvCxnSpPr>
        <p:spPr>
          <a:xfrm>
            <a:off x="5588000" y="3470635"/>
            <a:ext cx="39116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38800" y="3521435"/>
            <a:ext cx="1008448"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1A1A1A"/>
                </a:solidFill>
                <a:latin typeface="Calibri"/>
              </a:rPr>
              <a:t/>
            </a:r>
          </a:p>
        </p:txBody>
      </p:sp>
      <p:sp>
        <p:nvSpPr>
          <p:cNvPr id="16" name="TextBox 15"/>
          <p:cNvSpPr txBox="1"/>
          <p:nvPr/>
        </p:nvSpPr>
        <p:spPr>
          <a:xfrm>
            <a:off x="6748848" y="3521435"/>
            <a:ext cx="1167027"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Identification</a:t>
            </a:r>
          </a:p>
        </p:txBody>
      </p:sp>
      <p:sp>
        <p:nvSpPr>
          <p:cNvPr id="17" name="TextBox 16"/>
          <p:cNvSpPr txBox="1"/>
          <p:nvPr/>
        </p:nvSpPr>
        <p:spPr>
          <a:xfrm>
            <a:off x="8017475" y="3521435"/>
            <a:ext cx="1431324"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Freshness</a:t>
            </a:r>
          </a:p>
        </p:txBody>
      </p:sp>
      <p:cxnSp>
        <p:nvCxnSpPr>
          <p:cNvPr id="18" name="Connector 17"/>
          <p:cNvCxnSpPr/>
          <p:nvPr/>
        </p:nvCxnSpPr>
        <p:spPr>
          <a:xfrm>
            <a:off x="5588000" y="3717650"/>
            <a:ext cx="3911600" cy="0"/>
          </a:xfrm>
          <a:prstGeom prst="line">
            <a:avLst/>
          </a:prstGeom>
          <a:ln w="10160">
            <a:solidFill>
              <a:srgbClr val="1A1A1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38800" y="3768450"/>
            <a:ext cx="10084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Backbone</a:t>
            </a:r>
          </a:p>
        </p:txBody>
      </p:sp>
      <p:sp>
        <p:nvSpPr>
          <p:cNvPr id="20" name="TextBox 19"/>
          <p:cNvSpPr txBox="1"/>
          <p:nvPr/>
        </p:nvSpPr>
        <p:spPr>
          <a:xfrm>
            <a:off x="6748848" y="3768450"/>
            <a:ext cx="1167027"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MobileNetV2</a:t>
            </a:r>
          </a:p>
        </p:txBody>
      </p:sp>
      <p:sp>
        <p:nvSpPr>
          <p:cNvPr id="21" name="TextBox 20"/>
          <p:cNvSpPr txBox="1"/>
          <p:nvPr/>
        </p:nvSpPr>
        <p:spPr>
          <a:xfrm>
            <a:off x="8017475" y="3768450"/>
            <a:ext cx="143132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MobileNetV2</a:t>
            </a:r>
          </a:p>
        </p:txBody>
      </p:sp>
      <p:sp>
        <p:nvSpPr>
          <p:cNvPr id="22" name="TextBox 21"/>
          <p:cNvSpPr txBox="1"/>
          <p:nvPr/>
        </p:nvSpPr>
        <p:spPr>
          <a:xfrm>
            <a:off x="5638800" y="4022450"/>
            <a:ext cx="10084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Batch size</a:t>
            </a:r>
          </a:p>
        </p:txBody>
      </p:sp>
      <p:sp>
        <p:nvSpPr>
          <p:cNvPr id="23" name="TextBox 22"/>
          <p:cNvSpPr txBox="1"/>
          <p:nvPr/>
        </p:nvSpPr>
        <p:spPr>
          <a:xfrm>
            <a:off x="6748848" y="4022450"/>
            <a:ext cx="1167027"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32</a:t>
            </a:r>
          </a:p>
        </p:txBody>
      </p:sp>
      <p:sp>
        <p:nvSpPr>
          <p:cNvPr id="24" name="TextBox 23"/>
          <p:cNvSpPr txBox="1"/>
          <p:nvPr/>
        </p:nvSpPr>
        <p:spPr>
          <a:xfrm>
            <a:off x="8017475" y="4022450"/>
            <a:ext cx="143132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32</a:t>
            </a:r>
          </a:p>
        </p:txBody>
      </p:sp>
      <p:sp>
        <p:nvSpPr>
          <p:cNvPr id="25" name="TextBox 24"/>
          <p:cNvSpPr txBox="1"/>
          <p:nvPr/>
        </p:nvSpPr>
        <p:spPr>
          <a:xfrm>
            <a:off x="5638800" y="4276450"/>
            <a:ext cx="10084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Optimiser</a:t>
            </a:r>
          </a:p>
        </p:txBody>
      </p:sp>
      <p:sp>
        <p:nvSpPr>
          <p:cNvPr id="26" name="TextBox 25"/>
          <p:cNvSpPr txBox="1"/>
          <p:nvPr/>
        </p:nvSpPr>
        <p:spPr>
          <a:xfrm>
            <a:off x="6748848" y="4276450"/>
            <a:ext cx="1167027"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Adam</a:t>
            </a:r>
          </a:p>
        </p:txBody>
      </p:sp>
      <p:sp>
        <p:nvSpPr>
          <p:cNvPr id="27" name="TextBox 26"/>
          <p:cNvSpPr txBox="1"/>
          <p:nvPr/>
        </p:nvSpPr>
        <p:spPr>
          <a:xfrm>
            <a:off x="8017475" y="4276450"/>
            <a:ext cx="143132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Adam</a:t>
            </a:r>
          </a:p>
        </p:txBody>
      </p:sp>
      <p:sp>
        <p:nvSpPr>
          <p:cNvPr id="28" name="TextBox 27"/>
          <p:cNvSpPr txBox="1"/>
          <p:nvPr/>
        </p:nvSpPr>
        <p:spPr>
          <a:xfrm>
            <a:off x="5638800" y="4530450"/>
            <a:ext cx="10084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Stage 1</a:t>
            </a:r>
          </a:p>
        </p:txBody>
      </p:sp>
      <p:sp>
        <p:nvSpPr>
          <p:cNvPr id="29" name="TextBox 28"/>
          <p:cNvSpPr txBox="1"/>
          <p:nvPr/>
        </p:nvSpPr>
        <p:spPr>
          <a:xfrm>
            <a:off x="6748848" y="4530450"/>
            <a:ext cx="1167027"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5 epochs, frozen</a:t>
            </a:r>
          </a:p>
        </p:txBody>
      </p:sp>
      <p:sp>
        <p:nvSpPr>
          <p:cNvPr id="30" name="TextBox 29"/>
          <p:cNvSpPr txBox="1"/>
          <p:nvPr/>
        </p:nvSpPr>
        <p:spPr>
          <a:xfrm>
            <a:off x="8017475" y="4530450"/>
            <a:ext cx="143132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5 epochs, frozen</a:t>
            </a:r>
          </a:p>
        </p:txBody>
      </p:sp>
      <p:sp>
        <p:nvSpPr>
          <p:cNvPr id="31" name="TextBox 30"/>
          <p:cNvSpPr txBox="1"/>
          <p:nvPr/>
        </p:nvSpPr>
        <p:spPr>
          <a:xfrm>
            <a:off x="5638800" y="4784450"/>
            <a:ext cx="10084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Stage 2</a:t>
            </a:r>
          </a:p>
        </p:txBody>
      </p:sp>
      <p:sp>
        <p:nvSpPr>
          <p:cNvPr id="32" name="TextBox 31"/>
          <p:cNvSpPr txBox="1"/>
          <p:nvPr/>
        </p:nvSpPr>
        <p:spPr>
          <a:xfrm>
            <a:off x="6748848" y="4784450"/>
            <a:ext cx="1167027"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a:t>
            </a:r>
          </a:p>
        </p:txBody>
      </p:sp>
      <p:sp>
        <p:nvSpPr>
          <p:cNvPr id="33" name="TextBox 32"/>
          <p:cNvSpPr txBox="1"/>
          <p:nvPr/>
        </p:nvSpPr>
        <p:spPr>
          <a:xfrm>
            <a:off x="8017475" y="4784450"/>
            <a:ext cx="1431324" cy="341376"/>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5 epochs, last 30 layers, lr 1e-5</a:t>
            </a:r>
          </a:p>
        </p:txBody>
      </p:sp>
      <p:cxnSp>
        <p:nvCxnSpPr>
          <p:cNvPr id="34" name="Connector 33"/>
          <p:cNvCxnSpPr/>
          <p:nvPr/>
        </p:nvCxnSpPr>
        <p:spPr>
          <a:xfrm>
            <a:off x="5588000" y="5127350"/>
            <a:ext cx="39116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588000" y="5305150"/>
            <a:ext cx="3911600" cy="998423"/>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5800" y="5457550"/>
            <a:ext cx="3556000" cy="617423"/>
          </a:xfrm>
          <a:prstGeom prst="rect">
            <a:avLst/>
          </a:prstGeom>
          <a:noFill/>
        </p:spPr>
        <p:txBody>
          <a:bodyPr wrap="square" lIns="0" rIns="0" tIns="0" bIns="0" anchor="t">
            <a:spAutoFit/>
          </a:bodyPr>
          <a:lstStyle/>
          <a:p>
            <a:pPr algn="l">
              <a:lnSpc>
                <a:spcPct val="130000"/>
              </a:lnSpc>
              <a:spcBef>
                <a:spcPts val="0"/>
              </a:spcBef>
              <a:spcAft>
                <a:spcPts val="0"/>
              </a:spcAft>
            </a:pPr>
            <a:r>
              <a:rPr sz="1100" b="1" i="0">
                <a:solidFill>
                  <a:srgbClr val="1A1A1A"/>
                </a:solidFill>
                <a:latin typeface="Calibri"/>
              </a:rPr>
              <a:t>Trained on CPU only.  </a:t>
            </a:r>
            <a:r>
              <a:rPr sz="1100" b="0" i="0">
                <a:solidFill>
                  <a:srgbClr val="303030"/>
                </a:solidFill>
                <a:latin typeface="Calibri"/>
              </a:rPr>
              <a:t>No CUDA-capable GPU was detected, so TensorFlow fell back to its oneDNN CPU ops — roughly 7–9 minutes per epoch.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RESULTS — PRODUCE IDENTIFICATION</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10</a:t>
            </a:r>
          </a:p>
        </p:txBody>
      </p:sp>
      <p:sp>
        <p:nvSpPr>
          <p:cNvPr id="7" name="Rectangle 6"/>
          <p:cNvSpPr/>
          <p:nvPr/>
        </p:nvSpPr>
        <p:spPr>
          <a:xfrm>
            <a:off x="584200" y="1270000"/>
            <a:ext cx="4826000" cy="1053510"/>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1422400"/>
            <a:ext cx="4318000" cy="748710"/>
          </a:xfrm>
          <a:prstGeom prst="rect">
            <a:avLst/>
          </a:prstGeom>
          <a:noFill/>
        </p:spPr>
        <p:txBody>
          <a:bodyPr wrap="square" lIns="0" rIns="0" tIns="0" bIns="0" anchor="t">
            <a:spAutoFit/>
          </a:bodyPr>
          <a:lstStyle/>
          <a:p>
            <a:pPr algn="l">
              <a:lnSpc>
                <a:spcPct val="124000"/>
              </a:lnSpc>
              <a:spcBef>
                <a:spcPts val="0"/>
              </a:spcBef>
              <a:spcAft>
                <a:spcPts val="400"/>
              </a:spcAft>
            </a:pPr>
            <a:r>
              <a:rPr sz="2100" b="1" i="0">
                <a:solidFill>
                  <a:srgbClr val="0070C0"/>
                </a:solidFill>
                <a:latin typeface="Calibri"/>
              </a:rPr>
              <a:t>97.83%</a:t>
            </a:r>
            <a:r>
              <a:rPr sz="2100" b="0" i="0">
                <a:solidFill>
                  <a:srgbClr val="1A1A1A"/>
                </a:solidFill>
                <a:latin typeface="Calibri"/>
              </a:rPr>
              <a:t>   validation accuracy</a:t>
            </a:r>
          </a:p>
          <a:p>
            <a:pPr algn="l">
              <a:lnSpc>
                <a:spcPct val="120000"/>
              </a:lnSpc>
              <a:spcBef>
                <a:spcPts val="0"/>
              </a:spcBef>
              <a:spcAft>
                <a:spcPts val="0"/>
              </a:spcAft>
            </a:pPr>
            <a:r>
              <a:rPr sz="950" b="0" i="0">
                <a:solidFill>
                  <a:srgbClr val="666666"/>
                </a:solidFill>
                <a:latin typeface="Calibri"/>
              </a:rPr>
              <a:t>14 produce types  ·  5 epochs  ·  frozen backbone  ·  165,774 trainable parameters</a:t>
            </a:r>
          </a:p>
        </p:txBody>
      </p:sp>
      <p:pic>
        <p:nvPicPr>
          <p:cNvPr id="9" name="Picture 8" descr="fig_curves_id.png"/>
          <p:cNvPicPr>
            <a:picLocks noChangeAspect="1"/>
          </p:cNvPicPr>
          <p:nvPr/>
        </p:nvPicPr>
        <p:blipFill>
          <a:blip r:embed="rId2"/>
          <a:stretch>
            <a:fillRect/>
          </a:stretch>
        </p:blipFill>
        <p:spPr>
          <a:xfrm>
            <a:off x="584199" y="2286000"/>
            <a:ext cx="4826000" cy="1695534"/>
          </a:xfrm>
          <a:prstGeom prst="rect">
            <a:avLst/>
          </a:prstGeom>
          <a:ln w="9525">
            <a:solidFill>
              <a:srgbClr val="DDDDDD"/>
            </a:solidFill>
          </a:ln>
        </p:spPr>
      </p:pic>
      <p:sp>
        <p:nvSpPr>
          <p:cNvPr id="10" name="TextBox 9"/>
          <p:cNvSpPr txBox="1"/>
          <p:nvPr/>
        </p:nvSpPr>
        <p:spPr>
          <a:xfrm>
            <a:off x="584200" y="4045034"/>
            <a:ext cx="4826000" cy="181030"/>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Figure 5.1: training and validation curves, identification model.</a:t>
            </a:r>
          </a:p>
        </p:txBody>
      </p:sp>
      <p:sp>
        <p:nvSpPr>
          <p:cNvPr id="11" name="TextBox 10"/>
          <p:cNvSpPr txBox="1"/>
          <p:nvPr/>
        </p:nvSpPr>
        <p:spPr>
          <a:xfrm>
            <a:off x="584200" y="4429265"/>
            <a:ext cx="4826000" cy="1203858"/>
          </a:xfrm>
          <a:prstGeom prst="rect">
            <a:avLst/>
          </a:prstGeom>
          <a:noFill/>
        </p:spPr>
        <p:txBody>
          <a:bodyPr wrap="square" lIns="0" rIns="0" tIns="0" bIns="0" anchor="t">
            <a:spAutoFit/>
          </a:bodyPr>
          <a:lstStyle/>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Validation loss is essentially flat by epoch 4–5 (0.0629 → 0.0718) — a mild sign that a frozen-backbone model of this size is close to its ceiling on this task.</a:t>
            </a:r>
          </a:p>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Macro-average F1 0.97 and weighted-average F1 0.98 across 5,854 validation images.</a:t>
            </a:r>
          </a:p>
        </p:txBody>
      </p:sp>
      <p:sp>
        <p:nvSpPr>
          <p:cNvPr id="12" name="TextBox 11"/>
          <p:cNvSpPr txBox="1"/>
          <p:nvPr/>
        </p:nvSpPr>
        <p:spPr>
          <a:xfrm>
            <a:off x="5715000" y="1270000"/>
            <a:ext cx="37846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PER-CLASS HIGHLIGHTS</a:t>
            </a:r>
          </a:p>
        </p:txBody>
      </p:sp>
      <p:cxnSp>
        <p:nvCxnSpPr>
          <p:cNvPr id="13" name="Connector 12"/>
          <p:cNvCxnSpPr/>
          <p:nvPr/>
        </p:nvCxnSpPr>
        <p:spPr>
          <a:xfrm>
            <a:off x="5715000" y="1585823"/>
            <a:ext cx="37846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765800" y="1636623"/>
            <a:ext cx="1132508"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1A1A1A"/>
                </a:solidFill>
                <a:latin typeface="Calibri"/>
              </a:rPr>
              <a:t>Class</a:t>
            </a:r>
          </a:p>
        </p:txBody>
      </p:sp>
      <p:sp>
        <p:nvSpPr>
          <p:cNvPr id="15" name="TextBox 14"/>
          <p:cNvSpPr txBox="1"/>
          <p:nvPr/>
        </p:nvSpPr>
        <p:spPr>
          <a:xfrm>
            <a:off x="6999908" y="1636623"/>
            <a:ext cx="515454"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Prec.</a:t>
            </a:r>
          </a:p>
        </p:txBody>
      </p:sp>
      <p:sp>
        <p:nvSpPr>
          <p:cNvPr id="16" name="TextBox 15"/>
          <p:cNvSpPr txBox="1"/>
          <p:nvPr/>
        </p:nvSpPr>
        <p:spPr>
          <a:xfrm>
            <a:off x="7616963" y="1636623"/>
            <a:ext cx="515454"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Rec.</a:t>
            </a:r>
          </a:p>
        </p:txBody>
      </p:sp>
      <p:sp>
        <p:nvSpPr>
          <p:cNvPr id="17" name="TextBox 16"/>
          <p:cNvSpPr txBox="1"/>
          <p:nvPr/>
        </p:nvSpPr>
        <p:spPr>
          <a:xfrm>
            <a:off x="8234017" y="1636623"/>
            <a:ext cx="515454"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F1</a:t>
            </a:r>
          </a:p>
        </p:txBody>
      </p:sp>
      <p:sp>
        <p:nvSpPr>
          <p:cNvPr id="18" name="TextBox 17"/>
          <p:cNvSpPr txBox="1"/>
          <p:nvPr/>
        </p:nvSpPr>
        <p:spPr>
          <a:xfrm>
            <a:off x="8851071" y="1636623"/>
            <a:ext cx="597728"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n</a:t>
            </a:r>
          </a:p>
        </p:txBody>
      </p:sp>
      <p:cxnSp>
        <p:nvCxnSpPr>
          <p:cNvPr id="19" name="Connector 18"/>
          <p:cNvCxnSpPr/>
          <p:nvPr/>
        </p:nvCxnSpPr>
        <p:spPr>
          <a:xfrm>
            <a:off x="5715000" y="1832838"/>
            <a:ext cx="3784600" cy="0"/>
          </a:xfrm>
          <a:prstGeom prst="line">
            <a:avLst/>
          </a:prstGeom>
          <a:ln w="10160">
            <a:solidFill>
              <a:srgbClr val="1A1A1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65800" y="1883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Strawberry</a:t>
            </a:r>
          </a:p>
        </p:txBody>
      </p:sp>
      <p:sp>
        <p:nvSpPr>
          <p:cNvPr id="21" name="TextBox 20"/>
          <p:cNvSpPr txBox="1"/>
          <p:nvPr/>
        </p:nvSpPr>
        <p:spPr>
          <a:xfrm>
            <a:off x="6999908" y="1883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1.00</a:t>
            </a:r>
          </a:p>
        </p:txBody>
      </p:sp>
      <p:sp>
        <p:nvSpPr>
          <p:cNvPr id="22" name="TextBox 21"/>
          <p:cNvSpPr txBox="1"/>
          <p:nvPr/>
        </p:nvSpPr>
        <p:spPr>
          <a:xfrm>
            <a:off x="7616963" y="1883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1.00</a:t>
            </a:r>
          </a:p>
        </p:txBody>
      </p:sp>
      <p:sp>
        <p:nvSpPr>
          <p:cNvPr id="23" name="TextBox 22"/>
          <p:cNvSpPr txBox="1"/>
          <p:nvPr/>
        </p:nvSpPr>
        <p:spPr>
          <a:xfrm>
            <a:off x="8234017" y="1883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1.00</a:t>
            </a:r>
          </a:p>
        </p:txBody>
      </p:sp>
      <p:sp>
        <p:nvSpPr>
          <p:cNvPr id="24" name="TextBox 23"/>
          <p:cNvSpPr txBox="1"/>
          <p:nvPr/>
        </p:nvSpPr>
        <p:spPr>
          <a:xfrm>
            <a:off x="8851071" y="1883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640</a:t>
            </a:r>
          </a:p>
        </p:txBody>
      </p:sp>
      <p:sp>
        <p:nvSpPr>
          <p:cNvPr id="25" name="TextBox 24"/>
          <p:cNvSpPr txBox="1"/>
          <p:nvPr/>
        </p:nvSpPr>
        <p:spPr>
          <a:xfrm>
            <a:off x="5765800" y="2137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Banana</a:t>
            </a:r>
          </a:p>
        </p:txBody>
      </p:sp>
      <p:sp>
        <p:nvSpPr>
          <p:cNvPr id="26" name="TextBox 25"/>
          <p:cNvSpPr txBox="1"/>
          <p:nvPr/>
        </p:nvSpPr>
        <p:spPr>
          <a:xfrm>
            <a:off x="6999908" y="2137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1.00</a:t>
            </a:r>
          </a:p>
        </p:txBody>
      </p:sp>
      <p:sp>
        <p:nvSpPr>
          <p:cNvPr id="27" name="TextBox 26"/>
          <p:cNvSpPr txBox="1"/>
          <p:nvPr/>
        </p:nvSpPr>
        <p:spPr>
          <a:xfrm>
            <a:off x="7616963" y="2137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0.99</a:t>
            </a:r>
          </a:p>
        </p:txBody>
      </p:sp>
      <p:sp>
        <p:nvSpPr>
          <p:cNvPr id="28" name="TextBox 27"/>
          <p:cNvSpPr txBox="1"/>
          <p:nvPr/>
        </p:nvSpPr>
        <p:spPr>
          <a:xfrm>
            <a:off x="8234017" y="2137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0.99</a:t>
            </a:r>
          </a:p>
        </p:txBody>
      </p:sp>
      <p:sp>
        <p:nvSpPr>
          <p:cNvPr id="29" name="TextBox 28"/>
          <p:cNvSpPr txBox="1"/>
          <p:nvPr/>
        </p:nvSpPr>
        <p:spPr>
          <a:xfrm>
            <a:off x="8851071" y="2137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958</a:t>
            </a:r>
          </a:p>
        </p:txBody>
      </p:sp>
      <p:sp>
        <p:nvSpPr>
          <p:cNvPr id="30" name="TextBox 29"/>
          <p:cNvSpPr txBox="1"/>
          <p:nvPr/>
        </p:nvSpPr>
        <p:spPr>
          <a:xfrm>
            <a:off x="5765800" y="2391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Grape</a:t>
            </a:r>
          </a:p>
        </p:txBody>
      </p:sp>
      <p:sp>
        <p:nvSpPr>
          <p:cNvPr id="31" name="TextBox 30"/>
          <p:cNvSpPr txBox="1"/>
          <p:nvPr/>
        </p:nvSpPr>
        <p:spPr>
          <a:xfrm>
            <a:off x="6999908" y="2391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1.00</a:t>
            </a:r>
          </a:p>
        </p:txBody>
      </p:sp>
      <p:sp>
        <p:nvSpPr>
          <p:cNvPr id="32" name="TextBox 31"/>
          <p:cNvSpPr txBox="1"/>
          <p:nvPr/>
        </p:nvSpPr>
        <p:spPr>
          <a:xfrm>
            <a:off x="7616963" y="2391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0.99</a:t>
            </a:r>
          </a:p>
        </p:txBody>
      </p:sp>
      <p:sp>
        <p:nvSpPr>
          <p:cNvPr id="33" name="TextBox 32"/>
          <p:cNvSpPr txBox="1"/>
          <p:nvPr/>
        </p:nvSpPr>
        <p:spPr>
          <a:xfrm>
            <a:off x="8234017" y="2391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0.99</a:t>
            </a:r>
          </a:p>
        </p:txBody>
      </p:sp>
      <p:sp>
        <p:nvSpPr>
          <p:cNvPr id="34" name="TextBox 33"/>
          <p:cNvSpPr txBox="1"/>
          <p:nvPr/>
        </p:nvSpPr>
        <p:spPr>
          <a:xfrm>
            <a:off x="8851071" y="2391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80</a:t>
            </a:r>
          </a:p>
        </p:txBody>
      </p:sp>
      <p:sp>
        <p:nvSpPr>
          <p:cNvPr id="35" name="TextBox 34"/>
          <p:cNvSpPr txBox="1"/>
          <p:nvPr/>
        </p:nvSpPr>
        <p:spPr>
          <a:xfrm>
            <a:off x="5765800" y="2645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Apple</a:t>
            </a:r>
          </a:p>
        </p:txBody>
      </p:sp>
      <p:sp>
        <p:nvSpPr>
          <p:cNvPr id="36" name="TextBox 35"/>
          <p:cNvSpPr txBox="1"/>
          <p:nvPr/>
        </p:nvSpPr>
        <p:spPr>
          <a:xfrm>
            <a:off x="6999908" y="2645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0.99</a:t>
            </a:r>
          </a:p>
        </p:txBody>
      </p:sp>
      <p:sp>
        <p:nvSpPr>
          <p:cNvPr id="37" name="TextBox 36"/>
          <p:cNvSpPr txBox="1"/>
          <p:nvPr/>
        </p:nvSpPr>
        <p:spPr>
          <a:xfrm>
            <a:off x="7616963" y="2645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0.97</a:t>
            </a:r>
          </a:p>
        </p:txBody>
      </p:sp>
      <p:sp>
        <p:nvSpPr>
          <p:cNvPr id="38" name="TextBox 37"/>
          <p:cNvSpPr txBox="1"/>
          <p:nvPr/>
        </p:nvSpPr>
        <p:spPr>
          <a:xfrm>
            <a:off x="8234017" y="2645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0.98</a:t>
            </a:r>
          </a:p>
        </p:txBody>
      </p:sp>
      <p:sp>
        <p:nvSpPr>
          <p:cNvPr id="39" name="TextBox 38"/>
          <p:cNvSpPr txBox="1"/>
          <p:nvPr/>
        </p:nvSpPr>
        <p:spPr>
          <a:xfrm>
            <a:off x="8851071" y="2645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1,071</a:t>
            </a:r>
          </a:p>
        </p:txBody>
      </p:sp>
      <p:sp>
        <p:nvSpPr>
          <p:cNvPr id="40" name="TextBox 39"/>
          <p:cNvSpPr txBox="1"/>
          <p:nvPr/>
        </p:nvSpPr>
        <p:spPr>
          <a:xfrm>
            <a:off x="5765800" y="2899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Orange</a:t>
            </a:r>
          </a:p>
        </p:txBody>
      </p:sp>
      <p:sp>
        <p:nvSpPr>
          <p:cNvPr id="41" name="TextBox 40"/>
          <p:cNvSpPr txBox="1"/>
          <p:nvPr/>
        </p:nvSpPr>
        <p:spPr>
          <a:xfrm>
            <a:off x="6999908" y="2899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0.99</a:t>
            </a:r>
          </a:p>
        </p:txBody>
      </p:sp>
      <p:sp>
        <p:nvSpPr>
          <p:cNvPr id="42" name="TextBox 41"/>
          <p:cNvSpPr txBox="1"/>
          <p:nvPr/>
        </p:nvSpPr>
        <p:spPr>
          <a:xfrm>
            <a:off x="7616963" y="2899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0.98</a:t>
            </a:r>
          </a:p>
        </p:txBody>
      </p:sp>
      <p:sp>
        <p:nvSpPr>
          <p:cNvPr id="43" name="TextBox 42"/>
          <p:cNvSpPr txBox="1"/>
          <p:nvPr/>
        </p:nvSpPr>
        <p:spPr>
          <a:xfrm>
            <a:off x="8234017" y="2899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0.98</a:t>
            </a:r>
          </a:p>
        </p:txBody>
      </p:sp>
      <p:sp>
        <p:nvSpPr>
          <p:cNvPr id="44" name="TextBox 43"/>
          <p:cNvSpPr txBox="1"/>
          <p:nvPr/>
        </p:nvSpPr>
        <p:spPr>
          <a:xfrm>
            <a:off x="8851071" y="2899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852</a:t>
            </a:r>
          </a:p>
        </p:txBody>
      </p:sp>
      <p:sp>
        <p:nvSpPr>
          <p:cNvPr id="45" name="TextBox 44"/>
          <p:cNvSpPr txBox="1"/>
          <p:nvPr/>
        </p:nvSpPr>
        <p:spPr>
          <a:xfrm>
            <a:off x="5765800" y="3153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Pomegranate</a:t>
            </a:r>
          </a:p>
        </p:txBody>
      </p:sp>
      <p:sp>
        <p:nvSpPr>
          <p:cNvPr id="46" name="TextBox 45"/>
          <p:cNvSpPr txBox="1"/>
          <p:nvPr/>
        </p:nvSpPr>
        <p:spPr>
          <a:xfrm>
            <a:off x="6999908" y="3153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0.89</a:t>
            </a:r>
          </a:p>
        </p:txBody>
      </p:sp>
      <p:sp>
        <p:nvSpPr>
          <p:cNvPr id="47" name="TextBox 46"/>
          <p:cNvSpPr txBox="1"/>
          <p:nvPr/>
        </p:nvSpPr>
        <p:spPr>
          <a:xfrm>
            <a:off x="7616963" y="3153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0.99</a:t>
            </a:r>
          </a:p>
        </p:txBody>
      </p:sp>
      <p:sp>
        <p:nvSpPr>
          <p:cNvPr id="48" name="TextBox 47"/>
          <p:cNvSpPr txBox="1"/>
          <p:nvPr/>
        </p:nvSpPr>
        <p:spPr>
          <a:xfrm>
            <a:off x="8234017" y="3153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0.93</a:t>
            </a:r>
          </a:p>
        </p:txBody>
      </p:sp>
      <p:sp>
        <p:nvSpPr>
          <p:cNvPr id="49" name="TextBox 48"/>
          <p:cNvSpPr txBox="1"/>
          <p:nvPr/>
        </p:nvSpPr>
        <p:spPr>
          <a:xfrm>
            <a:off x="8851071" y="3153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80</a:t>
            </a:r>
          </a:p>
        </p:txBody>
      </p:sp>
      <p:sp>
        <p:nvSpPr>
          <p:cNvPr id="50" name="TextBox 49"/>
          <p:cNvSpPr txBox="1"/>
          <p:nvPr/>
        </p:nvSpPr>
        <p:spPr>
          <a:xfrm>
            <a:off x="5765800" y="3407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Potato</a:t>
            </a:r>
          </a:p>
        </p:txBody>
      </p:sp>
      <p:sp>
        <p:nvSpPr>
          <p:cNvPr id="51" name="TextBox 50"/>
          <p:cNvSpPr txBox="1"/>
          <p:nvPr/>
        </p:nvSpPr>
        <p:spPr>
          <a:xfrm>
            <a:off x="6999908" y="3407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0.97</a:t>
            </a:r>
          </a:p>
        </p:txBody>
      </p:sp>
      <p:sp>
        <p:nvSpPr>
          <p:cNvPr id="52" name="TextBox 51"/>
          <p:cNvSpPr txBox="1"/>
          <p:nvPr/>
        </p:nvSpPr>
        <p:spPr>
          <a:xfrm>
            <a:off x="7616963" y="3407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0.88</a:t>
            </a:r>
          </a:p>
        </p:txBody>
      </p:sp>
      <p:sp>
        <p:nvSpPr>
          <p:cNvPr id="53" name="TextBox 52"/>
          <p:cNvSpPr txBox="1"/>
          <p:nvPr/>
        </p:nvSpPr>
        <p:spPr>
          <a:xfrm>
            <a:off x="8234017" y="3407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0.93</a:t>
            </a:r>
          </a:p>
        </p:txBody>
      </p:sp>
      <p:sp>
        <p:nvSpPr>
          <p:cNvPr id="54" name="TextBox 53"/>
          <p:cNvSpPr txBox="1"/>
          <p:nvPr/>
        </p:nvSpPr>
        <p:spPr>
          <a:xfrm>
            <a:off x="8851071" y="3407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240</a:t>
            </a:r>
          </a:p>
        </p:txBody>
      </p:sp>
      <p:sp>
        <p:nvSpPr>
          <p:cNvPr id="55" name="TextBox 54"/>
          <p:cNvSpPr txBox="1"/>
          <p:nvPr/>
        </p:nvSpPr>
        <p:spPr>
          <a:xfrm>
            <a:off x="5765800" y="3661638"/>
            <a:ext cx="113250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1" i="0">
                <a:solidFill>
                  <a:srgbClr val="1A1A1A"/>
                </a:solidFill>
                <a:latin typeface="Calibri"/>
              </a:rPr>
              <a:t>Weighted avg.</a:t>
            </a:r>
          </a:p>
        </p:txBody>
      </p:sp>
      <p:sp>
        <p:nvSpPr>
          <p:cNvPr id="56" name="TextBox 55"/>
          <p:cNvSpPr txBox="1"/>
          <p:nvPr/>
        </p:nvSpPr>
        <p:spPr>
          <a:xfrm>
            <a:off x="6999908" y="3661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0.98</a:t>
            </a:r>
          </a:p>
        </p:txBody>
      </p:sp>
      <p:sp>
        <p:nvSpPr>
          <p:cNvPr id="57" name="TextBox 56"/>
          <p:cNvSpPr txBox="1"/>
          <p:nvPr/>
        </p:nvSpPr>
        <p:spPr>
          <a:xfrm>
            <a:off x="7616963" y="3661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0.98</a:t>
            </a:r>
          </a:p>
        </p:txBody>
      </p:sp>
      <p:sp>
        <p:nvSpPr>
          <p:cNvPr id="58" name="TextBox 57"/>
          <p:cNvSpPr txBox="1"/>
          <p:nvPr/>
        </p:nvSpPr>
        <p:spPr>
          <a:xfrm>
            <a:off x="8234017" y="3661638"/>
            <a:ext cx="515454"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0.98</a:t>
            </a:r>
          </a:p>
        </p:txBody>
      </p:sp>
      <p:sp>
        <p:nvSpPr>
          <p:cNvPr id="59" name="TextBox 58"/>
          <p:cNvSpPr txBox="1"/>
          <p:nvPr/>
        </p:nvSpPr>
        <p:spPr>
          <a:xfrm>
            <a:off x="8851071" y="3661638"/>
            <a:ext cx="597728"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5,854</a:t>
            </a:r>
          </a:p>
        </p:txBody>
      </p:sp>
      <p:cxnSp>
        <p:nvCxnSpPr>
          <p:cNvPr id="60" name="Connector 59"/>
          <p:cNvCxnSpPr/>
          <p:nvPr/>
        </p:nvCxnSpPr>
        <p:spPr>
          <a:xfrm>
            <a:off x="5715000" y="3864838"/>
            <a:ext cx="37846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715000" y="4118838"/>
            <a:ext cx="3784600" cy="1376354"/>
          </a:xfrm>
          <a:prstGeom prst="rect">
            <a:avLst/>
          </a:prstGeom>
          <a:noFill/>
        </p:spPr>
        <p:txBody>
          <a:bodyPr wrap="square" lIns="0" rIns="0" tIns="0" bIns="0" anchor="t">
            <a:spAutoFit/>
          </a:bodyPr>
          <a:lstStyle/>
          <a:p>
            <a:pPr algn="l">
              <a:lnSpc>
                <a:spcPct val="124000"/>
              </a:lnSpc>
              <a:spcBef>
                <a:spcPts val="0"/>
              </a:spcBef>
              <a:spcAft>
                <a:spcPts val="700"/>
              </a:spcAft>
            </a:pPr>
            <a:r>
              <a:rPr sz="1150" b="1" i="0">
                <a:solidFill>
                  <a:srgbClr val="1A1A1A"/>
                </a:solidFill>
                <a:latin typeface="Calibri"/>
              </a:rPr>
              <a:t>The two weakest classes</a:t>
            </a:r>
          </a:p>
          <a:p>
            <a:pPr algn="l">
              <a:lnSpc>
                <a:spcPct val="124000"/>
              </a:lnSpc>
              <a:spcBef>
                <a:spcPts val="0"/>
              </a:spcBef>
              <a:spcAft>
                <a:spcPts val="700"/>
              </a:spcAft>
            </a:pPr>
            <a:r>
              <a:rPr sz="1050" b="1">
                <a:solidFill>
                  <a:srgbClr val="0070C0"/>
                </a:solidFill>
                <a:latin typeface="Calibri"/>
              </a:rPr>
              <a:t>•   </a:t>
            </a:r>
            <a:r>
              <a:rPr sz="1050" b="0" i="0">
                <a:solidFill>
                  <a:srgbClr val="303030"/>
                </a:solidFill>
                <a:latin typeface="Calibri"/>
              </a:rPr>
              <a:t>Pomegranate — lower precision (0.89). It has one of the smallest training sets here, so other classes are occasionally mistaken for it.</a:t>
            </a:r>
          </a:p>
          <a:p>
            <a:pPr algn="l">
              <a:lnSpc>
                <a:spcPct val="124000"/>
              </a:lnSpc>
              <a:spcBef>
                <a:spcPts val="0"/>
              </a:spcBef>
              <a:spcAft>
                <a:spcPts val="700"/>
              </a:spcAft>
            </a:pPr>
            <a:r>
              <a:rPr sz="1050" b="1">
                <a:solidFill>
                  <a:srgbClr val="0070C0"/>
                </a:solidFill>
                <a:latin typeface="Calibri"/>
              </a:rPr>
              <a:t>•   </a:t>
            </a:r>
            <a:r>
              <a:rPr sz="1050" b="0" i="0">
                <a:solidFill>
                  <a:srgbClr val="303030"/>
                </a:solidFill>
                <a:latin typeface="Calibri"/>
              </a:rPr>
              <a:t>Potato — lower recall (0.88). It looks fairly similar to carrot in some of this dataset's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RESULTS — FRESHNESS GRADING</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11</a:t>
            </a:r>
          </a:p>
        </p:txBody>
      </p:sp>
      <p:sp>
        <p:nvSpPr>
          <p:cNvPr id="7" name="Rectangle 6"/>
          <p:cNvSpPr/>
          <p:nvPr/>
        </p:nvSpPr>
        <p:spPr>
          <a:xfrm>
            <a:off x="584200" y="1270000"/>
            <a:ext cx="2324100" cy="886561"/>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7400" y="1422400"/>
            <a:ext cx="1917700" cy="581761"/>
          </a:xfrm>
          <a:prstGeom prst="rect">
            <a:avLst/>
          </a:prstGeom>
          <a:noFill/>
        </p:spPr>
        <p:txBody>
          <a:bodyPr wrap="square" lIns="0" rIns="0" tIns="0" bIns="0" anchor="t">
            <a:spAutoFit/>
          </a:bodyPr>
          <a:lstStyle/>
          <a:p>
            <a:pPr algn="l">
              <a:lnSpc>
                <a:spcPct val="124000"/>
              </a:lnSpc>
              <a:spcBef>
                <a:spcPts val="0"/>
              </a:spcBef>
              <a:spcAft>
                <a:spcPts val="400"/>
              </a:spcAft>
            </a:pPr>
            <a:r>
              <a:rPr sz="2000" b="1" i="0">
                <a:solidFill>
                  <a:srgbClr val="1A1A1A"/>
                </a:solidFill>
                <a:latin typeface="Calibri"/>
              </a:rPr>
              <a:t>77.80%</a:t>
            </a:r>
          </a:p>
          <a:p>
            <a:pPr algn="l">
              <a:lnSpc>
                <a:spcPct val="120000"/>
              </a:lnSpc>
              <a:spcBef>
                <a:spcPts val="0"/>
              </a:spcBef>
              <a:spcAft>
                <a:spcPts val="0"/>
              </a:spcAft>
            </a:pPr>
            <a:r>
              <a:rPr sz="950" b="1" i="0">
                <a:solidFill>
                  <a:srgbClr val="1A1A1A"/>
                </a:solidFill>
                <a:latin typeface="Calibri"/>
              </a:rPr>
              <a:t>Stage 1  </a:t>
            </a:r>
            <a:r>
              <a:rPr sz="950" b="0" i="0">
                <a:solidFill>
                  <a:srgbClr val="666666"/>
                </a:solidFill>
                <a:latin typeface="Calibri"/>
              </a:rPr>
              <a:t>frozen backbone</a:t>
            </a:r>
          </a:p>
        </p:txBody>
      </p:sp>
      <p:sp>
        <p:nvSpPr>
          <p:cNvPr id="9" name="Rectangle 8"/>
          <p:cNvSpPr/>
          <p:nvPr/>
        </p:nvSpPr>
        <p:spPr>
          <a:xfrm>
            <a:off x="3086100" y="1270000"/>
            <a:ext cx="2324100" cy="1037132"/>
          </a:xfrm>
          <a:prstGeom prst="rect">
            <a:avLst/>
          </a:prstGeom>
          <a:solidFill>
            <a:srgbClr val="F2F5F9"/>
          </a:solidFill>
          <a:ln w="2032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89300" y="1422400"/>
            <a:ext cx="1917700" cy="732332"/>
          </a:xfrm>
          <a:prstGeom prst="rect">
            <a:avLst/>
          </a:prstGeom>
          <a:noFill/>
        </p:spPr>
        <p:txBody>
          <a:bodyPr wrap="square" lIns="0" rIns="0" tIns="0" bIns="0" anchor="t">
            <a:spAutoFit/>
          </a:bodyPr>
          <a:lstStyle/>
          <a:p>
            <a:pPr algn="l">
              <a:lnSpc>
                <a:spcPct val="124000"/>
              </a:lnSpc>
              <a:spcBef>
                <a:spcPts val="0"/>
              </a:spcBef>
              <a:spcAft>
                <a:spcPts val="400"/>
              </a:spcAft>
            </a:pPr>
            <a:r>
              <a:rPr sz="2000" b="1" i="0">
                <a:solidFill>
                  <a:srgbClr val="0070C0"/>
                </a:solidFill>
                <a:latin typeface="Calibri"/>
              </a:rPr>
              <a:t>80.41%</a:t>
            </a:r>
          </a:p>
          <a:p>
            <a:pPr algn="l">
              <a:lnSpc>
                <a:spcPct val="120000"/>
              </a:lnSpc>
              <a:spcBef>
                <a:spcPts val="0"/>
              </a:spcBef>
              <a:spcAft>
                <a:spcPts val="0"/>
              </a:spcAft>
            </a:pPr>
            <a:r>
              <a:rPr sz="950" b="1" i="0">
                <a:solidFill>
                  <a:srgbClr val="1A1A1A"/>
                </a:solidFill>
                <a:latin typeface="Calibri"/>
              </a:rPr>
              <a:t>Stage 2  </a:t>
            </a:r>
            <a:r>
              <a:rPr sz="950" b="0" i="0">
                <a:solidFill>
                  <a:srgbClr val="666666"/>
                </a:solidFill>
                <a:latin typeface="Calibri"/>
              </a:rPr>
              <a:t>last 30 layers fine-tuned</a:t>
            </a:r>
          </a:p>
        </p:txBody>
      </p:sp>
      <p:pic>
        <p:nvPicPr>
          <p:cNvPr id="11" name="Picture 10" descr="fig_curves_fresh.png"/>
          <p:cNvPicPr>
            <a:picLocks noChangeAspect="1"/>
          </p:cNvPicPr>
          <p:nvPr/>
        </p:nvPicPr>
        <p:blipFill>
          <a:blip r:embed="rId2"/>
          <a:stretch>
            <a:fillRect/>
          </a:stretch>
        </p:blipFill>
        <p:spPr>
          <a:xfrm>
            <a:off x="584199" y="2286000"/>
            <a:ext cx="4826000" cy="1711415"/>
          </a:xfrm>
          <a:prstGeom prst="rect">
            <a:avLst/>
          </a:prstGeom>
          <a:ln w="9525">
            <a:solidFill>
              <a:srgbClr val="DDDDDD"/>
            </a:solidFill>
          </a:ln>
        </p:spPr>
      </p:pic>
      <p:sp>
        <p:nvSpPr>
          <p:cNvPr id="12" name="TextBox 11"/>
          <p:cNvSpPr txBox="1"/>
          <p:nvPr/>
        </p:nvSpPr>
        <p:spPr>
          <a:xfrm>
            <a:off x="584200" y="4060915"/>
            <a:ext cx="4826000" cy="181030"/>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Figure 5.2: training and validation curves, both stages.</a:t>
            </a:r>
          </a:p>
        </p:txBody>
      </p:sp>
      <p:sp>
        <p:nvSpPr>
          <p:cNvPr id="13" name="TextBox 12"/>
          <p:cNvSpPr txBox="1"/>
          <p:nvPr/>
        </p:nvSpPr>
        <p:spPr>
          <a:xfrm>
            <a:off x="584200" y="4445146"/>
            <a:ext cx="4826000" cy="1203858"/>
          </a:xfrm>
          <a:prstGeom prst="rect">
            <a:avLst/>
          </a:prstGeom>
          <a:noFill/>
        </p:spPr>
        <p:txBody>
          <a:bodyPr wrap="square" lIns="0" rIns="0" tIns="0" bIns="0" anchor="t">
            <a:spAutoFit/>
          </a:bodyPr>
          <a:lstStyle/>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Fine-tuning the last 30 layers adds a consistent </a:t>
            </a:r>
            <a:r>
              <a:rPr sz="1150" b="1" i="0">
                <a:solidFill>
                  <a:srgbClr val="1A1A1A"/>
                </a:solidFill>
                <a:latin typeface="Calibri"/>
              </a:rPr>
              <a:t>+2.61 points</a:t>
            </a:r>
            <a:r>
              <a:rPr sz="1150" b="0" i="0">
                <a:solidFill>
                  <a:srgbClr val="303030"/>
                </a:solidFill>
                <a:latin typeface="Calibri"/>
              </a:rPr>
              <a:t>.</a:t>
            </a:r>
          </a:p>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Note the dip at epoch 6: training accuracy falls from 0.7892 to 0.6950 the moment those layers unfreeze, then climbs past the Stage 1 level by epoch 8. The very small learning rate lets the network settle rather than overwrite what it knew.</a:t>
            </a:r>
          </a:p>
        </p:txBody>
      </p:sp>
      <p:sp>
        <p:nvSpPr>
          <p:cNvPr id="14" name="TextBox 13"/>
          <p:cNvSpPr txBox="1"/>
          <p:nvPr/>
        </p:nvSpPr>
        <p:spPr>
          <a:xfrm>
            <a:off x="5715000" y="1270000"/>
            <a:ext cx="37846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PER-CLASS RESULTS   (n = 5,855)</a:t>
            </a:r>
          </a:p>
        </p:txBody>
      </p:sp>
      <p:cxnSp>
        <p:nvCxnSpPr>
          <p:cNvPr id="15" name="Connector 14"/>
          <p:cNvCxnSpPr/>
          <p:nvPr/>
        </p:nvCxnSpPr>
        <p:spPr>
          <a:xfrm>
            <a:off x="5715000" y="1585823"/>
            <a:ext cx="37846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65800" y="1636623"/>
            <a:ext cx="1229248"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1A1A1A"/>
                </a:solidFill>
                <a:latin typeface="Calibri"/>
              </a:rPr>
              <a:t>Class</a:t>
            </a:r>
          </a:p>
        </p:txBody>
      </p:sp>
      <p:sp>
        <p:nvSpPr>
          <p:cNvPr id="17" name="TextBox 16"/>
          <p:cNvSpPr txBox="1"/>
          <p:nvPr/>
        </p:nvSpPr>
        <p:spPr>
          <a:xfrm>
            <a:off x="7096648" y="1636623"/>
            <a:ext cx="480646"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Prec.</a:t>
            </a:r>
          </a:p>
        </p:txBody>
      </p:sp>
      <p:sp>
        <p:nvSpPr>
          <p:cNvPr id="18" name="TextBox 17"/>
          <p:cNvSpPr txBox="1"/>
          <p:nvPr/>
        </p:nvSpPr>
        <p:spPr>
          <a:xfrm>
            <a:off x="7678894" y="1636623"/>
            <a:ext cx="480646"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Rec.</a:t>
            </a:r>
          </a:p>
        </p:txBody>
      </p:sp>
      <p:sp>
        <p:nvSpPr>
          <p:cNvPr id="19" name="TextBox 18"/>
          <p:cNvSpPr txBox="1"/>
          <p:nvPr/>
        </p:nvSpPr>
        <p:spPr>
          <a:xfrm>
            <a:off x="8261140" y="1636623"/>
            <a:ext cx="480646"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F1</a:t>
            </a:r>
          </a:p>
        </p:txBody>
      </p:sp>
      <p:sp>
        <p:nvSpPr>
          <p:cNvPr id="20" name="TextBox 19"/>
          <p:cNvSpPr txBox="1"/>
          <p:nvPr/>
        </p:nvSpPr>
        <p:spPr>
          <a:xfrm>
            <a:off x="8843386" y="1636623"/>
            <a:ext cx="605413"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n</a:t>
            </a:r>
          </a:p>
        </p:txBody>
      </p:sp>
      <p:cxnSp>
        <p:nvCxnSpPr>
          <p:cNvPr id="21" name="Connector 20"/>
          <p:cNvCxnSpPr/>
          <p:nvPr/>
        </p:nvCxnSpPr>
        <p:spPr>
          <a:xfrm>
            <a:off x="5715000" y="1832838"/>
            <a:ext cx="3784600" cy="0"/>
          </a:xfrm>
          <a:prstGeom prst="line">
            <a:avLst/>
          </a:prstGeom>
          <a:ln w="10160">
            <a:solidFill>
              <a:srgbClr val="1A1A1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765800" y="1883638"/>
            <a:ext cx="12292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Fresh</a:t>
            </a:r>
          </a:p>
        </p:txBody>
      </p:sp>
      <p:sp>
        <p:nvSpPr>
          <p:cNvPr id="23" name="TextBox 22"/>
          <p:cNvSpPr txBox="1"/>
          <p:nvPr/>
        </p:nvSpPr>
        <p:spPr>
          <a:xfrm>
            <a:off x="7096648" y="1883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0.85</a:t>
            </a:r>
          </a:p>
        </p:txBody>
      </p:sp>
      <p:sp>
        <p:nvSpPr>
          <p:cNvPr id="24" name="TextBox 23"/>
          <p:cNvSpPr txBox="1"/>
          <p:nvPr/>
        </p:nvSpPr>
        <p:spPr>
          <a:xfrm>
            <a:off x="7678894" y="1883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0.87</a:t>
            </a:r>
          </a:p>
        </p:txBody>
      </p:sp>
      <p:sp>
        <p:nvSpPr>
          <p:cNvPr id="25" name="TextBox 24"/>
          <p:cNvSpPr txBox="1"/>
          <p:nvPr/>
        </p:nvSpPr>
        <p:spPr>
          <a:xfrm>
            <a:off x="8261140" y="1883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0.86</a:t>
            </a:r>
          </a:p>
        </p:txBody>
      </p:sp>
      <p:sp>
        <p:nvSpPr>
          <p:cNvPr id="26" name="TextBox 25"/>
          <p:cNvSpPr txBox="1"/>
          <p:nvPr/>
        </p:nvSpPr>
        <p:spPr>
          <a:xfrm>
            <a:off x="8843386" y="1883638"/>
            <a:ext cx="605413"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1,378</a:t>
            </a:r>
          </a:p>
        </p:txBody>
      </p:sp>
      <p:sp>
        <p:nvSpPr>
          <p:cNvPr id="27" name="TextBox 26"/>
          <p:cNvSpPr txBox="1"/>
          <p:nvPr/>
        </p:nvSpPr>
        <p:spPr>
          <a:xfrm>
            <a:off x="5765800" y="2137638"/>
            <a:ext cx="12292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Very Fresh</a:t>
            </a:r>
          </a:p>
        </p:txBody>
      </p:sp>
      <p:sp>
        <p:nvSpPr>
          <p:cNvPr id="28" name="TextBox 27"/>
          <p:cNvSpPr txBox="1"/>
          <p:nvPr/>
        </p:nvSpPr>
        <p:spPr>
          <a:xfrm>
            <a:off x="7096648" y="2137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0.85</a:t>
            </a:r>
          </a:p>
        </p:txBody>
      </p:sp>
      <p:sp>
        <p:nvSpPr>
          <p:cNvPr id="29" name="TextBox 28"/>
          <p:cNvSpPr txBox="1"/>
          <p:nvPr/>
        </p:nvSpPr>
        <p:spPr>
          <a:xfrm>
            <a:off x="7678894" y="2137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0.86</a:t>
            </a:r>
          </a:p>
        </p:txBody>
      </p:sp>
      <p:sp>
        <p:nvSpPr>
          <p:cNvPr id="30" name="TextBox 29"/>
          <p:cNvSpPr txBox="1"/>
          <p:nvPr/>
        </p:nvSpPr>
        <p:spPr>
          <a:xfrm>
            <a:off x="8261140" y="2137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0.85</a:t>
            </a:r>
          </a:p>
        </p:txBody>
      </p:sp>
      <p:sp>
        <p:nvSpPr>
          <p:cNvPr id="31" name="TextBox 30"/>
          <p:cNvSpPr txBox="1"/>
          <p:nvPr/>
        </p:nvSpPr>
        <p:spPr>
          <a:xfrm>
            <a:off x="8843386" y="2137638"/>
            <a:ext cx="605413"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1,378</a:t>
            </a:r>
          </a:p>
        </p:txBody>
      </p:sp>
      <p:sp>
        <p:nvSpPr>
          <p:cNvPr id="32" name="TextBox 31"/>
          <p:cNvSpPr txBox="1"/>
          <p:nvPr/>
        </p:nvSpPr>
        <p:spPr>
          <a:xfrm>
            <a:off x="5765800" y="2391638"/>
            <a:ext cx="12292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Very Rotten</a:t>
            </a:r>
          </a:p>
        </p:txBody>
      </p:sp>
      <p:sp>
        <p:nvSpPr>
          <p:cNvPr id="33" name="TextBox 32"/>
          <p:cNvSpPr txBox="1"/>
          <p:nvPr/>
        </p:nvSpPr>
        <p:spPr>
          <a:xfrm>
            <a:off x="7096648" y="2391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0.80</a:t>
            </a:r>
          </a:p>
        </p:txBody>
      </p:sp>
      <p:sp>
        <p:nvSpPr>
          <p:cNvPr id="34" name="TextBox 33"/>
          <p:cNvSpPr txBox="1"/>
          <p:nvPr/>
        </p:nvSpPr>
        <p:spPr>
          <a:xfrm>
            <a:off x="7678894" y="2391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0.84</a:t>
            </a:r>
          </a:p>
        </p:txBody>
      </p:sp>
      <p:sp>
        <p:nvSpPr>
          <p:cNvPr id="35" name="TextBox 34"/>
          <p:cNvSpPr txBox="1"/>
          <p:nvPr/>
        </p:nvSpPr>
        <p:spPr>
          <a:xfrm>
            <a:off x="8261140" y="2391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0.82</a:t>
            </a:r>
          </a:p>
        </p:txBody>
      </p:sp>
      <p:sp>
        <p:nvSpPr>
          <p:cNvPr id="36" name="TextBox 35"/>
          <p:cNvSpPr txBox="1"/>
          <p:nvPr/>
        </p:nvSpPr>
        <p:spPr>
          <a:xfrm>
            <a:off x="8843386" y="2391638"/>
            <a:ext cx="605413"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1,035</a:t>
            </a:r>
          </a:p>
        </p:txBody>
      </p:sp>
      <p:sp>
        <p:nvSpPr>
          <p:cNvPr id="37" name="TextBox 36"/>
          <p:cNvSpPr txBox="1"/>
          <p:nvPr/>
        </p:nvSpPr>
        <p:spPr>
          <a:xfrm>
            <a:off x="5765800" y="2645638"/>
            <a:ext cx="12292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Slightly Rotten</a:t>
            </a:r>
          </a:p>
        </p:txBody>
      </p:sp>
      <p:sp>
        <p:nvSpPr>
          <p:cNvPr id="38" name="TextBox 37"/>
          <p:cNvSpPr txBox="1"/>
          <p:nvPr/>
        </p:nvSpPr>
        <p:spPr>
          <a:xfrm>
            <a:off x="7096648" y="2645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0.80</a:t>
            </a:r>
          </a:p>
        </p:txBody>
      </p:sp>
      <p:sp>
        <p:nvSpPr>
          <p:cNvPr id="39" name="TextBox 38"/>
          <p:cNvSpPr txBox="1"/>
          <p:nvPr/>
        </p:nvSpPr>
        <p:spPr>
          <a:xfrm>
            <a:off x="7678894" y="2645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0.78</a:t>
            </a:r>
          </a:p>
        </p:txBody>
      </p:sp>
      <p:sp>
        <p:nvSpPr>
          <p:cNvPr id="40" name="TextBox 39"/>
          <p:cNvSpPr txBox="1"/>
          <p:nvPr/>
        </p:nvSpPr>
        <p:spPr>
          <a:xfrm>
            <a:off x="8261140" y="2645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0.79</a:t>
            </a:r>
          </a:p>
        </p:txBody>
      </p:sp>
      <p:sp>
        <p:nvSpPr>
          <p:cNvPr id="41" name="TextBox 40"/>
          <p:cNvSpPr txBox="1"/>
          <p:nvPr/>
        </p:nvSpPr>
        <p:spPr>
          <a:xfrm>
            <a:off x="8843386" y="2645638"/>
            <a:ext cx="605413"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1,032</a:t>
            </a:r>
          </a:p>
        </p:txBody>
      </p:sp>
      <p:sp>
        <p:nvSpPr>
          <p:cNvPr id="42" name="TextBox 41"/>
          <p:cNvSpPr txBox="1"/>
          <p:nvPr/>
        </p:nvSpPr>
        <p:spPr>
          <a:xfrm>
            <a:off x="5765800" y="2899638"/>
            <a:ext cx="12292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0" i="0">
                <a:solidFill>
                  <a:srgbClr val="303030"/>
                </a:solidFill>
                <a:latin typeface="Calibri"/>
              </a:rPr>
              <a:t>Rotten</a:t>
            </a:r>
          </a:p>
        </p:txBody>
      </p:sp>
      <p:sp>
        <p:nvSpPr>
          <p:cNvPr id="43" name="TextBox 42"/>
          <p:cNvSpPr txBox="1"/>
          <p:nvPr/>
        </p:nvSpPr>
        <p:spPr>
          <a:xfrm>
            <a:off x="7096648" y="2899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0.73</a:t>
            </a:r>
          </a:p>
        </p:txBody>
      </p:sp>
      <p:sp>
        <p:nvSpPr>
          <p:cNvPr id="44" name="TextBox 43"/>
          <p:cNvSpPr txBox="1"/>
          <p:nvPr/>
        </p:nvSpPr>
        <p:spPr>
          <a:xfrm>
            <a:off x="7678894" y="2899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0.67</a:t>
            </a:r>
          </a:p>
        </p:txBody>
      </p:sp>
      <p:sp>
        <p:nvSpPr>
          <p:cNvPr id="45" name="TextBox 44"/>
          <p:cNvSpPr txBox="1"/>
          <p:nvPr/>
        </p:nvSpPr>
        <p:spPr>
          <a:xfrm>
            <a:off x="8261140" y="2899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0.70</a:t>
            </a:r>
          </a:p>
        </p:txBody>
      </p:sp>
      <p:sp>
        <p:nvSpPr>
          <p:cNvPr id="46" name="TextBox 45"/>
          <p:cNvSpPr txBox="1"/>
          <p:nvPr/>
        </p:nvSpPr>
        <p:spPr>
          <a:xfrm>
            <a:off x="8843386" y="2899638"/>
            <a:ext cx="605413"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0" i="0">
                <a:solidFill>
                  <a:srgbClr val="303030"/>
                </a:solidFill>
                <a:latin typeface="Calibri"/>
              </a:rPr>
              <a:t>1,032</a:t>
            </a:r>
          </a:p>
        </p:txBody>
      </p:sp>
      <p:sp>
        <p:nvSpPr>
          <p:cNvPr id="47" name="TextBox 46"/>
          <p:cNvSpPr txBox="1"/>
          <p:nvPr/>
        </p:nvSpPr>
        <p:spPr>
          <a:xfrm>
            <a:off x="5765800" y="3153638"/>
            <a:ext cx="1229248" cy="196088"/>
          </a:xfrm>
          <a:prstGeom prst="rect">
            <a:avLst/>
          </a:prstGeom>
          <a:noFill/>
        </p:spPr>
        <p:txBody>
          <a:bodyPr wrap="square" lIns="0" rIns="0" tIns="0" bIns="0" anchor="t">
            <a:spAutoFit/>
          </a:bodyPr>
          <a:lstStyle/>
          <a:p>
            <a:pPr algn="l">
              <a:lnSpc>
                <a:spcPct val="110000"/>
              </a:lnSpc>
              <a:spcBef>
                <a:spcPts val="0"/>
              </a:spcBef>
              <a:spcAft>
                <a:spcPts val="0"/>
              </a:spcAft>
            </a:pPr>
            <a:r>
              <a:rPr sz="1000" b="1" i="0">
                <a:solidFill>
                  <a:srgbClr val="1A1A1A"/>
                </a:solidFill>
                <a:latin typeface="Calibri"/>
              </a:rPr>
              <a:t>Weighted avg.</a:t>
            </a:r>
          </a:p>
        </p:txBody>
      </p:sp>
      <p:sp>
        <p:nvSpPr>
          <p:cNvPr id="48" name="TextBox 47"/>
          <p:cNvSpPr txBox="1"/>
          <p:nvPr/>
        </p:nvSpPr>
        <p:spPr>
          <a:xfrm>
            <a:off x="7096648" y="3153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0.81</a:t>
            </a:r>
          </a:p>
        </p:txBody>
      </p:sp>
      <p:sp>
        <p:nvSpPr>
          <p:cNvPr id="49" name="TextBox 48"/>
          <p:cNvSpPr txBox="1"/>
          <p:nvPr/>
        </p:nvSpPr>
        <p:spPr>
          <a:xfrm>
            <a:off x="7678894" y="3153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0.81</a:t>
            </a:r>
          </a:p>
        </p:txBody>
      </p:sp>
      <p:sp>
        <p:nvSpPr>
          <p:cNvPr id="50" name="TextBox 49"/>
          <p:cNvSpPr txBox="1"/>
          <p:nvPr/>
        </p:nvSpPr>
        <p:spPr>
          <a:xfrm>
            <a:off x="8261140" y="3153638"/>
            <a:ext cx="480646"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0.81</a:t>
            </a:r>
          </a:p>
        </p:txBody>
      </p:sp>
      <p:sp>
        <p:nvSpPr>
          <p:cNvPr id="51" name="TextBox 50"/>
          <p:cNvSpPr txBox="1"/>
          <p:nvPr/>
        </p:nvSpPr>
        <p:spPr>
          <a:xfrm>
            <a:off x="8843386" y="3153638"/>
            <a:ext cx="605413" cy="196088"/>
          </a:xfrm>
          <a:prstGeom prst="rect">
            <a:avLst/>
          </a:prstGeom>
          <a:noFill/>
        </p:spPr>
        <p:txBody>
          <a:bodyPr wrap="square" lIns="0" rIns="0" tIns="0" bIns="0" anchor="t">
            <a:spAutoFit/>
          </a:bodyPr>
          <a:lstStyle/>
          <a:p>
            <a:pPr algn="ctr">
              <a:lnSpc>
                <a:spcPct val="110000"/>
              </a:lnSpc>
              <a:spcBef>
                <a:spcPts val="0"/>
              </a:spcBef>
              <a:spcAft>
                <a:spcPts val="0"/>
              </a:spcAft>
            </a:pPr>
            <a:r>
              <a:rPr sz="1000" b="1" i="0">
                <a:solidFill>
                  <a:srgbClr val="1A1A1A"/>
                </a:solidFill>
                <a:latin typeface="Calibri"/>
              </a:rPr>
              <a:t>5,855</a:t>
            </a:r>
          </a:p>
        </p:txBody>
      </p:sp>
      <p:cxnSp>
        <p:nvCxnSpPr>
          <p:cNvPr id="52" name="Connector 51"/>
          <p:cNvCxnSpPr/>
          <p:nvPr/>
        </p:nvCxnSpPr>
        <p:spPr>
          <a:xfrm>
            <a:off x="5715000" y="3356838"/>
            <a:ext cx="37846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715000" y="3610838"/>
            <a:ext cx="3784600" cy="1628891"/>
          </a:xfrm>
          <a:prstGeom prst="rect">
            <a:avLst/>
          </a:prstGeom>
          <a:noFill/>
        </p:spPr>
        <p:txBody>
          <a:bodyPr wrap="square" lIns="0" rIns="0" tIns="0" bIns="0" anchor="t">
            <a:spAutoFit/>
          </a:bodyPr>
          <a:lstStyle/>
          <a:p>
            <a:pPr algn="l">
              <a:lnSpc>
                <a:spcPct val="124000"/>
              </a:lnSpc>
              <a:spcBef>
                <a:spcPts val="0"/>
              </a:spcBef>
              <a:spcAft>
                <a:spcPts val="800"/>
              </a:spcAft>
            </a:pPr>
            <a:r>
              <a:rPr sz="1100" b="1">
                <a:solidFill>
                  <a:srgbClr val="0070C0"/>
                </a:solidFill>
                <a:latin typeface="Calibri"/>
              </a:rPr>
              <a:t>•   </a:t>
            </a:r>
            <a:r>
              <a:rPr sz="1100" b="0" i="0">
                <a:solidFill>
                  <a:srgbClr val="303030"/>
                </a:solidFill>
                <a:latin typeface="Calibri"/>
              </a:rPr>
              <a:t>Overall accuracy on the held-out set: </a:t>
            </a:r>
            <a:r>
              <a:rPr sz="1100" b="1" i="0">
                <a:solidFill>
                  <a:srgbClr val="1A1A1A"/>
                </a:solidFill>
                <a:latin typeface="Calibri"/>
              </a:rPr>
              <a:t>81.21%</a:t>
            </a:r>
            <a:r>
              <a:rPr sz="1100" b="0" i="0">
                <a:solidFill>
                  <a:srgbClr val="303030"/>
                </a:solidFill>
                <a:latin typeface="Calibri"/>
              </a:rPr>
              <a:t>.</a:t>
            </a:r>
          </a:p>
          <a:p>
            <a:pPr algn="l">
              <a:lnSpc>
                <a:spcPct val="124000"/>
              </a:lnSpc>
              <a:spcBef>
                <a:spcPts val="0"/>
              </a:spcBef>
              <a:spcAft>
                <a:spcPts val="800"/>
              </a:spcAft>
            </a:pPr>
            <a:r>
              <a:rPr sz="1100" b="1">
                <a:solidFill>
                  <a:srgbClr val="0070C0"/>
                </a:solidFill>
                <a:latin typeface="Calibri"/>
              </a:rPr>
              <a:t>•   </a:t>
            </a:r>
            <a:r>
              <a:rPr sz="1100" b="0" i="0">
                <a:solidFill>
                  <a:srgbClr val="303030"/>
                </a:solidFill>
                <a:latin typeface="Calibri"/>
              </a:rPr>
              <a:t>Collapsed to a binary fresh-versus-rotten decision, accuracy rises to </a:t>
            </a:r>
            <a:r>
              <a:rPr sz="1100" b="1" i="0">
                <a:solidFill>
                  <a:srgbClr val="1A1A1A"/>
                </a:solidFill>
                <a:latin typeface="Calibri"/>
              </a:rPr>
              <a:t>98.19%</a:t>
            </a:r>
            <a:r>
              <a:rPr sz="1100" b="0" i="0">
                <a:solidFill>
                  <a:srgbClr val="303030"/>
                </a:solidFill>
                <a:latin typeface="Calibri"/>
              </a:rPr>
              <a:t>.</a:t>
            </a:r>
          </a:p>
          <a:p>
            <a:pPr algn="l">
              <a:lnSpc>
                <a:spcPct val="124000"/>
              </a:lnSpc>
              <a:spcBef>
                <a:spcPts val="0"/>
              </a:spcBef>
              <a:spcAft>
                <a:spcPts val="800"/>
              </a:spcAft>
            </a:pPr>
            <a:r>
              <a:rPr sz="1100" b="1">
                <a:solidFill>
                  <a:srgbClr val="0070C0"/>
                </a:solidFill>
                <a:latin typeface="Calibri"/>
              </a:rPr>
              <a:t>•   </a:t>
            </a:r>
            <a:r>
              <a:rPr sz="1100" b="0" i="0">
                <a:solidFill>
                  <a:srgbClr val="303030"/>
                </a:solidFill>
                <a:latin typeface="Calibri"/>
              </a:rPr>
              <a:t>“Rotten” is the weakest class (F1 0.70). It sits between “slightly rotten” and “very rotten”, which is exactly where the heuristic labels are most ambiguous.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COMPARISON AND OVERALL PICTURE</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12</a:t>
            </a:r>
          </a:p>
        </p:txBody>
      </p:sp>
      <p:sp>
        <p:nvSpPr>
          <p:cNvPr id="7" name="TextBox 6"/>
          <p:cNvSpPr txBox="1"/>
          <p:nvPr/>
        </p:nvSpPr>
        <p:spPr>
          <a:xfrm>
            <a:off x="584200" y="1270000"/>
            <a:ext cx="89154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ALL THREE EXPERIMENTS SIDE BY SIDE</a:t>
            </a:r>
          </a:p>
        </p:txBody>
      </p:sp>
      <p:cxnSp>
        <p:nvCxnSpPr>
          <p:cNvPr id="8" name="Connector 7"/>
          <p:cNvCxnSpPr/>
          <p:nvPr/>
        </p:nvCxnSpPr>
        <p:spPr>
          <a:xfrm>
            <a:off x="584200" y="1585823"/>
            <a:ext cx="89154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35000" y="1636623"/>
            <a:ext cx="27051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1A1A1A"/>
                </a:solidFill>
                <a:latin typeface="Calibri"/>
              </a:rPr>
              <a:t>Experiment</a:t>
            </a:r>
          </a:p>
        </p:txBody>
      </p:sp>
      <p:sp>
        <p:nvSpPr>
          <p:cNvPr id="10" name="TextBox 9"/>
          <p:cNvSpPr txBox="1"/>
          <p:nvPr/>
        </p:nvSpPr>
        <p:spPr>
          <a:xfrm>
            <a:off x="3441700" y="1636623"/>
            <a:ext cx="2209800"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Supervision used</a:t>
            </a:r>
          </a:p>
        </p:txBody>
      </p:sp>
      <p:sp>
        <p:nvSpPr>
          <p:cNvPr id="11" name="TextBox 10"/>
          <p:cNvSpPr txBox="1"/>
          <p:nvPr/>
        </p:nvSpPr>
        <p:spPr>
          <a:xfrm>
            <a:off x="5753100" y="1636623"/>
            <a:ext cx="2044700"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Dataset</a:t>
            </a:r>
          </a:p>
        </p:txBody>
      </p:sp>
      <p:sp>
        <p:nvSpPr>
          <p:cNvPr id="12" name="TextBox 11"/>
          <p:cNvSpPr txBox="1"/>
          <p:nvPr/>
        </p:nvSpPr>
        <p:spPr>
          <a:xfrm>
            <a:off x="7899400" y="1636623"/>
            <a:ext cx="1549400"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Result</a:t>
            </a:r>
          </a:p>
        </p:txBody>
      </p:sp>
      <p:cxnSp>
        <p:nvCxnSpPr>
          <p:cNvPr id="13" name="Connector 12"/>
          <p:cNvCxnSpPr/>
          <p:nvPr/>
        </p:nvCxnSpPr>
        <p:spPr>
          <a:xfrm>
            <a:off x="584200" y="1832838"/>
            <a:ext cx="8915400" cy="0"/>
          </a:xfrm>
          <a:prstGeom prst="line">
            <a:avLst/>
          </a:prstGeom>
          <a:ln w="10160">
            <a:solidFill>
              <a:srgbClr val="1A1A1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000" y="1883638"/>
            <a:ext cx="2705100"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DBSCAN clustering</a:t>
            </a:r>
          </a:p>
        </p:txBody>
      </p:sp>
      <p:sp>
        <p:nvSpPr>
          <p:cNvPr id="15" name="TextBox 14"/>
          <p:cNvSpPr txBox="1"/>
          <p:nvPr/>
        </p:nvSpPr>
        <p:spPr>
          <a:xfrm>
            <a:off x="3441700" y="1883638"/>
            <a:ext cx="22098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None</a:t>
            </a:r>
          </a:p>
        </p:txBody>
      </p:sp>
      <p:sp>
        <p:nvSpPr>
          <p:cNvPr id="16" name="TextBox 15"/>
          <p:cNvSpPr txBox="1"/>
          <p:nvPr/>
        </p:nvSpPr>
        <p:spPr>
          <a:xfrm>
            <a:off x="5753100" y="1883638"/>
            <a:ext cx="20447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Fruits-360, 124,548 img.</a:t>
            </a:r>
          </a:p>
        </p:txBody>
      </p:sp>
      <p:sp>
        <p:nvSpPr>
          <p:cNvPr id="17" name="TextBox 16"/>
          <p:cNvSpPr txBox="1"/>
          <p:nvPr/>
        </p:nvSpPr>
        <p:spPr>
          <a:xfrm>
            <a:off x="7899400" y="1883638"/>
            <a:ext cx="15494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61.6% purity</a:t>
            </a:r>
          </a:p>
        </p:txBody>
      </p:sp>
      <p:sp>
        <p:nvSpPr>
          <p:cNvPr id="18" name="TextBox 17"/>
          <p:cNvSpPr txBox="1"/>
          <p:nvPr/>
        </p:nvSpPr>
        <p:spPr>
          <a:xfrm>
            <a:off x="635000" y="2144623"/>
            <a:ext cx="2705100"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Semi-supervised pseudo-labelling</a:t>
            </a:r>
          </a:p>
        </p:txBody>
      </p:sp>
      <p:sp>
        <p:nvSpPr>
          <p:cNvPr id="19" name="TextBox 18"/>
          <p:cNvSpPr txBox="1"/>
          <p:nvPr/>
        </p:nvSpPr>
        <p:spPr>
          <a:xfrm>
            <a:off x="3441700" y="2144623"/>
            <a:ext cx="22098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900 labelled seed images</a:t>
            </a:r>
          </a:p>
        </p:txBody>
      </p:sp>
      <p:sp>
        <p:nvSpPr>
          <p:cNvPr id="20" name="TextBox 19"/>
          <p:cNvSpPr txBox="1"/>
          <p:nvPr/>
        </p:nvSpPr>
        <p:spPr>
          <a:xfrm>
            <a:off x="5753100" y="2144623"/>
            <a:ext cx="20447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36 classes, 3,825 img.</a:t>
            </a:r>
          </a:p>
        </p:txBody>
      </p:sp>
      <p:sp>
        <p:nvSpPr>
          <p:cNvPr id="21" name="TextBox 20"/>
          <p:cNvSpPr txBox="1"/>
          <p:nvPr/>
        </p:nvSpPr>
        <p:spPr>
          <a:xfrm>
            <a:off x="7899400" y="2144623"/>
            <a:ext cx="15494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89.1% test acc.</a:t>
            </a:r>
          </a:p>
        </p:txBody>
      </p:sp>
      <p:sp>
        <p:nvSpPr>
          <p:cNvPr id="22" name="TextBox 21"/>
          <p:cNvSpPr txBox="1"/>
          <p:nvPr/>
        </p:nvSpPr>
        <p:spPr>
          <a:xfrm>
            <a:off x="635000" y="2405608"/>
            <a:ext cx="2705100"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FreshVision — identification</a:t>
            </a:r>
          </a:p>
        </p:txBody>
      </p:sp>
      <p:sp>
        <p:nvSpPr>
          <p:cNvPr id="23" name="TextBox 22"/>
          <p:cNvSpPr txBox="1"/>
          <p:nvPr/>
        </p:nvSpPr>
        <p:spPr>
          <a:xfrm>
            <a:off x="3441700" y="2405608"/>
            <a:ext cx="22098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Full (existing folder labels)</a:t>
            </a:r>
          </a:p>
        </p:txBody>
      </p:sp>
      <p:sp>
        <p:nvSpPr>
          <p:cNvPr id="24" name="TextBox 23"/>
          <p:cNvSpPr txBox="1"/>
          <p:nvPr/>
        </p:nvSpPr>
        <p:spPr>
          <a:xfrm>
            <a:off x="5753100" y="2405608"/>
            <a:ext cx="20447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29,291 img., 14 classes</a:t>
            </a:r>
          </a:p>
        </p:txBody>
      </p:sp>
      <p:sp>
        <p:nvSpPr>
          <p:cNvPr id="25" name="TextBox 24"/>
          <p:cNvSpPr txBox="1"/>
          <p:nvPr/>
        </p:nvSpPr>
        <p:spPr>
          <a:xfrm>
            <a:off x="7899400" y="2405608"/>
            <a:ext cx="15494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97.8% val. acc.</a:t>
            </a:r>
          </a:p>
        </p:txBody>
      </p:sp>
      <p:sp>
        <p:nvSpPr>
          <p:cNvPr id="26" name="TextBox 25"/>
          <p:cNvSpPr txBox="1"/>
          <p:nvPr/>
        </p:nvSpPr>
        <p:spPr>
          <a:xfrm>
            <a:off x="635000" y="2666593"/>
            <a:ext cx="2705100"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FreshVision — freshness, Phase 1</a:t>
            </a:r>
          </a:p>
        </p:txBody>
      </p:sp>
      <p:sp>
        <p:nvSpPr>
          <p:cNvPr id="27" name="TextBox 26"/>
          <p:cNvSpPr txBox="1"/>
          <p:nvPr/>
        </p:nvSpPr>
        <p:spPr>
          <a:xfrm>
            <a:off x="3441700" y="2666593"/>
            <a:ext cx="22098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Full (heuristic pseudo-labels)</a:t>
            </a:r>
          </a:p>
        </p:txBody>
      </p:sp>
      <p:sp>
        <p:nvSpPr>
          <p:cNvPr id="28" name="TextBox 27"/>
          <p:cNvSpPr txBox="1"/>
          <p:nvPr/>
        </p:nvSpPr>
        <p:spPr>
          <a:xfrm>
            <a:off x="5753100" y="2666593"/>
            <a:ext cx="20447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29,291 img., 5 classes</a:t>
            </a:r>
          </a:p>
        </p:txBody>
      </p:sp>
      <p:sp>
        <p:nvSpPr>
          <p:cNvPr id="29" name="TextBox 28"/>
          <p:cNvSpPr txBox="1"/>
          <p:nvPr/>
        </p:nvSpPr>
        <p:spPr>
          <a:xfrm>
            <a:off x="7899400" y="2666593"/>
            <a:ext cx="154940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80.4% val. acc.</a:t>
            </a:r>
          </a:p>
        </p:txBody>
      </p:sp>
      <p:cxnSp>
        <p:nvCxnSpPr>
          <p:cNvPr id="30" name="Connector 29"/>
          <p:cNvCxnSpPr/>
          <p:nvPr/>
        </p:nvCxnSpPr>
        <p:spPr>
          <a:xfrm>
            <a:off x="584200" y="2876778"/>
            <a:ext cx="89154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4200" y="3029178"/>
            <a:ext cx="89154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0" i="1">
                <a:solidFill>
                  <a:srgbClr val="666666"/>
                </a:solidFill>
                <a:latin typeface="Calibri"/>
              </a:rPr>
              <a:t>Accuracy tracks how much labelled supervision was actually available to the model.</a:t>
            </a:r>
          </a:p>
        </p:txBody>
      </p:sp>
      <p:sp>
        <p:nvSpPr>
          <p:cNvPr id="32" name="TextBox 31"/>
          <p:cNvSpPr txBox="1"/>
          <p:nvPr/>
        </p:nvSpPr>
        <p:spPr>
          <a:xfrm>
            <a:off x="584200" y="3522324"/>
            <a:ext cx="89154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AGAINST PUBLISHED WORK</a:t>
            </a:r>
          </a:p>
        </p:txBody>
      </p:sp>
      <p:cxnSp>
        <p:nvCxnSpPr>
          <p:cNvPr id="33" name="Connector 32"/>
          <p:cNvCxnSpPr/>
          <p:nvPr/>
        </p:nvCxnSpPr>
        <p:spPr>
          <a:xfrm>
            <a:off x="584200" y="3838148"/>
            <a:ext cx="89154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5000" y="3888948"/>
            <a:ext cx="3286252"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1A1A1A"/>
                </a:solidFill>
                <a:latin typeface="Calibri"/>
              </a:rPr>
              <a:t>Study</a:t>
            </a:r>
          </a:p>
        </p:txBody>
      </p:sp>
      <p:sp>
        <p:nvSpPr>
          <p:cNvPr id="35" name="TextBox 34"/>
          <p:cNvSpPr txBox="1"/>
          <p:nvPr/>
        </p:nvSpPr>
        <p:spPr>
          <a:xfrm>
            <a:off x="4022852" y="3888948"/>
            <a:ext cx="1681480"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Produce types</a:t>
            </a:r>
          </a:p>
        </p:txBody>
      </p:sp>
      <p:sp>
        <p:nvSpPr>
          <p:cNvPr id="36" name="TextBox 35"/>
          <p:cNvSpPr txBox="1"/>
          <p:nvPr/>
        </p:nvSpPr>
        <p:spPr>
          <a:xfrm>
            <a:off x="5805932" y="3888948"/>
            <a:ext cx="1859788"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Freshness levels</a:t>
            </a:r>
          </a:p>
        </p:txBody>
      </p:sp>
      <p:sp>
        <p:nvSpPr>
          <p:cNvPr id="37" name="TextBox 36"/>
          <p:cNvSpPr txBox="1"/>
          <p:nvPr/>
        </p:nvSpPr>
        <p:spPr>
          <a:xfrm>
            <a:off x="7767319" y="3888948"/>
            <a:ext cx="1681480" cy="188823"/>
          </a:xfrm>
          <a:prstGeom prst="rect">
            <a:avLst/>
          </a:prstGeom>
          <a:noFill/>
        </p:spPr>
        <p:txBody>
          <a:bodyPr wrap="square" lIns="0" rIns="0" tIns="0" bIns="0" anchor="t">
            <a:spAutoFit/>
          </a:bodyPr>
          <a:lstStyle/>
          <a:p>
            <a:pPr algn="ctr">
              <a:lnSpc>
                <a:spcPct val="110000"/>
              </a:lnSpc>
              <a:spcBef>
                <a:spcPts val="0"/>
              </a:spcBef>
              <a:spcAft>
                <a:spcPts val="0"/>
              </a:spcAft>
            </a:pPr>
            <a:r>
              <a:rPr sz="950" b="1" i="0">
                <a:solidFill>
                  <a:srgbClr val="1A1A1A"/>
                </a:solidFill>
                <a:latin typeface="Calibri"/>
              </a:rPr>
              <a:t>Accuracy</a:t>
            </a:r>
          </a:p>
        </p:txBody>
      </p:sp>
      <p:cxnSp>
        <p:nvCxnSpPr>
          <p:cNvPr id="38" name="Connector 37"/>
          <p:cNvCxnSpPr/>
          <p:nvPr/>
        </p:nvCxnSpPr>
        <p:spPr>
          <a:xfrm>
            <a:off x="584200" y="4085163"/>
            <a:ext cx="8915400" cy="0"/>
          </a:xfrm>
          <a:prstGeom prst="line">
            <a:avLst/>
          </a:prstGeom>
          <a:ln w="10160">
            <a:solidFill>
              <a:srgbClr val="1A1A1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35000" y="4135963"/>
            <a:ext cx="3286252"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Amin et al. (2023)</a:t>
            </a:r>
          </a:p>
        </p:txBody>
      </p:sp>
      <p:sp>
        <p:nvSpPr>
          <p:cNvPr id="40" name="TextBox 39"/>
          <p:cNvSpPr txBox="1"/>
          <p:nvPr/>
        </p:nvSpPr>
        <p:spPr>
          <a:xfrm>
            <a:off x="4022852" y="4135963"/>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3</a:t>
            </a:r>
          </a:p>
        </p:txBody>
      </p:sp>
      <p:sp>
        <p:nvSpPr>
          <p:cNvPr id="41" name="TextBox 40"/>
          <p:cNvSpPr txBox="1"/>
          <p:nvPr/>
        </p:nvSpPr>
        <p:spPr>
          <a:xfrm>
            <a:off x="5805932" y="4135963"/>
            <a:ext cx="185978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2 (manual)</a:t>
            </a:r>
          </a:p>
        </p:txBody>
      </p:sp>
      <p:sp>
        <p:nvSpPr>
          <p:cNvPr id="42" name="TextBox 41"/>
          <p:cNvSpPr txBox="1"/>
          <p:nvPr/>
        </p:nvSpPr>
        <p:spPr>
          <a:xfrm>
            <a:off x="7767319" y="4135963"/>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&gt; 99%</a:t>
            </a:r>
          </a:p>
        </p:txBody>
      </p:sp>
      <p:sp>
        <p:nvSpPr>
          <p:cNvPr id="43" name="TextBox 42"/>
          <p:cNvSpPr txBox="1"/>
          <p:nvPr/>
        </p:nvSpPr>
        <p:spPr>
          <a:xfrm>
            <a:off x="635000" y="4396948"/>
            <a:ext cx="3286252"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Ghosh &amp; Singh (2026)</a:t>
            </a:r>
          </a:p>
        </p:txBody>
      </p:sp>
      <p:sp>
        <p:nvSpPr>
          <p:cNvPr id="44" name="TextBox 43"/>
          <p:cNvSpPr txBox="1"/>
          <p:nvPr/>
        </p:nvSpPr>
        <p:spPr>
          <a:xfrm>
            <a:off x="4022852" y="4396948"/>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3</a:t>
            </a:r>
          </a:p>
        </p:txBody>
      </p:sp>
      <p:sp>
        <p:nvSpPr>
          <p:cNvPr id="45" name="TextBox 44"/>
          <p:cNvSpPr txBox="1"/>
          <p:nvPr/>
        </p:nvSpPr>
        <p:spPr>
          <a:xfrm>
            <a:off x="5805932" y="4396948"/>
            <a:ext cx="185978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2 (manual)</a:t>
            </a:r>
          </a:p>
        </p:txBody>
      </p:sp>
      <p:sp>
        <p:nvSpPr>
          <p:cNvPr id="46" name="TextBox 45"/>
          <p:cNvSpPr txBox="1"/>
          <p:nvPr/>
        </p:nvSpPr>
        <p:spPr>
          <a:xfrm>
            <a:off x="7767319" y="4396948"/>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98.9%</a:t>
            </a:r>
          </a:p>
        </p:txBody>
      </p:sp>
      <p:sp>
        <p:nvSpPr>
          <p:cNvPr id="47" name="TextBox 46"/>
          <p:cNvSpPr txBox="1"/>
          <p:nvPr/>
        </p:nvSpPr>
        <p:spPr>
          <a:xfrm>
            <a:off x="635000" y="4657933"/>
            <a:ext cx="3286252" cy="203352"/>
          </a:xfrm>
          <a:prstGeom prst="rect">
            <a:avLst/>
          </a:prstGeom>
          <a:noFill/>
        </p:spPr>
        <p:txBody>
          <a:bodyPr wrap="square" lIns="0" rIns="0" tIns="0" bIns="0" anchor="t">
            <a:spAutoFit/>
          </a:bodyPr>
          <a:lstStyle/>
          <a:p>
            <a:pPr algn="l">
              <a:lnSpc>
                <a:spcPct val="110000"/>
              </a:lnSpc>
              <a:spcBef>
                <a:spcPts val="0"/>
              </a:spcBef>
              <a:spcAft>
                <a:spcPts val="0"/>
              </a:spcAft>
            </a:pPr>
            <a:r>
              <a:rPr sz="1050" b="0" i="0">
                <a:solidFill>
                  <a:srgbClr val="303030"/>
                </a:solidFill>
                <a:latin typeface="Calibri"/>
              </a:rPr>
              <a:t>Fahad et al. (2022)</a:t>
            </a:r>
          </a:p>
        </p:txBody>
      </p:sp>
      <p:sp>
        <p:nvSpPr>
          <p:cNvPr id="48" name="TextBox 47"/>
          <p:cNvSpPr txBox="1"/>
          <p:nvPr/>
        </p:nvSpPr>
        <p:spPr>
          <a:xfrm>
            <a:off x="4022852" y="4657933"/>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11</a:t>
            </a:r>
          </a:p>
        </p:txBody>
      </p:sp>
      <p:sp>
        <p:nvSpPr>
          <p:cNvPr id="49" name="TextBox 48"/>
          <p:cNvSpPr txBox="1"/>
          <p:nvPr/>
        </p:nvSpPr>
        <p:spPr>
          <a:xfrm>
            <a:off x="5805932" y="4657933"/>
            <a:ext cx="185978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3 (manual)</a:t>
            </a:r>
          </a:p>
        </p:txBody>
      </p:sp>
      <p:sp>
        <p:nvSpPr>
          <p:cNvPr id="50" name="TextBox 49"/>
          <p:cNvSpPr txBox="1"/>
          <p:nvPr/>
        </p:nvSpPr>
        <p:spPr>
          <a:xfrm>
            <a:off x="7767319" y="4657933"/>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0" i="0">
                <a:solidFill>
                  <a:srgbClr val="303030"/>
                </a:solidFill>
                <a:latin typeface="Calibri"/>
              </a:rPr>
              <a:t>82–84%</a:t>
            </a:r>
          </a:p>
        </p:txBody>
      </p:sp>
      <p:sp>
        <p:nvSpPr>
          <p:cNvPr id="51" name="TextBox 50"/>
          <p:cNvSpPr txBox="1"/>
          <p:nvPr/>
        </p:nvSpPr>
        <p:spPr>
          <a:xfrm>
            <a:off x="635000" y="4918918"/>
            <a:ext cx="3286252" cy="20335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A1A1A"/>
                </a:solidFill>
                <a:latin typeface="Calibri"/>
              </a:rPr>
              <a:t>This work — identification</a:t>
            </a:r>
          </a:p>
        </p:txBody>
      </p:sp>
      <p:sp>
        <p:nvSpPr>
          <p:cNvPr id="52" name="TextBox 51"/>
          <p:cNvSpPr txBox="1"/>
          <p:nvPr/>
        </p:nvSpPr>
        <p:spPr>
          <a:xfrm>
            <a:off x="4022852" y="4918918"/>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14</a:t>
            </a:r>
          </a:p>
        </p:txBody>
      </p:sp>
      <p:sp>
        <p:nvSpPr>
          <p:cNvPr id="53" name="TextBox 52"/>
          <p:cNvSpPr txBox="1"/>
          <p:nvPr/>
        </p:nvSpPr>
        <p:spPr>
          <a:xfrm>
            <a:off x="5805932" y="4918918"/>
            <a:ext cx="185978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a:t>
            </a:r>
          </a:p>
        </p:txBody>
      </p:sp>
      <p:sp>
        <p:nvSpPr>
          <p:cNvPr id="54" name="TextBox 53"/>
          <p:cNvSpPr txBox="1"/>
          <p:nvPr/>
        </p:nvSpPr>
        <p:spPr>
          <a:xfrm>
            <a:off x="7767319" y="4918918"/>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97.83%</a:t>
            </a:r>
          </a:p>
        </p:txBody>
      </p:sp>
      <p:sp>
        <p:nvSpPr>
          <p:cNvPr id="55" name="TextBox 54"/>
          <p:cNvSpPr txBox="1"/>
          <p:nvPr/>
        </p:nvSpPr>
        <p:spPr>
          <a:xfrm>
            <a:off x="635000" y="5179903"/>
            <a:ext cx="3286252" cy="20335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A1A1A"/>
                </a:solidFill>
                <a:latin typeface="Calibri"/>
              </a:rPr>
              <a:t>This work — freshness, Phase 1</a:t>
            </a:r>
          </a:p>
        </p:txBody>
      </p:sp>
      <p:sp>
        <p:nvSpPr>
          <p:cNvPr id="56" name="TextBox 55"/>
          <p:cNvSpPr txBox="1"/>
          <p:nvPr/>
        </p:nvSpPr>
        <p:spPr>
          <a:xfrm>
            <a:off x="4022852" y="5179903"/>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14</a:t>
            </a:r>
          </a:p>
        </p:txBody>
      </p:sp>
      <p:sp>
        <p:nvSpPr>
          <p:cNvPr id="57" name="TextBox 56"/>
          <p:cNvSpPr txBox="1"/>
          <p:nvPr/>
        </p:nvSpPr>
        <p:spPr>
          <a:xfrm>
            <a:off x="5805932" y="5179903"/>
            <a:ext cx="1859788"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5 (automatic)</a:t>
            </a:r>
          </a:p>
        </p:txBody>
      </p:sp>
      <p:sp>
        <p:nvSpPr>
          <p:cNvPr id="58" name="TextBox 57"/>
          <p:cNvSpPr txBox="1"/>
          <p:nvPr/>
        </p:nvSpPr>
        <p:spPr>
          <a:xfrm>
            <a:off x="7767319" y="5179903"/>
            <a:ext cx="1681480" cy="203352"/>
          </a:xfrm>
          <a:prstGeom prst="rect">
            <a:avLst/>
          </a:prstGeom>
          <a:noFill/>
        </p:spPr>
        <p:txBody>
          <a:bodyPr wrap="square" lIns="0" rIns="0" tIns="0" bIns="0" anchor="t">
            <a:spAutoFit/>
          </a:bodyPr>
          <a:lstStyle/>
          <a:p>
            <a:pPr algn="ctr">
              <a:lnSpc>
                <a:spcPct val="110000"/>
              </a:lnSpc>
              <a:spcBef>
                <a:spcPts val="0"/>
              </a:spcBef>
              <a:spcAft>
                <a:spcPts val="0"/>
              </a:spcAft>
            </a:pPr>
            <a:r>
              <a:rPr sz="1050" b="1" i="0">
                <a:solidFill>
                  <a:srgbClr val="1A1A1A"/>
                </a:solidFill>
                <a:latin typeface="Calibri"/>
              </a:rPr>
              <a:t>80.41%</a:t>
            </a:r>
          </a:p>
        </p:txBody>
      </p:sp>
      <p:cxnSp>
        <p:nvCxnSpPr>
          <p:cNvPr id="59" name="Connector 58"/>
          <p:cNvCxnSpPr/>
          <p:nvPr/>
        </p:nvCxnSpPr>
        <p:spPr>
          <a:xfrm>
            <a:off x="584200" y="5390088"/>
            <a:ext cx="8915400" cy="0"/>
          </a:xfrm>
          <a:prstGeom prst="line">
            <a:avLst/>
          </a:prstGeom>
          <a:ln w="13970">
            <a:solidFill>
              <a:srgbClr val="1A1A1A"/>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584200" y="5618688"/>
            <a:ext cx="8915400" cy="767689"/>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2800" y="5771088"/>
            <a:ext cx="8458200" cy="462889"/>
          </a:xfrm>
          <a:prstGeom prst="rect">
            <a:avLst/>
          </a:prstGeom>
          <a:noFill/>
        </p:spPr>
        <p:txBody>
          <a:bodyPr wrap="square" lIns="0" rIns="0" tIns="0" bIns="0" anchor="t">
            <a:spAutoFit/>
          </a:bodyPr>
          <a:lstStyle/>
          <a:p>
            <a:pPr algn="l">
              <a:lnSpc>
                <a:spcPct val="130000"/>
              </a:lnSpc>
              <a:spcBef>
                <a:spcPts val="0"/>
              </a:spcBef>
              <a:spcAft>
                <a:spcPts val="0"/>
              </a:spcAft>
            </a:pPr>
            <a:r>
              <a:rPr sz="1200" b="0" i="0">
                <a:solidFill>
                  <a:srgbClr val="1A1A1A"/>
                </a:solidFill>
                <a:latin typeface="Calibri"/>
              </a:rPr>
              <a:t>80.41% on a harder, five-level task sits close to Fahad et al.'s 82–84% on a three-level task — and it was reached with no manual freshness labels at all, across 14 produce types instead of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WORKING PROTOTYPE</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13</a:t>
            </a:r>
          </a:p>
        </p:txBody>
      </p:sp>
      <p:sp>
        <p:nvSpPr>
          <p:cNvPr id="7" name="TextBox 6"/>
          <p:cNvSpPr txBox="1"/>
          <p:nvPr/>
        </p:nvSpPr>
        <p:spPr>
          <a:xfrm>
            <a:off x="584200" y="1219200"/>
            <a:ext cx="8915400" cy="427492"/>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1A1A1A"/>
                </a:solidFill>
                <a:latin typeface="Calibri"/>
              </a:rPr>
              <a:t>Implementation beyond the report  —  </a:t>
            </a:r>
            <a:r>
              <a:rPr sz="1150" b="0" i="0">
                <a:solidFill>
                  <a:srgbClr val="666666"/>
                </a:solidFill>
                <a:latin typeface="Calibri"/>
              </a:rPr>
              <a:t>an early step towards Future Scope item 3, “build something people can actually use”.</a:t>
            </a:r>
          </a:p>
        </p:txBody>
      </p:sp>
      <p:sp>
        <p:nvSpPr>
          <p:cNvPr id="8" name="TextBox 7"/>
          <p:cNvSpPr txBox="1"/>
          <p:nvPr/>
        </p:nvSpPr>
        <p:spPr>
          <a:xfrm>
            <a:off x="584200" y="1849892"/>
            <a:ext cx="4089400" cy="3096300"/>
          </a:xfrm>
          <a:prstGeom prst="rect">
            <a:avLst/>
          </a:prstGeom>
          <a:noFill/>
        </p:spPr>
        <p:txBody>
          <a:bodyPr wrap="square" lIns="0" rIns="0" tIns="0" bIns="0" anchor="t">
            <a:spAutoFit/>
          </a:bodyPr>
          <a:lstStyle/>
          <a:p>
            <a:pPr algn="l">
              <a:lnSpc>
                <a:spcPct val="122000"/>
              </a:lnSpc>
              <a:spcBef>
                <a:spcPts val="0"/>
              </a:spcBef>
              <a:spcAft>
                <a:spcPts val="1000"/>
              </a:spcAft>
            </a:pPr>
            <a:r>
              <a:rPr sz="1300" b="1" i="0">
                <a:solidFill>
                  <a:srgbClr val="1A1A1A"/>
                </a:solidFill>
                <a:latin typeface="Calibri"/>
              </a:rPr>
              <a:t>The trained models were packaged into a working web application.</a:t>
            </a:r>
          </a:p>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A FastAPI and Uvicorn backend serves the two trained models; the front end is a React (Vite) single-page application.</a:t>
            </a:r>
          </a:p>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Models are loaded once when the server starts rather than per request, so a prediction takes about 310 ms on CPU.</a:t>
            </a:r>
          </a:p>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An extra ImageNet MobileNetV2 acts as a gatekeeper: images that are not produce are rejected before the freshness model ever runs.</a:t>
            </a:r>
          </a:p>
          <a:p>
            <a:pPr algn="l">
              <a:lnSpc>
                <a:spcPct val="124000"/>
              </a:lnSpc>
              <a:spcBef>
                <a:spcPts val="0"/>
              </a:spcBef>
              <a:spcAft>
                <a:spcPts val="800"/>
              </a:spcAft>
            </a:pPr>
            <a:r>
              <a:rPr sz="1150" b="1">
                <a:solidFill>
                  <a:srgbClr val="0070C0"/>
                </a:solidFill>
                <a:latin typeface="Calibri"/>
              </a:rPr>
              <a:t>•   </a:t>
            </a:r>
            <a:r>
              <a:rPr sz="1150" b="0" i="0">
                <a:solidFill>
                  <a:srgbClr val="303030"/>
                </a:solidFill>
                <a:latin typeface="Calibri"/>
              </a:rPr>
              <a:t>Predictions below 65% confidence are reported as uncertain rather than guessed.</a:t>
            </a:r>
          </a:p>
        </p:txBody>
      </p:sp>
      <p:sp>
        <p:nvSpPr>
          <p:cNvPr id="9" name="Rectangle 8"/>
          <p:cNvSpPr/>
          <p:nvPr/>
        </p:nvSpPr>
        <p:spPr>
          <a:xfrm>
            <a:off x="584200" y="5200192"/>
            <a:ext cx="4089400" cy="1212524"/>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7400" y="5352592"/>
            <a:ext cx="3683000" cy="831524"/>
          </a:xfrm>
          <a:prstGeom prst="rect">
            <a:avLst/>
          </a:prstGeom>
          <a:noFill/>
        </p:spPr>
        <p:txBody>
          <a:bodyPr wrap="square" lIns="0" rIns="0" tIns="0" bIns="0" anchor="t">
            <a:spAutoFit/>
          </a:bodyPr>
          <a:lstStyle/>
          <a:p>
            <a:pPr algn="l">
              <a:lnSpc>
                <a:spcPct val="124000"/>
              </a:lnSpc>
              <a:spcBef>
                <a:spcPts val="0"/>
              </a:spcBef>
              <a:spcAft>
                <a:spcPts val="700"/>
              </a:spcAft>
            </a:pPr>
            <a:r>
              <a:rPr sz="900" b="1" i="0">
                <a:solidFill>
                  <a:srgbClr val="0070C0"/>
                </a:solidFill>
                <a:latin typeface="Calibri"/>
              </a:rPr>
              <a:t>NOT PART OF THE THESIS EVALUATION</a:t>
            </a:r>
          </a:p>
          <a:p>
            <a:pPr algn="l">
              <a:lnSpc>
                <a:spcPct val="130000"/>
              </a:lnSpc>
              <a:spcBef>
                <a:spcPts val="0"/>
              </a:spcBef>
              <a:spcAft>
                <a:spcPts val="0"/>
              </a:spcAft>
            </a:pPr>
            <a:r>
              <a:rPr sz="1050" b="0" i="0">
                <a:solidFill>
                  <a:srgbClr val="303030"/>
                </a:solidFill>
                <a:latin typeface="Calibri"/>
              </a:rPr>
              <a:t>The gatekeeper and the web interface are engineering additions. Every accuracy figure in this presentation comes from the models evaluated in the report.</a:t>
            </a:r>
          </a:p>
        </p:txBody>
      </p:sp>
      <p:pic>
        <p:nvPicPr>
          <p:cNvPr id="11" name="Picture 10" descr="res_rejected.png"/>
          <p:cNvPicPr>
            <a:picLocks noChangeAspect="1"/>
          </p:cNvPicPr>
          <p:nvPr/>
        </p:nvPicPr>
        <p:blipFill>
          <a:blip r:embed="rId2"/>
          <a:stretch>
            <a:fillRect/>
          </a:stretch>
        </p:blipFill>
        <p:spPr>
          <a:xfrm>
            <a:off x="5003800" y="1849892"/>
            <a:ext cx="4495800" cy="3321400"/>
          </a:xfrm>
          <a:prstGeom prst="rect">
            <a:avLst/>
          </a:prstGeom>
          <a:ln w="9525">
            <a:solidFill>
              <a:srgbClr val="DDDDDD"/>
            </a:solidFill>
          </a:ln>
        </p:spPr>
      </p:pic>
      <p:sp>
        <p:nvSpPr>
          <p:cNvPr id="12" name="TextBox 11"/>
          <p:cNvSpPr txBox="1"/>
          <p:nvPr/>
        </p:nvSpPr>
        <p:spPr>
          <a:xfrm>
            <a:off x="5003800" y="5234792"/>
            <a:ext cx="4495800" cy="311261"/>
          </a:xfrm>
          <a:prstGeom prst="rect">
            <a:avLst/>
          </a:prstGeom>
          <a:noFill/>
        </p:spPr>
        <p:txBody>
          <a:bodyPr wrap="square" lIns="0" rIns="0" tIns="0" bIns="0" anchor="t">
            <a:spAutoFit/>
          </a:bodyPr>
          <a:lstStyle/>
          <a:p>
            <a:pPr algn="ctr">
              <a:lnSpc>
                <a:spcPct val="116000"/>
              </a:lnSpc>
              <a:spcBef>
                <a:spcPts val="0"/>
              </a:spcBef>
              <a:spcAft>
                <a:spcPts val="0"/>
              </a:spcAft>
            </a:pPr>
            <a:r>
              <a:rPr sz="850" b="0" i="1">
                <a:solidFill>
                  <a:srgbClr val="666666"/>
                </a:solidFill>
                <a:latin typeface="Calibri"/>
              </a:rPr>
              <a:t>Live run: the gatekeeper rejecting a non-produce image, showing the ImageNet label and the measured latency.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CONCLUSION, LIMITATIONS AND FUTURE WORK</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14</a:t>
            </a:r>
          </a:p>
        </p:txBody>
      </p:sp>
      <p:sp>
        <p:nvSpPr>
          <p:cNvPr id="7" name="TextBox 6"/>
          <p:cNvSpPr txBox="1"/>
          <p:nvPr/>
        </p:nvSpPr>
        <p:spPr>
          <a:xfrm>
            <a:off x="584200" y="1270000"/>
            <a:ext cx="89154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CONCLUSIONS</a:t>
            </a:r>
          </a:p>
        </p:txBody>
      </p:sp>
      <p:sp>
        <p:nvSpPr>
          <p:cNvPr id="8" name="TextBox 7"/>
          <p:cNvSpPr txBox="1"/>
          <p:nvPr/>
        </p:nvSpPr>
        <p:spPr>
          <a:xfrm>
            <a:off x="584200" y="1585823"/>
            <a:ext cx="8915400" cy="1048268"/>
          </a:xfrm>
          <a:prstGeom prst="rect">
            <a:avLst/>
          </a:prstGeom>
          <a:noFill/>
        </p:spPr>
        <p:txBody>
          <a:bodyPr wrap="square" lIns="0" rIns="0" tIns="0" bIns="0" anchor="t">
            <a:spAutoFit/>
          </a:bodyPr>
          <a:lstStyle/>
          <a:p>
            <a:pPr algn="l">
              <a:lnSpc>
                <a:spcPct val="124000"/>
              </a:lnSpc>
              <a:spcBef>
                <a:spcPts val="0"/>
              </a:spcBef>
              <a:spcAft>
                <a:spcPts val="800"/>
              </a:spcAft>
            </a:pPr>
            <a:r>
              <a:rPr sz="1200" b="1">
                <a:solidFill>
                  <a:srgbClr val="0070C0"/>
                </a:solidFill>
                <a:latin typeface="Calibri"/>
              </a:rPr>
              <a:t>•   </a:t>
            </a:r>
            <a:r>
              <a:rPr sz="1200" b="0" i="0">
                <a:solidFill>
                  <a:srgbClr val="303030"/>
                </a:solidFill>
                <a:latin typeface="Calibri"/>
              </a:rPr>
              <a:t>Transfer learning with a lightweight backbone works well for produce identification — </a:t>
            </a:r>
            <a:r>
              <a:rPr sz="1200" b="1" i="0">
                <a:solidFill>
                  <a:srgbClr val="1A1A1A"/>
                </a:solidFill>
                <a:latin typeface="Calibri"/>
              </a:rPr>
              <a:t>97.83% across 14 classes</a:t>
            </a:r>
            <a:r>
              <a:rPr sz="1200" b="0" i="0">
                <a:solidFill>
                  <a:srgbClr val="303030"/>
                </a:solidFill>
                <a:latin typeface="Calibri"/>
              </a:rPr>
              <a:t>, on a CPU-only machine, in five epochs.</a:t>
            </a:r>
          </a:p>
          <a:p>
            <a:pPr algn="l">
              <a:lnSpc>
                <a:spcPct val="124000"/>
              </a:lnSpc>
              <a:spcBef>
                <a:spcPts val="0"/>
              </a:spcBef>
              <a:spcAft>
                <a:spcPts val="800"/>
              </a:spcAft>
            </a:pPr>
            <a:r>
              <a:rPr sz="1200" b="1">
                <a:solidFill>
                  <a:srgbClr val="0070C0"/>
                </a:solidFill>
                <a:latin typeface="Calibri"/>
              </a:rPr>
              <a:t>•   </a:t>
            </a:r>
            <a:r>
              <a:rPr sz="1200" b="0" i="0">
                <a:solidFill>
                  <a:srgbClr val="303030"/>
                </a:solidFill>
                <a:latin typeface="Calibri"/>
              </a:rPr>
              <a:t>Annotation-free freshness grading through a colour heuristic is a workable substitute for manual labelling — </a:t>
            </a:r>
            <a:r>
              <a:rPr sz="1200" b="1" i="0">
                <a:solidFill>
                  <a:srgbClr val="1A1A1A"/>
                </a:solidFill>
                <a:latin typeface="Calibri"/>
              </a:rPr>
              <a:t>80.41%</a:t>
            </a:r>
            <a:r>
              <a:rPr sz="1200" b="0" i="0">
                <a:solidFill>
                  <a:srgbClr val="303030"/>
                </a:solidFill>
                <a:latin typeface="Calibri"/>
              </a:rPr>
              <a:t>, in the same range as prior work that paid for full manual annotation.</a:t>
            </a:r>
          </a:p>
        </p:txBody>
      </p:sp>
      <p:cxnSp>
        <p:nvCxnSpPr>
          <p:cNvPr id="9" name="Connector 8"/>
          <p:cNvCxnSpPr/>
          <p:nvPr/>
        </p:nvCxnSpPr>
        <p:spPr>
          <a:xfrm>
            <a:off x="584200" y="2837291"/>
            <a:ext cx="8915400" cy="0"/>
          </a:xfrm>
          <a:prstGeom prst="line">
            <a:avLst/>
          </a:prstGeom>
          <a:ln w="11430">
            <a:solidFill>
              <a:srgbClr val="DDDDD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84200" y="3040491"/>
            <a:ext cx="42799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LIMITATIONS</a:t>
            </a:r>
          </a:p>
        </p:txBody>
      </p:sp>
      <p:sp>
        <p:nvSpPr>
          <p:cNvPr id="11" name="TextBox 10"/>
          <p:cNvSpPr txBox="1"/>
          <p:nvPr/>
        </p:nvSpPr>
        <p:spPr>
          <a:xfrm>
            <a:off x="584200" y="3356315"/>
            <a:ext cx="4279900" cy="2140305"/>
          </a:xfrm>
          <a:prstGeom prst="rect">
            <a:avLst/>
          </a:prstGeom>
          <a:noFill/>
        </p:spPr>
        <p:txBody>
          <a:bodyPr wrap="square" lIns="0" rIns="0" tIns="0" bIns="0" anchor="t">
            <a:spAutoFit/>
          </a:bodyPr>
          <a:lstStyle/>
          <a:p>
            <a:pPr algn="l">
              <a:lnSpc>
                <a:spcPct val="124000"/>
              </a:lnSpc>
              <a:spcBef>
                <a:spcPts val="0"/>
              </a:spcBef>
              <a:spcAft>
                <a:spcPts val="700"/>
              </a:spcAft>
            </a:pPr>
            <a:r>
              <a:rPr sz="1050" b="1">
                <a:solidFill>
                  <a:srgbClr val="0070C0"/>
                </a:solidFill>
                <a:latin typeface="Calibri"/>
              </a:rPr>
              <a:t>•   </a:t>
            </a:r>
            <a:r>
              <a:rPr sz="1050" b="0" i="0">
                <a:solidFill>
                  <a:srgbClr val="303030"/>
                </a:solidFill>
                <a:latin typeface="Calibri"/>
              </a:rPr>
              <a:t>Freshness labels come from a heuristic, not expert graders — so 80.41% measures agreement with that heuristic, not independently verified ground truth.</a:t>
            </a:r>
          </a:p>
          <a:p>
            <a:pPr algn="l">
              <a:lnSpc>
                <a:spcPct val="124000"/>
              </a:lnSpc>
              <a:spcBef>
                <a:spcPts val="0"/>
              </a:spcBef>
              <a:spcAft>
                <a:spcPts val="700"/>
              </a:spcAft>
            </a:pPr>
            <a:r>
              <a:rPr sz="1050" b="1">
                <a:solidFill>
                  <a:srgbClr val="0070C0"/>
                </a:solidFill>
                <a:latin typeface="Calibri"/>
              </a:rPr>
              <a:t>•   </a:t>
            </a:r>
            <a:r>
              <a:rPr sz="1050" b="0" i="0">
                <a:solidFill>
                  <a:srgbClr val="303030"/>
                </a:solidFill>
                <a:latin typeface="Calibri"/>
              </a:rPr>
              <a:t>The dataset is unevenly balanced; four classes have only 400 images each, which makes their individual metrics noisier.</a:t>
            </a:r>
          </a:p>
          <a:p>
            <a:pPr algn="l">
              <a:lnSpc>
                <a:spcPct val="124000"/>
              </a:lnSpc>
              <a:spcBef>
                <a:spcPts val="0"/>
              </a:spcBef>
              <a:spcAft>
                <a:spcPts val="700"/>
              </a:spcAft>
            </a:pPr>
            <a:r>
              <a:rPr sz="1050" b="1">
                <a:solidFill>
                  <a:srgbClr val="0070C0"/>
                </a:solidFill>
                <a:latin typeface="Calibri"/>
              </a:rPr>
              <a:t>•   </a:t>
            </a:r>
            <a:r>
              <a:rPr sz="1050" b="0" i="0">
                <a:solidFill>
                  <a:srgbClr val="303030"/>
                </a:solidFill>
                <a:latin typeface="Calibri"/>
              </a:rPr>
              <a:t>Both models trained on a short schedule of 5 epochs per stage, to fit a CPU-only compute budget.</a:t>
            </a:r>
          </a:p>
          <a:p>
            <a:pPr algn="l">
              <a:lnSpc>
                <a:spcPct val="124000"/>
              </a:lnSpc>
              <a:spcBef>
                <a:spcPts val="0"/>
              </a:spcBef>
              <a:spcAft>
                <a:spcPts val="700"/>
              </a:spcAft>
            </a:pPr>
            <a:r>
              <a:rPr sz="1050" b="1">
                <a:solidFill>
                  <a:srgbClr val="0070C0"/>
                </a:solidFill>
                <a:latin typeface="Calibri"/>
              </a:rPr>
              <a:t>•   </a:t>
            </a:r>
            <a:r>
              <a:rPr sz="1050" b="0" i="0">
                <a:solidFill>
                  <a:srgbClr val="303030"/>
                </a:solidFill>
                <a:latin typeface="Calibri"/>
              </a:rPr>
              <a:t>Only MobileNetV2 was tested as a backbone, and Phase 2 has not been evaluated at the time of writing.</a:t>
            </a:r>
          </a:p>
        </p:txBody>
      </p:sp>
      <p:sp>
        <p:nvSpPr>
          <p:cNvPr id="12" name="TextBox 11"/>
          <p:cNvSpPr txBox="1"/>
          <p:nvPr/>
        </p:nvSpPr>
        <p:spPr>
          <a:xfrm>
            <a:off x="5219700" y="3040491"/>
            <a:ext cx="4279900" cy="188823"/>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070C0"/>
                </a:solidFill>
                <a:latin typeface="Calibri"/>
              </a:rPr>
              <a:t>FUTURE WORK</a:t>
            </a:r>
          </a:p>
        </p:txBody>
      </p:sp>
      <p:sp>
        <p:nvSpPr>
          <p:cNvPr id="13" name="TextBox 12"/>
          <p:cNvSpPr txBox="1"/>
          <p:nvPr/>
        </p:nvSpPr>
        <p:spPr>
          <a:xfrm>
            <a:off x="5219700" y="3356315"/>
            <a:ext cx="2540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1.</a:t>
            </a:r>
          </a:p>
        </p:txBody>
      </p:sp>
      <p:sp>
        <p:nvSpPr>
          <p:cNvPr id="14" name="TextBox 13"/>
          <p:cNvSpPr txBox="1"/>
          <p:nvPr/>
        </p:nvSpPr>
        <p:spPr>
          <a:xfrm>
            <a:off x="5499100" y="3356315"/>
            <a:ext cx="3644900" cy="796127"/>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1A1A1A"/>
                </a:solidFill>
                <a:latin typeface="Calibri"/>
              </a:rPr>
              <a:t>Finish and evaluate Phase 2</a:t>
            </a:r>
          </a:p>
          <a:p>
            <a:pPr algn="l">
              <a:lnSpc>
                <a:spcPct val="128000"/>
              </a:lnSpc>
              <a:spcBef>
                <a:spcPts val="0"/>
              </a:spcBef>
              <a:spcAft>
                <a:spcPts val="0"/>
              </a:spcAft>
            </a:pPr>
            <a:r>
              <a:rPr sz="1050" b="0" i="0">
                <a:solidFill>
                  <a:srgbClr val="303030"/>
                </a:solidFill>
                <a:latin typeface="Calibri"/>
              </a:rPr>
              <a:t>Complete the EfficientNetB0 and ensemble pipeline, and measure how much it actually improves on the 80.41% baseline.</a:t>
            </a:r>
          </a:p>
        </p:txBody>
      </p:sp>
      <p:sp>
        <p:nvSpPr>
          <p:cNvPr id="15" name="TextBox 14"/>
          <p:cNvSpPr txBox="1"/>
          <p:nvPr/>
        </p:nvSpPr>
        <p:spPr>
          <a:xfrm>
            <a:off x="5219700" y="4304842"/>
            <a:ext cx="2540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2.</a:t>
            </a:r>
          </a:p>
        </p:txBody>
      </p:sp>
      <p:sp>
        <p:nvSpPr>
          <p:cNvPr id="16" name="TextBox 15"/>
          <p:cNvSpPr txBox="1"/>
          <p:nvPr/>
        </p:nvSpPr>
        <p:spPr>
          <a:xfrm>
            <a:off x="5499100" y="4304842"/>
            <a:ext cx="3644900" cy="796127"/>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1A1A1A"/>
                </a:solidFill>
                <a:latin typeface="Calibri"/>
              </a:rPr>
              <a:t>Test on outside data</a:t>
            </a:r>
          </a:p>
          <a:p>
            <a:pPr algn="l">
              <a:lnSpc>
                <a:spcPct val="128000"/>
              </a:lnSpc>
              <a:spcBef>
                <a:spcPts val="0"/>
              </a:spcBef>
              <a:spcAft>
                <a:spcPts val="0"/>
              </a:spcAft>
            </a:pPr>
            <a:r>
              <a:rPr sz="1050" b="0" i="0">
                <a:solidFill>
                  <a:srgbClr val="303030"/>
                </a:solidFill>
                <a:latin typeface="Calibri"/>
              </a:rPr>
              <a:t>Different lighting, different backgrounds and produce types beyond the current 14 — a stronger test of robustness than a held-out split.</a:t>
            </a:r>
          </a:p>
        </p:txBody>
      </p:sp>
      <p:sp>
        <p:nvSpPr>
          <p:cNvPr id="17" name="TextBox 16"/>
          <p:cNvSpPr txBox="1"/>
          <p:nvPr/>
        </p:nvSpPr>
        <p:spPr>
          <a:xfrm>
            <a:off x="5219700" y="5253370"/>
            <a:ext cx="254000" cy="239146"/>
          </a:xfrm>
          <a:prstGeom prst="rect">
            <a:avLst/>
          </a:prstGeom>
          <a:noFill/>
        </p:spPr>
        <p:txBody>
          <a:bodyPr wrap="square" lIns="0" rIns="0" tIns="0" bIns="0" anchor="t">
            <a:spAutoFit/>
          </a:bodyPr>
          <a:lstStyle/>
          <a:p>
            <a:pPr algn="l">
              <a:lnSpc>
                <a:spcPct val="124000"/>
              </a:lnSpc>
              <a:spcBef>
                <a:spcPts val="0"/>
              </a:spcBef>
              <a:spcAft>
                <a:spcPts val="0"/>
              </a:spcAft>
            </a:pPr>
            <a:r>
              <a:rPr sz="1150" b="1" i="0">
                <a:solidFill>
                  <a:srgbClr val="0070C0"/>
                </a:solidFill>
                <a:latin typeface="Calibri"/>
              </a:rPr>
              <a:t>3.</a:t>
            </a:r>
          </a:p>
        </p:txBody>
      </p:sp>
      <p:sp>
        <p:nvSpPr>
          <p:cNvPr id="18" name="TextBox 17"/>
          <p:cNvSpPr txBox="1"/>
          <p:nvPr/>
        </p:nvSpPr>
        <p:spPr>
          <a:xfrm>
            <a:off x="5499100" y="5253370"/>
            <a:ext cx="3644900" cy="618611"/>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1A1A1A"/>
                </a:solidFill>
                <a:latin typeface="Calibri"/>
              </a:rPr>
              <a:t>Build something people can use</a:t>
            </a:r>
          </a:p>
          <a:p>
            <a:pPr algn="l">
              <a:lnSpc>
                <a:spcPct val="128000"/>
              </a:lnSpc>
              <a:spcBef>
                <a:spcPts val="0"/>
              </a:spcBef>
              <a:spcAft>
                <a:spcPts val="0"/>
              </a:spcAft>
            </a:pPr>
            <a:r>
              <a:rPr sz="1050" b="0" i="0">
                <a:solidFill>
                  <a:srgbClr val="303030"/>
                </a:solidFill>
                <a:latin typeface="Calibri"/>
              </a:rPr>
              <a:t>MobileNetV2 is cheap to run, so a camera-based tool such as a mobile app is a natural next step.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LEARNING OUTCOMES</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15</a:t>
            </a:r>
          </a:p>
        </p:txBody>
      </p:sp>
      <p:sp>
        <p:nvSpPr>
          <p:cNvPr id="7" name="TextBox 6"/>
          <p:cNvSpPr txBox="1"/>
          <p:nvPr/>
        </p:nvSpPr>
        <p:spPr>
          <a:xfrm>
            <a:off x="584200" y="1320800"/>
            <a:ext cx="330200" cy="263712"/>
          </a:xfrm>
          <a:prstGeom prst="rect">
            <a:avLst/>
          </a:prstGeom>
          <a:noFill/>
        </p:spPr>
        <p:txBody>
          <a:bodyPr wrap="square" lIns="0" rIns="0" tIns="0" bIns="0" anchor="t">
            <a:spAutoFit/>
          </a:bodyPr>
          <a:lstStyle/>
          <a:p>
            <a:pPr algn="l">
              <a:lnSpc>
                <a:spcPct val="124000"/>
              </a:lnSpc>
              <a:spcBef>
                <a:spcPts val="0"/>
              </a:spcBef>
              <a:spcAft>
                <a:spcPts val="0"/>
              </a:spcAft>
            </a:pPr>
            <a:r>
              <a:rPr sz="1300" b="1" i="0">
                <a:solidFill>
                  <a:srgbClr val="0070C0"/>
                </a:solidFill>
                <a:latin typeface="Calibri"/>
              </a:rPr>
              <a:t>01</a:t>
            </a:r>
          </a:p>
        </p:txBody>
      </p:sp>
      <p:sp>
        <p:nvSpPr>
          <p:cNvPr id="8" name="TextBox 7"/>
          <p:cNvSpPr txBox="1"/>
          <p:nvPr/>
        </p:nvSpPr>
        <p:spPr>
          <a:xfrm>
            <a:off x="990600" y="1320800"/>
            <a:ext cx="3873500" cy="1248765"/>
          </a:xfrm>
          <a:prstGeom prst="rect">
            <a:avLst/>
          </a:prstGeom>
          <a:noFill/>
        </p:spPr>
        <p:txBody>
          <a:bodyPr wrap="square" lIns="0" rIns="0" tIns="0" bIns="0" anchor="t">
            <a:spAutoFit/>
          </a:bodyPr>
          <a:lstStyle/>
          <a:p>
            <a:pPr algn="l">
              <a:lnSpc>
                <a:spcPct val="114000"/>
              </a:lnSpc>
              <a:spcBef>
                <a:spcPts val="0"/>
              </a:spcBef>
              <a:spcAft>
                <a:spcPts val="500"/>
              </a:spcAft>
            </a:pPr>
            <a:r>
              <a:rPr sz="1250" b="1" i="0">
                <a:solidFill>
                  <a:srgbClr val="1A1A1A"/>
                </a:solidFill>
                <a:latin typeface="Calibri"/>
              </a:rPr>
              <a:t>Choosing an approach on evidence, not assumption</a:t>
            </a:r>
          </a:p>
          <a:p>
            <a:pPr algn="l">
              <a:lnSpc>
                <a:spcPct val="130000"/>
              </a:lnSpc>
              <a:spcBef>
                <a:spcPts val="0"/>
              </a:spcBef>
              <a:spcAft>
                <a:spcPts val="0"/>
              </a:spcAft>
            </a:pPr>
            <a:r>
              <a:rPr sz="1100" b="0" i="0">
                <a:solidFill>
                  <a:srgbClr val="303030"/>
                </a:solidFill>
                <a:latin typeface="Calibri"/>
              </a:rPr>
              <a:t>We tested unsupervised clustering and semi-supervised pseudo-labelling before settling on a supervised pipeline, and each result justified the next decision.</a:t>
            </a:r>
          </a:p>
        </p:txBody>
      </p:sp>
      <p:sp>
        <p:nvSpPr>
          <p:cNvPr id="9" name="TextBox 8"/>
          <p:cNvSpPr txBox="1"/>
          <p:nvPr/>
        </p:nvSpPr>
        <p:spPr>
          <a:xfrm>
            <a:off x="5219700" y="1320800"/>
            <a:ext cx="330200" cy="263712"/>
          </a:xfrm>
          <a:prstGeom prst="rect">
            <a:avLst/>
          </a:prstGeom>
          <a:noFill/>
        </p:spPr>
        <p:txBody>
          <a:bodyPr wrap="square" lIns="0" rIns="0" tIns="0" bIns="0" anchor="t">
            <a:spAutoFit/>
          </a:bodyPr>
          <a:lstStyle/>
          <a:p>
            <a:pPr algn="l">
              <a:lnSpc>
                <a:spcPct val="124000"/>
              </a:lnSpc>
              <a:spcBef>
                <a:spcPts val="0"/>
              </a:spcBef>
              <a:spcAft>
                <a:spcPts val="0"/>
              </a:spcAft>
            </a:pPr>
            <a:r>
              <a:rPr sz="1300" b="1" i="0">
                <a:solidFill>
                  <a:srgbClr val="0070C0"/>
                </a:solidFill>
                <a:latin typeface="Calibri"/>
              </a:rPr>
              <a:t>02</a:t>
            </a:r>
          </a:p>
        </p:txBody>
      </p:sp>
      <p:sp>
        <p:nvSpPr>
          <p:cNvPr id="10" name="TextBox 9"/>
          <p:cNvSpPr txBox="1"/>
          <p:nvPr/>
        </p:nvSpPr>
        <p:spPr>
          <a:xfrm>
            <a:off x="5626100" y="1320800"/>
            <a:ext cx="3873500" cy="871677"/>
          </a:xfrm>
          <a:prstGeom prst="rect">
            <a:avLst/>
          </a:prstGeom>
          <a:noFill/>
        </p:spPr>
        <p:txBody>
          <a:bodyPr wrap="square" lIns="0" rIns="0" tIns="0" bIns="0" anchor="t">
            <a:spAutoFit/>
          </a:bodyPr>
          <a:lstStyle/>
          <a:p>
            <a:pPr algn="l">
              <a:lnSpc>
                <a:spcPct val="114000"/>
              </a:lnSpc>
              <a:spcBef>
                <a:spcPts val="0"/>
              </a:spcBef>
              <a:spcAft>
                <a:spcPts val="500"/>
              </a:spcAft>
            </a:pPr>
            <a:r>
              <a:rPr sz="1250" b="1" i="0">
                <a:solidFill>
                  <a:srgbClr val="1A1A1A"/>
                </a:solidFill>
                <a:latin typeface="Calibri"/>
              </a:rPr>
              <a:t>Transfer learning in practice</a:t>
            </a:r>
          </a:p>
          <a:p>
            <a:pPr algn="l">
              <a:lnSpc>
                <a:spcPct val="130000"/>
              </a:lnSpc>
              <a:spcBef>
                <a:spcPts val="0"/>
              </a:spcBef>
              <a:spcAft>
                <a:spcPts val="0"/>
              </a:spcAft>
            </a:pPr>
            <a:r>
              <a:rPr sz="1100" b="0" i="0">
                <a:solidFill>
                  <a:srgbClr val="303030"/>
                </a:solidFill>
                <a:latin typeface="Calibri"/>
              </a:rPr>
              <a:t>When to freeze a backbone, when to fine-tune it, and why a fine-tuning learning rate has to be far smaller than the original one.</a:t>
            </a:r>
          </a:p>
        </p:txBody>
      </p:sp>
      <p:cxnSp>
        <p:nvCxnSpPr>
          <p:cNvPr id="11" name="Connector 10"/>
          <p:cNvCxnSpPr/>
          <p:nvPr/>
        </p:nvCxnSpPr>
        <p:spPr>
          <a:xfrm>
            <a:off x="584200" y="2848965"/>
            <a:ext cx="8915400" cy="0"/>
          </a:xfrm>
          <a:prstGeom prst="line">
            <a:avLst/>
          </a:prstGeom>
          <a:ln w="7620">
            <a:solidFill>
              <a:srgbClr val="DDDDD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84200" y="3153765"/>
            <a:ext cx="330200" cy="263712"/>
          </a:xfrm>
          <a:prstGeom prst="rect">
            <a:avLst/>
          </a:prstGeom>
          <a:noFill/>
        </p:spPr>
        <p:txBody>
          <a:bodyPr wrap="square" lIns="0" rIns="0" tIns="0" bIns="0" anchor="t">
            <a:spAutoFit/>
          </a:bodyPr>
          <a:lstStyle/>
          <a:p>
            <a:pPr algn="l">
              <a:lnSpc>
                <a:spcPct val="124000"/>
              </a:lnSpc>
              <a:spcBef>
                <a:spcPts val="0"/>
              </a:spcBef>
              <a:spcAft>
                <a:spcPts val="0"/>
              </a:spcAft>
            </a:pPr>
            <a:r>
              <a:rPr sz="1300" b="1" i="0">
                <a:solidFill>
                  <a:srgbClr val="0070C0"/>
                </a:solidFill>
                <a:latin typeface="Calibri"/>
              </a:rPr>
              <a:t>03</a:t>
            </a:r>
          </a:p>
        </p:txBody>
      </p:sp>
      <p:sp>
        <p:nvSpPr>
          <p:cNvPr id="13" name="TextBox 12"/>
          <p:cNvSpPr txBox="1"/>
          <p:nvPr/>
        </p:nvSpPr>
        <p:spPr>
          <a:xfrm>
            <a:off x="990600" y="3153765"/>
            <a:ext cx="3873500" cy="871677"/>
          </a:xfrm>
          <a:prstGeom prst="rect">
            <a:avLst/>
          </a:prstGeom>
          <a:noFill/>
        </p:spPr>
        <p:txBody>
          <a:bodyPr wrap="square" lIns="0" rIns="0" tIns="0" bIns="0" anchor="t">
            <a:spAutoFit/>
          </a:bodyPr>
          <a:lstStyle/>
          <a:p>
            <a:pPr algn="l">
              <a:lnSpc>
                <a:spcPct val="114000"/>
              </a:lnSpc>
              <a:spcBef>
                <a:spcPts val="0"/>
              </a:spcBef>
              <a:spcAft>
                <a:spcPts val="500"/>
              </a:spcAft>
            </a:pPr>
            <a:r>
              <a:rPr sz="1250" b="1" i="0">
                <a:solidFill>
                  <a:srgbClr val="1A1A1A"/>
                </a:solidFill>
                <a:latin typeface="Calibri"/>
              </a:rPr>
              <a:t>Classical computer vision as a practical tool</a:t>
            </a:r>
          </a:p>
          <a:p>
            <a:pPr algn="l">
              <a:lnSpc>
                <a:spcPct val="130000"/>
              </a:lnSpc>
              <a:spcBef>
                <a:spcPts val="0"/>
              </a:spcBef>
              <a:spcAft>
                <a:spcPts val="0"/>
              </a:spcAft>
            </a:pPr>
            <a:r>
              <a:rPr sz="1100" b="0" i="0">
                <a:solidFill>
                  <a:srgbClr val="303030"/>
                </a:solidFill>
                <a:latin typeface="Calibri"/>
              </a:rPr>
              <a:t>HSV thresholding and morphological operations solved a labelling problem that deep learning alone could not solve cheaply.</a:t>
            </a:r>
          </a:p>
        </p:txBody>
      </p:sp>
      <p:sp>
        <p:nvSpPr>
          <p:cNvPr id="14" name="TextBox 13"/>
          <p:cNvSpPr txBox="1"/>
          <p:nvPr/>
        </p:nvSpPr>
        <p:spPr>
          <a:xfrm>
            <a:off x="5219700" y="3153765"/>
            <a:ext cx="330200" cy="263712"/>
          </a:xfrm>
          <a:prstGeom prst="rect">
            <a:avLst/>
          </a:prstGeom>
          <a:noFill/>
        </p:spPr>
        <p:txBody>
          <a:bodyPr wrap="square" lIns="0" rIns="0" tIns="0" bIns="0" anchor="t">
            <a:spAutoFit/>
          </a:bodyPr>
          <a:lstStyle/>
          <a:p>
            <a:pPr algn="l">
              <a:lnSpc>
                <a:spcPct val="124000"/>
              </a:lnSpc>
              <a:spcBef>
                <a:spcPts val="0"/>
              </a:spcBef>
              <a:spcAft>
                <a:spcPts val="0"/>
              </a:spcAft>
            </a:pPr>
            <a:r>
              <a:rPr sz="1300" b="1" i="0">
                <a:solidFill>
                  <a:srgbClr val="0070C0"/>
                </a:solidFill>
                <a:latin typeface="Calibri"/>
              </a:rPr>
              <a:t>04</a:t>
            </a:r>
          </a:p>
        </p:txBody>
      </p:sp>
      <p:sp>
        <p:nvSpPr>
          <p:cNvPr id="15" name="TextBox 14"/>
          <p:cNvSpPr txBox="1"/>
          <p:nvPr/>
        </p:nvSpPr>
        <p:spPr>
          <a:xfrm>
            <a:off x="5626100" y="3153765"/>
            <a:ext cx="3873500" cy="871677"/>
          </a:xfrm>
          <a:prstGeom prst="rect">
            <a:avLst/>
          </a:prstGeom>
          <a:noFill/>
        </p:spPr>
        <p:txBody>
          <a:bodyPr wrap="square" lIns="0" rIns="0" tIns="0" bIns="0" anchor="t">
            <a:spAutoFit/>
          </a:bodyPr>
          <a:lstStyle/>
          <a:p>
            <a:pPr algn="l">
              <a:lnSpc>
                <a:spcPct val="114000"/>
              </a:lnSpc>
              <a:spcBef>
                <a:spcPts val="0"/>
              </a:spcBef>
              <a:spcAft>
                <a:spcPts val="500"/>
              </a:spcAft>
            </a:pPr>
            <a:r>
              <a:rPr sz="1250" b="1" i="0">
                <a:solidFill>
                  <a:srgbClr val="1A1A1A"/>
                </a:solidFill>
                <a:latin typeface="Calibri"/>
              </a:rPr>
              <a:t>Reading model behaviour from its outputs</a:t>
            </a:r>
          </a:p>
          <a:p>
            <a:pPr algn="l">
              <a:lnSpc>
                <a:spcPct val="130000"/>
              </a:lnSpc>
              <a:spcBef>
                <a:spcPts val="0"/>
              </a:spcBef>
              <a:spcAft>
                <a:spcPts val="0"/>
              </a:spcAft>
            </a:pPr>
            <a:r>
              <a:rPr sz="1100" b="0" i="0">
                <a:solidFill>
                  <a:srgbClr val="303030"/>
                </a:solidFill>
                <a:latin typeface="Calibri"/>
              </a:rPr>
              <a:t>Training curves, per-class precision and recall told us far more about what was wrong than overall accuracy ever did.</a:t>
            </a:r>
          </a:p>
        </p:txBody>
      </p:sp>
      <p:cxnSp>
        <p:nvCxnSpPr>
          <p:cNvPr id="16" name="Connector 15"/>
          <p:cNvCxnSpPr/>
          <p:nvPr/>
        </p:nvCxnSpPr>
        <p:spPr>
          <a:xfrm>
            <a:off x="584200" y="4304842"/>
            <a:ext cx="8915400" cy="0"/>
          </a:xfrm>
          <a:prstGeom prst="line">
            <a:avLst/>
          </a:prstGeom>
          <a:ln w="7620">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4609642"/>
            <a:ext cx="330200" cy="263712"/>
          </a:xfrm>
          <a:prstGeom prst="rect">
            <a:avLst/>
          </a:prstGeom>
          <a:noFill/>
        </p:spPr>
        <p:txBody>
          <a:bodyPr wrap="square" lIns="0" rIns="0" tIns="0" bIns="0" anchor="t">
            <a:spAutoFit/>
          </a:bodyPr>
          <a:lstStyle/>
          <a:p>
            <a:pPr algn="l">
              <a:lnSpc>
                <a:spcPct val="124000"/>
              </a:lnSpc>
              <a:spcBef>
                <a:spcPts val="0"/>
              </a:spcBef>
              <a:spcAft>
                <a:spcPts val="0"/>
              </a:spcAft>
            </a:pPr>
            <a:r>
              <a:rPr sz="1300" b="1" i="0">
                <a:solidFill>
                  <a:srgbClr val="0070C0"/>
                </a:solidFill>
                <a:latin typeface="Calibri"/>
              </a:rPr>
              <a:t>05</a:t>
            </a:r>
          </a:p>
        </p:txBody>
      </p:sp>
      <p:sp>
        <p:nvSpPr>
          <p:cNvPr id="18" name="TextBox 17"/>
          <p:cNvSpPr txBox="1"/>
          <p:nvPr/>
        </p:nvSpPr>
        <p:spPr>
          <a:xfrm>
            <a:off x="990600" y="4609642"/>
            <a:ext cx="3873500" cy="871677"/>
          </a:xfrm>
          <a:prstGeom prst="rect">
            <a:avLst/>
          </a:prstGeom>
          <a:noFill/>
        </p:spPr>
        <p:txBody>
          <a:bodyPr wrap="square" lIns="0" rIns="0" tIns="0" bIns="0" anchor="t">
            <a:spAutoFit/>
          </a:bodyPr>
          <a:lstStyle/>
          <a:p>
            <a:pPr algn="l">
              <a:lnSpc>
                <a:spcPct val="114000"/>
              </a:lnSpc>
              <a:spcBef>
                <a:spcPts val="0"/>
              </a:spcBef>
              <a:spcAft>
                <a:spcPts val="500"/>
              </a:spcAft>
            </a:pPr>
            <a:r>
              <a:rPr sz="1250" b="1" i="0">
                <a:solidFill>
                  <a:srgbClr val="1A1A1A"/>
                </a:solidFill>
                <a:latin typeface="Calibri"/>
              </a:rPr>
              <a:t>Working inside a real compute budget</a:t>
            </a:r>
          </a:p>
          <a:p>
            <a:pPr algn="l">
              <a:lnSpc>
                <a:spcPct val="130000"/>
              </a:lnSpc>
              <a:spcBef>
                <a:spcPts val="0"/>
              </a:spcBef>
              <a:spcAft>
                <a:spcPts val="0"/>
              </a:spcAft>
            </a:pPr>
            <a:r>
              <a:rPr sz="1100" b="0" i="0">
                <a:solidFill>
                  <a:srgbClr val="303030"/>
                </a:solidFill>
                <a:latin typeface="Calibri"/>
              </a:rPr>
              <a:t>All training ran on a CPU-only machine, which shaped the choice of backbone, the number of epochs and the input size.</a:t>
            </a:r>
          </a:p>
        </p:txBody>
      </p:sp>
      <p:sp>
        <p:nvSpPr>
          <p:cNvPr id="19" name="TextBox 18"/>
          <p:cNvSpPr txBox="1"/>
          <p:nvPr/>
        </p:nvSpPr>
        <p:spPr>
          <a:xfrm>
            <a:off x="5219700" y="4609642"/>
            <a:ext cx="330200" cy="263712"/>
          </a:xfrm>
          <a:prstGeom prst="rect">
            <a:avLst/>
          </a:prstGeom>
          <a:noFill/>
        </p:spPr>
        <p:txBody>
          <a:bodyPr wrap="square" lIns="0" rIns="0" tIns="0" bIns="0" anchor="t">
            <a:spAutoFit/>
          </a:bodyPr>
          <a:lstStyle/>
          <a:p>
            <a:pPr algn="l">
              <a:lnSpc>
                <a:spcPct val="124000"/>
              </a:lnSpc>
              <a:spcBef>
                <a:spcPts val="0"/>
              </a:spcBef>
              <a:spcAft>
                <a:spcPts val="0"/>
              </a:spcAft>
            </a:pPr>
            <a:r>
              <a:rPr sz="1300" b="1" i="0">
                <a:solidFill>
                  <a:srgbClr val="0070C0"/>
                </a:solidFill>
                <a:latin typeface="Calibri"/>
              </a:rPr>
              <a:t>06</a:t>
            </a:r>
          </a:p>
        </p:txBody>
      </p:sp>
      <p:sp>
        <p:nvSpPr>
          <p:cNvPr id="20" name="TextBox 19"/>
          <p:cNvSpPr txBox="1"/>
          <p:nvPr/>
        </p:nvSpPr>
        <p:spPr>
          <a:xfrm>
            <a:off x="5626100" y="4609642"/>
            <a:ext cx="3873500" cy="871677"/>
          </a:xfrm>
          <a:prstGeom prst="rect">
            <a:avLst/>
          </a:prstGeom>
          <a:noFill/>
        </p:spPr>
        <p:txBody>
          <a:bodyPr wrap="square" lIns="0" rIns="0" tIns="0" bIns="0" anchor="t">
            <a:spAutoFit/>
          </a:bodyPr>
          <a:lstStyle/>
          <a:p>
            <a:pPr algn="l">
              <a:lnSpc>
                <a:spcPct val="114000"/>
              </a:lnSpc>
              <a:spcBef>
                <a:spcPts val="0"/>
              </a:spcBef>
              <a:spcAft>
                <a:spcPts val="500"/>
              </a:spcAft>
            </a:pPr>
            <a:r>
              <a:rPr sz="1250" b="1" i="0">
                <a:solidFill>
                  <a:srgbClr val="1A1A1A"/>
                </a:solidFill>
                <a:latin typeface="Calibri"/>
              </a:rPr>
              <a:t>Reporting negative results honestly</a:t>
            </a:r>
          </a:p>
          <a:p>
            <a:pPr algn="l">
              <a:lnSpc>
                <a:spcPct val="130000"/>
              </a:lnSpc>
              <a:spcBef>
                <a:spcPts val="0"/>
              </a:spcBef>
              <a:spcAft>
                <a:spcPts val="0"/>
              </a:spcAft>
            </a:pPr>
            <a:r>
              <a:rPr sz="1100" b="0" i="0">
                <a:solidFill>
                  <a:srgbClr val="303030"/>
                </a:solidFill>
                <a:latin typeface="Calibri"/>
              </a:rPr>
              <a:t>The two experiments that did not work are documented in full, because the reasoning behind abandoning them is part of the contribution.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57200"/>
            <a:ext cx="8915400" cy="367792"/>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0070C0"/>
                </a:solidFill>
                <a:latin typeface="Calibri"/>
              </a:rPr>
              <a:t>REFERENCES</a:t>
            </a:r>
          </a:p>
        </p:txBody>
      </p:sp>
      <p:cxnSp>
        <p:nvCxnSpPr>
          <p:cNvPr id="3" name="Connector 2"/>
          <p:cNvCxnSpPr/>
          <p:nvPr/>
        </p:nvCxnSpPr>
        <p:spPr>
          <a:xfrm>
            <a:off x="584200" y="939800"/>
            <a:ext cx="8915400" cy="0"/>
          </a:xfrm>
          <a:prstGeom prst="line">
            <a:avLst/>
          </a:prstGeom>
          <a:ln w="22225">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112000"/>
            <a:ext cx="8915400"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686550" cy="190012"/>
          </a:xfrm>
          <a:prstGeom prst="rect">
            <a:avLst/>
          </a:prstGeom>
          <a:noFill/>
        </p:spPr>
        <p:txBody>
          <a:bodyPr wrap="square" lIns="0" rIns="0" tIns="0" bIns="0" anchor="t">
            <a:spAutoFit/>
          </a:bodyPr>
          <a:lstStyle/>
          <a:p>
            <a:pPr algn="l">
              <a:lnSpc>
                <a:spcPct val="124000"/>
              </a:lnSpc>
              <a:spcBef>
                <a:spcPts val="0"/>
              </a:spcBef>
              <a:spcAft>
                <a:spcPts val="0"/>
              </a:spcAft>
            </a:pPr>
            <a:r>
              <a:rPr sz="850" b="0" i="0">
                <a:solidFill>
                  <a:srgbClr val="666666"/>
                </a:solidFill>
                <a:latin typeface="Calibri"/>
              </a:rPr>
              <a:t>FreshVision  |  Practice School-II  |  BML Munjal University</a:t>
            </a:r>
          </a:p>
        </p:txBody>
      </p:sp>
      <p:sp>
        <p:nvSpPr>
          <p:cNvPr id="6" name="TextBox 5"/>
          <p:cNvSpPr txBox="1"/>
          <p:nvPr/>
        </p:nvSpPr>
        <p:spPr>
          <a:xfrm>
            <a:off x="8864600" y="7188200"/>
            <a:ext cx="635000" cy="190012"/>
          </a:xfrm>
          <a:prstGeom prst="rect">
            <a:avLst/>
          </a:prstGeom>
          <a:noFill/>
        </p:spPr>
        <p:txBody>
          <a:bodyPr wrap="square" lIns="0" rIns="0" tIns="0" bIns="0" anchor="t">
            <a:spAutoFit/>
          </a:bodyPr>
          <a:lstStyle/>
          <a:p>
            <a:pPr algn="r">
              <a:lnSpc>
                <a:spcPct val="124000"/>
              </a:lnSpc>
              <a:spcBef>
                <a:spcPts val="0"/>
              </a:spcBef>
              <a:spcAft>
                <a:spcPts val="0"/>
              </a:spcAft>
            </a:pPr>
            <a:r>
              <a:rPr sz="850" b="1" i="0">
                <a:solidFill>
                  <a:srgbClr val="666666"/>
                </a:solidFill>
                <a:latin typeface="Calibri"/>
              </a:rPr>
              <a:t>16</a:t>
            </a:r>
          </a:p>
        </p:txBody>
      </p:sp>
      <p:sp>
        <p:nvSpPr>
          <p:cNvPr id="7" name="TextBox 6"/>
          <p:cNvSpPr txBox="1"/>
          <p:nvPr/>
        </p:nvSpPr>
        <p:spPr>
          <a:xfrm>
            <a:off x="584200" y="1320800"/>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[1]</a:t>
            </a:r>
          </a:p>
        </p:txBody>
      </p:sp>
      <p:sp>
        <p:nvSpPr>
          <p:cNvPr id="8" name="TextBox 7"/>
          <p:cNvSpPr txBox="1"/>
          <p:nvPr/>
        </p:nvSpPr>
        <p:spPr>
          <a:xfrm>
            <a:off x="990600" y="1320800"/>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M. Sandler, A. Howard, M. Zhu, A. Zhmoginov and L.-C. Chen, </a:t>
            </a:r>
            <a:r>
              <a:rPr sz="1100" b="1" i="0">
                <a:solidFill>
                  <a:srgbClr val="1A1A1A"/>
                </a:solidFill>
                <a:latin typeface="Calibri"/>
              </a:rPr>
              <a:t>“MobileNetV2: Inverted Residuals and Linear Bottlenecks,”</a:t>
            </a:r>
            <a:r>
              <a:rPr sz="1100" b="0" i="0">
                <a:solidFill>
                  <a:srgbClr val="303030"/>
                </a:solidFill>
                <a:latin typeface="Calibri"/>
              </a:rPr>
              <a:t> Proc. IEEE/CVF CVPR, 2018, pp. 4510–4520.</a:t>
            </a:r>
          </a:p>
        </p:txBody>
      </p:sp>
      <p:sp>
        <p:nvSpPr>
          <p:cNvPr id="9" name="TextBox 8"/>
          <p:cNvSpPr txBox="1"/>
          <p:nvPr/>
        </p:nvSpPr>
        <p:spPr>
          <a:xfrm>
            <a:off x="584200" y="1877425"/>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[2]</a:t>
            </a:r>
          </a:p>
        </p:txBody>
      </p:sp>
      <p:sp>
        <p:nvSpPr>
          <p:cNvPr id="10" name="TextBox 9"/>
          <p:cNvSpPr txBox="1"/>
          <p:nvPr/>
        </p:nvSpPr>
        <p:spPr>
          <a:xfrm>
            <a:off x="990600" y="1877425"/>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M. Tan and Q. V. Le, </a:t>
            </a:r>
            <a:r>
              <a:rPr sz="1100" b="1" i="0">
                <a:solidFill>
                  <a:srgbClr val="1A1A1A"/>
                </a:solidFill>
                <a:latin typeface="Calibri"/>
              </a:rPr>
              <a:t>“EfficientNet: Rethinking Model Scaling for Convolutional Neural Networks,”</a:t>
            </a:r>
            <a:r>
              <a:rPr sz="1100" b="0" i="0">
                <a:solidFill>
                  <a:srgbClr val="303030"/>
                </a:solidFill>
                <a:latin typeface="Calibri"/>
              </a:rPr>
              <a:t> Proc. ICML, PMLR vol. 97, 2019, pp. 6105–6114.</a:t>
            </a:r>
          </a:p>
        </p:txBody>
      </p:sp>
      <p:sp>
        <p:nvSpPr>
          <p:cNvPr id="11" name="TextBox 10"/>
          <p:cNvSpPr txBox="1"/>
          <p:nvPr/>
        </p:nvSpPr>
        <p:spPr>
          <a:xfrm>
            <a:off x="584200" y="2434051"/>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[3]</a:t>
            </a:r>
          </a:p>
        </p:txBody>
      </p:sp>
      <p:sp>
        <p:nvSpPr>
          <p:cNvPr id="12" name="TextBox 11"/>
          <p:cNvSpPr txBox="1"/>
          <p:nvPr/>
        </p:nvSpPr>
        <p:spPr>
          <a:xfrm>
            <a:off x="990600" y="2434051"/>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D.-H. Lee, </a:t>
            </a:r>
            <a:r>
              <a:rPr sz="1100" b="1" i="0">
                <a:solidFill>
                  <a:srgbClr val="1A1A1A"/>
                </a:solidFill>
                <a:latin typeface="Calibri"/>
              </a:rPr>
              <a:t>“Pseudo-Label: The Simple and Efficient Semi-Supervised Learning Method for Deep Neural Networks,”</a:t>
            </a:r>
            <a:r>
              <a:rPr sz="1100" b="0" i="0">
                <a:solidFill>
                  <a:srgbClr val="303030"/>
                </a:solidFill>
                <a:latin typeface="Calibri"/>
              </a:rPr>
              <a:t> ICML Workshop (WREPL), 2013.</a:t>
            </a:r>
          </a:p>
        </p:txBody>
      </p:sp>
      <p:sp>
        <p:nvSpPr>
          <p:cNvPr id="13" name="TextBox 12"/>
          <p:cNvSpPr txBox="1"/>
          <p:nvPr/>
        </p:nvSpPr>
        <p:spPr>
          <a:xfrm>
            <a:off x="584200" y="2990677"/>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[4]</a:t>
            </a:r>
          </a:p>
        </p:txBody>
      </p:sp>
      <p:sp>
        <p:nvSpPr>
          <p:cNvPr id="14" name="TextBox 13"/>
          <p:cNvSpPr txBox="1"/>
          <p:nvPr/>
        </p:nvSpPr>
        <p:spPr>
          <a:xfrm>
            <a:off x="990600" y="2990677"/>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U. Amin et al., </a:t>
            </a:r>
            <a:r>
              <a:rPr sz="1100" b="1" i="0">
                <a:solidFill>
                  <a:srgbClr val="1A1A1A"/>
                </a:solidFill>
                <a:latin typeface="Calibri"/>
              </a:rPr>
              <a:t>“Automatic Fruits Freshness Classification Using CNN and Transfer Learning,”</a:t>
            </a:r>
            <a:r>
              <a:rPr sz="1100" b="0" i="0">
                <a:solidFill>
                  <a:srgbClr val="303030"/>
                </a:solidFill>
                <a:latin typeface="Calibri"/>
              </a:rPr>
              <a:t> Applied Sciences, vol. 13, no. 14, p. 8087, 2023.</a:t>
            </a:r>
          </a:p>
        </p:txBody>
      </p:sp>
      <p:sp>
        <p:nvSpPr>
          <p:cNvPr id="15" name="TextBox 14"/>
          <p:cNvSpPr txBox="1"/>
          <p:nvPr/>
        </p:nvSpPr>
        <p:spPr>
          <a:xfrm>
            <a:off x="584200" y="3547303"/>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[5]</a:t>
            </a:r>
          </a:p>
        </p:txBody>
      </p:sp>
      <p:sp>
        <p:nvSpPr>
          <p:cNvPr id="16" name="TextBox 15"/>
          <p:cNvSpPr txBox="1"/>
          <p:nvPr/>
        </p:nvSpPr>
        <p:spPr>
          <a:xfrm>
            <a:off x="990600" y="3547303"/>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L. G. Fahad et al., </a:t>
            </a:r>
            <a:r>
              <a:rPr sz="1100" b="1" i="0">
                <a:solidFill>
                  <a:srgbClr val="1A1A1A"/>
                </a:solidFill>
                <a:latin typeface="Calibri"/>
              </a:rPr>
              <a:t>“Fruits and Vegetables Freshness Categorization Using Deep Learning,”</a:t>
            </a:r>
            <a:r>
              <a:rPr sz="1100" b="0" i="0">
                <a:solidFill>
                  <a:srgbClr val="303030"/>
                </a:solidFill>
                <a:latin typeface="Calibri"/>
              </a:rPr>
              <a:t> Computers, Materials &amp; Continua, vol. 71, no. 3, 2022.</a:t>
            </a:r>
          </a:p>
        </p:txBody>
      </p:sp>
      <p:sp>
        <p:nvSpPr>
          <p:cNvPr id="17" name="TextBox 16"/>
          <p:cNvSpPr txBox="1"/>
          <p:nvPr/>
        </p:nvSpPr>
        <p:spPr>
          <a:xfrm>
            <a:off x="584200" y="4103928"/>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[6]</a:t>
            </a:r>
          </a:p>
        </p:txBody>
      </p:sp>
      <p:sp>
        <p:nvSpPr>
          <p:cNvPr id="18" name="TextBox 17"/>
          <p:cNvSpPr txBox="1"/>
          <p:nvPr/>
        </p:nvSpPr>
        <p:spPr>
          <a:xfrm>
            <a:off x="990600" y="4103928"/>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M. Ester, H.-P. Kriegel, J. Sander and X. Xu, </a:t>
            </a:r>
            <a:r>
              <a:rPr sz="1100" b="1" i="0">
                <a:solidFill>
                  <a:srgbClr val="1A1A1A"/>
                </a:solidFill>
                <a:latin typeface="Calibri"/>
              </a:rPr>
              <a:t>“A Density-Based Algorithm for Discovering Clusters in Large Spatial Databases with Noise,”</a:t>
            </a:r>
            <a:r>
              <a:rPr sz="1100" b="0" i="0">
                <a:solidFill>
                  <a:srgbClr val="303030"/>
                </a:solidFill>
                <a:latin typeface="Calibri"/>
              </a:rPr>
              <a:t> Proc. KDD, 1996, pp. 226–231.</a:t>
            </a:r>
          </a:p>
        </p:txBody>
      </p:sp>
      <p:sp>
        <p:nvSpPr>
          <p:cNvPr id="19" name="TextBox 18"/>
          <p:cNvSpPr txBox="1"/>
          <p:nvPr/>
        </p:nvSpPr>
        <p:spPr>
          <a:xfrm>
            <a:off x="584200" y="4660554"/>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[7]</a:t>
            </a:r>
          </a:p>
        </p:txBody>
      </p:sp>
      <p:sp>
        <p:nvSpPr>
          <p:cNvPr id="20" name="TextBox 19"/>
          <p:cNvSpPr txBox="1"/>
          <p:nvPr/>
        </p:nvSpPr>
        <p:spPr>
          <a:xfrm>
            <a:off x="990600" y="4660554"/>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L. McInnes, J. Healy and J. Melville, </a:t>
            </a:r>
            <a:r>
              <a:rPr sz="1100" b="1" i="0">
                <a:solidFill>
                  <a:srgbClr val="1A1A1A"/>
                </a:solidFill>
                <a:latin typeface="Calibri"/>
              </a:rPr>
              <a:t>“UMAP: Uniform Manifold Approximation and Projection for Dimension Reduction,”</a:t>
            </a:r>
            <a:r>
              <a:rPr sz="1100" b="0" i="0">
                <a:solidFill>
                  <a:srgbClr val="303030"/>
                </a:solidFill>
                <a:latin typeface="Calibri"/>
              </a:rPr>
              <a:t> arXiv:1802.03426, 2018.</a:t>
            </a:r>
          </a:p>
        </p:txBody>
      </p:sp>
      <p:sp>
        <p:nvSpPr>
          <p:cNvPr id="21" name="TextBox 20"/>
          <p:cNvSpPr txBox="1"/>
          <p:nvPr/>
        </p:nvSpPr>
        <p:spPr>
          <a:xfrm>
            <a:off x="584200" y="5217180"/>
            <a:ext cx="355600" cy="22276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0070C0"/>
                </a:solidFill>
                <a:latin typeface="Calibri"/>
              </a:rPr>
              <a:t>[8]</a:t>
            </a:r>
          </a:p>
        </p:txBody>
      </p:sp>
      <p:sp>
        <p:nvSpPr>
          <p:cNvPr id="22" name="TextBox 21"/>
          <p:cNvSpPr txBox="1"/>
          <p:nvPr/>
        </p:nvSpPr>
        <p:spPr>
          <a:xfrm>
            <a:off x="990600" y="5217180"/>
            <a:ext cx="8509000" cy="416925"/>
          </a:xfrm>
          <a:prstGeom prst="rect">
            <a:avLst/>
          </a:prstGeom>
          <a:noFill/>
        </p:spPr>
        <p:txBody>
          <a:bodyPr wrap="square" lIns="0" rIns="0" tIns="0" bIns="0" anchor="t">
            <a:spAutoFit/>
          </a:bodyPr>
          <a:lstStyle/>
          <a:p>
            <a:pPr algn="l">
              <a:lnSpc>
                <a:spcPct val="126000"/>
              </a:lnSpc>
              <a:spcBef>
                <a:spcPts val="0"/>
              </a:spcBef>
              <a:spcAft>
                <a:spcPts val="0"/>
              </a:spcAft>
            </a:pPr>
            <a:r>
              <a:rPr sz="1100" b="0" i="0">
                <a:solidFill>
                  <a:srgbClr val="303030"/>
                </a:solidFill>
                <a:latin typeface="Calibri"/>
              </a:rPr>
              <a:t>H. Mureşan and M. Oltean, </a:t>
            </a:r>
            <a:r>
              <a:rPr sz="1100" b="1" i="0">
                <a:solidFill>
                  <a:srgbClr val="1A1A1A"/>
                </a:solidFill>
                <a:latin typeface="Calibri"/>
              </a:rPr>
              <a:t>“Fruit Recognition from Images Using Deep Learning,”</a:t>
            </a:r>
            <a:r>
              <a:rPr sz="1100" b="0" i="0">
                <a:solidFill>
                  <a:srgbClr val="303030"/>
                </a:solidFill>
                <a:latin typeface="Calibri"/>
              </a:rPr>
              <a:t> Acta Univ. Sapientiae, Informatica, vol. 10, no. 1, 2018.</a:t>
            </a:r>
          </a:p>
        </p:txBody>
      </p:sp>
      <p:sp>
        <p:nvSpPr>
          <p:cNvPr id="23" name="Rectangle 22"/>
          <p:cNvSpPr/>
          <p:nvPr/>
        </p:nvSpPr>
        <p:spPr>
          <a:xfrm>
            <a:off x="584200" y="5926206"/>
            <a:ext cx="8915400" cy="757387"/>
          </a:xfrm>
          <a:prstGeom prst="rect">
            <a:avLst/>
          </a:prstGeom>
          <a:solidFill>
            <a:srgbClr val="F2F5F9"/>
          </a:solidFill>
          <a:ln w="1143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6078606"/>
            <a:ext cx="8458200" cy="452587"/>
          </a:xfrm>
          <a:prstGeom prst="rect">
            <a:avLst/>
          </a:prstGeom>
          <a:noFill/>
        </p:spPr>
        <p:txBody>
          <a:bodyPr wrap="square" lIns="0" rIns="0" tIns="0" bIns="0" anchor="t">
            <a:spAutoFit/>
          </a:bodyPr>
          <a:lstStyle/>
          <a:p>
            <a:pPr algn="l">
              <a:lnSpc>
                <a:spcPct val="124000"/>
              </a:lnSpc>
              <a:spcBef>
                <a:spcPts val="0"/>
              </a:spcBef>
              <a:spcAft>
                <a:spcPts val="500"/>
              </a:spcAft>
            </a:pPr>
            <a:r>
              <a:rPr sz="900" b="1" i="0">
                <a:solidFill>
                  <a:srgbClr val="0070C0"/>
                </a:solidFill>
                <a:latin typeface="Calibri"/>
              </a:rPr>
              <a:t>PROJECT REPOSITORY</a:t>
            </a:r>
          </a:p>
          <a:p>
            <a:pPr algn="l">
              <a:lnSpc>
                <a:spcPct val="124000"/>
              </a:lnSpc>
              <a:spcBef>
                <a:spcPts val="0"/>
              </a:spcBef>
              <a:spcAft>
                <a:spcPts val="0"/>
              </a:spcAft>
            </a:pPr>
            <a:r>
              <a:rPr sz="1150" b="0" i="0">
                <a:solidFill>
                  <a:srgbClr val="1A1A1A"/>
                </a:solidFill>
                <a:latin typeface="Calibri"/>
              </a:rPr>
              <a:t>https://github.com/2ViShAlv1/Fresh_Vision.git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