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0083800" cy="7556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083800" cy="762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1_X7.png"/>
          <p:cNvPicPr>
            <a:picLocks noChangeAspect="1"/>
          </p:cNvPicPr>
          <p:nvPr/>
        </p:nvPicPr>
        <p:blipFill>
          <a:blip r:embed="rId2"/>
          <a:stretch>
            <a:fillRect/>
          </a:stretch>
        </p:blipFill>
        <p:spPr>
          <a:xfrm>
            <a:off x="4686300" y="660400"/>
            <a:ext cx="711200" cy="723900"/>
          </a:xfrm>
          <a:prstGeom prst="rect">
            <a:avLst/>
          </a:prstGeom>
        </p:spPr>
      </p:pic>
      <p:sp>
        <p:nvSpPr>
          <p:cNvPr id="4" name="TextBox 3"/>
          <p:cNvSpPr txBox="1"/>
          <p:nvPr/>
        </p:nvSpPr>
        <p:spPr>
          <a:xfrm>
            <a:off x="584200" y="1625600"/>
            <a:ext cx="8915400" cy="230957"/>
          </a:xfrm>
          <a:prstGeom prst="rect">
            <a:avLst/>
          </a:prstGeom>
          <a:noFill/>
        </p:spPr>
        <p:txBody>
          <a:bodyPr wrap="square" lIns="0" rIns="0" tIns="0" bIns="0" anchor="t">
            <a:spAutoFit/>
          </a:bodyPr>
          <a:lstStyle/>
          <a:p>
            <a:pPr algn="ctr">
              <a:lnSpc>
                <a:spcPct val="124000"/>
              </a:lnSpc>
              <a:spcBef>
                <a:spcPts val="0"/>
              </a:spcBef>
              <a:spcAft>
                <a:spcPts val="0"/>
              </a:spcAft>
            </a:pPr>
            <a:r>
              <a:rPr sz="1100" b="1" i="0">
                <a:solidFill>
                  <a:srgbClr val="666666"/>
                </a:solidFill>
                <a:latin typeface="Calibri"/>
              </a:rPr>
              <a:t>PRACTICE SCHOOL-II   |   PROJECT PRESENTATION</a:t>
            </a:r>
          </a:p>
        </p:txBody>
      </p:sp>
      <p:sp>
        <p:nvSpPr>
          <p:cNvPr id="5" name="TextBox 4"/>
          <p:cNvSpPr txBox="1"/>
          <p:nvPr/>
        </p:nvSpPr>
        <p:spPr>
          <a:xfrm>
            <a:off x="584200" y="1981200"/>
            <a:ext cx="8915400" cy="552704"/>
          </a:xfrm>
          <a:prstGeom prst="rect">
            <a:avLst/>
          </a:prstGeom>
          <a:noFill/>
        </p:spPr>
        <p:txBody>
          <a:bodyPr wrap="square" lIns="0" rIns="0" tIns="0" bIns="0" anchor="t">
            <a:spAutoFit/>
          </a:bodyPr>
          <a:lstStyle/>
          <a:p>
            <a:pPr algn="ctr">
              <a:lnSpc>
                <a:spcPct val="100000"/>
              </a:lnSpc>
              <a:spcBef>
                <a:spcPts val="0"/>
              </a:spcBef>
              <a:spcAft>
                <a:spcPts val="0"/>
              </a:spcAft>
            </a:pPr>
            <a:r>
              <a:rPr sz="3800" b="1" i="0">
                <a:solidFill>
                  <a:srgbClr val="0070C0"/>
                </a:solidFill>
                <a:latin typeface="Calibri"/>
              </a:rPr>
              <a:t>FRESHVISION</a:t>
            </a:r>
          </a:p>
        </p:txBody>
      </p:sp>
      <p:sp>
        <p:nvSpPr>
          <p:cNvPr id="6" name="TextBox 5"/>
          <p:cNvSpPr txBox="1"/>
          <p:nvPr/>
        </p:nvSpPr>
        <p:spPr>
          <a:xfrm>
            <a:off x="1473200" y="2692400"/>
            <a:ext cx="7137400" cy="574893"/>
          </a:xfrm>
          <a:prstGeom prst="rect">
            <a:avLst/>
          </a:prstGeom>
          <a:noFill/>
        </p:spPr>
        <p:txBody>
          <a:bodyPr wrap="square" lIns="0" rIns="0" tIns="0" bIns="0" anchor="t">
            <a:spAutoFit/>
          </a:bodyPr>
          <a:lstStyle/>
          <a:p>
            <a:pPr algn="ctr">
              <a:lnSpc>
                <a:spcPct val="124000"/>
              </a:lnSpc>
              <a:spcBef>
                <a:spcPts val="0"/>
              </a:spcBef>
              <a:spcAft>
                <a:spcPts val="0"/>
              </a:spcAft>
            </a:pPr>
            <a:r>
              <a:rPr sz="1600" b="0" i="0">
                <a:solidFill>
                  <a:srgbClr val="1A1A1A"/>
                </a:solidFill>
                <a:latin typeface="Calibri"/>
              </a:rPr>
              <a:t>Identification and 5-Level Classification of Fruits and Vegetables using Machine Learning</a:t>
            </a:r>
          </a:p>
        </p:txBody>
      </p:sp>
      <p:cxnSp>
        <p:nvCxnSpPr>
          <p:cNvPr id="7" name="Connector 6"/>
          <p:cNvCxnSpPr/>
          <p:nvPr/>
        </p:nvCxnSpPr>
        <p:spPr>
          <a:xfrm>
            <a:off x="4343400" y="3454400"/>
            <a:ext cx="1397000" cy="0"/>
          </a:xfrm>
          <a:prstGeom prst="line">
            <a:avLst/>
          </a:prstGeom>
          <a:ln w="17780">
            <a:solidFill>
              <a:srgbClr val="0070C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84200" y="3708400"/>
            <a:ext cx="8915400" cy="547684"/>
          </a:xfrm>
          <a:prstGeom prst="rect">
            <a:avLst/>
          </a:prstGeom>
          <a:noFill/>
        </p:spPr>
        <p:txBody>
          <a:bodyPr wrap="square" lIns="0" rIns="0" tIns="0" bIns="0" anchor="t">
            <a:spAutoFit/>
          </a:bodyPr>
          <a:lstStyle/>
          <a:p>
            <a:pPr algn="ctr">
              <a:lnSpc>
                <a:spcPct val="124000"/>
              </a:lnSpc>
              <a:spcBef>
                <a:spcPts val="0"/>
              </a:spcBef>
              <a:spcAft>
                <a:spcPts val="600"/>
              </a:spcAft>
            </a:pPr>
            <a:r>
              <a:rPr sz="1050" b="0" i="0">
                <a:solidFill>
                  <a:srgbClr val="666666"/>
                </a:solidFill>
                <a:latin typeface="Calibri"/>
              </a:rPr>
              <a:t>Submitted by</a:t>
            </a:r>
          </a:p>
          <a:p>
            <a:pPr algn="ctr">
              <a:lnSpc>
                <a:spcPct val="124000"/>
              </a:lnSpc>
              <a:spcBef>
                <a:spcPts val="0"/>
              </a:spcBef>
              <a:spcAft>
                <a:spcPts val="0"/>
              </a:spcAft>
            </a:pPr>
            <a:r>
              <a:rPr sz="1500" b="1" i="0">
                <a:solidFill>
                  <a:srgbClr val="1A1A1A"/>
                </a:solidFill>
                <a:latin typeface="Calibri"/>
              </a:rPr>
              <a:t>Vishal Verma</a:t>
            </a:r>
            <a:r>
              <a:rPr sz="1500" b="0" i="0">
                <a:solidFill>
                  <a:srgbClr val="303030"/>
                </a:solidFill>
                <a:latin typeface="Calibri"/>
              </a:rPr>
              <a:t>  (240691)</a:t>
            </a:r>
            <a:r>
              <a:rPr sz="1500" b="0" i="0">
                <a:solidFill>
                  <a:srgbClr val="303030"/>
                </a:solidFill>
                <a:latin typeface="Calibri"/>
              </a:rPr>
              <a:t>          </a:t>
            </a:r>
            <a:r>
              <a:rPr sz="1500" b="1" i="0">
                <a:solidFill>
                  <a:srgbClr val="1A1A1A"/>
                </a:solidFill>
                <a:latin typeface="Calibri"/>
              </a:rPr>
              <a:t>Harshul Saini</a:t>
            </a:r>
          </a:p>
        </p:txBody>
      </p:sp>
      <p:sp>
        <p:nvSpPr>
          <p:cNvPr id="9" name="TextBox 8"/>
          <p:cNvSpPr txBox="1"/>
          <p:nvPr/>
        </p:nvSpPr>
        <p:spPr>
          <a:xfrm>
            <a:off x="584200" y="4521200"/>
            <a:ext cx="8915400" cy="780674"/>
          </a:xfrm>
          <a:prstGeom prst="rect">
            <a:avLst/>
          </a:prstGeom>
          <a:noFill/>
        </p:spPr>
        <p:txBody>
          <a:bodyPr wrap="square" lIns="0" rIns="0" tIns="0" bIns="0" anchor="t">
            <a:spAutoFit/>
          </a:bodyPr>
          <a:lstStyle/>
          <a:p>
            <a:pPr algn="ctr">
              <a:lnSpc>
                <a:spcPct val="124000"/>
              </a:lnSpc>
              <a:spcBef>
                <a:spcPts val="0"/>
              </a:spcBef>
              <a:spcAft>
                <a:spcPts val="600"/>
              </a:spcAft>
            </a:pPr>
            <a:r>
              <a:rPr sz="1050" b="0" i="0">
                <a:solidFill>
                  <a:srgbClr val="666666"/>
                </a:solidFill>
                <a:latin typeface="Calibri"/>
              </a:rPr>
              <a:t>Under the supervision of</a:t>
            </a:r>
          </a:p>
          <a:p>
            <a:pPr algn="ctr">
              <a:lnSpc>
                <a:spcPct val="124000"/>
              </a:lnSpc>
              <a:spcBef>
                <a:spcPts val="0"/>
              </a:spcBef>
              <a:spcAft>
                <a:spcPts val="400"/>
              </a:spcAft>
            </a:pPr>
            <a:r>
              <a:rPr sz="1500" b="1" i="0">
                <a:solidFill>
                  <a:srgbClr val="1A1A1A"/>
                </a:solidFill>
                <a:latin typeface="Calibri"/>
              </a:rPr>
              <a:t>Dr. Aurobindo Behera</a:t>
            </a:r>
          </a:p>
          <a:p>
            <a:pPr algn="ctr">
              <a:lnSpc>
                <a:spcPct val="124000"/>
              </a:lnSpc>
              <a:spcBef>
                <a:spcPts val="0"/>
              </a:spcBef>
              <a:spcAft>
                <a:spcPts val="0"/>
              </a:spcAft>
            </a:pPr>
            <a:r>
              <a:rPr sz="1100" b="0" i="0">
                <a:solidFill>
                  <a:srgbClr val="303030"/>
                </a:solidFill>
                <a:latin typeface="Calibri"/>
              </a:rPr>
              <a:t>Department of Computer Science and Engineering (AI/ML)</a:t>
            </a:r>
          </a:p>
        </p:txBody>
      </p:sp>
      <p:cxnSp>
        <p:nvCxnSpPr>
          <p:cNvPr id="10" name="Connector 9"/>
          <p:cNvCxnSpPr/>
          <p:nvPr/>
        </p:nvCxnSpPr>
        <p:spPr>
          <a:xfrm>
            <a:off x="3124200" y="5511800"/>
            <a:ext cx="3835400" cy="0"/>
          </a:xfrm>
          <a:prstGeom prst="line">
            <a:avLst/>
          </a:prstGeom>
          <a:ln w="11430">
            <a:solidFill>
              <a:srgbClr val="DDDDD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4200" y="5715000"/>
            <a:ext cx="8915400" cy="774334"/>
          </a:xfrm>
          <a:prstGeom prst="rect">
            <a:avLst/>
          </a:prstGeom>
          <a:noFill/>
        </p:spPr>
        <p:txBody>
          <a:bodyPr wrap="square" lIns="0" rIns="0" tIns="0" bIns="0" anchor="t">
            <a:spAutoFit/>
          </a:bodyPr>
          <a:lstStyle/>
          <a:p>
            <a:pPr algn="ctr">
              <a:lnSpc>
                <a:spcPct val="124000"/>
              </a:lnSpc>
              <a:spcBef>
                <a:spcPts val="0"/>
              </a:spcBef>
              <a:spcAft>
                <a:spcPts val="400"/>
              </a:spcAft>
            </a:pPr>
            <a:r>
              <a:rPr sz="1250" b="1" i="0">
                <a:solidFill>
                  <a:srgbClr val="1A1A1A"/>
                </a:solidFill>
                <a:latin typeface="Calibri"/>
              </a:rPr>
              <a:t>School of Engineering and Technology</a:t>
            </a:r>
          </a:p>
          <a:p>
            <a:pPr algn="ctr">
              <a:lnSpc>
                <a:spcPct val="124000"/>
              </a:lnSpc>
              <a:spcBef>
                <a:spcPts val="0"/>
              </a:spcBef>
              <a:spcAft>
                <a:spcPts val="800"/>
              </a:spcAft>
            </a:pPr>
            <a:r>
              <a:rPr sz="1100" b="0" i="0">
                <a:solidFill>
                  <a:srgbClr val="303030"/>
                </a:solidFill>
                <a:latin typeface="Calibri"/>
              </a:rPr>
              <a:t>BML Munjal University, Haryana 122413, India</a:t>
            </a:r>
          </a:p>
          <a:p>
            <a:pPr algn="ctr">
              <a:lnSpc>
                <a:spcPct val="124000"/>
              </a:lnSpc>
              <a:spcBef>
                <a:spcPts val="0"/>
              </a:spcBef>
              <a:spcAft>
                <a:spcPts val="0"/>
              </a:spcAft>
            </a:pPr>
            <a:r>
              <a:rPr sz="1100" b="1" i="0">
                <a:solidFill>
                  <a:srgbClr val="666666"/>
                </a:solidFill>
                <a:latin typeface="Calibri"/>
              </a:rPr>
              <a:t>August 2026</a:t>
            </a:r>
          </a:p>
        </p:txBody>
      </p:sp>
      <p:sp>
        <p:nvSpPr>
          <p:cNvPr id="12" name="Rectangle 11"/>
          <p:cNvSpPr/>
          <p:nvPr/>
        </p:nvSpPr>
        <p:spPr>
          <a:xfrm>
            <a:off x="0" y="7480300"/>
            <a:ext cx="10083800" cy="762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367792"/>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PS-II STATION AND PROJECT OVERVIEW</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2</a:t>
            </a:r>
          </a:p>
        </p:txBody>
      </p:sp>
      <p:sp>
        <p:nvSpPr>
          <p:cNvPr id="7" name="Rectangle 6"/>
          <p:cNvSpPr/>
          <p:nvPr/>
        </p:nvSpPr>
        <p:spPr>
          <a:xfrm>
            <a:off x="584200" y="1270000"/>
            <a:ext cx="4318000" cy="2197668"/>
          </a:xfrm>
          <a:prstGeom prst="rect">
            <a:avLst/>
          </a:prstGeom>
          <a:solidFill>
            <a:srgbClr val="F2F5F9"/>
          </a:solidFill>
          <a:ln w="1143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181600" y="1270000"/>
            <a:ext cx="4318000" cy="2197668"/>
          </a:xfrm>
          <a:prstGeom prst="rect">
            <a:avLst/>
          </a:prstGeom>
          <a:solidFill>
            <a:srgbClr val="F2F5F9"/>
          </a:solidFill>
          <a:ln w="1143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1447800"/>
            <a:ext cx="3911600" cy="1842068"/>
          </a:xfrm>
          <a:prstGeom prst="rect">
            <a:avLst/>
          </a:prstGeom>
          <a:noFill/>
        </p:spPr>
        <p:txBody>
          <a:bodyPr wrap="square" lIns="0" rIns="0" tIns="0" bIns="0" anchor="t">
            <a:spAutoFit/>
          </a:bodyPr>
          <a:lstStyle/>
          <a:p>
            <a:pPr algn="l">
              <a:lnSpc>
                <a:spcPct val="124000"/>
              </a:lnSpc>
              <a:spcBef>
                <a:spcPts val="0"/>
              </a:spcBef>
              <a:spcAft>
                <a:spcPts val="1000"/>
              </a:spcAft>
            </a:pPr>
            <a:r>
              <a:rPr sz="950" b="1" i="0">
                <a:solidFill>
                  <a:srgbClr val="0070C0"/>
                </a:solidFill>
                <a:latin typeface="Calibri"/>
              </a:rPr>
              <a:t>PS-II STATION</a:t>
            </a:r>
          </a:p>
          <a:p>
            <a:pPr algn="l">
              <a:lnSpc>
                <a:spcPct val="124000"/>
              </a:lnSpc>
              <a:spcBef>
                <a:spcPts val="0"/>
              </a:spcBef>
              <a:spcAft>
                <a:spcPts val="800"/>
              </a:spcAft>
            </a:pPr>
            <a:r>
              <a:rPr sz="1100" b="0" i="0">
                <a:solidFill>
                  <a:srgbClr val="666666"/>
                </a:solidFill>
                <a:latin typeface="Calibri"/>
              </a:rPr>
              <a:t>Station   </a:t>
            </a:r>
            <a:r>
              <a:rPr sz="1100" b="1" i="0">
                <a:solidFill>
                  <a:srgbClr val="1A1A1A"/>
                </a:solidFill>
                <a:latin typeface="Calibri"/>
              </a:rPr>
              <a:t>BML Munjal University</a:t>
            </a:r>
          </a:p>
          <a:p>
            <a:pPr algn="l">
              <a:lnSpc>
                <a:spcPct val="124000"/>
              </a:lnSpc>
              <a:spcBef>
                <a:spcPts val="0"/>
              </a:spcBef>
              <a:spcAft>
                <a:spcPts val="800"/>
              </a:spcAft>
            </a:pPr>
            <a:r>
              <a:rPr sz="1100" b="0" i="0">
                <a:solidFill>
                  <a:srgbClr val="666666"/>
                </a:solidFill>
                <a:latin typeface="Calibri"/>
              </a:rPr>
              <a:t>Department   </a:t>
            </a:r>
            <a:r>
              <a:rPr sz="1100" b="1" i="0">
                <a:solidFill>
                  <a:srgbClr val="1A1A1A"/>
                </a:solidFill>
                <a:latin typeface="Calibri"/>
              </a:rPr>
              <a:t>Computer Science and Engineering (AI/ML)</a:t>
            </a:r>
          </a:p>
          <a:p>
            <a:pPr algn="l">
              <a:lnSpc>
                <a:spcPct val="124000"/>
              </a:lnSpc>
              <a:spcBef>
                <a:spcPts val="0"/>
              </a:spcBef>
              <a:spcAft>
                <a:spcPts val="800"/>
              </a:spcAft>
            </a:pPr>
            <a:r>
              <a:rPr sz="1100" b="0" i="0">
                <a:solidFill>
                  <a:srgbClr val="666666"/>
                </a:solidFill>
                <a:latin typeface="Calibri"/>
              </a:rPr>
              <a:t>Supervisor   </a:t>
            </a:r>
            <a:r>
              <a:rPr sz="1100" b="1" i="0">
                <a:solidFill>
                  <a:srgbClr val="1A1A1A"/>
                </a:solidFill>
                <a:latin typeface="Calibri"/>
              </a:rPr>
              <a:t>Dr. Aurobindo Behera</a:t>
            </a:r>
          </a:p>
          <a:p>
            <a:pPr algn="l">
              <a:lnSpc>
                <a:spcPct val="124000"/>
              </a:lnSpc>
              <a:spcBef>
                <a:spcPts val="0"/>
              </a:spcBef>
              <a:spcAft>
                <a:spcPts val="800"/>
              </a:spcAft>
            </a:pPr>
            <a:r>
              <a:rPr sz="1100" b="0" i="0">
                <a:solidFill>
                  <a:srgbClr val="666666"/>
                </a:solidFill>
                <a:latin typeface="Calibri"/>
              </a:rPr>
              <a:t>Nature of work   </a:t>
            </a:r>
            <a:r>
              <a:rPr sz="1100" b="1" i="0">
                <a:solidFill>
                  <a:srgbClr val="1A1A1A"/>
                </a:solidFill>
                <a:latin typeface="Calibri"/>
              </a:rPr>
              <a:t>Image-based produce quality assessment using deep learning</a:t>
            </a:r>
          </a:p>
        </p:txBody>
      </p:sp>
      <p:sp>
        <p:nvSpPr>
          <p:cNvPr id="10" name="TextBox 9"/>
          <p:cNvSpPr txBox="1"/>
          <p:nvPr/>
        </p:nvSpPr>
        <p:spPr>
          <a:xfrm>
            <a:off x="5384800" y="1447800"/>
            <a:ext cx="3911600" cy="1538284"/>
          </a:xfrm>
          <a:prstGeom prst="rect">
            <a:avLst/>
          </a:prstGeom>
          <a:noFill/>
        </p:spPr>
        <p:txBody>
          <a:bodyPr wrap="square" lIns="0" rIns="0" tIns="0" bIns="0" anchor="t">
            <a:spAutoFit/>
          </a:bodyPr>
          <a:lstStyle/>
          <a:p>
            <a:pPr algn="l">
              <a:lnSpc>
                <a:spcPct val="124000"/>
              </a:lnSpc>
              <a:spcBef>
                <a:spcPts val="0"/>
              </a:spcBef>
              <a:spcAft>
                <a:spcPts val="1000"/>
              </a:spcAft>
            </a:pPr>
            <a:r>
              <a:rPr sz="950" b="1" i="0">
                <a:solidFill>
                  <a:srgbClr val="0070C0"/>
                </a:solidFill>
                <a:latin typeface="Calibri"/>
              </a:rPr>
              <a:t>SCOPE OF THE WORK</a:t>
            </a:r>
          </a:p>
          <a:p>
            <a:pPr algn="l">
              <a:lnSpc>
                <a:spcPct val="124000"/>
              </a:lnSpc>
              <a:spcBef>
                <a:spcPts val="0"/>
              </a:spcBef>
              <a:spcAft>
                <a:spcPts val="900"/>
              </a:spcAft>
            </a:pPr>
            <a:r>
              <a:rPr sz="1100" b="0" i="0">
                <a:solidFill>
                  <a:srgbClr val="303030"/>
                </a:solidFill>
                <a:latin typeface="Calibri"/>
              </a:rPr>
              <a:t>External, image-based visual assessment only. Internal quality such as sugar content or firmness is not covered, since that would need destructive testing or a different sensing approach.</a:t>
            </a:r>
          </a:p>
          <a:p>
            <a:pPr algn="l">
              <a:lnSpc>
                <a:spcPct val="124000"/>
              </a:lnSpc>
              <a:spcBef>
                <a:spcPts val="0"/>
              </a:spcBef>
              <a:spcAft>
                <a:spcPts val="0"/>
              </a:spcAft>
            </a:pPr>
            <a:r>
              <a:rPr sz="1100" b="0" i="0">
                <a:solidFill>
                  <a:srgbClr val="303030"/>
                </a:solidFill>
                <a:latin typeface="Calibri"/>
              </a:rPr>
              <a:t>The 14 produce types are simply the ones present in the source dataset.</a:t>
            </a:r>
          </a:p>
        </p:txBody>
      </p:sp>
      <p:sp>
        <p:nvSpPr>
          <p:cNvPr id="11" name="TextBox 10"/>
          <p:cNvSpPr txBox="1"/>
          <p:nvPr/>
        </p:nvSpPr>
        <p:spPr>
          <a:xfrm>
            <a:off x="584200" y="3797868"/>
            <a:ext cx="89154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THE PROJECT AT A GLANCE</a:t>
            </a:r>
          </a:p>
        </p:txBody>
      </p:sp>
      <p:sp>
        <p:nvSpPr>
          <p:cNvPr id="12" name="Rectangle 11"/>
          <p:cNvSpPr/>
          <p:nvPr/>
        </p:nvSpPr>
        <p:spPr>
          <a:xfrm>
            <a:off x="584200" y="4139092"/>
            <a:ext cx="2836333" cy="2063475"/>
          </a:xfrm>
          <a:prstGeom prst="rect">
            <a:avLst/>
          </a:prstGeom>
          <a:solidFill>
            <a:srgbClr val="FFFFFF"/>
          </a:solidFill>
          <a:ln w="1143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4700" y="4316892"/>
            <a:ext cx="2455333" cy="1172951"/>
          </a:xfrm>
          <a:prstGeom prst="rect">
            <a:avLst/>
          </a:prstGeom>
          <a:noFill/>
        </p:spPr>
        <p:txBody>
          <a:bodyPr wrap="square" lIns="0" rIns="0" tIns="0" bIns="0" anchor="t">
            <a:spAutoFit/>
          </a:bodyPr>
          <a:lstStyle/>
          <a:p>
            <a:pPr algn="l">
              <a:lnSpc>
                <a:spcPct val="114000"/>
              </a:lnSpc>
              <a:spcBef>
                <a:spcPts val="0"/>
              </a:spcBef>
              <a:spcAft>
                <a:spcPts val="700"/>
              </a:spcAft>
            </a:pPr>
            <a:r>
              <a:rPr sz="1250" b="1" i="0">
                <a:solidFill>
                  <a:srgbClr val="1A1A1A"/>
                </a:solidFill>
                <a:latin typeface="Calibri"/>
              </a:rPr>
              <a:t>Two models, one backbone</a:t>
            </a:r>
          </a:p>
          <a:p>
            <a:pPr algn="l">
              <a:lnSpc>
                <a:spcPct val="126000"/>
              </a:lnSpc>
              <a:spcBef>
                <a:spcPts val="0"/>
              </a:spcBef>
              <a:spcAft>
                <a:spcPts val="1100"/>
              </a:spcAft>
            </a:pPr>
            <a:r>
              <a:rPr sz="1050" b="0" i="0">
                <a:solidFill>
                  <a:srgbClr val="303030"/>
                </a:solidFill>
                <a:latin typeface="Calibri"/>
              </a:rPr>
              <a:t>MobileNetV2 transfer learning gives a 14-class produce identifier and a five-level freshness grader.</a:t>
            </a:r>
          </a:p>
          <a:p>
            <a:pPr algn="l">
              <a:lnSpc>
                <a:spcPct val="124000"/>
              </a:lnSpc>
              <a:spcBef>
                <a:spcPts val="0"/>
              </a:spcBef>
              <a:spcAft>
                <a:spcPts val="0"/>
              </a:spcAft>
            </a:pPr>
            <a:r>
              <a:rPr sz="1050" b="1" i="0">
                <a:solidFill>
                  <a:srgbClr val="1A1A1A"/>
                </a:solidFill>
                <a:latin typeface="Calibri"/>
              </a:rPr>
              <a:t>14 types  ·  5 freshness levels</a:t>
            </a:r>
          </a:p>
        </p:txBody>
      </p:sp>
      <p:sp>
        <p:nvSpPr>
          <p:cNvPr id="14" name="Rectangle 13"/>
          <p:cNvSpPr/>
          <p:nvPr/>
        </p:nvSpPr>
        <p:spPr>
          <a:xfrm>
            <a:off x="3623733" y="4139092"/>
            <a:ext cx="2836333" cy="2063475"/>
          </a:xfrm>
          <a:prstGeom prst="rect">
            <a:avLst/>
          </a:prstGeom>
          <a:solidFill>
            <a:srgbClr val="FFFFFF"/>
          </a:solidFill>
          <a:ln w="1143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14233" y="4316892"/>
            <a:ext cx="2455333" cy="1707875"/>
          </a:xfrm>
          <a:prstGeom prst="rect">
            <a:avLst/>
          </a:prstGeom>
          <a:noFill/>
        </p:spPr>
        <p:txBody>
          <a:bodyPr wrap="square" lIns="0" rIns="0" tIns="0" bIns="0" anchor="t">
            <a:spAutoFit/>
          </a:bodyPr>
          <a:lstStyle/>
          <a:p>
            <a:pPr algn="l">
              <a:lnSpc>
                <a:spcPct val="114000"/>
              </a:lnSpc>
              <a:spcBef>
                <a:spcPts val="0"/>
              </a:spcBef>
              <a:spcAft>
                <a:spcPts val="700"/>
              </a:spcAft>
            </a:pPr>
            <a:r>
              <a:rPr sz="1250" b="1" i="0">
                <a:solidFill>
                  <a:srgbClr val="1A1A1A"/>
                </a:solidFill>
                <a:latin typeface="Calibri"/>
              </a:rPr>
              <a:t>Labels generated automatically</a:t>
            </a:r>
          </a:p>
          <a:p>
            <a:pPr algn="l">
              <a:lnSpc>
                <a:spcPct val="126000"/>
              </a:lnSpc>
              <a:spcBef>
                <a:spcPts val="0"/>
              </a:spcBef>
              <a:spcAft>
                <a:spcPts val="1100"/>
              </a:spcAft>
            </a:pPr>
            <a:r>
              <a:rPr sz="1050" b="0" i="0">
                <a:solidFill>
                  <a:srgbClr val="303030"/>
                </a:solidFill>
                <a:latin typeface="Calibri"/>
              </a:rPr>
              <a:t>An HSV decay-score heuristic replaces manual freshness annotation across the whole dataset.</a:t>
            </a:r>
          </a:p>
          <a:p>
            <a:pPr algn="l">
              <a:lnSpc>
                <a:spcPct val="124000"/>
              </a:lnSpc>
              <a:spcBef>
                <a:spcPts val="0"/>
              </a:spcBef>
              <a:spcAft>
                <a:spcPts val="0"/>
              </a:spcAft>
            </a:pPr>
            <a:r>
              <a:rPr sz="1050" b="1" i="0">
                <a:solidFill>
                  <a:srgbClr val="1A1A1A"/>
                </a:solidFill>
                <a:latin typeface="Calibri"/>
              </a:rPr>
              <a:t>29,291 images  ·  zero manual freshness labels</a:t>
            </a:r>
          </a:p>
        </p:txBody>
      </p:sp>
      <p:sp>
        <p:nvSpPr>
          <p:cNvPr id="16" name="Rectangle 15"/>
          <p:cNvSpPr/>
          <p:nvPr/>
        </p:nvSpPr>
        <p:spPr>
          <a:xfrm>
            <a:off x="6663266" y="4139092"/>
            <a:ext cx="2836333" cy="2063475"/>
          </a:xfrm>
          <a:prstGeom prst="rect">
            <a:avLst/>
          </a:prstGeom>
          <a:solidFill>
            <a:srgbClr val="FFFFFF"/>
          </a:solidFill>
          <a:ln w="2032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3766" y="4316892"/>
            <a:ext cx="2455333" cy="1170178"/>
          </a:xfrm>
          <a:prstGeom prst="rect">
            <a:avLst/>
          </a:prstGeom>
          <a:noFill/>
        </p:spPr>
        <p:txBody>
          <a:bodyPr wrap="square" lIns="0" rIns="0" tIns="0" bIns="0" anchor="t">
            <a:spAutoFit/>
          </a:bodyPr>
          <a:lstStyle/>
          <a:p>
            <a:pPr algn="l">
              <a:lnSpc>
                <a:spcPct val="114000"/>
              </a:lnSpc>
              <a:spcBef>
                <a:spcPts val="0"/>
              </a:spcBef>
              <a:spcAft>
                <a:spcPts val="700"/>
              </a:spcAft>
            </a:pPr>
            <a:r>
              <a:rPr sz="1250" b="1" i="0">
                <a:solidFill>
                  <a:srgbClr val="1A1A1A"/>
                </a:solidFill>
                <a:latin typeface="Calibri"/>
              </a:rPr>
              <a:t>Results</a:t>
            </a:r>
          </a:p>
          <a:p>
            <a:pPr algn="l">
              <a:lnSpc>
                <a:spcPct val="126000"/>
              </a:lnSpc>
              <a:spcBef>
                <a:spcPts val="0"/>
              </a:spcBef>
              <a:spcAft>
                <a:spcPts val="1100"/>
              </a:spcAft>
            </a:pPr>
            <a:r>
              <a:rPr sz="1050" b="0" i="0">
                <a:solidFill>
                  <a:srgbClr val="303030"/>
                </a:solidFill>
                <a:latin typeface="Calibri"/>
              </a:rPr>
              <a:t>Both models trained on a CPU-only machine, in five epochs per stage.</a:t>
            </a:r>
          </a:p>
          <a:p>
            <a:pPr algn="l">
              <a:lnSpc>
                <a:spcPct val="124000"/>
              </a:lnSpc>
              <a:spcBef>
                <a:spcPts val="0"/>
              </a:spcBef>
              <a:spcAft>
                <a:spcPts val="0"/>
              </a:spcAft>
            </a:pPr>
            <a:r>
              <a:rPr sz="1050" b="1" i="0">
                <a:solidFill>
                  <a:srgbClr val="1A1A1A"/>
                </a:solidFill>
                <a:latin typeface="Calibri"/>
              </a:rPr>
              <a:t>97.83% identification  ·  80.41% freshness</a:t>
            </a:r>
          </a:p>
        </p:txBody>
      </p:sp>
      <p:sp>
        <p:nvSpPr>
          <p:cNvPr id="18" name="TextBox 17"/>
          <p:cNvSpPr txBox="1"/>
          <p:nvPr/>
        </p:nvSpPr>
        <p:spPr>
          <a:xfrm>
            <a:off x="584200" y="6431168"/>
            <a:ext cx="8915400" cy="239146"/>
          </a:xfrm>
          <a:prstGeom prst="rect">
            <a:avLst/>
          </a:prstGeom>
          <a:noFill/>
        </p:spPr>
        <p:txBody>
          <a:bodyPr wrap="square" lIns="0" rIns="0" tIns="0" bIns="0" anchor="t">
            <a:spAutoFit/>
          </a:bodyPr>
          <a:lstStyle/>
          <a:p>
            <a:pPr algn="l">
              <a:lnSpc>
                <a:spcPct val="124000"/>
              </a:lnSpc>
              <a:spcBef>
                <a:spcPts val="0"/>
              </a:spcBef>
              <a:spcAft>
                <a:spcPts val="0"/>
              </a:spcAft>
            </a:pPr>
            <a:r>
              <a:rPr sz="1150" b="0" i="1">
                <a:solidFill>
                  <a:srgbClr val="666666"/>
                </a:solidFill>
                <a:latin typeface="Calibri"/>
              </a:rPr>
              <a:t>The central idea: grade freshness at five levels without paying for a single manually annotated freshness label.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367792"/>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PROBLEM IDENTIFICATION AND RESEARCH GAP</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3</a:t>
            </a:r>
          </a:p>
        </p:txBody>
      </p:sp>
      <p:sp>
        <p:nvSpPr>
          <p:cNvPr id="7" name="TextBox 6"/>
          <p:cNvSpPr txBox="1"/>
          <p:nvPr/>
        </p:nvSpPr>
        <p:spPr>
          <a:xfrm>
            <a:off x="584200" y="1270000"/>
            <a:ext cx="8915400" cy="296468"/>
          </a:xfrm>
          <a:prstGeom prst="rect">
            <a:avLst/>
          </a:prstGeom>
          <a:noFill/>
        </p:spPr>
        <p:txBody>
          <a:bodyPr wrap="square" lIns="0" rIns="0" tIns="0" bIns="0" anchor="t">
            <a:spAutoFit/>
          </a:bodyPr>
          <a:lstStyle/>
          <a:p>
            <a:pPr algn="l">
              <a:lnSpc>
                <a:spcPct val="124000"/>
              </a:lnSpc>
              <a:spcBef>
                <a:spcPts val="0"/>
              </a:spcBef>
              <a:spcAft>
                <a:spcPts val="0"/>
              </a:spcAft>
            </a:pPr>
            <a:r>
              <a:rPr sz="1500" b="1" i="0">
                <a:solidFill>
                  <a:srgbClr val="1A1A1A"/>
                </a:solidFill>
                <a:latin typeface="Calibri"/>
              </a:rPr>
              <a:t>Why automate produce quality checking?</a:t>
            </a:r>
          </a:p>
        </p:txBody>
      </p:sp>
      <p:sp>
        <p:nvSpPr>
          <p:cNvPr id="8" name="TextBox 7"/>
          <p:cNvSpPr txBox="1"/>
          <p:nvPr/>
        </p:nvSpPr>
        <p:spPr>
          <a:xfrm>
            <a:off x="584200" y="1744268"/>
            <a:ext cx="8915400" cy="1840484"/>
          </a:xfrm>
          <a:prstGeom prst="rect">
            <a:avLst/>
          </a:prstGeom>
          <a:noFill/>
        </p:spPr>
        <p:txBody>
          <a:bodyPr wrap="square" lIns="0" rIns="0" tIns="0" bIns="0" anchor="t">
            <a:spAutoFit/>
          </a:bodyPr>
          <a:lstStyle/>
          <a:p>
            <a:pPr algn="l">
              <a:lnSpc>
                <a:spcPct val="124000"/>
              </a:lnSpc>
              <a:spcBef>
                <a:spcPts val="0"/>
              </a:spcBef>
              <a:spcAft>
                <a:spcPts val="900"/>
              </a:spcAft>
            </a:pPr>
            <a:r>
              <a:rPr sz="1250" b="1">
                <a:solidFill>
                  <a:srgbClr val="0070C0"/>
                </a:solidFill>
                <a:latin typeface="Calibri"/>
              </a:rPr>
              <a:t>•   </a:t>
            </a:r>
            <a:r>
              <a:rPr sz="1250" b="0" i="0">
                <a:solidFill>
                  <a:srgbClr val="303030"/>
                </a:solidFill>
                <a:latin typeface="Calibri"/>
              </a:rPr>
              <a:t>At most points in the supply chain, a person still judges freshness by eye — from colour and surface condition.</a:t>
            </a:r>
          </a:p>
          <a:p>
            <a:pPr algn="l">
              <a:lnSpc>
                <a:spcPct val="124000"/>
              </a:lnSpc>
              <a:spcBef>
                <a:spcPts val="0"/>
              </a:spcBef>
              <a:spcAft>
                <a:spcPts val="900"/>
              </a:spcAft>
            </a:pPr>
            <a:r>
              <a:rPr sz="1250" b="1">
                <a:solidFill>
                  <a:srgbClr val="0070C0"/>
                </a:solidFill>
                <a:latin typeface="Calibri"/>
              </a:rPr>
              <a:t>•   </a:t>
            </a:r>
            <a:r>
              <a:rPr sz="1250" b="0" i="0">
                <a:solidFill>
                  <a:srgbClr val="303030"/>
                </a:solidFill>
                <a:latin typeface="Calibri"/>
              </a:rPr>
              <a:t>Graders disagree with each other, the same grader gets less consistent late in a shift, and none of it is fast enough when thousands of items need sorting in a day.</a:t>
            </a:r>
          </a:p>
          <a:p>
            <a:pPr algn="l">
              <a:lnSpc>
                <a:spcPct val="124000"/>
              </a:lnSpc>
              <a:spcBef>
                <a:spcPts val="0"/>
              </a:spcBef>
              <a:spcAft>
                <a:spcPts val="900"/>
              </a:spcAft>
            </a:pPr>
            <a:r>
              <a:rPr sz="1250" b="1">
                <a:solidFill>
                  <a:srgbClr val="0070C0"/>
                </a:solidFill>
                <a:latin typeface="Calibri"/>
              </a:rPr>
              <a:t>•   </a:t>
            </a:r>
            <a:r>
              <a:rPr sz="1250" b="0" i="0">
                <a:solidFill>
                  <a:srgbClr val="303030"/>
                </a:solidFill>
                <a:latin typeface="Calibri"/>
              </a:rPr>
              <a:t>Produce type is an unambiguous label. </a:t>
            </a:r>
            <a:r>
              <a:rPr sz="1250" b="1" i="0">
                <a:solidFill>
                  <a:srgbClr val="1A1A1A"/>
                </a:solidFill>
                <a:latin typeface="Calibri"/>
              </a:rPr>
              <a:t>Freshness is a graded judgement</a:t>
            </a:r>
            <a:r>
              <a:rPr sz="1250" b="0" i="0">
                <a:solidFill>
                  <a:srgbClr val="303030"/>
                </a:solidFill>
                <a:latin typeface="Calibri"/>
              </a:rPr>
              <a:t> — and collecting consistent human freshness labels for tens of thousands of images costs far more than labelling produce type ever would.</a:t>
            </a:r>
          </a:p>
        </p:txBody>
      </p:sp>
      <p:cxnSp>
        <p:nvCxnSpPr>
          <p:cNvPr id="9" name="Connector 8"/>
          <p:cNvCxnSpPr/>
          <p:nvPr/>
        </p:nvCxnSpPr>
        <p:spPr>
          <a:xfrm>
            <a:off x="584200" y="3787952"/>
            <a:ext cx="8915400" cy="0"/>
          </a:xfrm>
          <a:prstGeom prst="line">
            <a:avLst/>
          </a:prstGeom>
          <a:ln w="11430">
            <a:solidFill>
              <a:srgbClr val="DDDD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84200" y="3965752"/>
            <a:ext cx="89154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RESEARCH GAP</a:t>
            </a:r>
          </a:p>
        </p:txBody>
      </p:sp>
      <p:cxnSp>
        <p:nvCxnSpPr>
          <p:cNvPr id="11" name="Connector 10"/>
          <p:cNvCxnSpPr/>
          <p:nvPr/>
        </p:nvCxnSpPr>
        <p:spPr>
          <a:xfrm>
            <a:off x="584200" y="4306976"/>
            <a:ext cx="8915400" cy="0"/>
          </a:xfrm>
          <a:prstGeom prst="line">
            <a:avLst/>
          </a:prstGeom>
          <a:ln w="13970">
            <a:solidFill>
              <a:srgbClr val="1A1A1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35000" y="4357776"/>
            <a:ext cx="3276867"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1A1A1A"/>
                </a:solidFill>
                <a:latin typeface="Calibri"/>
              </a:rPr>
              <a:t>Existing approach</a:t>
            </a:r>
          </a:p>
        </p:txBody>
      </p:sp>
      <p:sp>
        <p:nvSpPr>
          <p:cNvPr id="13" name="TextBox 12"/>
          <p:cNvSpPr txBox="1"/>
          <p:nvPr/>
        </p:nvSpPr>
        <p:spPr>
          <a:xfrm>
            <a:off x="4013467" y="4357776"/>
            <a:ext cx="1118402" cy="326847"/>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Produce
types</a:t>
            </a:r>
          </a:p>
        </p:txBody>
      </p:sp>
      <p:sp>
        <p:nvSpPr>
          <p:cNvPr id="14" name="TextBox 13"/>
          <p:cNvSpPr txBox="1"/>
          <p:nvPr/>
        </p:nvSpPr>
        <p:spPr>
          <a:xfrm>
            <a:off x="5233469" y="4357776"/>
            <a:ext cx="1212248" cy="326847"/>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Freshness
levels</a:t>
            </a:r>
          </a:p>
        </p:txBody>
      </p:sp>
      <p:sp>
        <p:nvSpPr>
          <p:cNvPr id="15" name="TextBox 14"/>
          <p:cNvSpPr txBox="1"/>
          <p:nvPr/>
        </p:nvSpPr>
        <p:spPr>
          <a:xfrm>
            <a:off x="6547317" y="4357776"/>
            <a:ext cx="1399941"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Labelling</a:t>
            </a:r>
          </a:p>
        </p:txBody>
      </p:sp>
      <p:sp>
        <p:nvSpPr>
          <p:cNvPr id="16" name="TextBox 15"/>
          <p:cNvSpPr txBox="1"/>
          <p:nvPr/>
        </p:nvSpPr>
        <p:spPr>
          <a:xfrm>
            <a:off x="8048858" y="4357776"/>
            <a:ext cx="1399941"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Accuracy</a:t>
            </a:r>
          </a:p>
        </p:txBody>
      </p:sp>
      <p:cxnSp>
        <p:nvCxnSpPr>
          <p:cNvPr id="17" name="Connector 16"/>
          <p:cNvCxnSpPr/>
          <p:nvPr/>
        </p:nvCxnSpPr>
        <p:spPr>
          <a:xfrm>
            <a:off x="584200" y="4686706"/>
            <a:ext cx="8915400" cy="0"/>
          </a:xfrm>
          <a:prstGeom prst="line">
            <a:avLst/>
          </a:prstGeom>
          <a:ln w="10160">
            <a:solidFill>
              <a:srgbClr val="1A1A1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5000" y="4737506"/>
            <a:ext cx="3276867" cy="203352"/>
          </a:xfrm>
          <a:prstGeom prst="rect">
            <a:avLst/>
          </a:prstGeom>
          <a:noFill/>
        </p:spPr>
        <p:txBody>
          <a:bodyPr wrap="square" lIns="0" rIns="0" tIns="0" bIns="0" anchor="t">
            <a:spAutoFit/>
          </a:bodyPr>
          <a:lstStyle/>
          <a:p>
            <a:pPr algn="l">
              <a:lnSpc>
                <a:spcPct val="110000"/>
              </a:lnSpc>
              <a:spcBef>
                <a:spcPts val="0"/>
              </a:spcBef>
              <a:spcAft>
                <a:spcPts val="0"/>
              </a:spcAft>
            </a:pPr>
            <a:r>
              <a:rPr sz="1050" b="0" i="0">
                <a:solidFill>
                  <a:srgbClr val="303030"/>
                </a:solidFill>
                <a:latin typeface="Calibri"/>
              </a:rPr>
              <a:t>Amin et al. (2023) — AlexNet</a:t>
            </a:r>
          </a:p>
        </p:txBody>
      </p:sp>
      <p:sp>
        <p:nvSpPr>
          <p:cNvPr id="19" name="TextBox 18"/>
          <p:cNvSpPr txBox="1"/>
          <p:nvPr/>
        </p:nvSpPr>
        <p:spPr>
          <a:xfrm>
            <a:off x="4013467" y="4737506"/>
            <a:ext cx="1118402"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3</a:t>
            </a:r>
          </a:p>
        </p:txBody>
      </p:sp>
      <p:sp>
        <p:nvSpPr>
          <p:cNvPr id="20" name="TextBox 19"/>
          <p:cNvSpPr txBox="1"/>
          <p:nvPr/>
        </p:nvSpPr>
        <p:spPr>
          <a:xfrm>
            <a:off x="5233469" y="4737506"/>
            <a:ext cx="1212248"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2 (binary)</a:t>
            </a:r>
          </a:p>
        </p:txBody>
      </p:sp>
      <p:sp>
        <p:nvSpPr>
          <p:cNvPr id="21" name="TextBox 20"/>
          <p:cNvSpPr txBox="1"/>
          <p:nvPr/>
        </p:nvSpPr>
        <p:spPr>
          <a:xfrm>
            <a:off x="6547317" y="4737506"/>
            <a:ext cx="1399941"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Manual</a:t>
            </a:r>
          </a:p>
        </p:txBody>
      </p:sp>
      <p:sp>
        <p:nvSpPr>
          <p:cNvPr id="22" name="TextBox 21"/>
          <p:cNvSpPr txBox="1"/>
          <p:nvPr/>
        </p:nvSpPr>
        <p:spPr>
          <a:xfrm>
            <a:off x="8048858" y="4737506"/>
            <a:ext cx="1399941"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&gt; 99%</a:t>
            </a:r>
          </a:p>
        </p:txBody>
      </p:sp>
      <p:sp>
        <p:nvSpPr>
          <p:cNvPr id="23" name="TextBox 22"/>
          <p:cNvSpPr txBox="1"/>
          <p:nvPr/>
        </p:nvSpPr>
        <p:spPr>
          <a:xfrm>
            <a:off x="635000" y="4998491"/>
            <a:ext cx="3276867" cy="203352"/>
          </a:xfrm>
          <a:prstGeom prst="rect">
            <a:avLst/>
          </a:prstGeom>
          <a:noFill/>
        </p:spPr>
        <p:txBody>
          <a:bodyPr wrap="square" lIns="0" rIns="0" tIns="0" bIns="0" anchor="t">
            <a:spAutoFit/>
          </a:bodyPr>
          <a:lstStyle/>
          <a:p>
            <a:pPr algn="l">
              <a:lnSpc>
                <a:spcPct val="110000"/>
              </a:lnSpc>
              <a:spcBef>
                <a:spcPts val="0"/>
              </a:spcBef>
              <a:spcAft>
                <a:spcPts val="0"/>
              </a:spcAft>
            </a:pPr>
            <a:r>
              <a:rPr sz="1050" b="0" i="0">
                <a:solidFill>
                  <a:srgbClr val="303030"/>
                </a:solidFill>
                <a:latin typeface="Calibri"/>
              </a:rPr>
              <a:t>Ghosh &amp; Singh (2026) — CNN-LSTM</a:t>
            </a:r>
          </a:p>
        </p:txBody>
      </p:sp>
      <p:sp>
        <p:nvSpPr>
          <p:cNvPr id="24" name="TextBox 23"/>
          <p:cNvSpPr txBox="1"/>
          <p:nvPr/>
        </p:nvSpPr>
        <p:spPr>
          <a:xfrm>
            <a:off x="4013467" y="4998491"/>
            <a:ext cx="1118402"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3</a:t>
            </a:r>
          </a:p>
        </p:txBody>
      </p:sp>
      <p:sp>
        <p:nvSpPr>
          <p:cNvPr id="25" name="TextBox 24"/>
          <p:cNvSpPr txBox="1"/>
          <p:nvPr/>
        </p:nvSpPr>
        <p:spPr>
          <a:xfrm>
            <a:off x="5233469" y="4998491"/>
            <a:ext cx="1212248"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2 (binary)</a:t>
            </a:r>
          </a:p>
        </p:txBody>
      </p:sp>
      <p:sp>
        <p:nvSpPr>
          <p:cNvPr id="26" name="TextBox 25"/>
          <p:cNvSpPr txBox="1"/>
          <p:nvPr/>
        </p:nvSpPr>
        <p:spPr>
          <a:xfrm>
            <a:off x="6547317" y="4998491"/>
            <a:ext cx="1399941"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Manual</a:t>
            </a:r>
          </a:p>
        </p:txBody>
      </p:sp>
      <p:sp>
        <p:nvSpPr>
          <p:cNvPr id="27" name="TextBox 26"/>
          <p:cNvSpPr txBox="1"/>
          <p:nvPr/>
        </p:nvSpPr>
        <p:spPr>
          <a:xfrm>
            <a:off x="8048858" y="4998491"/>
            <a:ext cx="1399941"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98.9%</a:t>
            </a:r>
          </a:p>
        </p:txBody>
      </p:sp>
      <p:sp>
        <p:nvSpPr>
          <p:cNvPr id="28" name="TextBox 27"/>
          <p:cNvSpPr txBox="1"/>
          <p:nvPr/>
        </p:nvSpPr>
        <p:spPr>
          <a:xfrm>
            <a:off x="635000" y="5259476"/>
            <a:ext cx="3276867" cy="203352"/>
          </a:xfrm>
          <a:prstGeom prst="rect">
            <a:avLst/>
          </a:prstGeom>
          <a:noFill/>
        </p:spPr>
        <p:txBody>
          <a:bodyPr wrap="square" lIns="0" rIns="0" tIns="0" bIns="0" anchor="t">
            <a:spAutoFit/>
          </a:bodyPr>
          <a:lstStyle/>
          <a:p>
            <a:pPr algn="l">
              <a:lnSpc>
                <a:spcPct val="110000"/>
              </a:lnSpc>
              <a:spcBef>
                <a:spcPts val="0"/>
              </a:spcBef>
              <a:spcAft>
                <a:spcPts val="0"/>
              </a:spcAft>
            </a:pPr>
            <a:r>
              <a:rPr sz="1050" b="0" i="0">
                <a:solidFill>
                  <a:srgbClr val="303030"/>
                </a:solidFill>
                <a:latin typeface="Calibri"/>
              </a:rPr>
              <a:t>Fahad et al. (2022) — VGG-16 / YOLOv5</a:t>
            </a:r>
          </a:p>
        </p:txBody>
      </p:sp>
      <p:sp>
        <p:nvSpPr>
          <p:cNvPr id="29" name="TextBox 28"/>
          <p:cNvSpPr txBox="1"/>
          <p:nvPr/>
        </p:nvSpPr>
        <p:spPr>
          <a:xfrm>
            <a:off x="4013467" y="5259476"/>
            <a:ext cx="1118402"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11</a:t>
            </a:r>
          </a:p>
        </p:txBody>
      </p:sp>
      <p:sp>
        <p:nvSpPr>
          <p:cNvPr id="30" name="TextBox 29"/>
          <p:cNvSpPr txBox="1"/>
          <p:nvPr/>
        </p:nvSpPr>
        <p:spPr>
          <a:xfrm>
            <a:off x="5233469" y="5259476"/>
            <a:ext cx="1212248"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3</a:t>
            </a:r>
          </a:p>
        </p:txBody>
      </p:sp>
      <p:sp>
        <p:nvSpPr>
          <p:cNvPr id="31" name="TextBox 30"/>
          <p:cNvSpPr txBox="1"/>
          <p:nvPr/>
        </p:nvSpPr>
        <p:spPr>
          <a:xfrm>
            <a:off x="6547317" y="5259476"/>
            <a:ext cx="1399941"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Fully manual</a:t>
            </a:r>
          </a:p>
        </p:txBody>
      </p:sp>
      <p:sp>
        <p:nvSpPr>
          <p:cNvPr id="32" name="TextBox 31"/>
          <p:cNvSpPr txBox="1"/>
          <p:nvPr/>
        </p:nvSpPr>
        <p:spPr>
          <a:xfrm>
            <a:off x="8048858" y="5259476"/>
            <a:ext cx="1399941"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82–84%</a:t>
            </a:r>
          </a:p>
        </p:txBody>
      </p:sp>
      <p:sp>
        <p:nvSpPr>
          <p:cNvPr id="33" name="TextBox 32"/>
          <p:cNvSpPr txBox="1"/>
          <p:nvPr/>
        </p:nvSpPr>
        <p:spPr>
          <a:xfrm>
            <a:off x="635000" y="5520461"/>
            <a:ext cx="3276867" cy="203352"/>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1A1A1A"/>
                </a:solidFill>
                <a:latin typeface="Calibri"/>
              </a:rPr>
              <a:t>This work — FreshVision</a:t>
            </a:r>
          </a:p>
        </p:txBody>
      </p:sp>
      <p:sp>
        <p:nvSpPr>
          <p:cNvPr id="34" name="TextBox 33"/>
          <p:cNvSpPr txBox="1"/>
          <p:nvPr/>
        </p:nvSpPr>
        <p:spPr>
          <a:xfrm>
            <a:off x="4013467" y="5520461"/>
            <a:ext cx="1118402"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1" i="0">
                <a:solidFill>
                  <a:srgbClr val="1A1A1A"/>
                </a:solidFill>
                <a:latin typeface="Calibri"/>
              </a:rPr>
              <a:t>14</a:t>
            </a:r>
          </a:p>
        </p:txBody>
      </p:sp>
      <p:sp>
        <p:nvSpPr>
          <p:cNvPr id="35" name="TextBox 34"/>
          <p:cNvSpPr txBox="1"/>
          <p:nvPr/>
        </p:nvSpPr>
        <p:spPr>
          <a:xfrm>
            <a:off x="5233469" y="5520461"/>
            <a:ext cx="1212248"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1" i="0">
                <a:solidFill>
                  <a:srgbClr val="1A1A1A"/>
                </a:solidFill>
                <a:latin typeface="Calibri"/>
              </a:rPr>
              <a:t>5</a:t>
            </a:r>
          </a:p>
        </p:txBody>
      </p:sp>
      <p:sp>
        <p:nvSpPr>
          <p:cNvPr id="36" name="TextBox 35"/>
          <p:cNvSpPr txBox="1"/>
          <p:nvPr/>
        </p:nvSpPr>
        <p:spPr>
          <a:xfrm>
            <a:off x="6547317" y="5520461"/>
            <a:ext cx="1399941"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1" i="0">
                <a:solidFill>
                  <a:srgbClr val="1A1A1A"/>
                </a:solidFill>
                <a:latin typeface="Calibri"/>
              </a:rPr>
              <a:t>Automatic</a:t>
            </a:r>
          </a:p>
        </p:txBody>
      </p:sp>
      <p:sp>
        <p:nvSpPr>
          <p:cNvPr id="37" name="TextBox 36"/>
          <p:cNvSpPr txBox="1"/>
          <p:nvPr/>
        </p:nvSpPr>
        <p:spPr>
          <a:xfrm>
            <a:off x="8048858" y="5520461"/>
            <a:ext cx="1399941"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1" i="0">
                <a:solidFill>
                  <a:srgbClr val="1A1A1A"/>
                </a:solidFill>
                <a:latin typeface="Calibri"/>
              </a:rPr>
              <a:t>97.8% / 80.4%</a:t>
            </a:r>
          </a:p>
        </p:txBody>
      </p:sp>
      <p:cxnSp>
        <p:nvCxnSpPr>
          <p:cNvPr id="38" name="Connector 37"/>
          <p:cNvCxnSpPr/>
          <p:nvPr/>
        </p:nvCxnSpPr>
        <p:spPr>
          <a:xfrm>
            <a:off x="584200" y="5730646"/>
            <a:ext cx="8915400" cy="0"/>
          </a:xfrm>
          <a:prstGeom prst="line">
            <a:avLst/>
          </a:prstGeom>
          <a:ln w="13970">
            <a:solidFill>
              <a:srgbClr val="1A1A1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84200" y="5959246"/>
            <a:ext cx="8915400" cy="4800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1A1A1A"/>
                </a:solidFill>
                <a:latin typeface="Calibri"/>
              </a:rPr>
              <a:t>No existing work achieves wide produce coverage, fine-grained freshness and low labelling cost at the same time. That is the gap this project targets.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367792"/>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PROBLEM STATEMENT AND OBJECTIVES</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4</a:t>
            </a:r>
          </a:p>
        </p:txBody>
      </p:sp>
      <p:sp>
        <p:nvSpPr>
          <p:cNvPr id="7" name="Rectangle 6"/>
          <p:cNvSpPr/>
          <p:nvPr/>
        </p:nvSpPr>
        <p:spPr>
          <a:xfrm>
            <a:off x="584200" y="1270000"/>
            <a:ext cx="8915400" cy="1311544"/>
          </a:xfrm>
          <a:prstGeom prst="rect">
            <a:avLst/>
          </a:prstGeom>
          <a:solidFill>
            <a:srgbClr val="F2F5F9"/>
          </a:solidFill>
          <a:ln w="1143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4200" y="1270000"/>
            <a:ext cx="50800" cy="131154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3600" y="1447800"/>
            <a:ext cx="8331200" cy="955944"/>
          </a:xfrm>
          <a:prstGeom prst="rect">
            <a:avLst/>
          </a:prstGeom>
          <a:noFill/>
        </p:spPr>
        <p:txBody>
          <a:bodyPr wrap="square" lIns="0" rIns="0" tIns="0" bIns="0" anchor="t">
            <a:spAutoFit/>
          </a:bodyPr>
          <a:lstStyle/>
          <a:p>
            <a:pPr algn="l">
              <a:lnSpc>
                <a:spcPct val="124000"/>
              </a:lnSpc>
              <a:spcBef>
                <a:spcPts val="0"/>
              </a:spcBef>
              <a:spcAft>
                <a:spcPts val="800"/>
              </a:spcAft>
            </a:pPr>
            <a:r>
              <a:rPr sz="950" b="1" i="0">
                <a:solidFill>
                  <a:srgbClr val="0070C0"/>
                </a:solidFill>
                <a:latin typeface="Calibri"/>
              </a:rPr>
              <a:t>PROBLEM STATEMENT</a:t>
            </a:r>
          </a:p>
          <a:p>
            <a:pPr algn="l">
              <a:lnSpc>
                <a:spcPct val="130000"/>
              </a:lnSpc>
              <a:spcBef>
                <a:spcPts val="0"/>
              </a:spcBef>
              <a:spcAft>
                <a:spcPts val="0"/>
              </a:spcAft>
            </a:pPr>
            <a:r>
              <a:rPr sz="1250" b="0" i="0">
                <a:solidFill>
                  <a:srgbClr val="1A1A1A"/>
                </a:solidFill>
                <a:latin typeface="Calibri"/>
              </a:rPr>
              <a:t>Pair a 14-class produce identifier with a five-level freshness grader whose training labels come from an automated colour heuristic rather than manual annotation, and check whether an ensemble stage can clean up the label noise that heuristic introduces.</a:t>
            </a:r>
          </a:p>
        </p:txBody>
      </p:sp>
      <p:sp>
        <p:nvSpPr>
          <p:cNvPr id="10" name="TextBox 9"/>
          <p:cNvSpPr txBox="1"/>
          <p:nvPr/>
        </p:nvSpPr>
        <p:spPr>
          <a:xfrm>
            <a:off x="584200" y="2835544"/>
            <a:ext cx="89154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OBJECTIVES</a:t>
            </a:r>
          </a:p>
        </p:txBody>
      </p:sp>
      <p:sp>
        <p:nvSpPr>
          <p:cNvPr id="11" name="TextBox 10"/>
          <p:cNvSpPr txBox="1"/>
          <p:nvPr/>
        </p:nvSpPr>
        <p:spPr>
          <a:xfrm>
            <a:off x="584200" y="3176767"/>
            <a:ext cx="355600" cy="239146"/>
          </a:xfrm>
          <a:prstGeom prst="rect">
            <a:avLst/>
          </a:prstGeom>
          <a:noFill/>
        </p:spPr>
        <p:txBody>
          <a:bodyPr wrap="square" lIns="0" rIns="0" tIns="0" bIns="0" anchor="t">
            <a:spAutoFit/>
          </a:bodyPr>
          <a:lstStyle/>
          <a:p>
            <a:pPr algn="l">
              <a:lnSpc>
                <a:spcPct val="124000"/>
              </a:lnSpc>
              <a:spcBef>
                <a:spcPts val="0"/>
              </a:spcBef>
              <a:spcAft>
                <a:spcPts val="0"/>
              </a:spcAft>
            </a:pPr>
            <a:r>
              <a:rPr sz="1150" b="1" i="0">
                <a:solidFill>
                  <a:srgbClr val="0070C0"/>
                </a:solidFill>
                <a:latin typeface="Calibri"/>
              </a:rPr>
              <a:t>O1</a:t>
            </a:r>
          </a:p>
        </p:txBody>
      </p:sp>
      <p:sp>
        <p:nvSpPr>
          <p:cNvPr id="12" name="TextBox 11"/>
          <p:cNvSpPr txBox="1"/>
          <p:nvPr/>
        </p:nvSpPr>
        <p:spPr>
          <a:xfrm>
            <a:off x="1016000" y="3176767"/>
            <a:ext cx="8483600" cy="461700"/>
          </a:xfrm>
          <a:prstGeom prst="rect">
            <a:avLst/>
          </a:prstGeom>
          <a:noFill/>
        </p:spPr>
        <p:txBody>
          <a:bodyPr wrap="square" lIns="0" rIns="0" tIns="0" bIns="0" anchor="t">
            <a:spAutoFit/>
          </a:bodyPr>
          <a:lstStyle/>
          <a:p>
            <a:pPr algn="l">
              <a:lnSpc>
                <a:spcPct val="114000"/>
              </a:lnSpc>
              <a:spcBef>
                <a:spcPts val="0"/>
              </a:spcBef>
              <a:spcAft>
                <a:spcPts val="300"/>
              </a:spcAft>
            </a:pPr>
            <a:r>
              <a:rPr sz="1250" b="1" i="0">
                <a:solidFill>
                  <a:srgbClr val="1A1A1A"/>
                </a:solidFill>
                <a:latin typeface="Calibri"/>
              </a:rPr>
              <a:t>Train a 14-class produce identifier</a:t>
            </a:r>
          </a:p>
          <a:p>
            <a:pPr algn="l">
              <a:lnSpc>
                <a:spcPct val="126000"/>
              </a:lnSpc>
              <a:spcBef>
                <a:spcPts val="0"/>
              </a:spcBef>
              <a:spcAft>
                <a:spcPts val="0"/>
              </a:spcAft>
            </a:pPr>
            <a:r>
              <a:rPr sz="1100" b="0" i="0">
                <a:solidFill>
                  <a:srgbClr val="303030"/>
                </a:solidFill>
                <a:latin typeface="Calibri"/>
              </a:rPr>
              <a:t>MobileNetV2 transfer learning, targeting validation accuracy above 95%.</a:t>
            </a:r>
          </a:p>
        </p:txBody>
      </p:sp>
      <p:sp>
        <p:nvSpPr>
          <p:cNvPr id="13" name="TextBox 12"/>
          <p:cNvSpPr txBox="1"/>
          <p:nvPr/>
        </p:nvSpPr>
        <p:spPr>
          <a:xfrm>
            <a:off x="584200" y="3790868"/>
            <a:ext cx="355600" cy="239146"/>
          </a:xfrm>
          <a:prstGeom prst="rect">
            <a:avLst/>
          </a:prstGeom>
          <a:noFill/>
        </p:spPr>
        <p:txBody>
          <a:bodyPr wrap="square" lIns="0" rIns="0" tIns="0" bIns="0" anchor="t">
            <a:spAutoFit/>
          </a:bodyPr>
          <a:lstStyle/>
          <a:p>
            <a:pPr algn="l">
              <a:lnSpc>
                <a:spcPct val="124000"/>
              </a:lnSpc>
              <a:spcBef>
                <a:spcPts val="0"/>
              </a:spcBef>
              <a:spcAft>
                <a:spcPts val="0"/>
              </a:spcAft>
            </a:pPr>
            <a:r>
              <a:rPr sz="1150" b="1" i="0">
                <a:solidFill>
                  <a:srgbClr val="0070C0"/>
                </a:solidFill>
                <a:latin typeface="Calibri"/>
              </a:rPr>
              <a:t>O2</a:t>
            </a:r>
          </a:p>
        </p:txBody>
      </p:sp>
      <p:sp>
        <p:nvSpPr>
          <p:cNvPr id="14" name="TextBox 13"/>
          <p:cNvSpPr txBox="1"/>
          <p:nvPr/>
        </p:nvSpPr>
        <p:spPr>
          <a:xfrm>
            <a:off x="1016000" y="3790868"/>
            <a:ext cx="8483600" cy="461700"/>
          </a:xfrm>
          <a:prstGeom prst="rect">
            <a:avLst/>
          </a:prstGeom>
          <a:noFill/>
        </p:spPr>
        <p:txBody>
          <a:bodyPr wrap="square" lIns="0" rIns="0" tIns="0" bIns="0" anchor="t">
            <a:spAutoFit/>
          </a:bodyPr>
          <a:lstStyle/>
          <a:p>
            <a:pPr algn="l">
              <a:lnSpc>
                <a:spcPct val="114000"/>
              </a:lnSpc>
              <a:spcBef>
                <a:spcPts val="0"/>
              </a:spcBef>
              <a:spcAft>
                <a:spcPts val="300"/>
              </a:spcAft>
            </a:pPr>
            <a:r>
              <a:rPr sz="1250" b="1" i="0">
                <a:solidFill>
                  <a:srgbClr val="1A1A1A"/>
                </a:solidFill>
                <a:latin typeface="Calibri"/>
              </a:rPr>
              <a:t>Design an HSV decay-scoring heuristic</a:t>
            </a:r>
          </a:p>
          <a:p>
            <a:pPr algn="l">
              <a:lnSpc>
                <a:spcPct val="126000"/>
              </a:lnSpc>
              <a:spcBef>
                <a:spcPts val="0"/>
              </a:spcBef>
              <a:spcAft>
                <a:spcPts val="0"/>
              </a:spcAft>
            </a:pPr>
            <a:r>
              <a:rPr sz="1100" b="0" i="0">
                <a:solidFill>
                  <a:srgbClr val="303030"/>
                </a:solidFill>
                <a:latin typeface="Calibri"/>
              </a:rPr>
              <a:t>Measure surface decay automatically, giving a continuous freshness proxy that needs no manual annotation.</a:t>
            </a:r>
          </a:p>
        </p:txBody>
      </p:sp>
      <p:sp>
        <p:nvSpPr>
          <p:cNvPr id="15" name="TextBox 14"/>
          <p:cNvSpPr txBox="1"/>
          <p:nvPr/>
        </p:nvSpPr>
        <p:spPr>
          <a:xfrm>
            <a:off x="584200" y="4404969"/>
            <a:ext cx="355600" cy="239146"/>
          </a:xfrm>
          <a:prstGeom prst="rect">
            <a:avLst/>
          </a:prstGeom>
          <a:noFill/>
        </p:spPr>
        <p:txBody>
          <a:bodyPr wrap="square" lIns="0" rIns="0" tIns="0" bIns="0" anchor="t">
            <a:spAutoFit/>
          </a:bodyPr>
          <a:lstStyle/>
          <a:p>
            <a:pPr algn="l">
              <a:lnSpc>
                <a:spcPct val="124000"/>
              </a:lnSpc>
              <a:spcBef>
                <a:spcPts val="0"/>
              </a:spcBef>
              <a:spcAft>
                <a:spcPts val="0"/>
              </a:spcAft>
            </a:pPr>
            <a:r>
              <a:rPr sz="1150" b="1" i="0">
                <a:solidFill>
                  <a:srgbClr val="0070C0"/>
                </a:solidFill>
                <a:latin typeface="Calibri"/>
              </a:rPr>
              <a:t>O3</a:t>
            </a:r>
          </a:p>
        </p:txBody>
      </p:sp>
      <p:sp>
        <p:nvSpPr>
          <p:cNvPr id="16" name="TextBox 15"/>
          <p:cNvSpPr txBox="1"/>
          <p:nvPr/>
        </p:nvSpPr>
        <p:spPr>
          <a:xfrm>
            <a:off x="1016000" y="4404969"/>
            <a:ext cx="8483600" cy="644763"/>
          </a:xfrm>
          <a:prstGeom prst="rect">
            <a:avLst/>
          </a:prstGeom>
          <a:noFill/>
        </p:spPr>
        <p:txBody>
          <a:bodyPr wrap="square" lIns="0" rIns="0" tIns="0" bIns="0" anchor="t">
            <a:spAutoFit/>
          </a:bodyPr>
          <a:lstStyle/>
          <a:p>
            <a:pPr algn="l">
              <a:lnSpc>
                <a:spcPct val="114000"/>
              </a:lnSpc>
              <a:spcBef>
                <a:spcPts val="0"/>
              </a:spcBef>
              <a:spcAft>
                <a:spcPts val="300"/>
              </a:spcAft>
            </a:pPr>
            <a:r>
              <a:rPr sz="1250" b="1" i="0">
                <a:solidFill>
                  <a:srgbClr val="1A1A1A"/>
                </a:solidFill>
                <a:latin typeface="Calibri"/>
              </a:rPr>
              <a:t>Turn that score into five freshness levels</a:t>
            </a:r>
          </a:p>
          <a:p>
            <a:pPr algn="l">
              <a:lnSpc>
                <a:spcPct val="126000"/>
              </a:lnSpc>
              <a:spcBef>
                <a:spcPts val="0"/>
              </a:spcBef>
              <a:spcAft>
                <a:spcPts val="0"/>
              </a:spcAft>
            </a:pPr>
            <a:r>
              <a:rPr sz="1100" b="0" i="0">
                <a:solidFill>
                  <a:srgbClr val="303030"/>
                </a:solidFill>
                <a:latin typeface="Calibri"/>
              </a:rPr>
              <a:t>Convert the continuous decay score into five classes using a rank-based percentile split, and train a second MobileNetV2 on the result.</a:t>
            </a:r>
          </a:p>
        </p:txBody>
      </p:sp>
      <p:sp>
        <p:nvSpPr>
          <p:cNvPr id="17" name="TextBox 16"/>
          <p:cNvSpPr txBox="1"/>
          <p:nvPr/>
        </p:nvSpPr>
        <p:spPr>
          <a:xfrm>
            <a:off x="584200" y="5202133"/>
            <a:ext cx="355600" cy="239146"/>
          </a:xfrm>
          <a:prstGeom prst="rect">
            <a:avLst/>
          </a:prstGeom>
          <a:noFill/>
        </p:spPr>
        <p:txBody>
          <a:bodyPr wrap="square" lIns="0" rIns="0" tIns="0" bIns="0" anchor="t">
            <a:spAutoFit/>
          </a:bodyPr>
          <a:lstStyle/>
          <a:p>
            <a:pPr algn="l">
              <a:lnSpc>
                <a:spcPct val="124000"/>
              </a:lnSpc>
              <a:spcBef>
                <a:spcPts val="0"/>
              </a:spcBef>
              <a:spcAft>
                <a:spcPts val="0"/>
              </a:spcAft>
            </a:pPr>
            <a:r>
              <a:rPr sz="1150" b="1" i="0">
                <a:solidFill>
                  <a:srgbClr val="0070C0"/>
                </a:solidFill>
                <a:latin typeface="Calibri"/>
              </a:rPr>
              <a:t>O4</a:t>
            </a:r>
          </a:p>
        </p:txBody>
      </p:sp>
      <p:sp>
        <p:nvSpPr>
          <p:cNvPr id="18" name="TextBox 17"/>
          <p:cNvSpPr txBox="1"/>
          <p:nvPr/>
        </p:nvSpPr>
        <p:spPr>
          <a:xfrm>
            <a:off x="1016000" y="5202133"/>
            <a:ext cx="8483600" cy="461700"/>
          </a:xfrm>
          <a:prstGeom prst="rect">
            <a:avLst/>
          </a:prstGeom>
          <a:noFill/>
        </p:spPr>
        <p:txBody>
          <a:bodyPr wrap="square" lIns="0" rIns="0" tIns="0" bIns="0" anchor="t">
            <a:spAutoFit/>
          </a:bodyPr>
          <a:lstStyle/>
          <a:p>
            <a:pPr algn="l">
              <a:lnSpc>
                <a:spcPct val="114000"/>
              </a:lnSpc>
              <a:spcBef>
                <a:spcPts val="0"/>
              </a:spcBef>
              <a:spcAft>
                <a:spcPts val="300"/>
              </a:spcAft>
            </a:pPr>
            <a:r>
              <a:rPr sz="1250" b="1" i="0">
                <a:solidFill>
                  <a:srgbClr val="1A1A1A"/>
                </a:solidFill>
                <a:latin typeface="Calibri"/>
              </a:rPr>
              <a:t>Measure the effect of fine-tuning</a:t>
            </a:r>
          </a:p>
          <a:p>
            <a:pPr algn="l">
              <a:lnSpc>
                <a:spcPct val="126000"/>
              </a:lnSpc>
              <a:spcBef>
                <a:spcPts val="0"/>
              </a:spcBef>
              <a:spcAft>
                <a:spcPts val="0"/>
              </a:spcAft>
            </a:pPr>
            <a:r>
              <a:rPr sz="1100" b="0" i="0">
                <a:solidFill>
                  <a:srgbClr val="303030"/>
                </a:solidFill>
                <a:latin typeface="Calibri"/>
              </a:rPr>
              <a:t>Compare a frozen backbone against unfreezing the last 30 layers of the freshness model.</a:t>
            </a:r>
          </a:p>
        </p:txBody>
      </p:sp>
      <p:sp>
        <p:nvSpPr>
          <p:cNvPr id="19" name="TextBox 18"/>
          <p:cNvSpPr txBox="1"/>
          <p:nvPr/>
        </p:nvSpPr>
        <p:spPr>
          <a:xfrm>
            <a:off x="584200" y="5816234"/>
            <a:ext cx="355600" cy="239146"/>
          </a:xfrm>
          <a:prstGeom prst="rect">
            <a:avLst/>
          </a:prstGeom>
          <a:noFill/>
        </p:spPr>
        <p:txBody>
          <a:bodyPr wrap="square" lIns="0" rIns="0" tIns="0" bIns="0" anchor="t">
            <a:spAutoFit/>
          </a:bodyPr>
          <a:lstStyle/>
          <a:p>
            <a:pPr algn="l">
              <a:lnSpc>
                <a:spcPct val="124000"/>
              </a:lnSpc>
              <a:spcBef>
                <a:spcPts val="0"/>
              </a:spcBef>
              <a:spcAft>
                <a:spcPts val="0"/>
              </a:spcAft>
            </a:pPr>
            <a:r>
              <a:rPr sz="1150" b="1" i="0">
                <a:solidFill>
                  <a:srgbClr val="0070C0"/>
                </a:solidFill>
                <a:latin typeface="Calibri"/>
              </a:rPr>
              <a:t>O5</a:t>
            </a:r>
          </a:p>
        </p:txBody>
      </p:sp>
      <p:sp>
        <p:nvSpPr>
          <p:cNvPr id="20" name="TextBox 19"/>
          <p:cNvSpPr txBox="1"/>
          <p:nvPr/>
        </p:nvSpPr>
        <p:spPr>
          <a:xfrm>
            <a:off x="1016000" y="5816234"/>
            <a:ext cx="8483600" cy="644763"/>
          </a:xfrm>
          <a:prstGeom prst="rect">
            <a:avLst/>
          </a:prstGeom>
          <a:noFill/>
        </p:spPr>
        <p:txBody>
          <a:bodyPr wrap="square" lIns="0" rIns="0" tIns="0" bIns="0" anchor="t">
            <a:spAutoFit/>
          </a:bodyPr>
          <a:lstStyle/>
          <a:p>
            <a:pPr algn="l">
              <a:lnSpc>
                <a:spcPct val="114000"/>
              </a:lnSpc>
              <a:spcBef>
                <a:spcPts val="0"/>
              </a:spcBef>
              <a:spcAft>
                <a:spcPts val="300"/>
              </a:spcAft>
            </a:pPr>
            <a:r>
              <a:rPr sz="1250" b="1" i="0">
                <a:solidFill>
                  <a:srgbClr val="1A1A1A"/>
                </a:solidFill>
                <a:latin typeface="Calibri"/>
              </a:rPr>
              <a:t>Design an ensemble stage to reduce label noise</a:t>
            </a:r>
          </a:p>
          <a:p>
            <a:pPr algn="l">
              <a:lnSpc>
                <a:spcPct val="126000"/>
              </a:lnSpc>
              <a:spcBef>
                <a:spcPts val="0"/>
              </a:spcBef>
              <a:spcAft>
                <a:spcPts val="0"/>
              </a:spcAft>
            </a:pPr>
            <a:r>
              <a:rPr sz="1100" b="0" i="0">
                <a:solidFill>
                  <a:srgbClr val="303030"/>
                </a:solidFill>
                <a:latin typeface="Calibri"/>
              </a:rPr>
              <a:t>EfficientNetB0 features feeding an SVM, Random Forest, Logistic Regression, KNN and XGBoost ensemble, to correct the noise the heuristic introduces.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367792"/>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PROPOSED METHODOLOGY AND ARCHITECTURE</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5</a:t>
            </a:r>
          </a:p>
        </p:txBody>
      </p:sp>
      <p:pic>
        <p:nvPicPr>
          <p:cNvPr id="7" name="Picture 6" descr="fig_arch.png"/>
          <p:cNvPicPr>
            <a:picLocks noChangeAspect="1"/>
          </p:cNvPicPr>
          <p:nvPr/>
        </p:nvPicPr>
        <p:blipFill>
          <a:blip r:embed="rId2"/>
          <a:stretch>
            <a:fillRect/>
          </a:stretch>
        </p:blipFill>
        <p:spPr>
          <a:xfrm>
            <a:off x="584200" y="1346200"/>
            <a:ext cx="4876800" cy="3423039"/>
          </a:xfrm>
          <a:prstGeom prst="rect">
            <a:avLst/>
          </a:prstGeom>
          <a:ln w="9525">
            <a:solidFill>
              <a:srgbClr val="DDDDDD"/>
            </a:solidFill>
          </a:ln>
        </p:spPr>
      </p:pic>
      <p:sp>
        <p:nvSpPr>
          <p:cNvPr id="8" name="TextBox 7"/>
          <p:cNvSpPr txBox="1"/>
          <p:nvPr/>
        </p:nvSpPr>
        <p:spPr>
          <a:xfrm>
            <a:off x="584200" y="4832739"/>
            <a:ext cx="4876800" cy="181030"/>
          </a:xfrm>
          <a:prstGeom prst="rect">
            <a:avLst/>
          </a:prstGeom>
          <a:noFill/>
        </p:spPr>
        <p:txBody>
          <a:bodyPr wrap="square" lIns="0" rIns="0" tIns="0" bIns="0" anchor="t">
            <a:spAutoFit/>
          </a:bodyPr>
          <a:lstStyle/>
          <a:p>
            <a:pPr algn="ctr">
              <a:lnSpc>
                <a:spcPct val="116000"/>
              </a:lnSpc>
              <a:spcBef>
                <a:spcPts val="0"/>
              </a:spcBef>
              <a:spcAft>
                <a:spcPts val="0"/>
              </a:spcAft>
            </a:pPr>
            <a:r>
              <a:rPr sz="850" b="0" i="1">
                <a:solidFill>
                  <a:srgbClr val="666666"/>
                </a:solidFill>
                <a:latin typeface="Calibri"/>
              </a:rPr>
              <a:t>Figure 4.1 (report): both branches run over the same input image.</a:t>
            </a:r>
          </a:p>
        </p:txBody>
      </p:sp>
      <p:sp>
        <p:nvSpPr>
          <p:cNvPr id="9" name="TextBox 8"/>
          <p:cNvSpPr txBox="1"/>
          <p:nvPr/>
        </p:nvSpPr>
        <p:spPr>
          <a:xfrm>
            <a:off x="5791200" y="1295400"/>
            <a:ext cx="3708400" cy="3222437"/>
          </a:xfrm>
          <a:prstGeom prst="rect">
            <a:avLst/>
          </a:prstGeom>
          <a:noFill/>
        </p:spPr>
        <p:txBody>
          <a:bodyPr wrap="square" lIns="0" rIns="0" tIns="0" bIns="0" anchor="t">
            <a:spAutoFit/>
          </a:bodyPr>
          <a:lstStyle/>
          <a:p>
            <a:pPr algn="l">
              <a:lnSpc>
                <a:spcPct val="124000"/>
              </a:lnSpc>
              <a:spcBef>
                <a:spcPts val="0"/>
              </a:spcBef>
              <a:spcAft>
                <a:spcPts val="1000"/>
              </a:spcAft>
            </a:pPr>
            <a:r>
              <a:rPr sz="950" b="1" i="0">
                <a:solidFill>
                  <a:srgbClr val="0070C0"/>
                </a:solidFill>
                <a:latin typeface="Calibri"/>
              </a:rPr>
              <a:t>TWO BRANCHES, ONE IMAGE</a:t>
            </a:r>
          </a:p>
          <a:p>
            <a:pPr algn="l">
              <a:lnSpc>
                <a:spcPct val="130000"/>
              </a:lnSpc>
              <a:spcBef>
                <a:spcPts val="0"/>
              </a:spcBef>
              <a:spcAft>
                <a:spcPts val="1200"/>
              </a:spcAft>
            </a:pPr>
            <a:r>
              <a:rPr sz="1150" b="1" i="0">
                <a:solidFill>
                  <a:srgbClr val="1A1A1A"/>
                </a:solidFill>
                <a:latin typeface="Calibri"/>
              </a:rPr>
              <a:t>Identification branch.  </a:t>
            </a:r>
            <a:r>
              <a:rPr sz="1150" b="0" i="0">
                <a:solidFill>
                  <a:srgbClr val="303030"/>
                </a:solidFill>
                <a:latin typeface="Calibri"/>
              </a:rPr>
              <a:t>A MobileNetV2 classifier predicts one of 14 produce types, trained on the dataset's existing folder labels — ground truth already exists here.</a:t>
            </a:r>
          </a:p>
          <a:p>
            <a:pPr algn="l">
              <a:lnSpc>
                <a:spcPct val="130000"/>
              </a:lnSpc>
              <a:spcBef>
                <a:spcPts val="0"/>
              </a:spcBef>
              <a:spcAft>
                <a:spcPts val="1200"/>
              </a:spcAft>
            </a:pPr>
            <a:r>
              <a:rPr sz="1150" b="1" i="0">
                <a:solidFill>
                  <a:srgbClr val="1A1A1A"/>
                </a:solidFill>
                <a:latin typeface="Calibri"/>
              </a:rPr>
              <a:t>Freshness branch.  </a:t>
            </a:r>
            <a:r>
              <a:rPr sz="1150" b="0" i="0">
                <a:solidFill>
                  <a:srgbClr val="303030"/>
                </a:solidFill>
                <a:latin typeface="Calibri"/>
              </a:rPr>
              <a:t>No ready-made labels. The image gets an HSV decay score, that score becomes one of five classes through a rank-based split, and a second MobileNetV2 is trained on the result.</a:t>
            </a:r>
          </a:p>
          <a:p>
            <a:pPr algn="l">
              <a:lnSpc>
                <a:spcPct val="130000"/>
              </a:lnSpc>
              <a:spcBef>
                <a:spcPts val="0"/>
              </a:spcBef>
              <a:spcAft>
                <a:spcPts val="0"/>
              </a:spcAft>
            </a:pPr>
            <a:r>
              <a:rPr sz="1150" b="1" i="0">
                <a:solidFill>
                  <a:srgbClr val="1A1A1A"/>
                </a:solidFill>
                <a:latin typeface="Calibri"/>
              </a:rPr>
              <a:t>Phase 2 (proposed).  </a:t>
            </a:r>
            <a:r>
              <a:rPr sz="1150" b="0" i="0">
                <a:solidFill>
                  <a:srgbClr val="303030"/>
                </a:solidFill>
                <a:latin typeface="Calibri"/>
              </a:rPr>
              <a:t>EfficientNetB0 features feeding an SVM, Random Forest, Logistic Regression, KNN and XGBoost ensemble, to reduce label noise. Designed, not yet evaluated.</a:t>
            </a:r>
          </a:p>
        </p:txBody>
      </p:sp>
      <p:sp>
        <p:nvSpPr>
          <p:cNvPr id="10" name="Rectangle 9"/>
          <p:cNvSpPr/>
          <p:nvPr/>
        </p:nvSpPr>
        <p:spPr>
          <a:xfrm>
            <a:off x="584200" y="5293170"/>
            <a:ext cx="4876800" cy="1532900"/>
          </a:xfrm>
          <a:prstGeom prst="rect">
            <a:avLst/>
          </a:prstGeom>
          <a:solidFill>
            <a:srgbClr val="F2F5F9"/>
          </a:solidFill>
          <a:ln w="1143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5445570"/>
            <a:ext cx="4470400" cy="1101100"/>
          </a:xfrm>
          <a:prstGeom prst="rect">
            <a:avLst/>
          </a:prstGeom>
          <a:noFill/>
        </p:spPr>
        <p:txBody>
          <a:bodyPr wrap="square" lIns="0" rIns="0" tIns="0" bIns="0" anchor="t">
            <a:spAutoFit/>
          </a:bodyPr>
          <a:lstStyle/>
          <a:p>
            <a:pPr algn="l">
              <a:lnSpc>
                <a:spcPct val="124000"/>
              </a:lnSpc>
              <a:spcBef>
                <a:spcPts val="0"/>
              </a:spcBef>
              <a:spcAft>
                <a:spcPts val="800"/>
              </a:spcAft>
            </a:pPr>
            <a:r>
              <a:rPr sz="950" b="1" i="0">
                <a:solidFill>
                  <a:srgbClr val="0070C0"/>
                </a:solidFill>
                <a:latin typeface="Calibri"/>
              </a:rPr>
              <a:t>SHARED MODEL HEAD  (both Phase 1 models)</a:t>
            </a:r>
          </a:p>
          <a:p>
            <a:pPr algn="l">
              <a:lnSpc>
                <a:spcPct val="134000"/>
              </a:lnSpc>
              <a:spcBef>
                <a:spcPts val="0"/>
              </a:spcBef>
              <a:spcAft>
                <a:spcPts val="600"/>
              </a:spcAft>
            </a:pPr>
            <a:r>
              <a:rPr sz="1050" b="0" i="0">
                <a:solidFill>
                  <a:srgbClr val="1A1A1A"/>
                </a:solidFill>
                <a:latin typeface="Calibri"/>
              </a:rPr>
              <a:t>MobileNetV2 (ImageNet, head removed)   →   GlobalAveragePooling   →   Dense(128, ReLU)   →   Dropout(0.3)   →   Dense(C, softmax)</a:t>
            </a:r>
          </a:p>
          <a:p>
            <a:pPr algn="l">
              <a:lnSpc>
                <a:spcPct val="128000"/>
              </a:lnSpc>
              <a:spcBef>
                <a:spcPts val="0"/>
              </a:spcBef>
              <a:spcAft>
                <a:spcPts val="0"/>
              </a:spcAft>
            </a:pPr>
            <a:r>
              <a:rPr sz="1000" b="0" i="0">
                <a:solidFill>
                  <a:srgbClr val="666666"/>
                </a:solidFill>
                <a:latin typeface="Calibri"/>
              </a:rPr>
              <a:t>C = 14 for identification, C = 5 for freshness. Trained with Adam and categorical cross-entropy.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367792"/>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HSV DECAY-SCORE HEURISTIC</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6</a:t>
            </a:r>
          </a:p>
        </p:txBody>
      </p:sp>
      <p:sp>
        <p:nvSpPr>
          <p:cNvPr id="7" name="TextBox 6"/>
          <p:cNvSpPr txBox="1"/>
          <p:nvPr/>
        </p:nvSpPr>
        <p:spPr>
          <a:xfrm>
            <a:off x="584200" y="1270000"/>
            <a:ext cx="4978400" cy="485871"/>
          </a:xfrm>
          <a:prstGeom prst="rect">
            <a:avLst/>
          </a:prstGeom>
          <a:noFill/>
        </p:spPr>
        <p:txBody>
          <a:bodyPr wrap="square" lIns="0" rIns="0" tIns="0" bIns="0" anchor="t">
            <a:spAutoFit/>
          </a:bodyPr>
          <a:lstStyle/>
          <a:p>
            <a:pPr algn="l">
              <a:lnSpc>
                <a:spcPct val="122000"/>
              </a:lnSpc>
              <a:spcBef>
                <a:spcPts val="0"/>
              </a:spcBef>
              <a:spcAft>
                <a:spcPts val="0"/>
              </a:spcAft>
            </a:pPr>
            <a:r>
              <a:rPr sz="1350" b="1" i="0">
                <a:solidFill>
                  <a:srgbClr val="1A1A1A"/>
                </a:solidFill>
                <a:latin typeface="Calibri"/>
              </a:rPr>
              <a:t>The problem: the dataset has only two labels — fresh and rotten. We needed five.</a:t>
            </a:r>
          </a:p>
        </p:txBody>
      </p:sp>
      <p:sp>
        <p:nvSpPr>
          <p:cNvPr id="8" name="TextBox 7"/>
          <p:cNvSpPr txBox="1"/>
          <p:nvPr/>
        </p:nvSpPr>
        <p:spPr>
          <a:xfrm>
            <a:off x="584200" y="1959071"/>
            <a:ext cx="279400" cy="247335"/>
          </a:xfrm>
          <a:prstGeom prst="rect">
            <a:avLst/>
          </a:prstGeom>
          <a:noFill/>
        </p:spPr>
        <p:txBody>
          <a:bodyPr wrap="square" lIns="0" rIns="0" tIns="0" bIns="0" anchor="t">
            <a:spAutoFit/>
          </a:bodyPr>
          <a:lstStyle/>
          <a:p>
            <a:pPr algn="l">
              <a:lnSpc>
                <a:spcPct val="124000"/>
              </a:lnSpc>
              <a:spcBef>
                <a:spcPts val="0"/>
              </a:spcBef>
              <a:spcAft>
                <a:spcPts val="0"/>
              </a:spcAft>
            </a:pPr>
            <a:r>
              <a:rPr sz="1200" b="1" i="0">
                <a:solidFill>
                  <a:srgbClr val="0070C0"/>
                </a:solidFill>
                <a:latin typeface="Calibri"/>
              </a:rPr>
              <a:t>1.</a:t>
            </a:r>
          </a:p>
        </p:txBody>
      </p:sp>
      <p:sp>
        <p:nvSpPr>
          <p:cNvPr id="9" name="TextBox 8"/>
          <p:cNvSpPr txBox="1"/>
          <p:nvPr/>
        </p:nvSpPr>
        <p:spPr>
          <a:xfrm>
            <a:off x="914400" y="1959071"/>
            <a:ext cx="4648200" cy="829015"/>
          </a:xfrm>
          <a:prstGeom prst="rect">
            <a:avLst/>
          </a:prstGeom>
          <a:noFill/>
        </p:spPr>
        <p:txBody>
          <a:bodyPr wrap="square" lIns="0" rIns="0" tIns="0" bIns="0" anchor="t">
            <a:spAutoFit/>
          </a:bodyPr>
          <a:lstStyle/>
          <a:p>
            <a:pPr algn="l">
              <a:lnSpc>
                <a:spcPct val="114000"/>
              </a:lnSpc>
              <a:spcBef>
                <a:spcPts val="0"/>
              </a:spcBef>
              <a:spcAft>
                <a:spcPts val="300"/>
              </a:spcAft>
            </a:pPr>
            <a:r>
              <a:rPr sz="1200" b="1" i="0">
                <a:solidFill>
                  <a:srgbClr val="1A1A1A"/>
                </a:solidFill>
                <a:latin typeface="Calibri"/>
              </a:rPr>
              <a:t>Foreground mask</a:t>
            </a:r>
          </a:p>
          <a:p>
            <a:pPr algn="l">
              <a:lnSpc>
                <a:spcPct val="128000"/>
              </a:lnSpc>
              <a:spcBef>
                <a:spcPts val="0"/>
              </a:spcBef>
              <a:spcAft>
                <a:spcPts val="0"/>
              </a:spcAft>
            </a:pPr>
            <a:r>
              <a:rPr sz="1100" b="0" i="0">
                <a:solidFill>
                  <a:srgbClr val="303030"/>
                </a:solidFill>
                <a:latin typeface="Calibri"/>
              </a:rPr>
              <a:t>Threshold the HSV saturation channel at S &gt; 40 to separate the produce from the background, then clean it up with morphological closing and opening (7 × 7 kernel).</a:t>
            </a:r>
          </a:p>
        </p:txBody>
      </p:sp>
      <p:sp>
        <p:nvSpPr>
          <p:cNvPr id="10" name="TextBox 9"/>
          <p:cNvSpPr txBox="1"/>
          <p:nvPr/>
        </p:nvSpPr>
        <p:spPr>
          <a:xfrm>
            <a:off x="584200" y="2940486"/>
            <a:ext cx="279400" cy="247335"/>
          </a:xfrm>
          <a:prstGeom prst="rect">
            <a:avLst/>
          </a:prstGeom>
          <a:noFill/>
        </p:spPr>
        <p:txBody>
          <a:bodyPr wrap="square" lIns="0" rIns="0" tIns="0" bIns="0" anchor="t">
            <a:spAutoFit/>
          </a:bodyPr>
          <a:lstStyle/>
          <a:p>
            <a:pPr algn="l">
              <a:lnSpc>
                <a:spcPct val="124000"/>
              </a:lnSpc>
              <a:spcBef>
                <a:spcPts val="0"/>
              </a:spcBef>
              <a:spcAft>
                <a:spcPts val="0"/>
              </a:spcAft>
            </a:pPr>
            <a:r>
              <a:rPr sz="1200" b="1" i="0">
                <a:solidFill>
                  <a:srgbClr val="0070C0"/>
                </a:solidFill>
                <a:latin typeface="Calibri"/>
              </a:rPr>
              <a:t>2.</a:t>
            </a:r>
          </a:p>
        </p:txBody>
      </p:sp>
      <p:sp>
        <p:nvSpPr>
          <p:cNvPr id="11" name="TextBox 10"/>
          <p:cNvSpPr txBox="1"/>
          <p:nvPr/>
        </p:nvSpPr>
        <p:spPr>
          <a:xfrm>
            <a:off x="914400" y="2940486"/>
            <a:ext cx="4648200" cy="829015"/>
          </a:xfrm>
          <a:prstGeom prst="rect">
            <a:avLst/>
          </a:prstGeom>
          <a:noFill/>
        </p:spPr>
        <p:txBody>
          <a:bodyPr wrap="square" lIns="0" rIns="0" tIns="0" bIns="0" anchor="t">
            <a:spAutoFit/>
          </a:bodyPr>
          <a:lstStyle/>
          <a:p>
            <a:pPr algn="l">
              <a:lnSpc>
                <a:spcPct val="114000"/>
              </a:lnSpc>
              <a:spcBef>
                <a:spcPts val="0"/>
              </a:spcBef>
              <a:spcAft>
                <a:spcPts val="300"/>
              </a:spcAft>
            </a:pPr>
            <a:r>
              <a:rPr sz="1200" b="1" i="0">
                <a:solidFill>
                  <a:srgbClr val="1A1A1A"/>
                </a:solidFill>
                <a:latin typeface="Calibri"/>
              </a:rPr>
              <a:t>Discoloured-spot mask</a:t>
            </a:r>
          </a:p>
          <a:p>
            <a:pPr algn="l">
              <a:lnSpc>
                <a:spcPct val="128000"/>
              </a:lnSpc>
              <a:spcBef>
                <a:spcPts val="0"/>
              </a:spcBef>
              <a:spcAft>
                <a:spcPts val="0"/>
              </a:spcAft>
            </a:pPr>
            <a:r>
              <a:rPr sz="1100" b="0" i="0">
                <a:solidFill>
                  <a:srgbClr val="303030"/>
                </a:solidFill>
                <a:latin typeface="Calibri"/>
              </a:rPr>
              <a:t>Threshold within H ∈ [0, 35], S ∈ [30, 255], V ∈ [20, 160] — an empirically chosen range that picks up the brown patches typical of bruising and decay — restricted to the foreground region.</a:t>
            </a:r>
          </a:p>
        </p:txBody>
      </p:sp>
      <p:sp>
        <p:nvSpPr>
          <p:cNvPr id="12" name="TextBox 11"/>
          <p:cNvSpPr txBox="1"/>
          <p:nvPr/>
        </p:nvSpPr>
        <p:spPr>
          <a:xfrm>
            <a:off x="584200" y="3921902"/>
            <a:ext cx="279400" cy="247335"/>
          </a:xfrm>
          <a:prstGeom prst="rect">
            <a:avLst/>
          </a:prstGeom>
          <a:noFill/>
        </p:spPr>
        <p:txBody>
          <a:bodyPr wrap="square" lIns="0" rIns="0" tIns="0" bIns="0" anchor="t">
            <a:spAutoFit/>
          </a:bodyPr>
          <a:lstStyle/>
          <a:p>
            <a:pPr algn="l">
              <a:lnSpc>
                <a:spcPct val="124000"/>
              </a:lnSpc>
              <a:spcBef>
                <a:spcPts val="0"/>
              </a:spcBef>
              <a:spcAft>
                <a:spcPts val="0"/>
              </a:spcAft>
            </a:pPr>
            <a:r>
              <a:rPr sz="1200" b="1" i="0">
                <a:solidFill>
                  <a:srgbClr val="0070C0"/>
                </a:solidFill>
                <a:latin typeface="Calibri"/>
              </a:rPr>
              <a:t>3.</a:t>
            </a:r>
          </a:p>
        </p:txBody>
      </p:sp>
      <p:sp>
        <p:nvSpPr>
          <p:cNvPr id="13" name="TextBox 12"/>
          <p:cNvSpPr txBox="1"/>
          <p:nvPr/>
        </p:nvSpPr>
        <p:spPr>
          <a:xfrm>
            <a:off x="914400" y="3921902"/>
            <a:ext cx="4648200" cy="457078"/>
          </a:xfrm>
          <a:prstGeom prst="rect">
            <a:avLst/>
          </a:prstGeom>
          <a:noFill/>
        </p:spPr>
        <p:txBody>
          <a:bodyPr wrap="square" lIns="0" rIns="0" tIns="0" bIns="0" anchor="t">
            <a:spAutoFit/>
          </a:bodyPr>
          <a:lstStyle/>
          <a:p>
            <a:pPr algn="l">
              <a:lnSpc>
                <a:spcPct val="114000"/>
              </a:lnSpc>
              <a:spcBef>
                <a:spcPts val="0"/>
              </a:spcBef>
              <a:spcAft>
                <a:spcPts val="300"/>
              </a:spcAft>
            </a:pPr>
            <a:r>
              <a:rPr sz="1200" b="1" i="0">
                <a:solidFill>
                  <a:srgbClr val="1A1A1A"/>
                </a:solidFill>
                <a:latin typeface="Calibri"/>
              </a:rPr>
              <a:t>Decay score</a:t>
            </a:r>
          </a:p>
          <a:p>
            <a:pPr algn="l">
              <a:lnSpc>
                <a:spcPct val="128000"/>
              </a:lnSpc>
              <a:spcBef>
                <a:spcPts val="0"/>
              </a:spcBef>
              <a:spcAft>
                <a:spcPts val="0"/>
              </a:spcAft>
            </a:pPr>
            <a:r>
              <a:rPr sz="1100" b="0" i="0">
                <a:solidFill>
                  <a:srgbClr val="303030"/>
                </a:solidFill>
                <a:latin typeface="Calibri"/>
              </a:rPr>
              <a:t>The percentage of foreground pixels flagged as decayed.</a:t>
            </a:r>
          </a:p>
        </p:txBody>
      </p:sp>
      <p:sp>
        <p:nvSpPr>
          <p:cNvPr id="14" name="Rectangle 13"/>
          <p:cNvSpPr/>
          <p:nvPr/>
        </p:nvSpPr>
        <p:spPr>
          <a:xfrm>
            <a:off x="584200" y="4607580"/>
            <a:ext cx="4978400" cy="508000"/>
          </a:xfrm>
          <a:prstGeom prst="rect">
            <a:avLst/>
          </a:prstGeom>
          <a:solidFill>
            <a:srgbClr val="F2F5F9"/>
          </a:solidFill>
          <a:ln w="1143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200" y="4759980"/>
            <a:ext cx="4978400" cy="263712"/>
          </a:xfrm>
          <a:prstGeom prst="rect">
            <a:avLst/>
          </a:prstGeom>
          <a:noFill/>
        </p:spPr>
        <p:txBody>
          <a:bodyPr wrap="square" lIns="0" rIns="0" tIns="0" bIns="0" anchor="t">
            <a:spAutoFit/>
          </a:bodyPr>
          <a:lstStyle/>
          <a:p>
            <a:pPr algn="ctr">
              <a:lnSpc>
                <a:spcPct val="124000"/>
              </a:lnSpc>
              <a:spcBef>
                <a:spcPts val="0"/>
              </a:spcBef>
              <a:spcAft>
                <a:spcPts val="0"/>
              </a:spcAft>
            </a:pPr>
            <a:r>
              <a:rPr sz="1300" b="1" i="0">
                <a:solidFill>
                  <a:srgbClr val="1A1A1A"/>
                </a:solidFill>
                <a:latin typeface="Calibri"/>
              </a:rPr>
              <a:t>Decay Score  =  | M spot, fg |  ÷  | M fg |  ×  100</a:t>
            </a:r>
          </a:p>
        </p:txBody>
      </p:sp>
      <p:sp>
        <p:nvSpPr>
          <p:cNvPr id="16" name="TextBox 15"/>
          <p:cNvSpPr txBox="1"/>
          <p:nvPr/>
        </p:nvSpPr>
        <p:spPr>
          <a:xfrm>
            <a:off x="584200" y="5318780"/>
            <a:ext cx="4978400" cy="643178"/>
          </a:xfrm>
          <a:prstGeom prst="rect">
            <a:avLst/>
          </a:prstGeom>
          <a:noFill/>
        </p:spPr>
        <p:txBody>
          <a:bodyPr wrap="square" lIns="0" rIns="0" tIns="0" bIns="0" anchor="t">
            <a:spAutoFit/>
          </a:bodyPr>
          <a:lstStyle/>
          <a:p>
            <a:pPr algn="l">
              <a:lnSpc>
                <a:spcPct val="130000"/>
              </a:lnSpc>
              <a:spcBef>
                <a:spcPts val="0"/>
              </a:spcBef>
              <a:spcAft>
                <a:spcPts val="0"/>
              </a:spcAft>
            </a:pPr>
            <a:r>
              <a:rPr sz="1150" b="0" i="0">
                <a:solidFill>
                  <a:srgbClr val="303030"/>
                </a:solidFill>
                <a:latin typeface="Calibri"/>
              </a:rPr>
              <a:t>On 20 fresh and 20 rotten apple images the mean decay score was </a:t>
            </a:r>
            <a:r>
              <a:rPr sz="1150" b="1" i="0">
                <a:solidFill>
                  <a:srgbClr val="1A1A1A"/>
                </a:solidFill>
                <a:latin typeface="Calibri"/>
              </a:rPr>
              <a:t>16.48%</a:t>
            </a:r>
            <a:r>
              <a:rPr sz="1150" b="0" i="0">
                <a:solidFill>
                  <a:srgbClr val="303030"/>
                </a:solidFill>
                <a:latin typeface="Calibri"/>
              </a:rPr>
              <a:t> for fresh against </a:t>
            </a:r>
            <a:r>
              <a:rPr sz="1150" b="1" i="0">
                <a:solidFill>
                  <a:srgbClr val="1A1A1A"/>
                </a:solidFill>
                <a:latin typeface="Calibri"/>
              </a:rPr>
              <a:t>35.79%</a:t>
            </a:r>
            <a:r>
              <a:rPr sz="1150" b="0" i="0">
                <a:solidFill>
                  <a:srgbClr val="303030"/>
                </a:solidFill>
                <a:latin typeface="Calibri"/>
              </a:rPr>
              <a:t> for rotten — the heuristic clearly separates the two groups on average.</a:t>
            </a:r>
          </a:p>
        </p:txBody>
      </p:sp>
      <p:pic>
        <p:nvPicPr>
          <p:cNvPr id="17" name="Picture 16" descr="fig_hsv_pipeline.png"/>
          <p:cNvPicPr>
            <a:picLocks noChangeAspect="1"/>
          </p:cNvPicPr>
          <p:nvPr/>
        </p:nvPicPr>
        <p:blipFill>
          <a:blip r:embed="rId2"/>
          <a:stretch>
            <a:fillRect/>
          </a:stretch>
        </p:blipFill>
        <p:spPr>
          <a:xfrm>
            <a:off x="6064723" y="1270000"/>
            <a:ext cx="3237552" cy="4648200"/>
          </a:xfrm>
          <a:prstGeom prst="rect">
            <a:avLst/>
          </a:prstGeom>
          <a:ln w="9525">
            <a:solidFill>
              <a:srgbClr val="DDDDDD"/>
            </a:solidFill>
          </a:ln>
        </p:spPr>
      </p:pic>
      <p:sp>
        <p:nvSpPr>
          <p:cNvPr id="18" name="TextBox 17"/>
          <p:cNvSpPr txBox="1"/>
          <p:nvPr/>
        </p:nvSpPr>
        <p:spPr>
          <a:xfrm>
            <a:off x="5867400" y="5981700"/>
            <a:ext cx="3632200" cy="311261"/>
          </a:xfrm>
          <a:prstGeom prst="rect">
            <a:avLst/>
          </a:prstGeom>
          <a:noFill/>
        </p:spPr>
        <p:txBody>
          <a:bodyPr wrap="square" lIns="0" rIns="0" tIns="0" bIns="0" anchor="t">
            <a:spAutoFit/>
          </a:bodyPr>
          <a:lstStyle/>
          <a:p>
            <a:pPr algn="ctr">
              <a:lnSpc>
                <a:spcPct val="116000"/>
              </a:lnSpc>
              <a:spcBef>
                <a:spcPts val="0"/>
              </a:spcBef>
              <a:spcAft>
                <a:spcPts val="0"/>
              </a:spcAft>
            </a:pPr>
            <a:r>
              <a:rPr sz="850" b="0" i="1">
                <a:solidFill>
                  <a:srgbClr val="666666"/>
                </a:solidFill>
                <a:latin typeface="Calibri"/>
              </a:rPr>
              <a:t>Report Fig. 5.3: original image, foreground mask and detected decay spots, for a fresh and a rotten apple.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684784"/>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FROM DECAY SCORES TO FIVE FRESHNESS LABELS</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7</a:t>
            </a:r>
          </a:p>
        </p:txBody>
      </p:sp>
      <p:sp>
        <p:nvSpPr>
          <p:cNvPr id="7" name="TextBox 6"/>
          <p:cNvSpPr txBox="1"/>
          <p:nvPr/>
        </p:nvSpPr>
        <p:spPr>
          <a:xfrm>
            <a:off x="584200" y="1270000"/>
            <a:ext cx="89154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RANK-BASED PERCENTILE SPLIT</a:t>
            </a:r>
          </a:p>
        </p:txBody>
      </p:sp>
      <p:sp>
        <p:nvSpPr>
          <p:cNvPr id="8" name="TextBox 7"/>
          <p:cNvSpPr txBox="1"/>
          <p:nvPr/>
        </p:nvSpPr>
        <p:spPr>
          <a:xfrm>
            <a:off x="584200" y="1585823"/>
            <a:ext cx="8915400" cy="1310843"/>
          </a:xfrm>
          <a:prstGeom prst="rect">
            <a:avLst/>
          </a:prstGeom>
          <a:noFill/>
        </p:spPr>
        <p:txBody>
          <a:bodyPr wrap="square" lIns="0" rIns="0" tIns="0" bIns="0" anchor="t">
            <a:spAutoFit/>
          </a:bodyPr>
          <a:lstStyle/>
          <a:p>
            <a:pPr algn="l">
              <a:lnSpc>
                <a:spcPct val="124000"/>
              </a:lnSpc>
              <a:spcBef>
                <a:spcPts val="0"/>
              </a:spcBef>
              <a:spcAft>
                <a:spcPts val="700"/>
              </a:spcAft>
            </a:pPr>
            <a:r>
              <a:rPr sz="1200" b="1">
                <a:solidFill>
                  <a:srgbClr val="0070C0"/>
                </a:solidFill>
                <a:latin typeface="Calibri"/>
              </a:rPr>
              <a:t>•   </a:t>
            </a:r>
            <a:r>
              <a:rPr sz="1200" b="0" i="0">
                <a:solidFill>
                  <a:srgbClr val="303030"/>
                </a:solidFill>
                <a:latin typeface="Calibri"/>
              </a:rPr>
              <a:t>Group the images by produce type and by their original fresh / rotten folder.</a:t>
            </a:r>
          </a:p>
          <a:p>
            <a:pPr algn="l">
              <a:lnSpc>
                <a:spcPct val="124000"/>
              </a:lnSpc>
              <a:spcBef>
                <a:spcPts val="0"/>
              </a:spcBef>
              <a:spcAft>
                <a:spcPts val="700"/>
              </a:spcAft>
            </a:pPr>
            <a:r>
              <a:rPr sz="1200" b="1">
                <a:solidFill>
                  <a:srgbClr val="0070C0"/>
                </a:solidFill>
                <a:latin typeface="Calibri"/>
              </a:rPr>
              <a:t>•   </a:t>
            </a:r>
            <a:r>
              <a:rPr sz="1200" b="0" i="0">
                <a:solidFill>
                  <a:srgbClr val="303030"/>
                </a:solidFill>
                <a:latin typeface="Calibri"/>
              </a:rPr>
              <a:t>Sort by ascending decay score within each group, then split into equal-sized rank buckets — two from a “fresh” folder (very_fresh, fresh) and three from a “rotten” folder (slightly_rotten, rotten, very_rotten).</a:t>
            </a:r>
          </a:p>
          <a:p>
            <a:pPr algn="l">
              <a:lnSpc>
                <a:spcPct val="124000"/>
              </a:lnSpc>
              <a:spcBef>
                <a:spcPts val="0"/>
              </a:spcBef>
              <a:spcAft>
                <a:spcPts val="700"/>
              </a:spcAft>
            </a:pPr>
            <a:r>
              <a:rPr sz="1200" b="1">
                <a:solidFill>
                  <a:srgbClr val="0070C0"/>
                </a:solidFill>
                <a:latin typeface="Calibri"/>
              </a:rPr>
              <a:t>•   </a:t>
            </a:r>
            <a:r>
              <a:rPr sz="1200" b="0" i="0">
                <a:solidFill>
                  <a:srgbClr val="303030"/>
                </a:solidFill>
                <a:latin typeface="Calibri"/>
              </a:rPr>
              <a:t>Grouping per produce type matters: a rotten banana and a rotten apple are not the same colour, so a single global threshold would be wrong.</a:t>
            </a:r>
          </a:p>
        </p:txBody>
      </p:sp>
      <p:pic>
        <p:nvPicPr>
          <p:cNvPr id="9" name="Picture 8" descr="fig_decay_box.png"/>
          <p:cNvPicPr>
            <a:picLocks noChangeAspect="1"/>
          </p:cNvPicPr>
          <p:nvPr/>
        </p:nvPicPr>
        <p:blipFill>
          <a:blip r:embed="rId2"/>
          <a:stretch>
            <a:fillRect/>
          </a:stretch>
        </p:blipFill>
        <p:spPr>
          <a:xfrm>
            <a:off x="1066398" y="3099866"/>
            <a:ext cx="3328202" cy="1905000"/>
          </a:xfrm>
          <a:prstGeom prst="rect">
            <a:avLst/>
          </a:prstGeom>
          <a:ln w="9525">
            <a:solidFill>
              <a:srgbClr val="DDDDDD"/>
            </a:solidFill>
          </a:ln>
        </p:spPr>
      </p:pic>
      <p:sp>
        <p:nvSpPr>
          <p:cNvPr id="10" name="TextBox 9"/>
          <p:cNvSpPr txBox="1"/>
          <p:nvPr/>
        </p:nvSpPr>
        <p:spPr>
          <a:xfrm>
            <a:off x="584200" y="5068366"/>
            <a:ext cx="4292600" cy="181030"/>
          </a:xfrm>
          <a:prstGeom prst="rect">
            <a:avLst/>
          </a:prstGeom>
          <a:noFill/>
        </p:spPr>
        <p:txBody>
          <a:bodyPr wrap="square" lIns="0" rIns="0" tIns="0" bIns="0" anchor="t">
            <a:spAutoFit/>
          </a:bodyPr>
          <a:lstStyle/>
          <a:p>
            <a:pPr algn="ctr">
              <a:lnSpc>
                <a:spcPct val="116000"/>
              </a:lnSpc>
              <a:spcBef>
                <a:spcPts val="0"/>
              </a:spcBef>
              <a:spcAft>
                <a:spcPts val="0"/>
              </a:spcAft>
            </a:pPr>
            <a:r>
              <a:rPr sz="850" b="0" i="1">
                <a:solidFill>
                  <a:srgbClr val="666666"/>
                </a:solidFill>
                <a:latin typeface="Calibri"/>
              </a:rPr>
              <a:t>Figure 4.2: decay-score spread, 20 fresh vs 20 rotten apples.</a:t>
            </a:r>
          </a:p>
        </p:txBody>
      </p:sp>
      <p:pic>
        <p:nvPicPr>
          <p:cNvPr id="11" name="Picture 10" descr="fig_label_dist.png"/>
          <p:cNvPicPr>
            <a:picLocks noChangeAspect="1"/>
          </p:cNvPicPr>
          <p:nvPr/>
        </p:nvPicPr>
        <p:blipFill>
          <a:blip r:embed="rId3"/>
          <a:stretch>
            <a:fillRect/>
          </a:stretch>
        </p:blipFill>
        <p:spPr>
          <a:xfrm>
            <a:off x="5531276" y="3099866"/>
            <a:ext cx="3644047" cy="1905000"/>
          </a:xfrm>
          <a:prstGeom prst="rect">
            <a:avLst/>
          </a:prstGeom>
          <a:ln w="9525">
            <a:solidFill>
              <a:srgbClr val="DDDDDD"/>
            </a:solidFill>
          </a:ln>
        </p:spPr>
      </p:pic>
      <p:sp>
        <p:nvSpPr>
          <p:cNvPr id="12" name="TextBox 11"/>
          <p:cNvSpPr txBox="1"/>
          <p:nvPr/>
        </p:nvSpPr>
        <p:spPr>
          <a:xfrm>
            <a:off x="5207000" y="5068366"/>
            <a:ext cx="4292600" cy="181030"/>
          </a:xfrm>
          <a:prstGeom prst="rect">
            <a:avLst/>
          </a:prstGeom>
          <a:noFill/>
        </p:spPr>
        <p:txBody>
          <a:bodyPr wrap="square" lIns="0" rIns="0" tIns="0" bIns="0" anchor="t">
            <a:spAutoFit/>
          </a:bodyPr>
          <a:lstStyle/>
          <a:p>
            <a:pPr algn="ctr">
              <a:lnSpc>
                <a:spcPct val="116000"/>
              </a:lnSpc>
              <a:spcBef>
                <a:spcPts val="0"/>
              </a:spcBef>
              <a:spcAft>
                <a:spcPts val="0"/>
              </a:spcAft>
            </a:pPr>
            <a:r>
              <a:rPr sz="850" b="0" i="1">
                <a:solidFill>
                  <a:srgbClr val="666666"/>
                </a:solidFill>
                <a:latin typeface="Calibri"/>
              </a:rPr>
              <a:t>Figure 4.3: the five auto-generated labels across 29,291 images.</a:t>
            </a:r>
          </a:p>
        </p:txBody>
      </p:sp>
      <p:sp>
        <p:nvSpPr>
          <p:cNvPr id="13" name="Rectangle 12"/>
          <p:cNvSpPr/>
          <p:nvPr/>
        </p:nvSpPr>
        <p:spPr>
          <a:xfrm>
            <a:off x="584200" y="5477997"/>
            <a:ext cx="8915400" cy="947978"/>
          </a:xfrm>
          <a:prstGeom prst="rect">
            <a:avLst/>
          </a:prstGeom>
          <a:solidFill>
            <a:srgbClr val="F2F5F9"/>
          </a:solidFill>
          <a:ln w="1143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800" y="5630397"/>
            <a:ext cx="8458200" cy="643178"/>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1A1A1A"/>
                </a:solidFill>
                <a:latin typeface="Calibri"/>
              </a:rPr>
              <a:t>Balanced by construction, but not perfect.  </a:t>
            </a:r>
            <a:r>
              <a:rPr sz="1150" b="0" i="0">
                <a:solidFill>
                  <a:srgbClr val="303030"/>
                </a:solidFill>
                <a:latin typeface="Calibri"/>
              </a:rPr>
              <a:t>The two distributions overlap, so an image sitting right at a percentile boundary can end up on the wrong side of it. That overlap is where the label noise comes from — and it is exactly what the proposed Phase 2 ensemble is meant to correct.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367792"/>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DATASET AND TRAINING SETUP</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8</a:t>
            </a:r>
          </a:p>
        </p:txBody>
      </p:sp>
      <p:sp>
        <p:nvSpPr>
          <p:cNvPr id="7" name="TextBox 6"/>
          <p:cNvSpPr txBox="1"/>
          <p:nvPr/>
        </p:nvSpPr>
        <p:spPr>
          <a:xfrm>
            <a:off x="584200" y="1270000"/>
            <a:ext cx="46736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DATASET</a:t>
            </a:r>
          </a:p>
        </p:txBody>
      </p:sp>
      <p:sp>
        <p:nvSpPr>
          <p:cNvPr id="8" name="TextBox 7"/>
          <p:cNvSpPr txBox="1"/>
          <p:nvPr/>
        </p:nvSpPr>
        <p:spPr>
          <a:xfrm>
            <a:off x="584200" y="1585823"/>
            <a:ext cx="4673600" cy="1646590"/>
          </a:xfrm>
          <a:prstGeom prst="rect">
            <a:avLst/>
          </a:prstGeom>
          <a:noFill/>
        </p:spPr>
        <p:txBody>
          <a:bodyPr wrap="square" lIns="0" rIns="0" tIns="0" bIns="0" anchor="t">
            <a:spAutoFit/>
          </a:bodyPr>
          <a:lstStyle/>
          <a:p>
            <a:pPr algn="l">
              <a:lnSpc>
                <a:spcPct val="124000"/>
              </a:lnSpc>
              <a:spcBef>
                <a:spcPts val="0"/>
              </a:spcBef>
              <a:spcAft>
                <a:spcPts val="700"/>
              </a:spcAft>
            </a:pPr>
            <a:r>
              <a:rPr sz="1150" b="1">
                <a:solidFill>
                  <a:srgbClr val="0070C0"/>
                </a:solidFill>
                <a:latin typeface="Calibri"/>
              </a:rPr>
              <a:t>•   </a:t>
            </a:r>
            <a:r>
              <a:rPr sz="1150" b="0" i="0">
                <a:solidFill>
                  <a:srgbClr val="303030"/>
                </a:solidFill>
                <a:latin typeface="Calibri"/>
              </a:rPr>
              <a:t>Fruit and Vegetable Dataset (Fresh vs. Rotten), from Kaggle — one folder per produce type, with fresh and rotten subfolders.</a:t>
            </a:r>
          </a:p>
          <a:p>
            <a:pPr algn="l">
              <a:lnSpc>
                <a:spcPct val="124000"/>
              </a:lnSpc>
              <a:spcBef>
                <a:spcPts val="0"/>
              </a:spcBef>
              <a:spcAft>
                <a:spcPts val="700"/>
              </a:spcAft>
            </a:pPr>
            <a:r>
              <a:rPr sz="1150" b="1">
                <a:solidFill>
                  <a:srgbClr val="0070C0"/>
                </a:solidFill>
                <a:latin typeface="Calibri"/>
              </a:rPr>
              <a:t>•   </a:t>
            </a:r>
            <a:r>
              <a:rPr sz="1150" b="1" i="0">
                <a:solidFill>
                  <a:srgbClr val="1A1A1A"/>
                </a:solidFill>
                <a:latin typeface="Calibri"/>
              </a:rPr>
              <a:t>29,291 images</a:t>
            </a:r>
            <a:r>
              <a:rPr sz="1150" b="0" i="0">
                <a:solidFill>
                  <a:srgbClr val="303030"/>
                </a:solidFill>
                <a:latin typeface="Calibri"/>
              </a:rPr>
              <a:t> across </a:t>
            </a:r>
            <a:r>
              <a:rPr sz="1150" b="1" i="0">
                <a:solidFill>
                  <a:srgbClr val="1A1A1A"/>
                </a:solidFill>
                <a:latin typeface="Calibri"/>
              </a:rPr>
              <a:t>14 produce types</a:t>
            </a:r>
            <a:r>
              <a:rPr sz="1150" b="0" i="0">
                <a:solidFill>
                  <a:srgbClr val="303030"/>
                </a:solidFill>
                <a:latin typeface="Calibri"/>
              </a:rPr>
              <a:t>.</a:t>
            </a:r>
          </a:p>
          <a:p>
            <a:pPr algn="l">
              <a:lnSpc>
                <a:spcPct val="124000"/>
              </a:lnSpc>
              <a:spcBef>
                <a:spcPts val="0"/>
              </a:spcBef>
              <a:spcAft>
                <a:spcPts val="700"/>
              </a:spcAft>
            </a:pPr>
            <a:r>
              <a:rPr sz="1150" b="1">
                <a:solidFill>
                  <a:srgbClr val="0070C0"/>
                </a:solidFill>
                <a:latin typeface="Calibri"/>
              </a:rPr>
              <a:t>•   </a:t>
            </a:r>
            <a:r>
              <a:rPr sz="1150" b="0" i="0">
                <a:solidFill>
                  <a:srgbClr val="303030"/>
                </a:solidFill>
                <a:latin typeface="Calibri"/>
              </a:rPr>
              <a:t>Unevenly balanced: apple, banana, orange and mango alone make up 61.6% of the dataset, while grape, guava, pomegranate and jujube contribute only 400 each.</a:t>
            </a:r>
          </a:p>
        </p:txBody>
      </p:sp>
      <p:pic>
        <p:nvPicPr>
          <p:cNvPr id="9" name="Picture 8" descr="fig_class_dist.png"/>
          <p:cNvPicPr>
            <a:picLocks noChangeAspect="1"/>
          </p:cNvPicPr>
          <p:nvPr/>
        </p:nvPicPr>
        <p:blipFill>
          <a:blip r:embed="rId2"/>
          <a:stretch>
            <a:fillRect/>
          </a:stretch>
        </p:blipFill>
        <p:spPr>
          <a:xfrm>
            <a:off x="968119" y="3384814"/>
            <a:ext cx="3905760" cy="2006600"/>
          </a:xfrm>
          <a:prstGeom prst="rect">
            <a:avLst/>
          </a:prstGeom>
          <a:ln w="9525">
            <a:solidFill>
              <a:srgbClr val="DDDDDD"/>
            </a:solidFill>
          </a:ln>
        </p:spPr>
      </p:pic>
      <p:sp>
        <p:nvSpPr>
          <p:cNvPr id="10" name="TextBox 9"/>
          <p:cNvSpPr txBox="1"/>
          <p:nvPr/>
        </p:nvSpPr>
        <p:spPr>
          <a:xfrm>
            <a:off x="584200" y="5454914"/>
            <a:ext cx="4673600" cy="181030"/>
          </a:xfrm>
          <a:prstGeom prst="rect">
            <a:avLst/>
          </a:prstGeom>
          <a:noFill/>
        </p:spPr>
        <p:txBody>
          <a:bodyPr wrap="square" lIns="0" rIns="0" tIns="0" bIns="0" anchor="t">
            <a:spAutoFit/>
          </a:bodyPr>
          <a:lstStyle/>
          <a:p>
            <a:pPr algn="ctr">
              <a:lnSpc>
                <a:spcPct val="116000"/>
              </a:lnSpc>
              <a:spcBef>
                <a:spcPts val="0"/>
              </a:spcBef>
              <a:spcAft>
                <a:spcPts val="0"/>
              </a:spcAft>
            </a:pPr>
            <a:r>
              <a:rPr sz="850" b="0" i="1">
                <a:solidFill>
                  <a:srgbClr val="666666"/>
                </a:solidFill>
                <a:latin typeface="Calibri"/>
              </a:rPr>
              <a:t>Figure 4.4: class-wise image distribution.</a:t>
            </a:r>
          </a:p>
        </p:txBody>
      </p:sp>
      <p:sp>
        <p:nvSpPr>
          <p:cNvPr id="11" name="TextBox 10"/>
          <p:cNvSpPr txBox="1"/>
          <p:nvPr/>
        </p:nvSpPr>
        <p:spPr>
          <a:xfrm>
            <a:off x="5588000" y="1270000"/>
            <a:ext cx="39116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PRE-PROCESSING AND SPLIT</a:t>
            </a:r>
          </a:p>
        </p:txBody>
      </p:sp>
      <p:sp>
        <p:nvSpPr>
          <p:cNvPr id="12" name="TextBox 11"/>
          <p:cNvSpPr txBox="1"/>
          <p:nvPr/>
        </p:nvSpPr>
        <p:spPr>
          <a:xfrm>
            <a:off x="5588000" y="1585823"/>
            <a:ext cx="3911600" cy="1365788"/>
          </a:xfrm>
          <a:prstGeom prst="rect">
            <a:avLst/>
          </a:prstGeom>
          <a:noFill/>
        </p:spPr>
        <p:txBody>
          <a:bodyPr wrap="square" lIns="0" rIns="0" tIns="0" bIns="0" anchor="t">
            <a:spAutoFit/>
          </a:bodyPr>
          <a:lstStyle/>
          <a:p>
            <a:pPr algn="l">
              <a:lnSpc>
                <a:spcPct val="124000"/>
              </a:lnSpc>
              <a:spcBef>
                <a:spcPts val="0"/>
              </a:spcBef>
              <a:spcAft>
                <a:spcPts val="700"/>
              </a:spcAft>
            </a:pPr>
            <a:r>
              <a:rPr sz="1150" b="1">
                <a:solidFill>
                  <a:srgbClr val="0070C0"/>
                </a:solidFill>
                <a:latin typeface="Calibri"/>
              </a:rPr>
              <a:t>•   </a:t>
            </a:r>
            <a:r>
              <a:rPr sz="1150" b="0" i="0">
                <a:solidFill>
                  <a:srgbClr val="303030"/>
                </a:solidFill>
                <a:latin typeface="Calibri"/>
              </a:rPr>
              <a:t>Resized to 224 × 224 × 3 and normalised with MobileNetV2's own preprocess_input, matching how the network was originally pretrained.</a:t>
            </a:r>
          </a:p>
          <a:p>
            <a:pPr algn="l">
              <a:lnSpc>
                <a:spcPct val="124000"/>
              </a:lnSpc>
              <a:spcBef>
                <a:spcPts val="0"/>
              </a:spcBef>
              <a:spcAft>
                <a:spcPts val="700"/>
              </a:spcAft>
            </a:pPr>
            <a:r>
              <a:rPr sz="1150" b="1">
                <a:solidFill>
                  <a:srgbClr val="0070C0"/>
                </a:solidFill>
                <a:latin typeface="Calibri"/>
              </a:rPr>
              <a:t>•   </a:t>
            </a:r>
            <a:r>
              <a:rPr sz="1150" b="0" i="0">
                <a:solidFill>
                  <a:srgbClr val="303030"/>
                </a:solidFill>
                <a:latin typeface="Calibri"/>
              </a:rPr>
              <a:t>80 / 20 stratified train / validation split with a fixed seed — 23,432 training and 5,859 validation images.</a:t>
            </a:r>
          </a:p>
        </p:txBody>
      </p:sp>
      <p:sp>
        <p:nvSpPr>
          <p:cNvPr id="13" name="TextBox 12"/>
          <p:cNvSpPr txBox="1"/>
          <p:nvPr/>
        </p:nvSpPr>
        <p:spPr>
          <a:xfrm>
            <a:off x="5588000" y="3154812"/>
            <a:ext cx="39116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TRAINING</a:t>
            </a:r>
          </a:p>
        </p:txBody>
      </p:sp>
      <p:cxnSp>
        <p:nvCxnSpPr>
          <p:cNvPr id="14" name="Connector 13"/>
          <p:cNvCxnSpPr/>
          <p:nvPr/>
        </p:nvCxnSpPr>
        <p:spPr>
          <a:xfrm>
            <a:off x="5588000" y="3470635"/>
            <a:ext cx="3911600" cy="0"/>
          </a:xfrm>
          <a:prstGeom prst="line">
            <a:avLst/>
          </a:prstGeom>
          <a:ln w="13970">
            <a:solidFill>
              <a:srgbClr val="1A1A1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38800" y="3521435"/>
            <a:ext cx="1008448"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1A1A1A"/>
                </a:solidFill>
                <a:latin typeface="Calibri"/>
              </a:rPr>
              <a:t/>
            </a:r>
          </a:p>
        </p:txBody>
      </p:sp>
      <p:sp>
        <p:nvSpPr>
          <p:cNvPr id="16" name="TextBox 15"/>
          <p:cNvSpPr txBox="1"/>
          <p:nvPr/>
        </p:nvSpPr>
        <p:spPr>
          <a:xfrm>
            <a:off x="6748848" y="3521435"/>
            <a:ext cx="1167027"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Identification</a:t>
            </a:r>
          </a:p>
        </p:txBody>
      </p:sp>
      <p:sp>
        <p:nvSpPr>
          <p:cNvPr id="17" name="TextBox 16"/>
          <p:cNvSpPr txBox="1"/>
          <p:nvPr/>
        </p:nvSpPr>
        <p:spPr>
          <a:xfrm>
            <a:off x="8017475" y="3521435"/>
            <a:ext cx="1431324"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Freshness</a:t>
            </a:r>
          </a:p>
        </p:txBody>
      </p:sp>
      <p:cxnSp>
        <p:nvCxnSpPr>
          <p:cNvPr id="18" name="Connector 17"/>
          <p:cNvCxnSpPr/>
          <p:nvPr/>
        </p:nvCxnSpPr>
        <p:spPr>
          <a:xfrm>
            <a:off x="5588000" y="3717650"/>
            <a:ext cx="3911600" cy="0"/>
          </a:xfrm>
          <a:prstGeom prst="line">
            <a:avLst/>
          </a:prstGeom>
          <a:ln w="10160">
            <a:solidFill>
              <a:srgbClr val="1A1A1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638800" y="3768450"/>
            <a:ext cx="100844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Backbone</a:t>
            </a:r>
          </a:p>
        </p:txBody>
      </p:sp>
      <p:sp>
        <p:nvSpPr>
          <p:cNvPr id="20" name="TextBox 19"/>
          <p:cNvSpPr txBox="1"/>
          <p:nvPr/>
        </p:nvSpPr>
        <p:spPr>
          <a:xfrm>
            <a:off x="6748848" y="3768450"/>
            <a:ext cx="1167027"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MobileNetV2</a:t>
            </a:r>
          </a:p>
        </p:txBody>
      </p:sp>
      <p:sp>
        <p:nvSpPr>
          <p:cNvPr id="21" name="TextBox 20"/>
          <p:cNvSpPr txBox="1"/>
          <p:nvPr/>
        </p:nvSpPr>
        <p:spPr>
          <a:xfrm>
            <a:off x="8017475" y="3768450"/>
            <a:ext cx="143132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MobileNetV2</a:t>
            </a:r>
          </a:p>
        </p:txBody>
      </p:sp>
      <p:sp>
        <p:nvSpPr>
          <p:cNvPr id="22" name="TextBox 21"/>
          <p:cNvSpPr txBox="1"/>
          <p:nvPr/>
        </p:nvSpPr>
        <p:spPr>
          <a:xfrm>
            <a:off x="5638800" y="4022450"/>
            <a:ext cx="100844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Batch size</a:t>
            </a:r>
          </a:p>
        </p:txBody>
      </p:sp>
      <p:sp>
        <p:nvSpPr>
          <p:cNvPr id="23" name="TextBox 22"/>
          <p:cNvSpPr txBox="1"/>
          <p:nvPr/>
        </p:nvSpPr>
        <p:spPr>
          <a:xfrm>
            <a:off x="6748848" y="4022450"/>
            <a:ext cx="1167027"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32</a:t>
            </a:r>
          </a:p>
        </p:txBody>
      </p:sp>
      <p:sp>
        <p:nvSpPr>
          <p:cNvPr id="24" name="TextBox 23"/>
          <p:cNvSpPr txBox="1"/>
          <p:nvPr/>
        </p:nvSpPr>
        <p:spPr>
          <a:xfrm>
            <a:off x="8017475" y="4022450"/>
            <a:ext cx="143132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32</a:t>
            </a:r>
          </a:p>
        </p:txBody>
      </p:sp>
      <p:sp>
        <p:nvSpPr>
          <p:cNvPr id="25" name="TextBox 24"/>
          <p:cNvSpPr txBox="1"/>
          <p:nvPr/>
        </p:nvSpPr>
        <p:spPr>
          <a:xfrm>
            <a:off x="5638800" y="4276450"/>
            <a:ext cx="100844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Optimiser</a:t>
            </a:r>
          </a:p>
        </p:txBody>
      </p:sp>
      <p:sp>
        <p:nvSpPr>
          <p:cNvPr id="26" name="TextBox 25"/>
          <p:cNvSpPr txBox="1"/>
          <p:nvPr/>
        </p:nvSpPr>
        <p:spPr>
          <a:xfrm>
            <a:off x="6748848" y="4276450"/>
            <a:ext cx="1167027"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Adam</a:t>
            </a:r>
          </a:p>
        </p:txBody>
      </p:sp>
      <p:sp>
        <p:nvSpPr>
          <p:cNvPr id="27" name="TextBox 26"/>
          <p:cNvSpPr txBox="1"/>
          <p:nvPr/>
        </p:nvSpPr>
        <p:spPr>
          <a:xfrm>
            <a:off x="8017475" y="4276450"/>
            <a:ext cx="143132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Adam</a:t>
            </a:r>
          </a:p>
        </p:txBody>
      </p:sp>
      <p:sp>
        <p:nvSpPr>
          <p:cNvPr id="28" name="TextBox 27"/>
          <p:cNvSpPr txBox="1"/>
          <p:nvPr/>
        </p:nvSpPr>
        <p:spPr>
          <a:xfrm>
            <a:off x="5638800" y="4530450"/>
            <a:ext cx="100844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Stage 1</a:t>
            </a:r>
          </a:p>
        </p:txBody>
      </p:sp>
      <p:sp>
        <p:nvSpPr>
          <p:cNvPr id="29" name="TextBox 28"/>
          <p:cNvSpPr txBox="1"/>
          <p:nvPr/>
        </p:nvSpPr>
        <p:spPr>
          <a:xfrm>
            <a:off x="6748848" y="4530450"/>
            <a:ext cx="1167027"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5 epochs, frozen</a:t>
            </a:r>
          </a:p>
        </p:txBody>
      </p:sp>
      <p:sp>
        <p:nvSpPr>
          <p:cNvPr id="30" name="TextBox 29"/>
          <p:cNvSpPr txBox="1"/>
          <p:nvPr/>
        </p:nvSpPr>
        <p:spPr>
          <a:xfrm>
            <a:off x="8017475" y="4530450"/>
            <a:ext cx="143132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5 epochs, frozen</a:t>
            </a:r>
          </a:p>
        </p:txBody>
      </p:sp>
      <p:sp>
        <p:nvSpPr>
          <p:cNvPr id="31" name="TextBox 30"/>
          <p:cNvSpPr txBox="1"/>
          <p:nvPr/>
        </p:nvSpPr>
        <p:spPr>
          <a:xfrm>
            <a:off x="5638800" y="4784450"/>
            <a:ext cx="100844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Stage 2</a:t>
            </a:r>
          </a:p>
        </p:txBody>
      </p:sp>
      <p:sp>
        <p:nvSpPr>
          <p:cNvPr id="32" name="TextBox 31"/>
          <p:cNvSpPr txBox="1"/>
          <p:nvPr/>
        </p:nvSpPr>
        <p:spPr>
          <a:xfrm>
            <a:off x="6748848" y="4784450"/>
            <a:ext cx="1167027"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a:t>
            </a:r>
          </a:p>
        </p:txBody>
      </p:sp>
      <p:sp>
        <p:nvSpPr>
          <p:cNvPr id="33" name="TextBox 32"/>
          <p:cNvSpPr txBox="1"/>
          <p:nvPr/>
        </p:nvSpPr>
        <p:spPr>
          <a:xfrm>
            <a:off x="8017475" y="4784450"/>
            <a:ext cx="1431324" cy="341376"/>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5 epochs, last 30 layers, lr 1e-5</a:t>
            </a:r>
          </a:p>
        </p:txBody>
      </p:sp>
      <p:cxnSp>
        <p:nvCxnSpPr>
          <p:cNvPr id="34" name="Connector 33"/>
          <p:cNvCxnSpPr/>
          <p:nvPr/>
        </p:nvCxnSpPr>
        <p:spPr>
          <a:xfrm>
            <a:off x="5588000" y="5127350"/>
            <a:ext cx="3911600" cy="0"/>
          </a:xfrm>
          <a:prstGeom prst="line">
            <a:avLst/>
          </a:prstGeom>
          <a:ln w="13970">
            <a:solidFill>
              <a:srgbClr val="1A1A1A"/>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588000" y="5305150"/>
            <a:ext cx="3911600" cy="998423"/>
          </a:xfrm>
          <a:prstGeom prst="rect">
            <a:avLst/>
          </a:prstGeom>
          <a:solidFill>
            <a:srgbClr val="F2F5F9"/>
          </a:solidFill>
          <a:ln w="1143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65800" y="5457550"/>
            <a:ext cx="3556000" cy="617423"/>
          </a:xfrm>
          <a:prstGeom prst="rect">
            <a:avLst/>
          </a:prstGeom>
          <a:noFill/>
        </p:spPr>
        <p:txBody>
          <a:bodyPr wrap="square" lIns="0" rIns="0" tIns="0" bIns="0" anchor="t">
            <a:spAutoFit/>
          </a:bodyPr>
          <a:lstStyle/>
          <a:p>
            <a:pPr algn="l">
              <a:lnSpc>
                <a:spcPct val="130000"/>
              </a:lnSpc>
              <a:spcBef>
                <a:spcPts val="0"/>
              </a:spcBef>
              <a:spcAft>
                <a:spcPts val="0"/>
              </a:spcAft>
            </a:pPr>
            <a:r>
              <a:rPr sz="1100" b="1" i="0">
                <a:solidFill>
                  <a:srgbClr val="1A1A1A"/>
                </a:solidFill>
                <a:latin typeface="Calibri"/>
              </a:rPr>
              <a:t>Trained on CPU only.  </a:t>
            </a:r>
            <a:r>
              <a:rPr sz="1100" b="0" i="0">
                <a:solidFill>
                  <a:srgbClr val="303030"/>
                </a:solidFill>
                <a:latin typeface="Calibri"/>
              </a:rPr>
              <a:t>No CUDA-capable GPU was detected, so TensorFlow fell back to its oneDNN CPU ops — roughly 7–9 minutes per epoch.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367792"/>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RESULTS — PRODUCE IDENTIFICATION</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9</a:t>
            </a:r>
          </a:p>
        </p:txBody>
      </p:sp>
      <p:sp>
        <p:nvSpPr>
          <p:cNvPr id="7" name="Rectangle 6"/>
          <p:cNvSpPr/>
          <p:nvPr/>
        </p:nvSpPr>
        <p:spPr>
          <a:xfrm>
            <a:off x="584200" y="1270000"/>
            <a:ext cx="4826000" cy="1053510"/>
          </a:xfrm>
          <a:prstGeom prst="rect">
            <a:avLst/>
          </a:prstGeom>
          <a:solidFill>
            <a:srgbClr val="F2F5F9"/>
          </a:solidFill>
          <a:ln w="1143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1422400"/>
            <a:ext cx="4318000" cy="748710"/>
          </a:xfrm>
          <a:prstGeom prst="rect">
            <a:avLst/>
          </a:prstGeom>
          <a:noFill/>
        </p:spPr>
        <p:txBody>
          <a:bodyPr wrap="square" lIns="0" rIns="0" tIns="0" bIns="0" anchor="t">
            <a:spAutoFit/>
          </a:bodyPr>
          <a:lstStyle/>
          <a:p>
            <a:pPr algn="l">
              <a:lnSpc>
                <a:spcPct val="124000"/>
              </a:lnSpc>
              <a:spcBef>
                <a:spcPts val="0"/>
              </a:spcBef>
              <a:spcAft>
                <a:spcPts val="400"/>
              </a:spcAft>
            </a:pPr>
            <a:r>
              <a:rPr sz="2100" b="1" i="0">
                <a:solidFill>
                  <a:srgbClr val="0070C0"/>
                </a:solidFill>
                <a:latin typeface="Calibri"/>
              </a:rPr>
              <a:t>97.83%</a:t>
            </a:r>
            <a:r>
              <a:rPr sz="2100" b="0" i="0">
                <a:solidFill>
                  <a:srgbClr val="1A1A1A"/>
                </a:solidFill>
                <a:latin typeface="Calibri"/>
              </a:rPr>
              <a:t>   validation accuracy</a:t>
            </a:r>
          </a:p>
          <a:p>
            <a:pPr algn="l">
              <a:lnSpc>
                <a:spcPct val="120000"/>
              </a:lnSpc>
              <a:spcBef>
                <a:spcPts val="0"/>
              </a:spcBef>
              <a:spcAft>
                <a:spcPts val="0"/>
              </a:spcAft>
            </a:pPr>
            <a:r>
              <a:rPr sz="950" b="0" i="0">
                <a:solidFill>
                  <a:srgbClr val="666666"/>
                </a:solidFill>
                <a:latin typeface="Calibri"/>
              </a:rPr>
              <a:t>14 produce types  ·  5 epochs  ·  frozen backbone  ·  165,774 trainable parameters</a:t>
            </a:r>
          </a:p>
        </p:txBody>
      </p:sp>
      <p:pic>
        <p:nvPicPr>
          <p:cNvPr id="9" name="Picture 8" descr="fig_curves_id.png"/>
          <p:cNvPicPr>
            <a:picLocks noChangeAspect="1"/>
          </p:cNvPicPr>
          <p:nvPr/>
        </p:nvPicPr>
        <p:blipFill>
          <a:blip r:embed="rId2"/>
          <a:stretch>
            <a:fillRect/>
          </a:stretch>
        </p:blipFill>
        <p:spPr>
          <a:xfrm>
            <a:off x="584199" y="2286000"/>
            <a:ext cx="4826000" cy="1695534"/>
          </a:xfrm>
          <a:prstGeom prst="rect">
            <a:avLst/>
          </a:prstGeom>
          <a:ln w="9525">
            <a:solidFill>
              <a:srgbClr val="DDDDDD"/>
            </a:solidFill>
          </a:ln>
        </p:spPr>
      </p:pic>
      <p:sp>
        <p:nvSpPr>
          <p:cNvPr id="10" name="TextBox 9"/>
          <p:cNvSpPr txBox="1"/>
          <p:nvPr/>
        </p:nvSpPr>
        <p:spPr>
          <a:xfrm>
            <a:off x="584200" y="4045034"/>
            <a:ext cx="4826000" cy="181030"/>
          </a:xfrm>
          <a:prstGeom prst="rect">
            <a:avLst/>
          </a:prstGeom>
          <a:noFill/>
        </p:spPr>
        <p:txBody>
          <a:bodyPr wrap="square" lIns="0" rIns="0" tIns="0" bIns="0" anchor="t">
            <a:spAutoFit/>
          </a:bodyPr>
          <a:lstStyle/>
          <a:p>
            <a:pPr algn="ctr">
              <a:lnSpc>
                <a:spcPct val="116000"/>
              </a:lnSpc>
              <a:spcBef>
                <a:spcPts val="0"/>
              </a:spcBef>
              <a:spcAft>
                <a:spcPts val="0"/>
              </a:spcAft>
            </a:pPr>
            <a:r>
              <a:rPr sz="850" b="0" i="1">
                <a:solidFill>
                  <a:srgbClr val="666666"/>
                </a:solidFill>
                <a:latin typeface="Calibri"/>
              </a:rPr>
              <a:t>Figure 5.1: training and validation curves, identification model.</a:t>
            </a:r>
          </a:p>
        </p:txBody>
      </p:sp>
      <p:sp>
        <p:nvSpPr>
          <p:cNvPr id="11" name="TextBox 10"/>
          <p:cNvSpPr txBox="1"/>
          <p:nvPr/>
        </p:nvSpPr>
        <p:spPr>
          <a:xfrm>
            <a:off x="584200" y="4429265"/>
            <a:ext cx="4826000" cy="1203858"/>
          </a:xfrm>
          <a:prstGeom prst="rect">
            <a:avLst/>
          </a:prstGeom>
          <a:noFill/>
        </p:spPr>
        <p:txBody>
          <a:bodyPr wrap="square" lIns="0" rIns="0" tIns="0" bIns="0" anchor="t">
            <a:spAutoFit/>
          </a:bodyPr>
          <a:lstStyle/>
          <a:p>
            <a:pPr algn="l">
              <a:lnSpc>
                <a:spcPct val="124000"/>
              </a:lnSpc>
              <a:spcBef>
                <a:spcPts val="0"/>
              </a:spcBef>
              <a:spcAft>
                <a:spcPts val="800"/>
              </a:spcAft>
            </a:pPr>
            <a:r>
              <a:rPr sz="1150" b="1">
                <a:solidFill>
                  <a:srgbClr val="0070C0"/>
                </a:solidFill>
                <a:latin typeface="Calibri"/>
              </a:rPr>
              <a:t>•   </a:t>
            </a:r>
            <a:r>
              <a:rPr sz="1150" b="0" i="0">
                <a:solidFill>
                  <a:srgbClr val="303030"/>
                </a:solidFill>
                <a:latin typeface="Calibri"/>
              </a:rPr>
              <a:t>Validation loss is essentially flat by epoch 4–5 (0.0629 → 0.0718) — a mild sign that a frozen-backbone model of this size is close to its ceiling on this task.</a:t>
            </a:r>
          </a:p>
          <a:p>
            <a:pPr algn="l">
              <a:lnSpc>
                <a:spcPct val="124000"/>
              </a:lnSpc>
              <a:spcBef>
                <a:spcPts val="0"/>
              </a:spcBef>
              <a:spcAft>
                <a:spcPts val="800"/>
              </a:spcAft>
            </a:pPr>
            <a:r>
              <a:rPr sz="1150" b="1">
                <a:solidFill>
                  <a:srgbClr val="0070C0"/>
                </a:solidFill>
                <a:latin typeface="Calibri"/>
              </a:rPr>
              <a:t>•   </a:t>
            </a:r>
            <a:r>
              <a:rPr sz="1150" b="0" i="0">
                <a:solidFill>
                  <a:srgbClr val="303030"/>
                </a:solidFill>
                <a:latin typeface="Calibri"/>
              </a:rPr>
              <a:t>Macro-average F1 0.97 and weighted-average F1 0.98 across 5,854 validation images.</a:t>
            </a:r>
          </a:p>
        </p:txBody>
      </p:sp>
      <p:sp>
        <p:nvSpPr>
          <p:cNvPr id="12" name="TextBox 11"/>
          <p:cNvSpPr txBox="1"/>
          <p:nvPr/>
        </p:nvSpPr>
        <p:spPr>
          <a:xfrm>
            <a:off x="5715000" y="1270000"/>
            <a:ext cx="37846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PER-CLASS HIGHLIGHTS</a:t>
            </a:r>
          </a:p>
        </p:txBody>
      </p:sp>
      <p:cxnSp>
        <p:nvCxnSpPr>
          <p:cNvPr id="13" name="Connector 12"/>
          <p:cNvCxnSpPr/>
          <p:nvPr/>
        </p:nvCxnSpPr>
        <p:spPr>
          <a:xfrm>
            <a:off x="5715000" y="1585823"/>
            <a:ext cx="3784600" cy="0"/>
          </a:xfrm>
          <a:prstGeom prst="line">
            <a:avLst/>
          </a:prstGeom>
          <a:ln w="13970">
            <a:solidFill>
              <a:srgbClr val="1A1A1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765800" y="1636623"/>
            <a:ext cx="1132508"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1A1A1A"/>
                </a:solidFill>
                <a:latin typeface="Calibri"/>
              </a:rPr>
              <a:t>Class</a:t>
            </a:r>
          </a:p>
        </p:txBody>
      </p:sp>
      <p:sp>
        <p:nvSpPr>
          <p:cNvPr id="15" name="TextBox 14"/>
          <p:cNvSpPr txBox="1"/>
          <p:nvPr/>
        </p:nvSpPr>
        <p:spPr>
          <a:xfrm>
            <a:off x="6999908" y="1636623"/>
            <a:ext cx="515454"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Prec.</a:t>
            </a:r>
          </a:p>
        </p:txBody>
      </p:sp>
      <p:sp>
        <p:nvSpPr>
          <p:cNvPr id="16" name="TextBox 15"/>
          <p:cNvSpPr txBox="1"/>
          <p:nvPr/>
        </p:nvSpPr>
        <p:spPr>
          <a:xfrm>
            <a:off x="7616963" y="1636623"/>
            <a:ext cx="515454"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Rec.</a:t>
            </a:r>
          </a:p>
        </p:txBody>
      </p:sp>
      <p:sp>
        <p:nvSpPr>
          <p:cNvPr id="17" name="TextBox 16"/>
          <p:cNvSpPr txBox="1"/>
          <p:nvPr/>
        </p:nvSpPr>
        <p:spPr>
          <a:xfrm>
            <a:off x="8234017" y="1636623"/>
            <a:ext cx="515454"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F1</a:t>
            </a:r>
          </a:p>
        </p:txBody>
      </p:sp>
      <p:sp>
        <p:nvSpPr>
          <p:cNvPr id="18" name="TextBox 17"/>
          <p:cNvSpPr txBox="1"/>
          <p:nvPr/>
        </p:nvSpPr>
        <p:spPr>
          <a:xfrm>
            <a:off x="8851071" y="1636623"/>
            <a:ext cx="597728"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n</a:t>
            </a:r>
          </a:p>
        </p:txBody>
      </p:sp>
      <p:cxnSp>
        <p:nvCxnSpPr>
          <p:cNvPr id="19" name="Connector 18"/>
          <p:cNvCxnSpPr/>
          <p:nvPr/>
        </p:nvCxnSpPr>
        <p:spPr>
          <a:xfrm>
            <a:off x="5715000" y="1832838"/>
            <a:ext cx="3784600" cy="0"/>
          </a:xfrm>
          <a:prstGeom prst="line">
            <a:avLst/>
          </a:prstGeom>
          <a:ln w="10160">
            <a:solidFill>
              <a:srgbClr val="1A1A1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765800" y="1883638"/>
            <a:ext cx="113250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Strawberry</a:t>
            </a:r>
          </a:p>
        </p:txBody>
      </p:sp>
      <p:sp>
        <p:nvSpPr>
          <p:cNvPr id="21" name="TextBox 20"/>
          <p:cNvSpPr txBox="1"/>
          <p:nvPr/>
        </p:nvSpPr>
        <p:spPr>
          <a:xfrm>
            <a:off x="6999908" y="1883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1.00</a:t>
            </a:r>
          </a:p>
        </p:txBody>
      </p:sp>
      <p:sp>
        <p:nvSpPr>
          <p:cNvPr id="22" name="TextBox 21"/>
          <p:cNvSpPr txBox="1"/>
          <p:nvPr/>
        </p:nvSpPr>
        <p:spPr>
          <a:xfrm>
            <a:off x="7616963" y="1883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1.00</a:t>
            </a:r>
          </a:p>
        </p:txBody>
      </p:sp>
      <p:sp>
        <p:nvSpPr>
          <p:cNvPr id="23" name="TextBox 22"/>
          <p:cNvSpPr txBox="1"/>
          <p:nvPr/>
        </p:nvSpPr>
        <p:spPr>
          <a:xfrm>
            <a:off x="8234017" y="1883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1.00</a:t>
            </a:r>
          </a:p>
        </p:txBody>
      </p:sp>
      <p:sp>
        <p:nvSpPr>
          <p:cNvPr id="24" name="TextBox 23"/>
          <p:cNvSpPr txBox="1"/>
          <p:nvPr/>
        </p:nvSpPr>
        <p:spPr>
          <a:xfrm>
            <a:off x="8851071" y="1883638"/>
            <a:ext cx="597728"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640</a:t>
            </a:r>
          </a:p>
        </p:txBody>
      </p:sp>
      <p:sp>
        <p:nvSpPr>
          <p:cNvPr id="25" name="TextBox 24"/>
          <p:cNvSpPr txBox="1"/>
          <p:nvPr/>
        </p:nvSpPr>
        <p:spPr>
          <a:xfrm>
            <a:off x="5765800" y="2137638"/>
            <a:ext cx="113250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Banana</a:t>
            </a:r>
          </a:p>
        </p:txBody>
      </p:sp>
      <p:sp>
        <p:nvSpPr>
          <p:cNvPr id="26" name="TextBox 25"/>
          <p:cNvSpPr txBox="1"/>
          <p:nvPr/>
        </p:nvSpPr>
        <p:spPr>
          <a:xfrm>
            <a:off x="6999908" y="2137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1.00</a:t>
            </a:r>
          </a:p>
        </p:txBody>
      </p:sp>
      <p:sp>
        <p:nvSpPr>
          <p:cNvPr id="27" name="TextBox 26"/>
          <p:cNvSpPr txBox="1"/>
          <p:nvPr/>
        </p:nvSpPr>
        <p:spPr>
          <a:xfrm>
            <a:off x="7616963" y="2137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0.99</a:t>
            </a:r>
          </a:p>
        </p:txBody>
      </p:sp>
      <p:sp>
        <p:nvSpPr>
          <p:cNvPr id="28" name="TextBox 27"/>
          <p:cNvSpPr txBox="1"/>
          <p:nvPr/>
        </p:nvSpPr>
        <p:spPr>
          <a:xfrm>
            <a:off x="8234017" y="2137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0.99</a:t>
            </a:r>
          </a:p>
        </p:txBody>
      </p:sp>
      <p:sp>
        <p:nvSpPr>
          <p:cNvPr id="29" name="TextBox 28"/>
          <p:cNvSpPr txBox="1"/>
          <p:nvPr/>
        </p:nvSpPr>
        <p:spPr>
          <a:xfrm>
            <a:off x="8851071" y="2137638"/>
            <a:ext cx="597728"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958</a:t>
            </a:r>
          </a:p>
        </p:txBody>
      </p:sp>
      <p:sp>
        <p:nvSpPr>
          <p:cNvPr id="30" name="TextBox 29"/>
          <p:cNvSpPr txBox="1"/>
          <p:nvPr/>
        </p:nvSpPr>
        <p:spPr>
          <a:xfrm>
            <a:off x="5765800" y="2391638"/>
            <a:ext cx="113250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Grape</a:t>
            </a:r>
          </a:p>
        </p:txBody>
      </p:sp>
      <p:sp>
        <p:nvSpPr>
          <p:cNvPr id="31" name="TextBox 30"/>
          <p:cNvSpPr txBox="1"/>
          <p:nvPr/>
        </p:nvSpPr>
        <p:spPr>
          <a:xfrm>
            <a:off x="6999908" y="2391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1.00</a:t>
            </a:r>
          </a:p>
        </p:txBody>
      </p:sp>
      <p:sp>
        <p:nvSpPr>
          <p:cNvPr id="32" name="TextBox 31"/>
          <p:cNvSpPr txBox="1"/>
          <p:nvPr/>
        </p:nvSpPr>
        <p:spPr>
          <a:xfrm>
            <a:off x="7616963" y="2391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0.99</a:t>
            </a:r>
          </a:p>
        </p:txBody>
      </p:sp>
      <p:sp>
        <p:nvSpPr>
          <p:cNvPr id="33" name="TextBox 32"/>
          <p:cNvSpPr txBox="1"/>
          <p:nvPr/>
        </p:nvSpPr>
        <p:spPr>
          <a:xfrm>
            <a:off x="8234017" y="2391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0.99</a:t>
            </a:r>
          </a:p>
        </p:txBody>
      </p:sp>
      <p:sp>
        <p:nvSpPr>
          <p:cNvPr id="34" name="TextBox 33"/>
          <p:cNvSpPr txBox="1"/>
          <p:nvPr/>
        </p:nvSpPr>
        <p:spPr>
          <a:xfrm>
            <a:off x="8851071" y="2391638"/>
            <a:ext cx="597728"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80</a:t>
            </a:r>
          </a:p>
        </p:txBody>
      </p:sp>
      <p:sp>
        <p:nvSpPr>
          <p:cNvPr id="35" name="TextBox 34"/>
          <p:cNvSpPr txBox="1"/>
          <p:nvPr/>
        </p:nvSpPr>
        <p:spPr>
          <a:xfrm>
            <a:off x="5765800" y="2645638"/>
            <a:ext cx="113250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Apple</a:t>
            </a:r>
          </a:p>
        </p:txBody>
      </p:sp>
      <p:sp>
        <p:nvSpPr>
          <p:cNvPr id="36" name="TextBox 35"/>
          <p:cNvSpPr txBox="1"/>
          <p:nvPr/>
        </p:nvSpPr>
        <p:spPr>
          <a:xfrm>
            <a:off x="6999908" y="2645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0.99</a:t>
            </a:r>
          </a:p>
        </p:txBody>
      </p:sp>
      <p:sp>
        <p:nvSpPr>
          <p:cNvPr id="37" name="TextBox 36"/>
          <p:cNvSpPr txBox="1"/>
          <p:nvPr/>
        </p:nvSpPr>
        <p:spPr>
          <a:xfrm>
            <a:off x="7616963" y="2645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0.97</a:t>
            </a:r>
          </a:p>
        </p:txBody>
      </p:sp>
      <p:sp>
        <p:nvSpPr>
          <p:cNvPr id="38" name="TextBox 37"/>
          <p:cNvSpPr txBox="1"/>
          <p:nvPr/>
        </p:nvSpPr>
        <p:spPr>
          <a:xfrm>
            <a:off x="8234017" y="2645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0.98</a:t>
            </a:r>
          </a:p>
        </p:txBody>
      </p:sp>
      <p:sp>
        <p:nvSpPr>
          <p:cNvPr id="39" name="TextBox 38"/>
          <p:cNvSpPr txBox="1"/>
          <p:nvPr/>
        </p:nvSpPr>
        <p:spPr>
          <a:xfrm>
            <a:off x="8851071" y="2645638"/>
            <a:ext cx="597728"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1,071</a:t>
            </a:r>
          </a:p>
        </p:txBody>
      </p:sp>
      <p:sp>
        <p:nvSpPr>
          <p:cNvPr id="40" name="TextBox 39"/>
          <p:cNvSpPr txBox="1"/>
          <p:nvPr/>
        </p:nvSpPr>
        <p:spPr>
          <a:xfrm>
            <a:off x="5765800" y="2899638"/>
            <a:ext cx="113250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Orange</a:t>
            </a:r>
          </a:p>
        </p:txBody>
      </p:sp>
      <p:sp>
        <p:nvSpPr>
          <p:cNvPr id="41" name="TextBox 40"/>
          <p:cNvSpPr txBox="1"/>
          <p:nvPr/>
        </p:nvSpPr>
        <p:spPr>
          <a:xfrm>
            <a:off x="6999908" y="2899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0.99</a:t>
            </a:r>
          </a:p>
        </p:txBody>
      </p:sp>
      <p:sp>
        <p:nvSpPr>
          <p:cNvPr id="42" name="TextBox 41"/>
          <p:cNvSpPr txBox="1"/>
          <p:nvPr/>
        </p:nvSpPr>
        <p:spPr>
          <a:xfrm>
            <a:off x="7616963" y="2899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0.98</a:t>
            </a:r>
          </a:p>
        </p:txBody>
      </p:sp>
      <p:sp>
        <p:nvSpPr>
          <p:cNvPr id="43" name="TextBox 42"/>
          <p:cNvSpPr txBox="1"/>
          <p:nvPr/>
        </p:nvSpPr>
        <p:spPr>
          <a:xfrm>
            <a:off x="8234017" y="2899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0.98</a:t>
            </a:r>
          </a:p>
        </p:txBody>
      </p:sp>
      <p:sp>
        <p:nvSpPr>
          <p:cNvPr id="44" name="TextBox 43"/>
          <p:cNvSpPr txBox="1"/>
          <p:nvPr/>
        </p:nvSpPr>
        <p:spPr>
          <a:xfrm>
            <a:off x="8851071" y="2899638"/>
            <a:ext cx="597728"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852</a:t>
            </a:r>
          </a:p>
        </p:txBody>
      </p:sp>
      <p:sp>
        <p:nvSpPr>
          <p:cNvPr id="45" name="TextBox 44"/>
          <p:cNvSpPr txBox="1"/>
          <p:nvPr/>
        </p:nvSpPr>
        <p:spPr>
          <a:xfrm>
            <a:off x="5765800" y="3153638"/>
            <a:ext cx="113250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Pomegranate</a:t>
            </a:r>
          </a:p>
        </p:txBody>
      </p:sp>
      <p:sp>
        <p:nvSpPr>
          <p:cNvPr id="46" name="TextBox 45"/>
          <p:cNvSpPr txBox="1"/>
          <p:nvPr/>
        </p:nvSpPr>
        <p:spPr>
          <a:xfrm>
            <a:off x="6999908" y="3153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0.89</a:t>
            </a:r>
          </a:p>
        </p:txBody>
      </p:sp>
      <p:sp>
        <p:nvSpPr>
          <p:cNvPr id="47" name="TextBox 46"/>
          <p:cNvSpPr txBox="1"/>
          <p:nvPr/>
        </p:nvSpPr>
        <p:spPr>
          <a:xfrm>
            <a:off x="7616963" y="3153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0.99</a:t>
            </a:r>
          </a:p>
        </p:txBody>
      </p:sp>
      <p:sp>
        <p:nvSpPr>
          <p:cNvPr id="48" name="TextBox 47"/>
          <p:cNvSpPr txBox="1"/>
          <p:nvPr/>
        </p:nvSpPr>
        <p:spPr>
          <a:xfrm>
            <a:off x="8234017" y="3153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0.93</a:t>
            </a:r>
          </a:p>
        </p:txBody>
      </p:sp>
      <p:sp>
        <p:nvSpPr>
          <p:cNvPr id="49" name="TextBox 48"/>
          <p:cNvSpPr txBox="1"/>
          <p:nvPr/>
        </p:nvSpPr>
        <p:spPr>
          <a:xfrm>
            <a:off x="8851071" y="3153638"/>
            <a:ext cx="597728"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80</a:t>
            </a:r>
          </a:p>
        </p:txBody>
      </p:sp>
      <p:sp>
        <p:nvSpPr>
          <p:cNvPr id="50" name="TextBox 49"/>
          <p:cNvSpPr txBox="1"/>
          <p:nvPr/>
        </p:nvSpPr>
        <p:spPr>
          <a:xfrm>
            <a:off x="5765800" y="3407638"/>
            <a:ext cx="113250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Potato</a:t>
            </a:r>
          </a:p>
        </p:txBody>
      </p:sp>
      <p:sp>
        <p:nvSpPr>
          <p:cNvPr id="51" name="TextBox 50"/>
          <p:cNvSpPr txBox="1"/>
          <p:nvPr/>
        </p:nvSpPr>
        <p:spPr>
          <a:xfrm>
            <a:off x="6999908" y="3407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0.97</a:t>
            </a:r>
          </a:p>
        </p:txBody>
      </p:sp>
      <p:sp>
        <p:nvSpPr>
          <p:cNvPr id="52" name="TextBox 51"/>
          <p:cNvSpPr txBox="1"/>
          <p:nvPr/>
        </p:nvSpPr>
        <p:spPr>
          <a:xfrm>
            <a:off x="7616963" y="3407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0.88</a:t>
            </a:r>
          </a:p>
        </p:txBody>
      </p:sp>
      <p:sp>
        <p:nvSpPr>
          <p:cNvPr id="53" name="TextBox 52"/>
          <p:cNvSpPr txBox="1"/>
          <p:nvPr/>
        </p:nvSpPr>
        <p:spPr>
          <a:xfrm>
            <a:off x="8234017" y="3407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0.93</a:t>
            </a:r>
          </a:p>
        </p:txBody>
      </p:sp>
      <p:sp>
        <p:nvSpPr>
          <p:cNvPr id="54" name="TextBox 53"/>
          <p:cNvSpPr txBox="1"/>
          <p:nvPr/>
        </p:nvSpPr>
        <p:spPr>
          <a:xfrm>
            <a:off x="8851071" y="3407638"/>
            <a:ext cx="597728"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240</a:t>
            </a:r>
          </a:p>
        </p:txBody>
      </p:sp>
      <p:sp>
        <p:nvSpPr>
          <p:cNvPr id="55" name="TextBox 54"/>
          <p:cNvSpPr txBox="1"/>
          <p:nvPr/>
        </p:nvSpPr>
        <p:spPr>
          <a:xfrm>
            <a:off x="5765800" y="3661638"/>
            <a:ext cx="113250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1A1A1A"/>
                </a:solidFill>
                <a:latin typeface="Calibri"/>
              </a:rPr>
              <a:t>Weighted avg.</a:t>
            </a:r>
          </a:p>
        </p:txBody>
      </p:sp>
      <p:sp>
        <p:nvSpPr>
          <p:cNvPr id="56" name="TextBox 55"/>
          <p:cNvSpPr txBox="1"/>
          <p:nvPr/>
        </p:nvSpPr>
        <p:spPr>
          <a:xfrm>
            <a:off x="6999908" y="3661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1" i="0">
                <a:solidFill>
                  <a:srgbClr val="1A1A1A"/>
                </a:solidFill>
                <a:latin typeface="Calibri"/>
              </a:rPr>
              <a:t>0.98</a:t>
            </a:r>
          </a:p>
        </p:txBody>
      </p:sp>
      <p:sp>
        <p:nvSpPr>
          <p:cNvPr id="57" name="TextBox 56"/>
          <p:cNvSpPr txBox="1"/>
          <p:nvPr/>
        </p:nvSpPr>
        <p:spPr>
          <a:xfrm>
            <a:off x="7616963" y="3661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1" i="0">
                <a:solidFill>
                  <a:srgbClr val="1A1A1A"/>
                </a:solidFill>
                <a:latin typeface="Calibri"/>
              </a:rPr>
              <a:t>0.98</a:t>
            </a:r>
          </a:p>
        </p:txBody>
      </p:sp>
      <p:sp>
        <p:nvSpPr>
          <p:cNvPr id="58" name="TextBox 57"/>
          <p:cNvSpPr txBox="1"/>
          <p:nvPr/>
        </p:nvSpPr>
        <p:spPr>
          <a:xfrm>
            <a:off x="8234017" y="3661638"/>
            <a:ext cx="515454"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1" i="0">
                <a:solidFill>
                  <a:srgbClr val="1A1A1A"/>
                </a:solidFill>
                <a:latin typeface="Calibri"/>
              </a:rPr>
              <a:t>0.98</a:t>
            </a:r>
          </a:p>
        </p:txBody>
      </p:sp>
      <p:sp>
        <p:nvSpPr>
          <p:cNvPr id="59" name="TextBox 58"/>
          <p:cNvSpPr txBox="1"/>
          <p:nvPr/>
        </p:nvSpPr>
        <p:spPr>
          <a:xfrm>
            <a:off x="8851071" y="3661638"/>
            <a:ext cx="597728"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1" i="0">
                <a:solidFill>
                  <a:srgbClr val="1A1A1A"/>
                </a:solidFill>
                <a:latin typeface="Calibri"/>
              </a:rPr>
              <a:t>5,854</a:t>
            </a:r>
          </a:p>
        </p:txBody>
      </p:sp>
      <p:cxnSp>
        <p:nvCxnSpPr>
          <p:cNvPr id="60" name="Connector 59"/>
          <p:cNvCxnSpPr/>
          <p:nvPr/>
        </p:nvCxnSpPr>
        <p:spPr>
          <a:xfrm>
            <a:off x="5715000" y="3864838"/>
            <a:ext cx="3784600" cy="0"/>
          </a:xfrm>
          <a:prstGeom prst="line">
            <a:avLst/>
          </a:prstGeom>
          <a:ln w="13970">
            <a:solidFill>
              <a:srgbClr val="1A1A1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715000" y="4118838"/>
            <a:ext cx="3784600" cy="1376354"/>
          </a:xfrm>
          <a:prstGeom prst="rect">
            <a:avLst/>
          </a:prstGeom>
          <a:noFill/>
        </p:spPr>
        <p:txBody>
          <a:bodyPr wrap="square" lIns="0" rIns="0" tIns="0" bIns="0" anchor="t">
            <a:spAutoFit/>
          </a:bodyPr>
          <a:lstStyle/>
          <a:p>
            <a:pPr algn="l">
              <a:lnSpc>
                <a:spcPct val="124000"/>
              </a:lnSpc>
              <a:spcBef>
                <a:spcPts val="0"/>
              </a:spcBef>
              <a:spcAft>
                <a:spcPts val="700"/>
              </a:spcAft>
            </a:pPr>
            <a:r>
              <a:rPr sz="1150" b="1" i="0">
                <a:solidFill>
                  <a:srgbClr val="1A1A1A"/>
                </a:solidFill>
                <a:latin typeface="Calibri"/>
              </a:rPr>
              <a:t>The two weakest classes</a:t>
            </a:r>
          </a:p>
          <a:p>
            <a:pPr algn="l">
              <a:lnSpc>
                <a:spcPct val="124000"/>
              </a:lnSpc>
              <a:spcBef>
                <a:spcPts val="0"/>
              </a:spcBef>
              <a:spcAft>
                <a:spcPts val="700"/>
              </a:spcAft>
            </a:pPr>
            <a:r>
              <a:rPr sz="1050" b="1">
                <a:solidFill>
                  <a:srgbClr val="0070C0"/>
                </a:solidFill>
                <a:latin typeface="Calibri"/>
              </a:rPr>
              <a:t>•   </a:t>
            </a:r>
            <a:r>
              <a:rPr sz="1050" b="0" i="0">
                <a:solidFill>
                  <a:srgbClr val="303030"/>
                </a:solidFill>
                <a:latin typeface="Calibri"/>
              </a:rPr>
              <a:t>Pomegranate — lower precision (0.89). It has one of the smallest training sets here, so other classes are occasionally mistaken for it.</a:t>
            </a:r>
          </a:p>
          <a:p>
            <a:pPr algn="l">
              <a:lnSpc>
                <a:spcPct val="124000"/>
              </a:lnSpc>
              <a:spcBef>
                <a:spcPts val="0"/>
              </a:spcBef>
              <a:spcAft>
                <a:spcPts val="700"/>
              </a:spcAft>
            </a:pPr>
            <a:r>
              <a:rPr sz="1050" b="1">
                <a:solidFill>
                  <a:srgbClr val="0070C0"/>
                </a:solidFill>
                <a:latin typeface="Calibri"/>
              </a:rPr>
              <a:t>•   </a:t>
            </a:r>
            <a:r>
              <a:rPr sz="1050" b="0" i="0">
                <a:solidFill>
                  <a:srgbClr val="303030"/>
                </a:solidFill>
                <a:latin typeface="Calibri"/>
              </a:rPr>
              <a:t>Potato — lower recall (0.88). It looks fairly similar to carrot in some of this dataset's images.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367792"/>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RESULTS — FRESHNESS GRADING</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10</a:t>
            </a:r>
          </a:p>
        </p:txBody>
      </p:sp>
      <p:sp>
        <p:nvSpPr>
          <p:cNvPr id="7" name="Rectangle 6"/>
          <p:cNvSpPr/>
          <p:nvPr/>
        </p:nvSpPr>
        <p:spPr>
          <a:xfrm>
            <a:off x="584200" y="1270000"/>
            <a:ext cx="2324100" cy="886561"/>
          </a:xfrm>
          <a:prstGeom prst="rect">
            <a:avLst/>
          </a:prstGeom>
          <a:solidFill>
            <a:srgbClr val="F2F5F9"/>
          </a:solidFill>
          <a:ln w="1143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1422400"/>
            <a:ext cx="1917700" cy="581761"/>
          </a:xfrm>
          <a:prstGeom prst="rect">
            <a:avLst/>
          </a:prstGeom>
          <a:noFill/>
        </p:spPr>
        <p:txBody>
          <a:bodyPr wrap="square" lIns="0" rIns="0" tIns="0" bIns="0" anchor="t">
            <a:spAutoFit/>
          </a:bodyPr>
          <a:lstStyle/>
          <a:p>
            <a:pPr algn="l">
              <a:lnSpc>
                <a:spcPct val="124000"/>
              </a:lnSpc>
              <a:spcBef>
                <a:spcPts val="0"/>
              </a:spcBef>
              <a:spcAft>
                <a:spcPts val="400"/>
              </a:spcAft>
            </a:pPr>
            <a:r>
              <a:rPr sz="2000" b="1" i="0">
                <a:solidFill>
                  <a:srgbClr val="1A1A1A"/>
                </a:solidFill>
                <a:latin typeface="Calibri"/>
              </a:rPr>
              <a:t>77.80%</a:t>
            </a:r>
          </a:p>
          <a:p>
            <a:pPr algn="l">
              <a:lnSpc>
                <a:spcPct val="120000"/>
              </a:lnSpc>
              <a:spcBef>
                <a:spcPts val="0"/>
              </a:spcBef>
              <a:spcAft>
                <a:spcPts val="0"/>
              </a:spcAft>
            </a:pPr>
            <a:r>
              <a:rPr sz="950" b="1" i="0">
                <a:solidFill>
                  <a:srgbClr val="1A1A1A"/>
                </a:solidFill>
                <a:latin typeface="Calibri"/>
              </a:rPr>
              <a:t>Stage 1  </a:t>
            </a:r>
            <a:r>
              <a:rPr sz="950" b="0" i="0">
                <a:solidFill>
                  <a:srgbClr val="666666"/>
                </a:solidFill>
                <a:latin typeface="Calibri"/>
              </a:rPr>
              <a:t>frozen backbone</a:t>
            </a:r>
          </a:p>
        </p:txBody>
      </p:sp>
      <p:sp>
        <p:nvSpPr>
          <p:cNvPr id="9" name="Rectangle 8"/>
          <p:cNvSpPr/>
          <p:nvPr/>
        </p:nvSpPr>
        <p:spPr>
          <a:xfrm>
            <a:off x="3086100" y="1270000"/>
            <a:ext cx="2324100" cy="1037132"/>
          </a:xfrm>
          <a:prstGeom prst="rect">
            <a:avLst/>
          </a:prstGeom>
          <a:solidFill>
            <a:srgbClr val="F2F5F9"/>
          </a:solidFill>
          <a:ln w="2032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89300" y="1422400"/>
            <a:ext cx="1917700" cy="732332"/>
          </a:xfrm>
          <a:prstGeom prst="rect">
            <a:avLst/>
          </a:prstGeom>
          <a:noFill/>
        </p:spPr>
        <p:txBody>
          <a:bodyPr wrap="square" lIns="0" rIns="0" tIns="0" bIns="0" anchor="t">
            <a:spAutoFit/>
          </a:bodyPr>
          <a:lstStyle/>
          <a:p>
            <a:pPr algn="l">
              <a:lnSpc>
                <a:spcPct val="124000"/>
              </a:lnSpc>
              <a:spcBef>
                <a:spcPts val="0"/>
              </a:spcBef>
              <a:spcAft>
                <a:spcPts val="400"/>
              </a:spcAft>
            </a:pPr>
            <a:r>
              <a:rPr sz="2000" b="1" i="0">
                <a:solidFill>
                  <a:srgbClr val="0070C0"/>
                </a:solidFill>
                <a:latin typeface="Calibri"/>
              </a:rPr>
              <a:t>80.41%</a:t>
            </a:r>
          </a:p>
          <a:p>
            <a:pPr algn="l">
              <a:lnSpc>
                <a:spcPct val="120000"/>
              </a:lnSpc>
              <a:spcBef>
                <a:spcPts val="0"/>
              </a:spcBef>
              <a:spcAft>
                <a:spcPts val="0"/>
              </a:spcAft>
            </a:pPr>
            <a:r>
              <a:rPr sz="950" b="1" i="0">
                <a:solidFill>
                  <a:srgbClr val="1A1A1A"/>
                </a:solidFill>
                <a:latin typeface="Calibri"/>
              </a:rPr>
              <a:t>Stage 2  </a:t>
            </a:r>
            <a:r>
              <a:rPr sz="950" b="0" i="0">
                <a:solidFill>
                  <a:srgbClr val="666666"/>
                </a:solidFill>
                <a:latin typeface="Calibri"/>
              </a:rPr>
              <a:t>last 30 layers fine-tuned</a:t>
            </a:r>
          </a:p>
        </p:txBody>
      </p:sp>
      <p:pic>
        <p:nvPicPr>
          <p:cNvPr id="11" name="Picture 10" descr="fig_curves_fresh.png"/>
          <p:cNvPicPr>
            <a:picLocks noChangeAspect="1"/>
          </p:cNvPicPr>
          <p:nvPr/>
        </p:nvPicPr>
        <p:blipFill>
          <a:blip r:embed="rId2"/>
          <a:stretch>
            <a:fillRect/>
          </a:stretch>
        </p:blipFill>
        <p:spPr>
          <a:xfrm>
            <a:off x="584199" y="2286000"/>
            <a:ext cx="4826000" cy="1711415"/>
          </a:xfrm>
          <a:prstGeom prst="rect">
            <a:avLst/>
          </a:prstGeom>
          <a:ln w="9525">
            <a:solidFill>
              <a:srgbClr val="DDDDDD"/>
            </a:solidFill>
          </a:ln>
        </p:spPr>
      </p:pic>
      <p:sp>
        <p:nvSpPr>
          <p:cNvPr id="12" name="TextBox 11"/>
          <p:cNvSpPr txBox="1"/>
          <p:nvPr/>
        </p:nvSpPr>
        <p:spPr>
          <a:xfrm>
            <a:off x="584200" y="4060915"/>
            <a:ext cx="4826000" cy="181030"/>
          </a:xfrm>
          <a:prstGeom prst="rect">
            <a:avLst/>
          </a:prstGeom>
          <a:noFill/>
        </p:spPr>
        <p:txBody>
          <a:bodyPr wrap="square" lIns="0" rIns="0" tIns="0" bIns="0" anchor="t">
            <a:spAutoFit/>
          </a:bodyPr>
          <a:lstStyle/>
          <a:p>
            <a:pPr algn="ctr">
              <a:lnSpc>
                <a:spcPct val="116000"/>
              </a:lnSpc>
              <a:spcBef>
                <a:spcPts val="0"/>
              </a:spcBef>
              <a:spcAft>
                <a:spcPts val="0"/>
              </a:spcAft>
            </a:pPr>
            <a:r>
              <a:rPr sz="850" b="0" i="1">
                <a:solidFill>
                  <a:srgbClr val="666666"/>
                </a:solidFill>
                <a:latin typeface="Calibri"/>
              </a:rPr>
              <a:t>Figure 5.2: training and validation curves, both stages.</a:t>
            </a:r>
          </a:p>
        </p:txBody>
      </p:sp>
      <p:sp>
        <p:nvSpPr>
          <p:cNvPr id="13" name="TextBox 12"/>
          <p:cNvSpPr txBox="1"/>
          <p:nvPr/>
        </p:nvSpPr>
        <p:spPr>
          <a:xfrm>
            <a:off x="584200" y="4445146"/>
            <a:ext cx="4826000" cy="1203858"/>
          </a:xfrm>
          <a:prstGeom prst="rect">
            <a:avLst/>
          </a:prstGeom>
          <a:noFill/>
        </p:spPr>
        <p:txBody>
          <a:bodyPr wrap="square" lIns="0" rIns="0" tIns="0" bIns="0" anchor="t">
            <a:spAutoFit/>
          </a:bodyPr>
          <a:lstStyle/>
          <a:p>
            <a:pPr algn="l">
              <a:lnSpc>
                <a:spcPct val="124000"/>
              </a:lnSpc>
              <a:spcBef>
                <a:spcPts val="0"/>
              </a:spcBef>
              <a:spcAft>
                <a:spcPts val="800"/>
              </a:spcAft>
            </a:pPr>
            <a:r>
              <a:rPr sz="1150" b="1">
                <a:solidFill>
                  <a:srgbClr val="0070C0"/>
                </a:solidFill>
                <a:latin typeface="Calibri"/>
              </a:rPr>
              <a:t>•   </a:t>
            </a:r>
            <a:r>
              <a:rPr sz="1150" b="0" i="0">
                <a:solidFill>
                  <a:srgbClr val="303030"/>
                </a:solidFill>
                <a:latin typeface="Calibri"/>
              </a:rPr>
              <a:t>Fine-tuning the last 30 layers adds a consistent </a:t>
            </a:r>
            <a:r>
              <a:rPr sz="1150" b="1" i="0">
                <a:solidFill>
                  <a:srgbClr val="1A1A1A"/>
                </a:solidFill>
                <a:latin typeface="Calibri"/>
              </a:rPr>
              <a:t>+2.61 points</a:t>
            </a:r>
            <a:r>
              <a:rPr sz="1150" b="0" i="0">
                <a:solidFill>
                  <a:srgbClr val="303030"/>
                </a:solidFill>
                <a:latin typeface="Calibri"/>
              </a:rPr>
              <a:t>.</a:t>
            </a:r>
          </a:p>
          <a:p>
            <a:pPr algn="l">
              <a:lnSpc>
                <a:spcPct val="124000"/>
              </a:lnSpc>
              <a:spcBef>
                <a:spcPts val="0"/>
              </a:spcBef>
              <a:spcAft>
                <a:spcPts val="800"/>
              </a:spcAft>
            </a:pPr>
            <a:r>
              <a:rPr sz="1150" b="1">
                <a:solidFill>
                  <a:srgbClr val="0070C0"/>
                </a:solidFill>
                <a:latin typeface="Calibri"/>
              </a:rPr>
              <a:t>•   </a:t>
            </a:r>
            <a:r>
              <a:rPr sz="1150" b="0" i="0">
                <a:solidFill>
                  <a:srgbClr val="303030"/>
                </a:solidFill>
                <a:latin typeface="Calibri"/>
              </a:rPr>
              <a:t>Note the dip at epoch 6: training accuracy falls from 0.7892 to 0.6950 the moment those layers unfreeze, then climbs past the Stage 1 level by epoch 8. The very small learning rate lets the network settle rather than overwrite what it knew.</a:t>
            </a:r>
          </a:p>
        </p:txBody>
      </p:sp>
      <p:sp>
        <p:nvSpPr>
          <p:cNvPr id="14" name="TextBox 13"/>
          <p:cNvSpPr txBox="1"/>
          <p:nvPr/>
        </p:nvSpPr>
        <p:spPr>
          <a:xfrm>
            <a:off x="5715000" y="1270000"/>
            <a:ext cx="37846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PER-CLASS RESULTS   (n = 5,855)</a:t>
            </a:r>
          </a:p>
        </p:txBody>
      </p:sp>
      <p:cxnSp>
        <p:nvCxnSpPr>
          <p:cNvPr id="15" name="Connector 14"/>
          <p:cNvCxnSpPr/>
          <p:nvPr/>
        </p:nvCxnSpPr>
        <p:spPr>
          <a:xfrm>
            <a:off x="5715000" y="1585823"/>
            <a:ext cx="3784600" cy="0"/>
          </a:xfrm>
          <a:prstGeom prst="line">
            <a:avLst/>
          </a:prstGeom>
          <a:ln w="13970">
            <a:solidFill>
              <a:srgbClr val="1A1A1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765800" y="1636623"/>
            <a:ext cx="1229248"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1A1A1A"/>
                </a:solidFill>
                <a:latin typeface="Calibri"/>
              </a:rPr>
              <a:t>Class</a:t>
            </a:r>
          </a:p>
        </p:txBody>
      </p:sp>
      <p:sp>
        <p:nvSpPr>
          <p:cNvPr id="17" name="TextBox 16"/>
          <p:cNvSpPr txBox="1"/>
          <p:nvPr/>
        </p:nvSpPr>
        <p:spPr>
          <a:xfrm>
            <a:off x="7096648" y="1636623"/>
            <a:ext cx="480646"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Prec.</a:t>
            </a:r>
          </a:p>
        </p:txBody>
      </p:sp>
      <p:sp>
        <p:nvSpPr>
          <p:cNvPr id="18" name="TextBox 17"/>
          <p:cNvSpPr txBox="1"/>
          <p:nvPr/>
        </p:nvSpPr>
        <p:spPr>
          <a:xfrm>
            <a:off x="7678894" y="1636623"/>
            <a:ext cx="480646"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Rec.</a:t>
            </a:r>
          </a:p>
        </p:txBody>
      </p:sp>
      <p:sp>
        <p:nvSpPr>
          <p:cNvPr id="19" name="TextBox 18"/>
          <p:cNvSpPr txBox="1"/>
          <p:nvPr/>
        </p:nvSpPr>
        <p:spPr>
          <a:xfrm>
            <a:off x="8261140" y="1636623"/>
            <a:ext cx="480646"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F1</a:t>
            </a:r>
          </a:p>
        </p:txBody>
      </p:sp>
      <p:sp>
        <p:nvSpPr>
          <p:cNvPr id="20" name="TextBox 19"/>
          <p:cNvSpPr txBox="1"/>
          <p:nvPr/>
        </p:nvSpPr>
        <p:spPr>
          <a:xfrm>
            <a:off x="8843386" y="1636623"/>
            <a:ext cx="605413"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n</a:t>
            </a:r>
          </a:p>
        </p:txBody>
      </p:sp>
      <p:cxnSp>
        <p:nvCxnSpPr>
          <p:cNvPr id="21" name="Connector 20"/>
          <p:cNvCxnSpPr/>
          <p:nvPr/>
        </p:nvCxnSpPr>
        <p:spPr>
          <a:xfrm>
            <a:off x="5715000" y="1832838"/>
            <a:ext cx="3784600" cy="0"/>
          </a:xfrm>
          <a:prstGeom prst="line">
            <a:avLst/>
          </a:prstGeom>
          <a:ln w="10160">
            <a:solidFill>
              <a:srgbClr val="1A1A1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765800" y="1883638"/>
            <a:ext cx="122924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Fresh</a:t>
            </a:r>
          </a:p>
        </p:txBody>
      </p:sp>
      <p:sp>
        <p:nvSpPr>
          <p:cNvPr id="23" name="TextBox 22"/>
          <p:cNvSpPr txBox="1"/>
          <p:nvPr/>
        </p:nvSpPr>
        <p:spPr>
          <a:xfrm>
            <a:off x="7096648" y="1883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0.85</a:t>
            </a:r>
          </a:p>
        </p:txBody>
      </p:sp>
      <p:sp>
        <p:nvSpPr>
          <p:cNvPr id="24" name="TextBox 23"/>
          <p:cNvSpPr txBox="1"/>
          <p:nvPr/>
        </p:nvSpPr>
        <p:spPr>
          <a:xfrm>
            <a:off x="7678894" y="1883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0.87</a:t>
            </a:r>
          </a:p>
        </p:txBody>
      </p:sp>
      <p:sp>
        <p:nvSpPr>
          <p:cNvPr id="25" name="TextBox 24"/>
          <p:cNvSpPr txBox="1"/>
          <p:nvPr/>
        </p:nvSpPr>
        <p:spPr>
          <a:xfrm>
            <a:off x="8261140" y="1883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0.86</a:t>
            </a:r>
          </a:p>
        </p:txBody>
      </p:sp>
      <p:sp>
        <p:nvSpPr>
          <p:cNvPr id="26" name="TextBox 25"/>
          <p:cNvSpPr txBox="1"/>
          <p:nvPr/>
        </p:nvSpPr>
        <p:spPr>
          <a:xfrm>
            <a:off x="8843386" y="1883638"/>
            <a:ext cx="605413"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1,378</a:t>
            </a:r>
          </a:p>
        </p:txBody>
      </p:sp>
      <p:sp>
        <p:nvSpPr>
          <p:cNvPr id="27" name="TextBox 26"/>
          <p:cNvSpPr txBox="1"/>
          <p:nvPr/>
        </p:nvSpPr>
        <p:spPr>
          <a:xfrm>
            <a:off x="5765800" y="2137638"/>
            <a:ext cx="122924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Very Fresh</a:t>
            </a:r>
          </a:p>
        </p:txBody>
      </p:sp>
      <p:sp>
        <p:nvSpPr>
          <p:cNvPr id="28" name="TextBox 27"/>
          <p:cNvSpPr txBox="1"/>
          <p:nvPr/>
        </p:nvSpPr>
        <p:spPr>
          <a:xfrm>
            <a:off x="7096648" y="2137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0.85</a:t>
            </a:r>
          </a:p>
        </p:txBody>
      </p:sp>
      <p:sp>
        <p:nvSpPr>
          <p:cNvPr id="29" name="TextBox 28"/>
          <p:cNvSpPr txBox="1"/>
          <p:nvPr/>
        </p:nvSpPr>
        <p:spPr>
          <a:xfrm>
            <a:off x="7678894" y="2137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0.86</a:t>
            </a:r>
          </a:p>
        </p:txBody>
      </p:sp>
      <p:sp>
        <p:nvSpPr>
          <p:cNvPr id="30" name="TextBox 29"/>
          <p:cNvSpPr txBox="1"/>
          <p:nvPr/>
        </p:nvSpPr>
        <p:spPr>
          <a:xfrm>
            <a:off x="8261140" y="2137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0.85</a:t>
            </a:r>
          </a:p>
        </p:txBody>
      </p:sp>
      <p:sp>
        <p:nvSpPr>
          <p:cNvPr id="31" name="TextBox 30"/>
          <p:cNvSpPr txBox="1"/>
          <p:nvPr/>
        </p:nvSpPr>
        <p:spPr>
          <a:xfrm>
            <a:off x="8843386" y="2137638"/>
            <a:ext cx="605413"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1,378</a:t>
            </a:r>
          </a:p>
        </p:txBody>
      </p:sp>
      <p:sp>
        <p:nvSpPr>
          <p:cNvPr id="32" name="TextBox 31"/>
          <p:cNvSpPr txBox="1"/>
          <p:nvPr/>
        </p:nvSpPr>
        <p:spPr>
          <a:xfrm>
            <a:off x="5765800" y="2391638"/>
            <a:ext cx="122924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Very Rotten</a:t>
            </a:r>
          </a:p>
        </p:txBody>
      </p:sp>
      <p:sp>
        <p:nvSpPr>
          <p:cNvPr id="33" name="TextBox 32"/>
          <p:cNvSpPr txBox="1"/>
          <p:nvPr/>
        </p:nvSpPr>
        <p:spPr>
          <a:xfrm>
            <a:off x="7096648" y="2391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0.80</a:t>
            </a:r>
          </a:p>
        </p:txBody>
      </p:sp>
      <p:sp>
        <p:nvSpPr>
          <p:cNvPr id="34" name="TextBox 33"/>
          <p:cNvSpPr txBox="1"/>
          <p:nvPr/>
        </p:nvSpPr>
        <p:spPr>
          <a:xfrm>
            <a:off x="7678894" y="2391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0.84</a:t>
            </a:r>
          </a:p>
        </p:txBody>
      </p:sp>
      <p:sp>
        <p:nvSpPr>
          <p:cNvPr id="35" name="TextBox 34"/>
          <p:cNvSpPr txBox="1"/>
          <p:nvPr/>
        </p:nvSpPr>
        <p:spPr>
          <a:xfrm>
            <a:off x="8261140" y="2391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0.82</a:t>
            </a:r>
          </a:p>
        </p:txBody>
      </p:sp>
      <p:sp>
        <p:nvSpPr>
          <p:cNvPr id="36" name="TextBox 35"/>
          <p:cNvSpPr txBox="1"/>
          <p:nvPr/>
        </p:nvSpPr>
        <p:spPr>
          <a:xfrm>
            <a:off x="8843386" y="2391638"/>
            <a:ext cx="605413"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1,035</a:t>
            </a:r>
          </a:p>
        </p:txBody>
      </p:sp>
      <p:sp>
        <p:nvSpPr>
          <p:cNvPr id="37" name="TextBox 36"/>
          <p:cNvSpPr txBox="1"/>
          <p:nvPr/>
        </p:nvSpPr>
        <p:spPr>
          <a:xfrm>
            <a:off x="5765800" y="2645638"/>
            <a:ext cx="122924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Slightly Rotten</a:t>
            </a:r>
          </a:p>
        </p:txBody>
      </p:sp>
      <p:sp>
        <p:nvSpPr>
          <p:cNvPr id="38" name="TextBox 37"/>
          <p:cNvSpPr txBox="1"/>
          <p:nvPr/>
        </p:nvSpPr>
        <p:spPr>
          <a:xfrm>
            <a:off x="7096648" y="2645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0.80</a:t>
            </a:r>
          </a:p>
        </p:txBody>
      </p:sp>
      <p:sp>
        <p:nvSpPr>
          <p:cNvPr id="39" name="TextBox 38"/>
          <p:cNvSpPr txBox="1"/>
          <p:nvPr/>
        </p:nvSpPr>
        <p:spPr>
          <a:xfrm>
            <a:off x="7678894" y="2645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0.78</a:t>
            </a:r>
          </a:p>
        </p:txBody>
      </p:sp>
      <p:sp>
        <p:nvSpPr>
          <p:cNvPr id="40" name="TextBox 39"/>
          <p:cNvSpPr txBox="1"/>
          <p:nvPr/>
        </p:nvSpPr>
        <p:spPr>
          <a:xfrm>
            <a:off x="8261140" y="2645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0.79</a:t>
            </a:r>
          </a:p>
        </p:txBody>
      </p:sp>
      <p:sp>
        <p:nvSpPr>
          <p:cNvPr id="41" name="TextBox 40"/>
          <p:cNvSpPr txBox="1"/>
          <p:nvPr/>
        </p:nvSpPr>
        <p:spPr>
          <a:xfrm>
            <a:off x="8843386" y="2645638"/>
            <a:ext cx="605413"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1,032</a:t>
            </a:r>
          </a:p>
        </p:txBody>
      </p:sp>
      <p:sp>
        <p:nvSpPr>
          <p:cNvPr id="42" name="TextBox 41"/>
          <p:cNvSpPr txBox="1"/>
          <p:nvPr/>
        </p:nvSpPr>
        <p:spPr>
          <a:xfrm>
            <a:off x="5765800" y="2899638"/>
            <a:ext cx="122924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303030"/>
                </a:solidFill>
                <a:latin typeface="Calibri"/>
              </a:rPr>
              <a:t>Rotten</a:t>
            </a:r>
          </a:p>
        </p:txBody>
      </p:sp>
      <p:sp>
        <p:nvSpPr>
          <p:cNvPr id="43" name="TextBox 42"/>
          <p:cNvSpPr txBox="1"/>
          <p:nvPr/>
        </p:nvSpPr>
        <p:spPr>
          <a:xfrm>
            <a:off x="7096648" y="2899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0.73</a:t>
            </a:r>
          </a:p>
        </p:txBody>
      </p:sp>
      <p:sp>
        <p:nvSpPr>
          <p:cNvPr id="44" name="TextBox 43"/>
          <p:cNvSpPr txBox="1"/>
          <p:nvPr/>
        </p:nvSpPr>
        <p:spPr>
          <a:xfrm>
            <a:off x="7678894" y="2899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0.67</a:t>
            </a:r>
          </a:p>
        </p:txBody>
      </p:sp>
      <p:sp>
        <p:nvSpPr>
          <p:cNvPr id="45" name="TextBox 44"/>
          <p:cNvSpPr txBox="1"/>
          <p:nvPr/>
        </p:nvSpPr>
        <p:spPr>
          <a:xfrm>
            <a:off x="8261140" y="2899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0.70</a:t>
            </a:r>
          </a:p>
        </p:txBody>
      </p:sp>
      <p:sp>
        <p:nvSpPr>
          <p:cNvPr id="46" name="TextBox 45"/>
          <p:cNvSpPr txBox="1"/>
          <p:nvPr/>
        </p:nvSpPr>
        <p:spPr>
          <a:xfrm>
            <a:off x="8843386" y="2899638"/>
            <a:ext cx="605413"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0" i="0">
                <a:solidFill>
                  <a:srgbClr val="303030"/>
                </a:solidFill>
                <a:latin typeface="Calibri"/>
              </a:rPr>
              <a:t>1,032</a:t>
            </a:r>
          </a:p>
        </p:txBody>
      </p:sp>
      <p:sp>
        <p:nvSpPr>
          <p:cNvPr id="47" name="TextBox 46"/>
          <p:cNvSpPr txBox="1"/>
          <p:nvPr/>
        </p:nvSpPr>
        <p:spPr>
          <a:xfrm>
            <a:off x="5765800" y="3153638"/>
            <a:ext cx="1229248" cy="196088"/>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1A1A1A"/>
                </a:solidFill>
                <a:latin typeface="Calibri"/>
              </a:rPr>
              <a:t>Weighted avg.</a:t>
            </a:r>
          </a:p>
        </p:txBody>
      </p:sp>
      <p:sp>
        <p:nvSpPr>
          <p:cNvPr id="48" name="TextBox 47"/>
          <p:cNvSpPr txBox="1"/>
          <p:nvPr/>
        </p:nvSpPr>
        <p:spPr>
          <a:xfrm>
            <a:off x="7096648" y="3153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1" i="0">
                <a:solidFill>
                  <a:srgbClr val="1A1A1A"/>
                </a:solidFill>
                <a:latin typeface="Calibri"/>
              </a:rPr>
              <a:t>0.81</a:t>
            </a:r>
          </a:p>
        </p:txBody>
      </p:sp>
      <p:sp>
        <p:nvSpPr>
          <p:cNvPr id="49" name="TextBox 48"/>
          <p:cNvSpPr txBox="1"/>
          <p:nvPr/>
        </p:nvSpPr>
        <p:spPr>
          <a:xfrm>
            <a:off x="7678894" y="3153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1" i="0">
                <a:solidFill>
                  <a:srgbClr val="1A1A1A"/>
                </a:solidFill>
                <a:latin typeface="Calibri"/>
              </a:rPr>
              <a:t>0.81</a:t>
            </a:r>
          </a:p>
        </p:txBody>
      </p:sp>
      <p:sp>
        <p:nvSpPr>
          <p:cNvPr id="50" name="TextBox 49"/>
          <p:cNvSpPr txBox="1"/>
          <p:nvPr/>
        </p:nvSpPr>
        <p:spPr>
          <a:xfrm>
            <a:off x="8261140" y="3153638"/>
            <a:ext cx="480646"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1" i="0">
                <a:solidFill>
                  <a:srgbClr val="1A1A1A"/>
                </a:solidFill>
                <a:latin typeface="Calibri"/>
              </a:rPr>
              <a:t>0.81</a:t>
            </a:r>
          </a:p>
        </p:txBody>
      </p:sp>
      <p:sp>
        <p:nvSpPr>
          <p:cNvPr id="51" name="TextBox 50"/>
          <p:cNvSpPr txBox="1"/>
          <p:nvPr/>
        </p:nvSpPr>
        <p:spPr>
          <a:xfrm>
            <a:off x="8843386" y="3153638"/>
            <a:ext cx="605413" cy="196088"/>
          </a:xfrm>
          <a:prstGeom prst="rect">
            <a:avLst/>
          </a:prstGeom>
          <a:noFill/>
        </p:spPr>
        <p:txBody>
          <a:bodyPr wrap="square" lIns="0" rIns="0" tIns="0" bIns="0" anchor="t">
            <a:spAutoFit/>
          </a:bodyPr>
          <a:lstStyle/>
          <a:p>
            <a:pPr algn="ctr">
              <a:lnSpc>
                <a:spcPct val="110000"/>
              </a:lnSpc>
              <a:spcBef>
                <a:spcPts val="0"/>
              </a:spcBef>
              <a:spcAft>
                <a:spcPts val="0"/>
              </a:spcAft>
            </a:pPr>
            <a:r>
              <a:rPr sz="1000" b="1" i="0">
                <a:solidFill>
                  <a:srgbClr val="1A1A1A"/>
                </a:solidFill>
                <a:latin typeface="Calibri"/>
              </a:rPr>
              <a:t>5,855</a:t>
            </a:r>
          </a:p>
        </p:txBody>
      </p:sp>
      <p:cxnSp>
        <p:nvCxnSpPr>
          <p:cNvPr id="52" name="Connector 51"/>
          <p:cNvCxnSpPr/>
          <p:nvPr/>
        </p:nvCxnSpPr>
        <p:spPr>
          <a:xfrm>
            <a:off x="5715000" y="3356838"/>
            <a:ext cx="3784600" cy="0"/>
          </a:xfrm>
          <a:prstGeom prst="line">
            <a:avLst/>
          </a:prstGeom>
          <a:ln w="13970">
            <a:solidFill>
              <a:srgbClr val="1A1A1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715000" y="3610838"/>
            <a:ext cx="3784600" cy="1628891"/>
          </a:xfrm>
          <a:prstGeom prst="rect">
            <a:avLst/>
          </a:prstGeom>
          <a:noFill/>
        </p:spPr>
        <p:txBody>
          <a:bodyPr wrap="square" lIns="0" rIns="0" tIns="0" bIns="0" anchor="t">
            <a:spAutoFit/>
          </a:bodyPr>
          <a:lstStyle/>
          <a:p>
            <a:pPr algn="l">
              <a:lnSpc>
                <a:spcPct val="124000"/>
              </a:lnSpc>
              <a:spcBef>
                <a:spcPts val="0"/>
              </a:spcBef>
              <a:spcAft>
                <a:spcPts val="800"/>
              </a:spcAft>
            </a:pPr>
            <a:r>
              <a:rPr sz="1100" b="1">
                <a:solidFill>
                  <a:srgbClr val="0070C0"/>
                </a:solidFill>
                <a:latin typeface="Calibri"/>
              </a:rPr>
              <a:t>•   </a:t>
            </a:r>
            <a:r>
              <a:rPr sz="1100" b="0" i="0">
                <a:solidFill>
                  <a:srgbClr val="303030"/>
                </a:solidFill>
                <a:latin typeface="Calibri"/>
              </a:rPr>
              <a:t>Overall accuracy on the held-out set: </a:t>
            </a:r>
            <a:r>
              <a:rPr sz="1100" b="1" i="0">
                <a:solidFill>
                  <a:srgbClr val="1A1A1A"/>
                </a:solidFill>
                <a:latin typeface="Calibri"/>
              </a:rPr>
              <a:t>81.21%</a:t>
            </a:r>
            <a:r>
              <a:rPr sz="1100" b="0" i="0">
                <a:solidFill>
                  <a:srgbClr val="303030"/>
                </a:solidFill>
                <a:latin typeface="Calibri"/>
              </a:rPr>
              <a:t>.</a:t>
            </a:r>
          </a:p>
          <a:p>
            <a:pPr algn="l">
              <a:lnSpc>
                <a:spcPct val="124000"/>
              </a:lnSpc>
              <a:spcBef>
                <a:spcPts val="0"/>
              </a:spcBef>
              <a:spcAft>
                <a:spcPts val="800"/>
              </a:spcAft>
            </a:pPr>
            <a:r>
              <a:rPr sz="1100" b="1">
                <a:solidFill>
                  <a:srgbClr val="0070C0"/>
                </a:solidFill>
                <a:latin typeface="Calibri"/>
              </a:rPr>
              <a:t>•   </a:t>
            </a:r>
            <a:r>
              <a:rPr sz="1100" b="0" i="0">
                <a:solidFill>
                  <a:srgbClr val="303030"/>
                </a:solidFill>
                <a:latin typeface="Calibri"/>
              </a:rPr>
              <a:t>Collapsed to a binary fresh-versus-rotten decision, accuracy rises to </a:t>
            </a:r>
            <a:r>
              <a:rPr sz="1100" b="1" i="0">
                <a:solidFill>
                  <a:srgbClr val="1A1A1A"/>
                </a:solidFill>
                <a:latin typeface="Calibri"/>
              </a:rPr>
              <a:t>98.19%</a:t>
            </a:r>
            <a:r>
              <a:rPr sz="1100" b="0" i="0">
                <a:solidFill>
                  <a:srgbClr val="303030"/>
                </a:solidFill>
                <a:latin typeface="Calibri"/>
              </a:rPr>
              <a:t>.</a:t>
            </a:r>
          </a:p>
          <a:p>
            <a:pPr algn="l">
              <a:lnSpc>
                <a:spcPct val="124000"/>
              </a:lnSpc>
              <a:spcBef>
                <a:spcPts val="0"/>
              </a:spcBef>
              <a:spcAft>
                <a:spcPts val="800"/>
              </a:spcAft>
            </a:pPr>
            <a:r>
              <a:rPr sz="1100" b="1">
                <a:solidFill>
                  <a:srgbClr val="0070C0"/>
                </a:solidFill>
                <a:latin typeface="Calibri"/>
              </a:rPr>
              <a:t>•   </a:t>
            </a:r>
            <a:r>
              <a:rPr sz="1100" b="0" i="0">
                <a:solidFill>
                  <a:srgbClr val="303030"/>
                </a:solidFill>
                <a:latin typeface="Calibri"/>
              </a:rPr>
              <a:t>“Rotten” is the weakest class (F1 0.70). It sits between “slightly rotten” and “very rotten”, which is exactly where the heuristic labels are most ambiguous.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367792"/>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COMPARISON WITH RELATED WORK</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11</a:t>
            </a:r>
          </a:p>
        </p:txBody>
      </p:sp>
      <p:sp>
        <p:nvSpPr>
          <p:cNvPr id="7" name="TextBox 6"/>
          <p:cNvSpPr txBox="1"/>
          <p:nvPr/>
        </p:nvSpPr>
        <p:spPr>
          <a:xfrm>
            <a:off x="584200" y="1270000"/>
            <a:ext cx="89154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AGAINST PUBLISHED WORK</a:t>
            </a:r>
          </a:p>
        </p:txBody>
      </p:sp>
      <p:cxnSp>
        <p:nvCxnSpPr>
          <p:cNvPr id="8" name="Connector 7"/>
          <p:cNvCxnSpPr/>
          <p:nvPr/>
        </p:nvCxnSpPr>
        <p:spPr>
          <a:xfrm>
            <a:off x="584200" y="1585823"/>
            <a:ext cx="8915400" cy="0"/>
          </a:xfrm>
          <a:prstGeom prst="line">
            <a:avLst/>
          </a:prstGeom>
          <a:ln w="13970">
            <a:solidFill>
              <a:srgbClr val="1A1A1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35000" y="1636623"/>
            <a:ext cx="346456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1A1A1A"/>
                </a:solidFill>
                <a:latin typeface="Calibri"/>
              </a:rPr>
              <a:t>Study</a:t>
            </a:r>
          </a:p>
        </p:txBody>
      </p:sp>
      <p:sp>
        <p:nvSpPr>
          <p:cNvPr id="10" name="TextBox 9"/>
          <p:cNvSpPr txBox="1"/>
          <p:nvPr/>
        </p:nvSpPr>
        <p:spPr>
          <a:xfrm>
            <a:off x="4201160" y="1636623"/>
            <a:ext cx="1592326"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Produce types</a:t>
            </a:r>
          </a:p>
        </p:txBody>
      </p:sp>
      <p:sp>
        <p:nvSpPr>
          <p:cNvPr id="11" name="TextBox 10"/>
          <p:cNvSpPr txBox="1"/>
          <p:nvPr/>
        </p:nvSpPr>
        <p:spPr>
          <a:xfrm>
            <a:off x="5895086" y="1636623"/>
            <a:ext cx="1770633"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Freshness levels</a:t>
            </a:r>
          </a:p>
        </p:txBody>
      </p:sp>
      <p:sp>
        <p:nvSpPr>
          <p:cNvPr id="12" name="TextBox 11"/>
          <p:cNvSpPr txBox="1"/>
          <p:nvPr/>
        </p:nvSpPr>
        <p:spPr>
          <a:xfrm>
            <a:off x="7767320" y="1636623"/>
            <a:ext cx="1681480" cy="188823"/>
          </a:xfrm>
          <a:prstGeom prst="rect">
            <a:avLst/>
          </a:prstGeom>
          <a:noFill/>
        </p:spPr>
        <p:txBody>
          <a:bodyPr wrap="square" lIns="0" rIns="0" tIns="0" bIns="0" anchor="t">
            <a:spAutoFit/>
          </a:bodyPr>
          <a:lstStyle/>
          <a:p>
            <a:pPr algn="ctr">
              <a:lnSpc>
                <a:spcPct val="110000"/>
              </a:lnSpc>
              <a:spcBef>
                <a:spcPts val="0"/>
              </a:spcBef>
              <a:spcAft>
                <a:spcPts val="0"/>
              </a:spcAft>
            </a:pPr>
            <a:r>
              <a:rPr sz="950" b="1" i="0">
                <a:solidFill>
                  <a:srgbClr val="1A1A1A"/>
                </a:solidFill>
                <a:latin typeface="Calibri"/>
              </a:rPr>
              <a:t>Accuracy</a:t>
            </a:r>
          </a:p>
        </p:txBody>
      </p:sp>
      <p:cxnSp>
        <p:nvCxnSpPr>
          <p:cNvPr id="13" name="Connector 12"/>
          <p:cNvCxnSpPr/>
          <p:nvPr/>
        </p:nvCxnSpPr>
        <p:spPr>
          <a:xfrm>
            <a:off x="584200" y="1832838"/>
            <a:ext cx="8915400" cy="0"/>
          </a:xfrm>
          <a:prstGeom prst="line">
            <a:avLst/>
          </a:prstGeom>
          <a:ln w="10160">
            <a:solidFill>
              <a:srgbClr val="1A1A1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5000" y="1883638"/>
            <a:ext cx="3464560" cy="203352"/>
          </a:xfrm>
          <a:prstGeom prst="rect">
            <a:avLst/>
          </a:prstGeom>
          <a:noFill/>
        </p:spPr>
        <p:txBody>
          <a:bodyPr wrap="square" lIns="0" rIns="0" tIns="0" bIns="0" anchor="t">
            <a:spAutoFit/>
          </a:bodyPr>
          <a:lstStyle/>
          <a:p>
            <a:pPr algn="l">
              <a:lnSpc>
                <a:spcPct val="110000"/>
              </a:lnSpc>
              <a:spcBef>
                <a:spcPts val="0"/>
              </a:spcBef>
              <a:spcAft>
                <a:spcPts val="0"/>
              </a:spcAft>
            </a:pPr>
            <a:r>
              <a:rPr sz="1050" b="0" i="0">
                <a:solidFill>
                  <a:srgbClr val="303030"/>
                </a:solidFill>
                <a:latin typeface="Calibri"/>
              </a:rPr>
              <a:t>Amin et al. (2023) — AlexNet transfer learning</a:t>
            </a:r>
          </a:p>
        </p:txBody>
      </p:sp>
      <p:sp>
        <p:nvSpPr>
          <p:cNvPr id="15" name="TextBox 14"/>
          <p:cNvSpPr txBox="1"/>
          <p:nvPr/>
        </p:nvSpPr>
        <p:spPr>
          <a:xfrm>
            <a:off x="4201160" y="1883638"/>
            <a:ext cx="1592326"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3</a:t>
            </a:r>
          </a:p>
        </p:txBody>
      </p:sp>
      <p:sp>
        <p:nvSpPr>
          <p:cNvPr id="16" name="TextBox 15"/>
          <p:cNvSpPr txBox="1"/>
          <p:nvPr/>
        </p:nvSpPr>
        <p:spPr>
          <a:xfrm>
            <a:off x="5895086" y="1883638"/>
            <a:ext cx="1770633"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2 (manual)</a:t>
            </a:r>
          </a:p>
        </p:txBody>
      </p:sp>
      <p:sp>
        <p:nvSpPr>
          <p:cNvPr id="17" name="TextBox 16"/>
          <p:cNvSpPr txBox="1"/>
          <p:nvPr/>
        </p:nvSpPr>
        <p:spPr>
          <a:xfrm>
            <a:off x="7767320" y="1883638"/>
            <a:ext cx="1681480"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&gt; 99%</a:t>
            </a:r>
          </a:p>
        </p:txBody>
      </p:sp>
      <p:sp>
        <p:nvSpPr>
          <p:cNvPr id="18" name="TextBox 17"/>
          <p:cNvSpPr txBox="1"/>
          <p:nvPr/>
        </p:nvSpPr>
        <p:spPr>
          <a:xfrm>
            <a:off x="635000" y="2144623"/>
            <a:ext cx="3464560" cy="203352"/>
          </a:xfrm>
          <a:prstGeom prst="rect">
            <a:avLst/>
          </a:prstGeom>
          <a:noFill/>
        </p:spPr>
        <p:txBody>
          <a:bodyPr wrap="square" lIns="0" rIns="0" tIns="0" bIns="0" anchor="t">
            <a:spAutoFit/>
          </a:bodyPr>
          <a:lstStyle/>
          <a:p>
            <a:pPr algn="l">
              <a:lnSpc>
                <a:spcPct val="110000"/>
              </a:lnSpc>
              <a:spcBef>
                <a:spcPts val="0"/>
              </a:spcBef>
              <a:spcAft>
                <a:spcPts val="0"/>
              </a:spcAft>
            </a:pPr>
            <a:r>
              <a:rPr sz="1050" b="0" i="0">
                <a:solidFill>
                  <a:srgbClr val="303030"/>
                </a:solidFill>
                <a:latin typeface="Calibri"/>
              </a:rPr>
              <a:t>Ghosh &amp; Singh (2026) — hybrid CNN-LSTM</a:t>
            </a:r>
          </a:p>
        </p:txBody>
      </p:sp>
      <p:sp>
        <p:nvSpPr>
          <p:cNvPr id="19" name="TextBox 18"/>
          <p:cNvSpPr txBox="1"/>
          <p:nvPr/>
        </p:nvSpPr>
        <p:spPr>
          <a:xfrm>
            <a:off x="4201160" y="2144623"/>
            <a:ext cx="1592326"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3</a:t>
            </a:r>
          </a:p>
        </p:txBody>
      </p:sp>
      <p:sp>
        <p:nvSpPr>
          <p:cNvPr id="20" name="TextBox 19"/>
          <p:cNvSpPr txBox="1"/>
          <p:nvPr/>
        </p:nvSpPr>
        <p:spPr>
          <a:xfrm>
            <a:off x="5895086" y="2144623"/>
            <a:ext cx="1770633"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2 (manual)</a:t>
            </a:r>
          </a:p>
        </p:txBody>
      </p:sp>
      <p:sp>
        <p:nvSpPr>
          <p:cNvPr id="21" name="TextBox 20"/>
          <p:cNvSpPr txBox="1"/>
          <p:nvPr/>
        </p:nvSpPr>
        <p:spPr>
          <a:xfrm>
            <a:off x="7767320" y="2144623"/>
            <a:ext cx="1681480"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98.9%</a:t>
            </a:r>
          </a:p>
        </p:txBody>
      </p:sp>
      <p:sp>
        <p:nvSpPr>
          <p:cNvPr id="22" name="TextBox 21"/>
          <p:cNvSpPr txBox="1"/>
          <p:nvPr/>
        </p:nvSpPr>
        <p:spPr>
          <a:xfrm>
            <a:off x="635000" y="2405608"/>
            <a:ext cx="3464560" cy="203352"/>
          </a:xfrm>
          <a:prstGeom prst="rect">
            <a:avLst/>
          </a:prstGeom>
          <a:noFill/>
        </p:spPr>
        <p:txBody>
          <a:bodyPr wrap="square" lIns="0" rIns="0" tIns="0" bIns="0" anchor="t">
            <a:spAutoFit/>
          </a:bodyPr>
          <a:lstStyle/>
          <a:p>
            <a:pPr algn="l">
              <a:lnSpc>
                <a:spcPct val="110000"/>
              </a:lnSpc>
              <a:spcBef>
                <a:spcPts val="0"/>
              </a:spcBef>
              <a:spcAft>
                <a:spcPts val="0"/>
              </a:spcAft>
            </a:pPr>
            <a:r>
              <a:rPr sz="1050" b="0" i="0">
                <a:solidFill>
                  <a:srgbClr val="303030"/>
                </a:solidFill>
                <a:latin typeface="Calibri"/>
              </a:rPr>
              <a:t>Fahad et al. (2022) — VGG-16 / YOLOv5</a:t>
            </a:r>
          </a:p>
        </p:txBody>
      </p:sp>
      <p:sp>
        <p:nvSpPr>
          <p:cNvPr id="23" name="TextBox 22"/>
          <p:cNvSpPr txBox="1"/>
          <p:nvPr/>
        </p:nvSpPr>
        <p:spPr>
          <a:xfrm>
            <a:off x="4201160" y="2405608"/>
            <a:ext cx="1592326"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11</a:t>
            </a:r>
          </a:p>
        </p:txBody>
      </p:sp>
      <p:sp>
        <p:nvSpPr>
          <p:cNvPr id="24" name="TextBox 23"/>
          <p:cNvSpPr txBox="1"/>
          <p:nvPr/>
        </p:nvSpPr>
        <p:spPr>
          <a:xfrm>
            <a:off x="5895086" y="2405608"/>
            <a:ext cx="1770633"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3 (manual)</a:t>
            </a:r>
          </a:p>
        </p:txBody>
      </p:sp>
      <p:sp>
        <p:nvSpPr>
          <p:cNvPr id="25" name="TextBox 24"/>
          <p:cNvSpPr txBox="1"/>
          <p:nvPr/>
        </p:nvSpPr>
        <p:spPr>
          <a:xfrm>
            <a:off x="7767320" y="2405608"/>
            <a:ext cx="1681480"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0" i="0">
                <a:solidFill>
                  <a:srgbClr val="303030"/>
                </a:solidFill>
                <a:latin typeface="Calibri"/>
              </a:rPr>
              <a:t>82–84%</a:t>
            </a:r>
          </a:p>
        </p:txBody>
      </p:sp>
      <p:sp>
        <p:nvSpPr>
          <p:cNvPr id="26" name="TextBox 25"/>
          <p:cNvSpPr txBox="1"/>
          <p:nvPr/>
        </p:nvSpPr>
        <p:spPr>
          <a:xfrm>
            <a:off x="635000" y="2666593"/>
            <a:ext cx="3464560" cy="203352"/>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1A1A1A"/>
                </a:solidFill>
                <a:latin typeface="Calibri"/>
              </a:rPr>
              <a:t>This work — identification</a:t>
            </a:r>
          </a:p>
        </p:txBody>
      </p:sp>
      <p:sp>
        <p:nvSpPr>
          <p:cNvPr id="27" name="TextBox 26"/>
          <p:cNvSpPr txBox="1"/>
          <p:nvPr/>
        </p:nvSpPr>
        <p:spPr>
          <a:xfrm>
            <a:off x="4201160" y="2666593"/>
            <a:ext cx="1592326"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1" i="0">
                <a:solidFill>
                  <a:srgbClr val="1A1A1A"/>
                </a:solidFill>
                <a:latin typeface="Calibri"/>
              </a:rPr>
              <a:t>14</a:t>
            </a:r>
          </a:p>
        </p:txBody>
      </p:sp>
      <p:sp>
        <p:nvSpPr>
          <p:cNvPr id="28" name="TextBox 27"/>
          <p:cNvSpPr txBox="1"/>
          <p:nvPr/>
        </p:nvSpPr>
        <p:spPr>
          <a:xfrm>
            <a:off x="5895086" y="2666593"/>
            <a:ext cx="1770633"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1" i="0">
                <a:solidFill>
                  <a:srgbClr val="1A1A1A"/>
                </a:solidFill>
                <a:latin typeface="Calibri"/>
              </a:rPr>
              <a:t>—</a:t>
            </a:r>
          </a:p>
        </p:txBody>
      </p:sp>
      <p:sp>
        <p:nvSpPr>
          <p:cNvPr id="29" name="TextBox 28"/>
          <p:cNvSpPr txBox="1"/>
          <p:nvPr/>
        </p:nvSpPr>
        <p:spPr>
          <a:xfrm>
            <a:off x="7767320" y="2666593"/>
            <a:ext cx="1681480"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1" i="0">
                <a:solidFill>
                  <a:srgbClr val="1A1A1A"/>
                </a:solidFill>
                <a:latin typeface="Calibri"/>
              </a:rPr>
              <a:t>97.83%</a:t>
            </a:r>
          </a:p>
        </p:txBody>
      </p:sp>
      <p:sp>
        <p:nvSpPr>
          <p:cNvPr id="30" name="TextBox 29"/>
          <p:cNvSpPr txBox="1"/>
          <p:nvPr/>
        </p:nvSpPr>
        <p:spPr>
          <a:xfrm>
            <a:off x="635000" y="2927578"/>
            <a:ext cx="3464560" cy="203352"/>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1A1A1A"/>
                </a:solidFill>
                <a:latin typeface="Calibri"/>
              </a:rPr>
              <a:t>This work — freshness, Phase 1</a:t>
            </a:r>
          </a:p>
        </p:txBody>
      </p:sp>
      <p:sp>
        <p:nvSpPr>
          <p:cNvPr id="31" name="TextBox 30"/>
          <p:cNvSpPr txBox="1"/>
          <p:nvPr/>
        </p:nvSpPr>
        <p:spPr>
          <a:xfrm>
            <a:off x="4201160" y="2927578"/>
            <a:ext cx="1592326"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1" i="0">
                <a:solidFill>
                  <a:srgbClr val="1A1A1A"/>
                </a:solidFill>
                <a:latin typeface="Calibri"/>
              </a:rPr>
              <a:t>14</a:t>
            </a:r>
          </a:p>
        </p:txBody>
      </p:sp>
      <p:sp>
        <p:nvSpPr>
          <p:cNvPr id="32" name="TextBox 31"/>
          <p:cNvSpPr txBox="1"/>
          <p:nvPr/>
        </p:nvSpPr>
        <p:spPr>
          <a:xfrm>
            <a:off x="5895086" y="2927578"/>
            <a:ext cx="1770633"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1" i="0">
                <a:solidFill>
                  <a:srgbClr val="1A1A1A"/>
                </a:solidFill>
                <a:latin typeface="Calibri"/>
              </a:rPr>
              <a:t>5 (automatic)</a:t>
            </a:r>
          </a:p>
        </p:txBody>
      </p:sp>
      <p:sp>
        <p:nvSpPr>
          <p:cNvPr id="33" name="TextBox 32"/>
          <p:cNvSpPr txBox="1"/>
          <p:nvPr/>
        </p:nvSpPr>
        <p:spPr>
          <a:xfrm>
            <a:off x="7767320" y="2927578"/>
            <a:ext cx="1681480" cy="203352"/>
          </a:xfrm>
          <a:prstGeom prst="rect">
            <a:avLst/>
          </a:prstGeom>
          <a:noFill/>
        </p:spPr>
        <p:txBody>
          <a:bodyPr wrap="square" lIns="0" rIns="0" tIns="0" bIns="0" anchor="t">
            <a:spAutoFit/>
          </a:bodyPr>
          <a:lstStyle/>
          <a:p>
            <a:pPr algn="ctr">
              <a:lnSpc>
                <a:spcPct val="110000"/>
              </a:lnSpc>
              <a:spcBef>
                <a:spcPts val="0"/>
              </a:spcBef>
              <a:spcAft>
                <a:spcPts val="0"/>
              </a:spcAft>
            </a:pPr>
            <a:r>
              <a:rPr sz="1050" b="1" i="0">
                <a:solidFill>
                  <a:srgbClr val="1A1A1A"/>
                </a:solidFill>
                <a:latin typeface="Calibri"/>
              </a:rPr>
              <a:t>80.41%</a:t>
            </a:r>
          </a:p>
        </p:txBody>
      </p:sp>
      <p:cxnSp>
        <p:nvCxnSpPr>
          <p:cNvPr id="34" name="Connector 33"/>
          <p:cNvCxnSpPr/>
          <p:nvPr/>
        </p:nvCxnSpPr>
        <p:spPr>
          <a:xfrm>
            <a:off x="584200" y="3137763"/>
            <a:ext cx="8915400" cy="0"/>
          </a:xfrm>
          <a:prstGeom prst="line">
            <a:avLst/>
          </a:prstGeom>
          <a:ln w="13970">
            <a:solidFill>
              <a:srgbClr val="1A1A1A"/>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84200" y="3391763"/>
            <a:ext cx="8915400" cy="767689"/>
          </a:xfrm>
          <a:prstGeom prst="rect">
            <a:avLst/>
          </a:prstGeom>
          <a:solidFill>
            <a:srgbClr val="F2F5F9"/>
          </a:solidFill>
          <a:ln w="1143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800" y="3544163"/>
            <a:ext cx="8458200" cy="462889"/>
          </a:xfrm>
          <a:prstGeom prst="rect">
            <a:avLst/>
          </a:prstGeom>
          <a:noFill/>
        </p:spPr>
        <p:txBody>
          <a:bodyPr wrap="square" lIns="0" rIns="0" tIns="0" bIns="0" anchor="t">
            <a:spAutoFit/>
          </a:bodyPr>
          <a:lstStyle/>
          <a:p>
            <a:pPr algn="l">
              <a:lnSpc>
                <a:spcPct val="130000"/>
              </a:lnSpc>
              <a:spcBef>
                <a:spcPts val="0"/>
              </a:spcBef>
              <a:spcAft>
                <a:spcPts val="0"/>
              </a:spcAft>
            </a:pPr>
            <a:r>
              <a:rPr sz="1200" b="0" i="0">
                <a:solidFill>
                  <a:srgbClr val="1A1A1A"/>
                </a:solidFill>
                <a:latin typeface="Calibri"/>
              </a:rPr>
              <a:t>80.41% on a harder, five-level task sits close to Fahad et al.'s 82–84% on a three-level task — and it was reached with no manual freshness labels at all, across 14 produce types instead of 11.</a:t>
            </a:r>
          </a:p>
        </p:txBody>
      </p:sp>
      <p:sp>
        <p:nvSpPr>
          <p:cNvPr id="37" name="TextBox 36"/>
          <p:cNvSpPr txBox="1"/>
          <p:nvPr/>
        </p:nvSpPr>
        <p:spPr>
          <a:xfrm>
            <a:off x="584200" y="4337253"/>
            <a:ext cx="89154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DISCUSSION</a:t>
            </a:r>
          </a:p>
        </p:txBody>
      </p:sp>
      <p:sp>
        <p:nvSpPr>
          <p:cNvPr id="38" name="TextBox 37"/>
          <p:cNvSpPr txBox="1"/>
          <p:nvPr/>
        </p:nvSpPr>
        <p:spPr>
          <a:xfrm>
            <a:off x="584200" y="4653076"/>
            <a:ext cx="8915400" cy="1497868"/>
          </a:xfrm>
          <a:prstGeom prst="rect">
            <a:avLst/>
          </a:prstGeom>
          <a:noFill/>
        </p:spPr>
        <p:txBody>
          <a:bodyPr wrap="square" lIns="0" rIns="0" tIns="0" bIns="0" anchor="t">
            <a:spAutoFit/>
          </a:bodyPr>
          <a:lstStyle/>
          <a:p>
            <a:pPr algn="l">
              <a:lnSpc>
                <a:spcPct val="124000"/>
              </a:lnSpc>
              <a:spcBef>
                <a:spcPts val="0"/>
              </a:spcBef>
              <a:spcAft>
                <a:spcPts val="800"/>
              </a:spcAft>
            </a:pPr>
            <a:r>
              <a:rPr sz="1150" b="1">
                <a:solidFill>
                  <a:srgbClr val="0070C0"/>
                </a:solidFill>
                <a:latin typeface="Calibri"/>
              </a:rPr>
              <a:t>•   </a:t>
            </a:r>
            <a:r>
              <a:rPr sz="1150" b="0" i="0">
                <a:solidFill>
                  <a:srgbClr val="303030"/>
                </a:solidFill>
                <a:latin typeface="Calibri"/>
              </a:rPr>
              <a:t>The identification model's </a:t>
            </a:r>
            <a:r>
              <a:rPr sz="1150" b="1" i="0">
                <a:solidFill>
                  <a:srgbClr val="1A1A1A"/>
                </a:solidFill>
                <a:latin typeface="Calibri"/>
              </a:rPr>
              <a:t>97.83%</a:t>
            </a:r>
            <a:r>
              <a:rPr sz="1150" b="0" i="0">
                <a:solidFill>
                  <a:srgbClr val="303030"/>
                </a:solidFill>
                <a:latin typeface="Calibri"/>
              </a:rPr>
              <a:t> holds up well against binary classifiers trained on far fewer classes — a reasonable sign that MobileNetV2 transfer learning scales to 14 classes without much penalty.</a:t>
            </a:r>
          </a:p>
          <a:p>
            <a:pPr algn="l">
              <a:lnSpc>
                <a:spcPct val="124000"/>
              </a:lnSpc>
              <a:spcBef>
                <a:spcPts val="0"/>
              </a:spcBef>
              <a:spcAft>
                <a:spcPts val="800"/>
              </a:spcAft>
            </a:pPr>
            <a:r>
              <a:rPr sz="1150" b="1">
                <a:solidFill>
                  <a:srgbClr val="0070C0"/>
                </a:solidFill>
                <a:latin typeface="Calibri"/>
              </a:rPr>
              <a:t>•   </a:t>
            </a:r>
            <a:r>
              <a:rPr sz="1150" b="0" i="0">
                <a:solidFill>
                  <a:srgbClr val="303030"/>
                </a:solidFill>
                <a:latin typeface="Calibri"/>
              </a:rPr>
              <a:t>The gap between identification and freshness accuracy is expected. Produce type is an unambiguous label; freshness is not, and the heuristic that generates the freshness labels is an approximation rather than ground truth.</a:t>
            </a:r>
          </a:p>
          <a:p>
            <a:pPr algn="l">
              <a:lnSpc>
                <a:spcPct val="124000"/>
              </a:lnSpc>
              <a:spcBef>
                <a:spcPts val="0"/>
              </a:spcBef>
              <a:spcAft>
                <a:spcPts val="800"/>
              </a:spcAft>
            </a:pPr>
            <a:r>
              <a:rPr sz="1150" b="1">
                <a:solidFill>
                  <a:srgbClr val="0070C0"/>
                </a:solidFill>
                <a:latin typeface="Calibri"/>
              </a:rPr>
              <a:t>•   </a:t>
            </a:r>
            <a:r>
              <a:rPr sz="1150" b="0" i="0">
                <a:solidFill>
                  <a:srgbClr val="303030"/>
                </a:solidFill>
                <a:latin typeface="Calibri"/>
              </a:rPr>
              <a:t>The overlap in the decay-score distributions explains the freshness ceiling directly: if a meaningful share of the training labels are themselves ambiguous, no classifier trained on them can do much better.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367792"/>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WORKING PROTOTYPE</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12</a:t>
            </a:r>
          </a:p>
        </p:txBody>
      </p:sp>
      <p:sp>
        <p:nvSpPr>
          <p:cNvPr id="7" name="TextBox 6"/>
          <p:cNvSpPr txBox="1"/>
          <p:nvPr/>
        </p:nvSpPr>
        <p:spPr>
          <a:xfrm>
            <a:off x="584200" y="1219200"/>
            <a:ext cx="8915400" cy="427492"/>
          </a:xfrm>
          <a:prstGeom prst="rect">
            <a:avLst/>
          </a:prstGeom>
          <a:noFill/>
        </p:spPr>
        <p:txBody>
          <a:bodyPr wrap="square" lIns="0" rIns="0" tIns="0" bIns="0" anchor="t">
            <a:spAutoFit/>
          </a:bodyPr>
          <a:lstStyle/>
          <a:p>
            <a:pPr algn="l">
              <a:lnSpc>
                <a:spcPct val="124000"/>
              </a:lnSpc>
              <a:spcBef>
                <a:spcPts val="0"/>
              </a:spcBef>
              <a:spcAft>
                <a:spcPts val="0"/>
              </a:spcAft>
            </a:pPr>
            <a:r>
              <a:rPr sz="1150" b="1" i="0">
                <a:solidFill>
                  <a:srgbClr val="1A1A1A"/>
                </a:solidFill>
                <a:latin typeface="Calibri"/>
              </a:rPr>
              <a:t>Implementation beyond the report  —  </a:t>
            </a:r>
            <a:r>
              <a:rPr sz="1150" b="0" i="0">
                <a:solidFill>
                  <a:srgbClr val="666666"/>
                </a:solidFill>
                <a:latin typeface="Calibri"/>
              </a:rPr>
              <a:t>an early step towards Future Scope item 3, “build something people can actually use”.</a:t>
            </a:r>
          </a:p>
        </p:txBody>
      </p:sp>
      <p:sp>
        <p:nvSpPr>
          <p:cNvPr id="8" name="TextBox 7"/>
          <p:cNvSpPr txBox="1"/>
          <p:nvPr/>
        </p:nvSpPr>
        <p:spPr>
          <a:xfrm>
            <a:off x="584200" y="1849892"/>
            <a:ext cx="4089400" cy="3096300"/>
          </a:xfrm>
          <a:prstGeom prst="rect">
            <a:avLst/>
          </a:prstGeom>
          <a:noFill/>
        </p:spPr>
        <p:txBody>
          <a:bodyPr wrap="square" lIns="0" rIns="0" tIns="0" bIns="0" anchor="t">
            <a:spAutoFit/>
          </a:bodyPr>
          <a:lstStyle/>
          <a:p>
            <a:pPr algn="l">
              <a:lnSpc>
                <a:spcPct val="122000"/>
              </a:lnSpc>
              <a:spcBef>
                <a:spcPts val="0"/>
              </a:spcBef>
              <a:spcAft>
                <a:spcPts val="1000"/>
              </a:spcAft>
            </a:pPr>
            <a:r>
              <a:rPr sz="1300" b="1" i="0">
                <a:solidFill>
                  <a:srgbClr val="1A1A1A"/>
                </a:solidFill>
                <a:latin typeface="Calibri"/>
              </a:rPr>
              <a:t>The trained models were packaged into a working web application.</a:t>
            </a:r>
          </a:p>
          <a:p>
            <a:pPr algn="l">
              <a:lnSpc>
                <a:spcPct val="124000"/>
              </a:lnSpc>
              <a:spcBef>
                <a:spcPts val="0"/>
              </a:spcBef>
              <a:spcAft>
                <a:spcPts val="800"/>
              </a:spcAft>
            </a:pPr>
            <a:r>
              <a:rPr sz="1150" b="1">
                <a:solidFill>
                  <a:srgbClr val="0070C0"/>
                </a:solidFill>
                <a:latin typeface="Calibri"/>
              </a:rPr>
              <a:t>•   </a:t>
            </a:r>
            <a:r>
              <a:rPr sz="1150" b="0" i="0">
                <a:solidFill>
                  <a:srgbClr val="303030"/>
                </a:solidFill>
                <a:latin typeface="Calibri"/>
              </a:rPr>
              <a:t>A FastAPI and Uvicorn backend serves the two trained models; the front end is a React (Vite) single-page application.</a:t>
            </a:r>
          </a:p>
          <a:p>
            <a:pPr algn="l">
              <a:lnSpc>
                <a:spcPct val="124000"/>
              </a:lnSpc>
              <a:spcBef>
                <a:spcPts val="0"/>
              </a:spcBef>
              <a:spcAft>
                <a:spcPts val="800"/>
              </a:spcAft>
            </a:pPr>
            <a:r>
              <a:rPr sz="1150" b="1">
                <a:solidFill>
                  <a:srgbClr val="0070C0"/>
                </a:solidFill>
                <a:latin typeface="Calibri"/>
              </a:rPr>
              <a:t>•   </a:t>
            </a:r>
            <a:r>
              <a:rPr sz="1150" b="0" i="0">
                <a:solidFill>
                  <a:srgbClr val="303030"/>
                </a:solidFill>
                <a:latin typeface="Calibri"/>
              </a:rPr>
              <a:t>Models are loaded once when the server starts rather than per request, so a prediction takes about 310 ms on CPU.</a:t>
            </a:r>
          </a:p>
          <a:p>
            <a:pPr algn="l">
              <a:lnSpc>
                <a:spcPct val="124000"/>
              </a:lnSpc>
              <a:spcBef>
                <a:spcPts val="0"/>
              </a:spcBef>
              <a:spcAft>
                <a:spcPts val="800"/>
              </a:spcAft>
            </a:pPr>
            <a:r>
              <a:rPr sz="1150" b="1">
                <a:solidFill>
                  <a:srgbClr val="0070C0"/>
                </a:solidFill>
                <a:latin typeface="Calibri"/>
              </a:rPr>
              <a:t>•   </a:t>
            </a:r>
            <a:r>
              <a:rPr sz="1150" b="0" i="0">
                <a:solidFill>
                  <a:srgbClr val="303030"/>
                </a:solidFill>
                <a:latin typeface="Calibri"/>
              </a:rPr>
              <a:t>An extra ImageNet MobileNetV2 acts as a gatekeeper: images that are not produce are rejected before the freshness model ever runs.</a:t>
            </a:r>
          </a:p>
          <a:p>
            <a:pPr algn="l">
              <a:lnSpc>
                <a:spcPct val="124000"/>
              </a:lnSpc>
              <a:spcBef>
                <a:spcPts val="0"/>
              </a:spcBef>
              <a:spcAft>
                <a:spcPts val="800"/>
              </a:spcAft>
            </a:pPr>
            <a:r>
              <a:rPr sz="1150" b="1">
                <a:solidFill>
                  <a:srgbClr val="0070C0"/>
                </a:solidFill>
                <a:latin typeface="Calibri"/>
              </a:rPr>
              <a:t>•   </a:t>
            </a:r>
            <a:r>
              <a:rPr sz="1150" b="0" i="0">
                <a:solidFill>
                  <a:srgbClr val="303030"/>
                </a:solidFill>
                <a:latin typeface="Calibri"/>
              </a:rPr>
              <a:t>Predictions below 65% confidence are reported as uncertain rather than guessed.</a:t>
            </a:r>
          </a:p>
        </p:txBody>
      </p:sp>
      <p:sp>
        <p:nvSpPr>
          <p:cNvPr id="9" name="Rectangle 8"/>
          <p:cNvSpPr/>
          <p:nvPr/>
        </p:nvSpPr>
        <p:spPr>
          <a:xfrm>
            <a:off x="584200" y="5200192"/>
            <a:ext cx="4089400" cy="1212524"/>
          </a:xfrm>
          <a:prstGeom prst="rect">
            <a:avLst/>
          </a:prstGeom>
          <a:solidFill>
            <a:srgbClr val="F2F5F9"/>
          </a:solidFill>
          <a:ln w="1143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5352592"/>
            <a:ext cx="3683000" cy="831524"/>
          </a:xfrm>
          <a:prstGeom prst="rect">
            <a:avLst/>
          </a:prstGeom>
          <a:noFill/>
        </p:spPr>
        <p:txBody>
          <a:bodyPr wrap="square" lIns="0" rIns="0" tIns="0" bIns="0" anchor="t">
            <a:spAutoFit/>
          </a:bodyPr>
          <a:lstStyle/>
          <a:p>
            <a:pPr algn="l">
              <a:lnSpc>
                <a:spcPct val="124000"/>
              </a:lnSpc>
              <a:spcBef>
                <a:spcPts val="0"/>
              </a:spcBef>
              <a:spcAft>
                <a:spcPts val="700"/>
              </a:spcAft>
            </a:pPr>
            <a:r>
              <a:rPr sz="900" b="1" i="0">
                <a:solidFill>
                  <a:srgbClr val="0070C0"/>
                </a:solidFill>
                <a:latin typeface="Calibri"/>
              </a:rPr>
              <a:t>NOT PART OF THE THESIS EVALUATION</a:t>
            </a:r>
          </a:p>
          <a:p>
            <a:pPr algn="l">
              <a:lnSpc>
                <a:spcPct val="130000"/>
              </a:lnSpc>
              <a:spcBef>
                <a:spcPts val="0"/>
              </a:spcBef>
              <a:spcAft>
                <a:spcPts val="0"/>
              </a:spcAft>
            </a:pPr>
            <a:r>
              <a:rPr sz="1050" b="0" i="0">
                <a:solidFill>
                  <a:srgbClr val="303030"/>
                </a:solidFill>
                <a:latin typeface="Calibri"/>
              </a:rPr>
              <a:t>The gatekeeper and the web interface are engineering additions. Every accuracy figure in this presentation comes from the models evaluated in the report.</a:t>
            </a:r>
          </a:p>
        </p:txBody>
      </p:sp>
      <p:pic>
        <p:nvPicPr>
          <p:cNvPr id="11" name="Picture 10" descr="res_rejected.png"/>
          <p:cNvPicPr>
            <a:picLocks noChangeAspect="1"/>
          </p:cNvPicPr>
          <p:nvPr/>
        </p:nvPicPr>
        <p:blipFill>
          <a:blip r:embed="rId2"/>
          <a:stretch>
            <a:fillRect/>
          </a:stretch>
        </p:blipFill>
        <p:spPr>
          <a:xfrm>
            <a:off x="5003800" y="1849892"/>
            <a:ext cx="4495800" cy="3321400"/>
          </a:xfrm>
          <a:prstGeom prst="rect">
            <a:avLst/>
          </a:prstGeom>
          <a:ln w="9525">
            <a:solidFill>
              <a:srgbClr val="DDDDDD"/>
            </a:solidFill>
          </a:ln>
        </p:spPr>
      </p:pic>
      <p:sp>
        <p:nvSpPr>
          <p:cNvPr id="12" name="TextBox 11"/>
          <p:cNvSpPr txBox="1"/>
          <p:nvPr/>
        </p:nvSpPr>
        <p:spPr>
          <a:xfrm>
            <a:off x="5003800" y="5234792"/>
            <a:ext cx="4495800" cy="311261"/>
          </a:xfrm>
          <a:prstGeom prst="rect">
            <a:avLst/>
          </a:prstGeom>
          <a:noFill/>
        </p:spPr>
        <p:txBody>
          <a:bodyPr wrap="square" lIns="0" rIns="0" tIns="0" bIns="0" anchor="t">
            <a:spAutoFit/>
          </a:bodyPr>
          <a:lstStyle/>
          <a:p>
            <a:pPr algn="ctr">
              <a:lnSpc>
                <a:spcPct val="116000"/>
              </a:lnSpc>
              <a:spcBef>
                <a:spcPts val="0"/>
              </a:spcBef>
              <a:spcAft>
                <a:spcPts val="0"/>
              </a:spcAft>
            </a:pPr>
            <a:r>
              <a:rPr sz="850" b="0" i="1">
                <a:solidFill>
                  <a:srgbClr val="666666"/>
                </a:solidFill>
                <a:latin typeface="Calibri"/>
              </a:rPr>
              <a:t>Live run: the gatekeeper rejecting a non-produce image, showing the ImageNet label and the measured latency.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367792"/>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CONCLUSION, LIMITATIONS AND FUTURE WORK</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13</a:t>
            </a:r>
          </a:p>
        </p:txBody>
      </p:sp>
      <p:sp>
        <p:nvSpPr>
          <p:cNvPr id="7" name="TextBox 6"/>
          <p:cNvSpPr txBox="1"/>
          <p:nvPr/>
        </p:nvSpPr>
        <p:spPr>
          <a:xfrm>
            <a:off x="584200" y="1270000"/>
            <a:ext cx="89154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CONCLUSIONS</a:t>
            </a:r>
          </a:p>
        </p:txBody>
      </p:sp>
      <p:sp>
        <p:nvSpPr>
          <p:cNvPr id="8" name="TextBox 7"/>
          <p:cNvSpPr txBox="1"/>
          <p:nvPr/>
        </p:nvSpPr>
        <p:spPr>
          <a:xfrm>
            <a:off x="584200" y="1585823"/>
            <a:ext cx="8915400" cy="1048268"/>
          </a:xfrm>
          <a:prstGeom prst="rect">
            <a:avLst/>
          </a:prstGeom>
          <a:noFill/>
        </p:spPr>
        <p:txBody>
          <a:bodyPr wrap="square" lIns="0" rIns="0" tIns="0" bIns="0" anchor="t">
            <a:spAutoFit/>
          </a:bodyPr>
          <a:lstStyle/>
          <a:p>
            <a:pPr algn="l">
              <a:lnSpc>
                <a:spcPct val="124000"/>
              </a:lnSpc>
              <a:spcBef>
                <a:spcPts val="0"/>
              </a:spcBef>
              <a:spcAft>
                <a:spcPts val="800"/>
              </a:spcAft>
            </a:pPr>
            <a:r>
              <a:rPr sz="1200" b="1">
                <a:solidFill>
                  <a:srgbClr val="0070C0"/>
                </a:solidFill>
                <a:latin typeface="Calibri"/>
              </a:rPr>
              <a:t>•   </a:t>
            </a:r>
            <a:r>
              <a:rPr sz="1200" b="0" i="0">
                <a:solidFill>
                  <a:srgbClr val="303030"/>
                </a:solidFill>
                <a:latin typeface="Calibri"/>
              </a:rPr>
              <a:t>Transfer learning with a lightweight backbone works well for produce identification — </a:t>
            </a:r>
            <a:r>
              <a:rPr sz="1200" b="1" i="0">
                <a:solidFill>
                  <a:srgbClr val="1A1A1A"/>
                </a:solidFill>
                <a:latin typeface="Calibri"/>
              </a:rPr>
              <a:t>97.83% across 14 classes</a:t>
            </a:r>
            <a:r>
              <a:rPr sz="1200" b="0" i="0">
                <a:solidFill>
                  <a:srgbClr val="303030"/>
                </a:solidFill>
                <a:latin typeface="Calibri"/>
              </a:rPr>
              <a:t>, on a CPU-only machine, in five epochs.</a:t>
            </a:r>
          </a:p>
          <a:p>
            <a:pPr algn="l">
              <a:lnSpc>
                <a:spcPct val="124000"/>
              </a:lnSpc>
              <a:spcBef>
                <a:spcPts val="0"/>
              </a:spcBef>
              <a:spcAft>
                <a:spcPts val="800"/>
              </a:spcAft>
            </a:pPr>
            <a:r>
              <a:rPr sz="1200" b="1">
                <a:solidFill>
                  <a:srgbClr val="0070C0"/>
                </a:solidFill>
                <a:latin typeface="Calibri"/>
              </a:rPr>
              <a:t>•   </a:t>
            </a:r>
            <a:r>
              <a:rPr sz="1200" b="0" i="0">
                <a:solidFill>
                  <a:srgbClr val="303030"/>
                </a:solidFill>
                <a:latin typeface="Calibri"/>
              </a:rPr>
              <a:t>Annotation-free freshness grading through a colour heuristic is a workable substitute for manual labelling — </a:t>
            </a:r>
            <a:r>
              <a:rPr sz="1200" b="1" i="0">
                <a:solidFill>
                  <a:srgbClr val="1A1A1A"/>
                </a:solidFill>
                <a:latin typeface="Calibri"/>
              </a:rPr>
              <a:t>80.41%</a:t>
            </a:r>
            <a:r>
              <a:rPr sz="1200" b="0" i="0">
                <a:solidFill>
                  <a:srgbClr val="303030"/>
                </a:solidFill>
                <a:latin typeface="Calibri"/>
              </a:rPr>
              <a:t>, in the same range as prior work that paid for full manual annotation.</a:t>
            </a:r>
          </a:p>
        </p:txBody>
      </p:sp>
      <p:cxnSp>
        <p:nvCxnSpPr>
          <p:cNvPr id="9" name="Connector 8"/>
          <p:cNvCxnSpPr/>
          <p:nvPr/>
        </p:nvCxnSpPr>
        <p:spPr>
          <a:xfrm>
            <a:off x="584200" y="2837291"/>
            <a:ext cx="8915400" cy="0"/>
          </a:xfrm>
          <a:prstGeom prst="line">
            <a:avLst/>
          </a:prstGeom>
          <a:ln w="11430">
            <a:solidFill>
              <a:srgbClr val="DDDD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84200" y="3040491"/>
            <a:ext cx="42799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LIMITATIONS</a:t>
            </a:r>
          </a:p>
        </p:txBody>
      </p:sp>
      <p:sp>
        <p:nvSpPr>
          <p:cNvPr id="11" name="TextBox 10"/>
          <p:cNvSpPr txBox="1"/>
          <p:nvPr/>
        </p:nvSpPr>
        <p:spPr>
          <a:xfrm>
            <a:off x="584200" y="3356315"/>
            <a:ext cx="4279900" cy="2140305"/>
          </a:xfrm>
          <a:prstGeom prst="rect">
            <a:avLst/>
          </a:prstGeom>
          <a:noFill/>
        </p:spPr>
        <p:txBody>
          <a:bodyPr wrap="square" lIns="0" rIns="0" tIns="0" bIns="0" anchor="t">
            <a:spAutoFit/>
          </a:bodyPr>
          <a:lstStyle/>
          <a:p>
            <a:pPr algn="l">
              <a:lnSpc>
                <a:spcPct val="124000"/>
              </a:lnSpc>
              <a:spcBef>
                <a:spcPts val="0"/>
              </a:spcBef>
              <a:spcAft>
                <a:spcPts val="700"/>
              </a:spcAft>
            </a:pPr>
            <a:r>
              <a:rPr sz="1050" b="1">
                <a:solidFill>
                  <a:srgbClr val="0070C0"/>
                </a:solidFill>
                <a:latin typeface="Calibri"/>
              </a:rPr>
              <a:t>•   </a:t>
            </a:r>
            <a:r>
              <a:rPr sz="1050" b="0" i="0">
                <a:solidFill>
                  <a:srgbClr val="303030"/>
                </a:solidFill>
                <a:latin typeface="Calibri"/>
              </a:rPr>
              <a:t>Freshness labels come from a heuristic, not expert graders — so 80.41% measures agreement with that heuristic, not independently verified ground truth.</a:t>
            </a:r>
          </a:p>
          <a:p>
            <a:pPr algn="l">
              <a:lnSpc>
                <a:spcPct val="124000"/>
              </a:lnSpc>
              <a:spcBef>
                <a:spcPts val="0"/>
              </a:spcBef>
              <a:spcAft>
                <a:spcPts val="700"/>
              </a:spcAft>
            </a:pPr>
            <a:r>
              <a:rPr sz="1050" b="1">
                <a:solidFill>
                  <a:srgbClr val="0070C0"/>
                </a:solidFill>
                <a:latin typeface="Calibri"/>
              </a:rPr>
              <a:t>•   </a:t>
            </a:r>
            <a:r>
              <a:rPr sz="1050" b="0" i="0">
                <a:solidFill>
                  <a:srgbClr val="303030"/>
                </a:solidFill>
                <a:latin typeface="Calibri"/>
              </a:rPr>
              <a:t>The dataset is unevenly balanced; four classes have only 400 images each, which makes their individual metrics noisier.</a:t>
            </a:r>
          </a:p>
          <a:p>
            <a:pPr algn="l">
              <a:lnSpc>
                <a:spcPct val="124000"/>
              </a:lnSpc>
              <a:spcBef>
                <a:spcPts val="0"/>
              </a:spcBef>
              <a:spcAft>
                <a:spcPts val="700"/>
              </a:spcAft>
            </a:pPr>
            <a:r>
              <a:rPr sz="1050" b="1">
                <a:solidFill>
                  <a:srgbClr val="0070C0"/>
                </a:solidFill>
                <a:latin typeface="Calibri"/>
              </a:rPr>
              <a:t>•   </a:t>
            </a:r>
            <a:r>
              <a:rPr sz="1050" b="0" i="0">
                <a:solidFill>
                  <a:srgbClr val="303030"/>
                </a:solidFill>
                <a:latin typeface="Calibri"/>
              </a:rPr>
              <a:t>Both models trained on a short schedule of 5 epochs per stage, to fit a CPU-only compute budget.</a:t>
            </a:r>
          </a:p>
          <a:p>
            <a:pPr algn="l">
              <a:lnSpc>
                <a:spcPct val="124000"/>
              </a:lnSpc>
              <a:spcBef>
                <a:spcPts val="0"/>
              </a:spcBef>
              <a:spcAft>
                <a:spcPts val="700"/>
              </a:spcAft>
            </a:pPr>
            <a:r>
              <a:rPr sz="1050" b="1">
                <a:solidFill>
                  <a:srgbClr val="0070C0"/>
                </a:solidFill>
                <a:latin typeface="Calibri"/>
              </a:rPr>
              <a:t>•   </a:t>
            </a:r>
            <a:r>
              <a:rPr sz="1050" b="0" i="0">
                <a:solidFill>
                  <a:srgbClr val="303030"/>
                </a:solidFill>
                <a:latin typeface="Calibri"/>
              </a:rPr>
              <a:t>Only MobileNetV2 was tested as a backbone, and Phase 2 has not been evaluated at the time of writing.</a:t>
            </a:r>
          </a:p>
        </p:txBody>
      </p:sp>
      <p:sp>
        <p:nvSpPr>
          <p:cNvPr id="12" name="TextBox 11"/>
          <p:cNvSpPr txBox="1"/>
          <p:nvPr/>
        </p:nvSpPr>
        <p:spPr>
          <a:xfrm>
            <a:off x="5219700" y="3040491"/>
            <a:ext cx="4279900" cy="188823"/>
          </a:xfrm>
          <a:prstGeom prst="rect">
            <a:avLst/>
          </a:prstGeom>
          <a:noFill/>
        </p:spPr>
        <p:txBody>
          <a:bodyPr wrap="square" lIns="0" rIns="0" tIns="0" bIns="0" anchor="t">
            <a:spAutoFit/>
          </a:bodyPr>
          <a:lstStyle/>
          <a:p>
            <a:pPr algn="l">
              <a:lnSpc>
                <a:spcPct val="110000"/>
              </a:lnSpc>
              <a:spcBef>
                <a:spcPts val="0"/>
              </a:spcBef>
              <a:spcAft>
                <a:spcPts val="0"/>
              </a:spcAft>
            </a:pPr>
            <a:r>
              <a:rPr sz="950" b="1" i="0">
                <a:solidFill>
                  <a:srgbClr val="0070C0"/>
                </a:solidFill>
                <a:latin typeface="Calibri"/>
              </a:rPr>
              <a:t>FUTURE WORK</a:t>
            </a:r>
          </a:p>
        </p:txBody>
      </p:sp>
      <p:sp>
        <p:nvSpPr>
          <p:cNvPr id="13" name="TextBox 12"/>
          <p:cNvSpPr txBox="1"/>
          <p:nvPr/>
        </p:nvSpPr>
        <p:spPr>
          <a:xfrm>
            <a:off x="5219700" y="3356315"/>
            <a:ext cx="254000" cy="239146"/>
          </a:xfrm>
          <a:prstGeom prst="rect">
            <a:avLst/>
          </a:prstGeom>
          <a:noFill/>
        </p:spPr>
        <p:txBody>
          <a:bodyPr wrap="square" lIns="0" rIns="0" tIns="0" bIns="0" anchor="t">
            <a:spAutoFit/>
          </a:bodyPr>
          <a:lstStyle/>
          <a:p>
            <a:pPr algn="l">
              <a:lnSpc>
                <a:spcPct val="124000"/>
              </a:lnSpc>
              <a:spcBef>
                <a:spcPts val="0"/>
              </a:spcBef>
              <a:spcAft>
                <a:spcPts val="0"/>
              </a:spcAft>
            </a:pPr>
            <a:r>
              <a:rPr sz="1150" b="1" i="0">
                <a:solidFill>
                  <a:srgbClr val="0070C0"/>
                </a:solidFill>
                <a:latin typeface="Calibri"/>
              </a:rPr>
              <a:t>1.</a:t>
            </a:r>
          </a:p>
        </p:txBody>
      </p:sp>
      <p:sp>
        <p:nvSpPr>
          <p:cNvPr id="14" name="TextBox 13"/>
          <p:cNvSpPr txBox="1"/>
          <p:nvPr/>
        </p:nvSpPr>
        <p:spPr>
          <a:xfrm>
            <a:off x="5499100" y="3356315"/>
            <a:ext cx="3644900" cy="796127"/>
          </a:xfrm>
          <a:prstGeom prst="rect">
            <a:avLst/>
          </a:prstGeom>
          <a:noFill/>
        </p:spPr>
        <p:txBody>
          <a:bodyPr wrap="square" lIns="0" rIns="0" tIns="0" bIns="0" anchor="t">
            <a:spAutoFit/>
          </a:bodyPr>
          <a:lstStyle/>
          <a:p>
            <a:pPr algn="l">
              <a:lnSpc>
                <a:spcPct val="114000"/>
              </a:lnSpc>
              <a:spcBef>
                <a:spcPts val="0"/>
              </a:spcBef>
              <a:spcAft>
                <a:spcPts val="300"/>
              </a:spcAft>
            </a:pPr>
            <a:r>
              <a:rPr sz="1150" b="1" i="0">
                <a:solidFill>
                  <a:srgbClr val="1A1A1A"/>
                </a:solidFill>
                <a:latin typeface="Calibri"/>
              </a:rPr>
              <a:t>Finish and evaluate Phase 2</a:t>
            </a:r>
          </a:p>
          <a:p>
            <a:pPr algn="l">
              <a:lnSpc>
                <a:spcPct val="128000"/>
              </a:lnSpc>
              <a:spcBef>
                <a:spcPts val="0"/>
              </a:spcBef>
              <a:spcAft>
                <a:spcPts val="0"/>
              </a:spcAft>
            </a:pPr>
            <a:r>
              <a:rPr sz="1050" b="0" i="0">
                <a:solidFill>
                  <a:srgbClr val="303030"/>
                </a:solidFill>
                <a:latin typeface="Calibri"/>
              </a:rPr>
              <a:t>Complete the EfficientNetB0 and ensemble pipeline, and measure how much it actually improves on the 80.41% baseline.</a:t>
            </a:r>
          </a:p>
        </p:txBody>
      </p:sp>
      <p:sp>
        <p:nvSpPr>
          <p:cNvPr id="15" name="TextBox 14"/>
          <p:cNvSpPr txBox="1"/>
          <p:nvPr/>
        </p:nvSpPr>
        <p:spPr>
          <a:xfrm>
            <a:off x="5219700" y="4304842"/>
            <a:ext cx="254000" cy="239146"/>
          </a:xfrm>
          <a:prstGeom prst="rect">
            <a:avLst/>
          </a:prstGeom>
          <a:noFill/>
        </p:spPr>
        <p:txBody>
          <a:bodyPr wrap="square" lIns="0" rIns="0" tIns="0" bIns="0" anchor="t">
            <a:spAutoFit/>
          </a:bodyPr>
          <a:lstStyle/>
          <a:p>
            <a:pPr algn="l">
              <a:lnSpc>
                <a:spcPct val="124000"/>
              </a:lnSpc>
              <a:spcBef>
                <a:spcPts val="0"/>
              </a:spcBef>
              <a:spcAft>
                <a:spcPts val="0"/>
              </a:spcAft>
            </a:pPr>
            <a:r>
              <a:rPr sz="1150" b="1" i="0">
                <a:solidFill>
                  <a:srgbClr val="0070C0"/>
                </a:solidFill>
                <a:latin typeface="Calibri"/>
              </a:rPr>
              <a:t>2.</a:t>
            </a:r>
          </a:p>
        </p:txBody>
      </p:sp>
      <p:sp>
        <p:nvSpPr>
          <p:cNvPr id="16" name="TextBox 15"/>
          <p:cNvSpPr txBox="1"/>
          <p:nvPr/>
        </p:nvSpPr>
        <p:spPr>
          <a:xfrm>
            <a:off x="5499100" y="4304842"/>
            <a:ext cx="3644900" cy="796127"/>
          </a:xfrm>
          <a:prstGeom prst="rect">
            <a:avLst/>
          </a:prstGeom>
          <a:noFill/>
        </p:spPr>
        <p:txBody>
          <a:bodyPr wrap="square" lIns="0" rIns="0" tIns="0" bIns="0" anchor="t">
            <a:spAutoFit/>
          </a:bodyPr>
          <a:lstStyle/>
          <a:p>
            <a:pPr algn="l">
              <a:lnSpc>
                <a:spcPct val="114000"/>
              </a:lnSpc>
              <a:spcBef>
                <a:spcPts val="0"/>
              </a:spcBef>
              <a:spcAft>
                <a:spcPts val="300"/>
              </a:spcAft>
            </a:pPr>
            <a:r>
              <a:rPr sz="1150" b="1" i="0">
                <a:solidFill>
                  <a:srgbClr val="1A1A1A"/>
                </a:solidFill>
                <a:latin typeface="Calibri"/>
              </a:rPr>
              <a:t>Test on outside data</a:t>
            </a:r>
          </a:p>
          <a:p>
            <a:pPr algn="l">
              <a:lnSpc>
                <a:spcPct val="128000"/>
              </a:lnSpc>
              <a:spcBef>
                <a:spcPts val="0"/>
              </a:spcBef>
              <a:spcAft>
                <a:spcPts val="0"/>
              </a:spcAft>
            </a:pPr>
            <a:r>
              <a:rPr sz="1050" b="0" i="0">
                <a:solidFill>
                  <a:srgbClr val="303030"/>
                </a:solidFill>
                <a:latin typeface="Calibri"/>
              </a:rPr>
              <a:t>Different lighting, different backgrounds and produce types beyond the current 14 — a stronger test of robustness than a held-out split.</a:t>
            </a:r>
          </a:p>
        </p:txBody>
      </p:sp>
      <p:sp>
        <p:nvSpPr>
          <p:cNvPr id="17" name="TextBox 16"/>
          <p:cNvSpPr txBox="1"/>
          <p:nvPr/>
        </p:nvSpPr>
        <p:spPr>
          <a:xfrm>
            <a:off x="5219700" y="5253370"/>
            <a:ext cx="254000" cy="239146"/>
          </a:xfrm>
          <a:prstGeom prst="rect">
            <a:avLst/>
          </a:prstGeom>
          <a:noFill/>
        </p:spPr>
        <p:txBody>
          <a:bodyPr wrap="square" lIns="0" rIns="0" tIns="0" bIns="0" anchor="t">
            <a:spAutoFit/>
          </a:bodyPr>
          <a:lstStyle/>
          <a:p>
            <a:pPr algn="l">
              <a:lnSpc>
                <a:spcPct val="124000"/>
              </a:lnSpc>
              <a:spcBef>
                <a:spcPts val="0"/>
              </a:spcBef>
              <a:spcAft>
                <a:spcPts val="0"/>
              </a:spcAft>
            </a:pPr>
            <a:r>
              <a:rPr sz="1150" b="1" i="0">
                <a:solidFill>
                  <a:srgbClr val="0070C0"/>
                </a:solidFill>
                <a:latin typeface="Calibri"/>
              </a:rPr>
              <a:t>3.</a:t>
            </a:r>
          </a:p>
        </p:txBody>
      </p:sp>
      <p:sp>
        <p:nvSpPr>
          <p:cNvPr id="18" name="TextBox 17"/>
          <p:cNvSpPr txBox="1"/>
          <p:nvPr/>
        </p:nvSpPr>
        <p:spPr>
          <a:xfrm>
            <a:off x="5499100" y="5253370"/>
            <a:ext cx="3644900" cy="618611"/>
          </a:xfrm>
          <a:prstGeom prst="rect">
            <a:avLst/>
          </a:prstGeom>
          <a:noFill/>
        </p:spPr>
        <p:txBody>
          <a:bodyPr wrap="square" lIns="0" rIns="0" tIns="0" bIns="0" anchor="t">
            <a:spAutoFit/>
          </a:bodyPr>
          <a:lstStyle/>
          <a:p>
            <a:pPr algn="l">
              <a:lnSpc>
                <a:spcPct val="114000"/>
              </a:lnSpc>
              <a:spcBef>
                <a:spcPts val="0"/>
              </a:spcBef>
              <a:spcAft>
                <a:spcPts val="300"/>
              </a:spcAft>
            </a:pPr>
            <a:r>
              <a:rPr sz="1150" b="1" i="0">
                <a:solidFill>
                  <a:srgbClr val="1A1A1A"/>
                </a:solidFill>
                <a:latin typeface="Calibri"/>
              </a:rPr>
              <a:t>Build something people can use</a:t>
            </a:r>
          </a:p>
          <a:p>
            <a:pPr algn="l">
              <a:lnSpc>
                <a:spcPct val="128000"/>
              </a:lnSpc>
              <a:spcBef>
                <a:spcPts val="0"/>
              </a:spcBef>
              <a:spcAft>
                <a:spcPts val="0"/>
              </a:spcAft>
            </a:pPr>
            <a:r>
              <a:rPr sz="1050" b="0" i="0">
                <a:solidFill>
                  <a:srgbClr val="303030"/>
                </a:solidFill>
                <a:latin typeface="Calibri"/>
              </a:rPr>
              <a:t>MobileNetV2 is cheap to run, so a camera-based tool such as a mobile app is a natural next step.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367792"/>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LEARNING OUTCOMES</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14</a:t>
            </a:r>
          </a:p>
        </p:txBody>
      </p:sp>
      <p:sp>
        <p:nvSpPr>
          <p:cNvPr id="7" name="TextBox 6"/>
          <p:cNvSpPr txBox="1"/>
          <p:nvPr/>
        </p:nvSpPr>
        <p:spPr>
          <a:xfrm>
            <a:off x="584200" y="1320800"/>
            <a:ext cx="330200" cy="263712"/>
          </a:xfrm>
          <a:prstGeom prst="rect">
            <a:avLst/>
          </a:prstGeom>
          <a:noFill/>
        </p:spPr>
        <p:txBody>
          <a:bodyPr wrap="square" lIns="0" rIns="0" tIns="0" bIns="0" anchor="t">
            <a:spAutoFit/>
          </a:bodyPr>
          <a:lstStyle/>
          <a:p>
            <a:pPr algn="l">
              <a:lnSpc>
                <a:spcPct val="124000"/>
              </a:lnSpc>
              <a:spcBef>
                <a:spcPts val="0"/>
              </a:spcBef>
              <a:spcAft>
                <a:spcPts val="0"/>
              </a:spcAft>
            </a:pPr>
            <a:r>
              <a:rPr sz="1300" b="1" i="0">
                <a:solidFill>
                  <a:srgbClr val="0070C0"/>
                </a:solidFill>
                <a:latin typeface="Calibri"/>
              </a:rPr>
              <a:t>01</a:t>
            </a:r>
          </a:p>
        </p:txBody>
      </p:sp>
      <p:sp>
        <p:nvSpPr>
          <p:cNvPr id="8" name="TextBox 7"/>
          <p:cNvSpPr txBox="1"/>
          <p:nvPr/>
        </p:nvSpPr>
        <p:spPr>
          <a:xfrm>
            <a:off x="990600" y="1320800"/>
            <a:ext cx="3873500" cy="871677"/>
          </a:xfrm>
          <a:prstGeom prst="rect">
            <a:avLst/>
          </a:prstGeom>
          <a:noFill/>
        </p:spPr>
        <p:txBody>
          <a:bodyPr wrap="square" lIns="0" rIns="0" tIns="0" bIns="0" anchor="t">
            <a:spAutoFit/>
          </a:bodyPr>
          <a:lstStyle/>
          <a:p>
            <a:pPr algn="l">
              <a:lnSpc>
                <a:spcPct val="114000"/>
              </a:lnSpc>
              <a:spcBef>
                <a:spcPts val="0"/>
              </a:spcBef>
              <a:spcAft>
                <a:spcPts val="500"/>
              </a:spcAft>
            </a:pPr>
            <a:r>
              <a:rPr sz="1250" b="1" i="0">
                <a:solidFill>
                  <a:srgbClr val="1A1A1A"/>
                </a:solidFill>
                <a:latin typeface="Calibri"/>
              </a:rPr>
              <a:t>Reading the literature to find a real gap</a:t>
            </a:r>
          </a:p>
          <a:p>
            <a:pPr algn="l">
              <a:lnSpc>
                <a:spcPct val="130000"/>
              </a:lnSpc>
              <a:spcBef>
                <a:spcPts val="0"/>
              </a:spcBef>
              <a:spcAft>
                <a:spcPts val="0"/>
              </a:spcAft>
            </a:pPr>
            <a:r>
              <a:rPr sz="1100" b="0" i="0">
                <a:solidFill>
                  <a:srgbClr val="303030"/>
                </a:solidFill>
                <a:latin typeface="Calibri"/>
              </a:rPr>
              <a:t>Existing work is either binary across two or three produce types, or finer-grained but fully hand-labelled. Seeing that gap is what set the direction of the project.</a:t>
            </a:r>
          </a:p>
        </p:txBody>
      </p:sp>
      <p:sp>
        <p:nvSpPr>
          <p:cNvPr id="9" name="TextBox 8"/>
          <p:cNvSpPr txBox="1"/>
          <p:nvPr/>
        </p:nvSpPr>
        <p:spPr>
          <a:xfrm>
            <a:off x="5219700" y="1320800"/>
            <a:ext cx="330200" cy="263712"/>
          </a:xfrm>
          <a:prstGeom prst="rect">
            <a:avLst/>
          </a:prstGeom>
          <a:noFill/>
        </p:spPr>
        <p:txBody>
          <a:bodyPr wrap="square" lIns="0" rIns="0" tIns="0" bIns="0" anchor="t">
            <a:spAutoFit/>
          </a:bodyPr>
          <a:lstStyle/>
          <a:p>
            <a:pPr algn="l">
              <a:lnSpc>
                <a:spcPct val="124000"/>
              </a:lnSpc>
              <a:spcBef>
                <a:spcPts val="0"/>
              </a:spcBef>
              <a:spcAft>
                <a:spcPts val="0"/>
              </a:spcAft>
            </a:pPr>
            <a:r>
              <a:rPr sz="1300" b="1" i="0">
                <a:solidFill>
                  <a:srgbClr val="0070C0"/>
                </a:solidFill>
                <a:latin typeface="Calibri"/>
              </a:rPr>
              <a:t>02</a:t>
            </a:r>
          </a:p>
        </p:txBody>
      </p:sp>
      <p:sp>
        <p:nvSpPr>
          <p:cNvPr id="10" name="TextBox 9"/>
          <p:cNvSpPr txBox="1"/>
          <p:nvPr/>
        </p:nvSpPr>
        <p:spPr>
          <a:xfrm>
            <a:off x="5626100" y="1320800"/>
            <a:ext cx="3873500" cy="871677"/>
          </a:xfrm>
          <a:prstGeom prst="rect">
            <a:avLst/>
          </a:prstGeom>
          <a:noFill/>
        </p:spPr>
        <p:txBody>
          <a:bodyPr wrap="square" lIns="0" rIns="0" tIns="0" bIns="0" anchor="t">
            <a:spAutoFit/>
          </a:bodyPr>
          <a:lstStyle/>
          <a:p>
            <a:pPr algn="l">
              <a:lnSpc>
                <a:spcPct val="114000"/>
              </a:lnSpc>
              <a:spcBef>
                <a:spcPts val="0"/>
              </a:spcBef>
              <a:spcAft>
                <a:spcPts val="500"/>
              </a:spcAft>
            </a:pPr>
            <a:r>
              <a:rPr sz="1250" b="1" i="0">
                <a:solidFill>
                  <a:srgbClr val="1A1A1A"/>
                </a:solidFill>
                <a:latin typeface="Calibri"/>
              </a:rPr>
              <a:t>Transfer learning in practice</a:t>
            </a:r>
          </a:p>
          <a:p>
            <a:pPr algn="l">
              <a:lnSpc>
                <a:spcPct val="130000"/>
              </a:lnSpc>
              <a:spcBef>
                <a:spcPts val="0"/>
              </a:spcBef>
              <a:spcAft>
                <a:spcPts val="0"/>
              </a:spcAft>
            </a:pPr>
            <a:r>
              <a:rPr sz="1100" b="0" i="0">
                <a:solidFill>
                  <a:srgbClr val="303030"/>
                </a:solidFill>
                <a:latin typeface="Calibri"/>
              </a:rPr>
              <a:t>When to freeze a backbone, when to fine-tune it, and why a fine-tuning learning rate has to be far smaller than the original one.</a:t>
            </a:r>
          </a:p>
        </p:txBody>
      </p:sp>
      <p:cxnSp>
        <p:nvCxnSpPr>
          <p:cNvPr id="11" name="Connector 10"/>
          <p:cNvCxnSpPr/>
          <p:nvPr/>
        </p:nvCxnSpPr>
        <p:spPr>
          <a:xfrm>
            <a:off x="584200" y="2548077"/>
            <a:ext cx="8915400" cy="0"/>
          </a:xfrm>
          <a:prstGeom prst="line">
            <a:avLst/>
          </a:prstGeom>
          <a:ln w="7620">
            <a:solidFill>
              <a:srgbClr val="DDDDD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84200" y="2929077"/>
            <a:ext cx="330200" cy="263712"/>
          </a:xfrm>
          <a:prstGeom prst="rect">
            <a:avLst/>
          </a:prstGeom>
          <a:noFill/>
        </p:spPr>
        <p:txBody>
          <a:bodyPr wrap="square" lIns="0" rIns="0" tIns="0" bIns="0" anchor="t">
            <a:spAutoFit/>
          </a:bodyPr>
          <a:lstStyle/>
          <a:p>
            <a:pPr algn="l">
              <a:lnSpc>
                <a:spcPct val="124000"/>
              </a:lnSpc>
              <a:spcBef>
                <a:spcPts val="0"/>
              </a:spcBef>
              <a:spcAft>
                <a:spcPts val="0"/>
              </a:spcAft>
            </a:pPr>
            <a:r>
              <a:rPr sz="1300" b="1" i="0">
                <a:solidFill>
                  <a:srgbClr val="0070C0"/>
                </a:solidFill>
                <a:latin typeface="Calibri"/>
              </a:rPr>
              <a:t>03</a:t>
            </a:r>
          </a:p>
        </p:txBody>
      </p:sp>
      <p:sp>
        <p:nvSpPr>
          <p:cNvPr id="13" name="TextBox 12"/>
          <p:cNvSpPr txBox="1"/>
          <p:nvPr/>
        </p:nvSpPr>
        <p:spPr>
          <a:xfrm>
            <a:off x="990600" y="2929077"/>
            <a:ext cx="3873500" cy="871677"/>
          </a:xfrm>
          <a:prstGeom prst="rect">
            <a:avLst/>
          </a:prstGeom>
          <a:noFill/>
        </p:spPr>
        <p:txBody>
          <a:bodyPr wrap="square" lIns="0" rIns="0" tIns="0" bIns="0" anchor="t">
            <a:spAutoFit/>
          </a:bodyPr>
          <a:lstStyle/>
          <a:p>
            <a:pPr algn="l">
              <a:lnSpc>
                <a:spcPct val="114000"/>
              </a:lnSpc>
              <a:spcBef>
                <a:spcPts val="0"/>
              </a:spcBef>
              <a:spcAft>
                <a:spcPts val="500"/>
              </a:spcAft>
            </a:pPr>
            <a:r>
              <a:rPr sz="1250" b="1" i="0">
                <a:solidFill>
                  <a:srgbClr val="1A1A1A"/>
                </a:solidFill>
                <a:latin typeface="Calibri"/>
              </a:rPr>
              <a:t>Classical computer vision as a practical tool</a:t>
            </a:r>
          </a:p>
          <a:p>
            <a:pPr algn="l">
              <a:lnSpc>
                <a:spcPct val="130000"/>
              </a:lnSpc>
              <a:spcBef>
                <a:spcPts val="0"/>
              </a:spcBef>
              <a:spcAft>
                <a:spcPts val="0"/>
              </a:spcAft>
            </a:pPr>
            <a:r>
              <a:rPr sz="1100" b="0" i="0">
                <a:solidFill>
                  <a:srgbClr val="303030"/>
                </a:solidFill>
                <a:latin typeface="Calibri"/>
              </a:rPr>
              <a:t>HSV thresholding and morphological operations solved a labelling problem that deep learning alone could not solve cheaply.</a:t>
            </a:r>
          </a:p>
        </p:txBody>
      </p:sp>
      <p:sp>
        <p:nvSpPr>
          <p:cNvPr id="14" name="TextBox 13"/>
          <p:cNvSpPr txBox="1"/>
          <p:nvPr/>
        </p:nvSpPr>
        <p:spPr>
          <a:xfrm>
            <a:off x="5219700" y="2929077"/>
            <a:ext cx="330200" cy="263712"/>
          </a:xfrm>
          <a:prstGeom prst="rect">
            <a:avLst/>
          </a:prstGeom>
          <a:noFill/>
        </p:spPr>
        <p:txBody>
          <a:bodyPr wrap="square" lIns="0" rIns="0" tIns="0" bIns="0" anchor="t">
            <a:spAutoFit/>
          </a:bodyPr>
          <a:lstStyle/>
          <a:p>
            <a:pPr algn="l">
              <a:lnSpc>
                <a:spcPct val="124000"/>
              </a:lnSpc>
              <a:spcBef>
                <a:spcPts val="0"/>
              </a:spcBef>
              <a:spcAft>
                <a:spcPts val="0"/>
              </a:spcAft>
            </a:pPr>
            <a:r>
              <a:rPr sz="1300" b="1" i="0">
                <a:solidFill>
                  <a:srgbClr val="0070C0"/>
                </a:solidFill>
                <a:latin typeface="Calibri"/>
              </a:rPr>
              <a:t>04</a:t>
            </a:r>
          </a:p>
        </p:txBody>
      </p:sp>
      <p:sp>
        <p:nvSpPr>
          <p:cNvPr id="15" name="TextBox 14"/>
          <p:cNvSpPr txBox="1"/>
          <p:nvPr/>
        </p:nvSpPr>
        <p:spPr>
          <a:xfrm>
            <a:off x="5626100" y="2929077"/>
            <a:ext cx="3873500" cy="871677"/>
          </a:xfrm>
          <a:prstGeom prst="rect">
            <a:avLst/>
          </a:prstGeom>
          <a:noFill/>
        </p:spPr>
        <p:txBody>
          <a:bodyPr wrap="square" lIns="0" rIns="0" tIns="0" bIns="0" anchor="t">
            <a:spAutoFit/>
          </a:bodyPr>
          <a:lstStyle/>
          <a:p>
            <a:pPr algn="l">
              <a:lnSpc>
                <a:spcPct val="114000"/>
              </a:lnSpc>
              <a:spcBef>
                <a:spcPts val="0"/>
              </a:spcBef>
              <a:spcAft>
                <a:spcPts val="500"/>
              </a:spcAft>
            </a:pPr>
            <a:r>
              <a:rPr sz="1250" b="1" i="0">
                <a:solidFill>
                  <a:srgbClr val="1A1A1A"/>
                </a:solidFill>
                <a:latin typeface="Calibri"/>
              </a:rPr>
              <a:t>Reading model behaviour from its outputs</a:t>
            </a:r>
          </a:p>
          <a:p>
            <a:pPr algn="l">
              <a:lnSpc>
                <a:spcPct val="130000"/>
              </a:lnSpc>
              <a:spcBef>
                <a:spcPts val="0"/>
              </a:spcBef>
              <a:spcAft>
                <a:spcPts val="0"/>
              </a:spcAft>
            </a:pPr>
            <a:r>
              <a:rPr sz="1100" b="0" i="0">
                <a:solidFill>
                  <a:srgbClr val="303030"/>
                </a:solidFill>
                <a:latin typeface="Calibri"/>
              </a:rPr>
              <a:t>Training curves, per-class precision and recall told us far more about what was wrong than overall accuracy ever did.</a:t>
            </a:r>
          </a:p>
        </p:txBody>
      </p:sp>
      <p:cxnSp>
        <p:nvCxnSpPr>
          <p:cNvPr id="16" name="Connector 15"/>
          <p:cNvCxnSpPr/>
          <p:nvPr/>
        </p:nvCxnSpPr>
        <p:spPr>
          <a:xfrm>
            <a:off x="584200" y="4156354"/>
            <a:ext cx="8915400" cy="0"/>
          </a:xfrm>
          <a:prstGeom prst="line">
            <a:avLst/>
          </a:prstGeom>
          <a:ln w="7620">
            <a:solidFill>
              <a:srgbClr val="DDDD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84200" y="4537354"/>
            <a:ext cx="330200" cy="263712"/>
          </a:xfrm>
          <a:prstGeom prst="rect">
            <a:avLst/>
          </a:prstGeom>
          <a:noFill/>
        </p:spPr>
        <p:txBody>
          <a:bodyPr wrap="square" lIns="0" rIns="0" tIns="0" bIns="0" anchor="t">
            <a:spAutoFit/>
          </a:bodyPr>
          <a:lstStyle/>
          <a:p>
            <a:pPr algn="l">
              <a:lnSpc>
                <a:spcPct val="124000"/>
              </a:lnSpc>
              <a:spcBef>
                <a:spcPts val="0"/>
              </a:spcBef>
              <a:spcAft>
                <a:spcPts val="0"/>
              </a:spcAft>
            </a:pPr>
            <a:r>
              <a:rPr sz="1300" b="1" i="0">
                <a:solidFill>
                  <a:srgbClr val="0070C0"/>
                </a:solidFill>
                <a:latin typeface="Calibri"/>
              </a:rPr>
              <a:t>05</a:t>
            </a:r>
          </a:p>
        </p:txBody>
      </p:sp>
      <p:sp>
        <p:nvSpPr>
          <p:cNvPr id="18" name="TextBox 17"/>
          <p:cNvSpPr txBox="1"/>
          <p:nvPr/>
        </p:nvSpPr>
        <p:spPr>
          <a:xfrm>
            <a:off x="990600" y="4537354"/>
            <a:ext cx="3873500" cy="871677"/>
          </a:xfrm>
          <a:prstGeom prst="rect">
            <a:avLst/>
          </a:prstGeom>
          <a:noFill/>
        </p:spPr>
        <p:txBody>
          <a:bodyPr wrap="square" lIns="0" rIns="0" tIns="0" bIns="0" anchor="t">
            <a:spAutoFit/>
          </a:bodyPr>
          <a:lstStyle/>
          <a:p>
            <a:pPr algn="l">
              <a:lnSpc>
                <a:spcPct val="114000"/>
              </a:lnSpc>
              <a:spcBef>
                <a:spcPts val="0"/>
              </a:spcBef>
              <a:spcAft>
                <a:spcPts val="500"/>
              </a:spcAft>
            </a:pPr>
            <a:r>
              <a:rPr sz="1250" b="1" i="0">
                <a:solidFill>
                  <a:srgbClr val="1A1A1A"/>
                </a:solidFill>
                <a:latin typeface="Calibri"/>
              </a:rPr>
              <a:t>Working inside a real compute budget</a:t>
            </a:r>
          </a:p>
          <a:p>
            <a:pPr algn="l">
              <a:lnSpc>
                <a:spcPct val="130000"/>
              </a:lnSpc>
              <a:spcBef>
                <a:spcPts val="0"/>
              </a:spcBef>
              <a:spcAft>
                <a:spcPts val="0"/>
              </a:spcAft>
            </a:pPr>
            <a:r>
              <a:rPr sz="1100" b="0" i="0">
                <a:solidFill>
                  <a:srgbClr val="303030"/>
                </a:solidFill>
                <a:latin typeface="Calibri"/>
              </a:rPr>
              <a:t>All training ran on a CPU-only machine, which shaped the choice of backbone, the number of epochs and the input size.</a:t>
            </a:r>
          </a:p>
        </p:txBody>
      </p:sp>
      <p:sp>
        <p:nvSpPr>
          <p:cNvPr id="19" name="TextBox 18"/>
          <p:cNvSpPr txBox="1"/>
          <p:nvPr/>
        </p:nvSpPr>
        <p:spPr>
          <a:xfrm>
            <a:off x="5219700" y="4537354"/>
            <a:ext cx="330200" cy="263712"/>
          </a:xfrm>
          <a:prstGeom prst="rect">
            <a:avLst/>
          </a:prstGeom>
          <a:noFill/>
        </p:spPr>
        <p:txBody>
          <a:bodyPr wrap="square" lIns="0" rIns="0" tIns="0" bIns="0" anchor="t">
            <a:spAutoFit/>
          </a:bodyPr>
          <a:lstStyle/>
          <a:p>
            <a:pPr algn="l">
              <a:lnSpc>
                <a:spcPct val="124000"/>
              </a:lnSpc>
              <a:spcBef>
                <a:spcPts val="0"/>
              </a:spcBef>
              <a:spcAft>
                <a:spcPts val="0"/>
              </a:spcAft>
            </a:pPr>
            <a:r>
              <a:rPr sz="1300" b="1" i="0">
                <a:solidFill>
                  <a:srgbClr val="0070C0"/>
                </a:solidFill>
                <a:latin typeface="Calibri"/>
              </a:rPr>
              <a:t>06</a:t>
            </a:r>
          </a:p>
        </p:txBody>
      </p:sp>
      <p:sp>
        <p:nvSpPr>
          <p:cNvPr id="20" name="TextBox 19"/>
          <p:cNvSpPr txBox="1"/>
          <p:nvPr/>
        </p:nvSpPr>
        <p:spPr>
          <a:xfrm>
            <a:off x="5626100" y="4537354"/>
            <a:ext cx="3873500" cy="871677"/>
          </a:xfrm>
          <a:prstGeom prst="rect">
            <a:avLst/>
          </a:prstGeom>
          <a:noFill/>
        </p:spPr>
        <p:txBody>
          <a:bodyPr wrap="square" lIns="0" rIns="0" tIns="0" bIns="0" anchor="t">
            <a:spAutoFit/>
          </a:bodyPr>
          <a:lstStyle/>
          <a:p>
            <a:pPr algn="l">
              <a:lnSpc>
                <a:spcPct val="114000"/>
              </a:lnSpc>
              <a:spcBef>
                <a:spcPts val="0"/>
              </a:spcBef>
              <a:spcAft>
                <a:spcPts val="500"/>
              </a:spcAft>
            </a:pPr>
            <a:r>
              <a:rPr sz="1250" b="1" i="0">
                <a:solidFill>
                  <a:srgbClr val="1A1A1A"/>
                </a:solidFill>
                <a:latin typeface="Calibri"/>
              </a:rPr>
              <a:t>Stating a system's limits honestly</a:t>
            </a:r>
          </a:p>
          <a:p>
            <a:pPr algn="l">
              <a:lnSpc>
                <a:spcPct val="130000"/>
              </a:lnSpc>
              <a:spcBef>
                <a:spcPts val="0"/>
              </a:spcBef>
              <a:spcAft>
                <a:spcPts val="0"/>
              </a:spcAft>
            </a:pPr>
            <a:r>
              <a:rPr sz="1100" b="0" i="0">
                <a:solidFill>
                  <a:srgbClr val="303030"/>
                </a:solidFill>
                <a:latin typeface="Calibri"/>
              </a:rPr>
              <a:t>80.41% measures agreement with our own heuristic, not verified ground truth — saying so plainly is part of reporting a result properly.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57200"/>
            <a:ext cx="8915400" cy="367792"/>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0070C0"/>
                </a:solidFill>
                <a:latin typeface="Calibri"/>
              </a:rPr>
              <a:t>REFERENCES</a:t>
            </a:r>
          </a:p>
        </p:txBody>
      </p:sp>
      <p:cxnSp>
        <p:nvCxnSpPr>
          <p:cNvPr id="3" name="Connector 2"/>
          <p:cNvCxnSpPr/>
          <p:nvPr/>
        </p:nvCxnSpPr>
        <p:spPr>
          <a:xfrm>
            <a:off x="584200" y="939800"/>
            <a:ext cx="8915400" cy="0"/>
          </a:xfrm>
          <a:prstGeom prst="line">
            <a:avLst/>
          </a:prstGeom>
          <a:ln w="222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112000"/>
            <a:ext cx="8915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686550" cy="190012"/>
          </a:xfrm>
          <a:prstGeom prst="rect">
            <a:avLst/>
          </a:prstGeom>
          <a:noFill/>
        </p:spPr>
        <p:txBody>
          <a:bodyPr wrap="square" lIns="0" rIns="0" tIns="0" bIns="0" anchor="t">
            <a:spAutoFit/>
          </a:bodyPr>
          <a:lstStyle/>
          <a:p>
            <a:pPr algn="l">
              <a:lnSpc>
                <a:spcPct val="124000"/>
              </a:lnSpc>
              <a:spcBef>
                <a:spcPts val="0"/>
              </a:spcBef>
              <a:spcAft>
                <a:spcPts val="0"/>
              </a:spcAft>
            </a:pPr>
            <a:r>
              <a:rPr sz="850" b="0" i="0">
                <a:solidFill>
                  <a:srgbClr val="666666"/>
                </a:solidFill>
                <a:latin typeface="Calibri"/>
              </a:rPr>
              <a:t>FreshVision  |  Practice School-II  |  BML Munjal University</a:t>
            </a:r>
          </a:p>
        </p:txBody>
      </p:sp>
      <p:sp>
        <p:nvSpPr>
          <p:cNvPr id="6" name="TextBox 5"/>
          <p:cNvSpPr txBox="1"/>
          <p:nvPr/>
        </p:nvSpPr>
        <p:spPr>
          <a:xfrm>
            <a:off x="8864600" y="7188200"/>
            <a:ext cx="635000" cy="190012"/>
          </a:xfrm>
          <a:prstGeom prst="rect">
            <a:avLst/>
          </a:prstGeom>
          <a:noFill/>
        </p:spPr>
        <p:txBody>
          <a:bodyPr wrap="square" lIns="0" rIns="0" tIns="0" bIns="0" anchor="t">
            <a:spAutoFit/>
          </a:bodyPr>
          <a:lstStyle/>
          <a:p>
            <a:pPr algn="r">
              <a:lnSpc>
                <a:spcPct val="124000"/>
              </a:lnSpc>
              <a:spcBef>
                <a:spcPts val="0"/>
              </a:spcBef>
              <a:spcAft>
                <a:spcPts val="0"/>
              </a:spcAft>
            </a:pPr>
            <a:r>
              <a:rPr sz="850" b="1" i="0">
                <a:solidFill>
                  <a:srgbClr val="666666"/>
                </a:solidFill>
                <a:latin typeface="Calibri"/>
              </a:rPr>
              <a:t>15</a:t>
            </a:r>
          </a:p>
        </p:txBody>
      </p:sp>
      <p:sp>
        <p:nvSpPr>
          <p:cNvPr id="7" name="TextBox 6"/>
          <p:cNvSpPr txBox="1"/>
          <p:nvPr/>
        </p:nvSpPr>
        <p:spPr>
          <a:xfrm>
            <a:off x="584200" y="1320800"/>
            <a:ext cx="355600" cy="22276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0070C0"/>
                </a:solidFill>
                <a:latin typeface="Calibri"/>
              </a:rPr>
              <a:t>[1]</a:t>
            </a:r>
          </a:p>
        </p:txBody>
      </p:sp>
      <p:sp>
        <p:nvSpPr>
          <p:cNvPr id="8" name="TextBox 7"/>
          <p:cNvSpPr txBox="1"/>
          <p:nvPr/>
        </p:nvSpPr>
        <p:spPr>
          <a:xfrm>
            <a:off x="990600" y="1320800"/>
            <a:ext cx="8509000" cy="416925"/>
          </a:xfrm>
          <a:prstGeom prst="rect">
            <a:avLst/>
          </a:prstGeom>
          <a:noFill/>
        </p:spPr>
        <p:txBody>
          <a:bodyPr wrap="square" lIns="0" rIns="0" tIns="0" bIns="0" anchor="t">
            <a:spAutoFit/>
          </a:bodyPr>
          <a:lstStyle/>
          <a:p>
            <a:pPr algn="l">
              <a:lnSpc>
                <a:spcPct val="126000"/>
              </a:lnSpc>
              <a:spcBef>
                <a:spcPts val="0"/>
              </a:spcBef>
              <a:spcAft>
                <a:spcPts val="0"/>
              </a:spcAft>
            </a:pPr>
            <a:r>
              <a:rPr sz="1100" b="0" i="0">
                <a:solidFill>
                  <a:srgbClr val="303030"/>
                </a:solidFill>
                <a:latin typeface="Calibri"/>
              </a:rPr>
              <a:t>M. Sandler, A. Howard, M. Zhu, A. Zhmoginov and L.-C. Chen, </a:t>
            </a:r>
            <a:r>
              <a:rPr sz="1100" b="1" i="0">
                <a:solidFill>
                  <a:srgbClr val="1A1A1A"/>
                </a:solidFill>
                <a:latin typeface="Calibri"/>
              </a:rPr>
              <a:t>“MobileNetV2: Inverted Residuals and Linear Bottlenecks,”</a:t>
            </a:r>
            <a:r>
              <a:rPr sz="1100" b="0" i="0">
                <a:solidFill>
                  <a:srgbClr val="303030"/>
                </a:solidFill>
                <a:latin typeface="Calibri"/>
              </a:rPr>
              <a:t> Proc. IEEE/CVF CVPR, 2018, pp. 4510–4520.</a:t>
            </a:r>
          </a:p>
        </p:txBody>
      </p:sp>
      <p:sp>
        <p:nvSpPr>
          <p:cNvPr id="9" name="TextBox 8"/>
          <p:cNvSpPr txBox="1"/>
          <p:nvPr/>
        </p:nvSpPr>
        <p:spPr>
          <a:xfrm>
            <a:off x="584200" y="1877425"/>
            <a:ext cx="355600" cy="22276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0070C0"/>
                </a:solidFill>
                <a:latin typeface="Calibri"/>
              </a:rPr>
              <a:t>[2]</a:t>
            </a:r>
          </a:p>
        </p:txBody>
      </p:sp>
      <p:sp>
        <p:nvSpPr>
          <p:cNvPr id="10" name="TextBox 9"/>
          <p:cNvSpPr txBox="1"/>
          <p:nvPr/>
        </p:nvSpPr>
        <p:spPr>
          <a:xfrm>
            <a:off x="990600" y="1877425"/>
            <a:ext cx="8509000" cy="416925"/>
          </a:xfrm>
          <a:prstGeom prst="rect">
            <a:avLst/>
          </a:prstGeom>
          <a:noFill/>
        </p:spPr>
        <p:txBody>
          <a:bodyPr wrap="square" lIns="0" rIns="0" tIns="0" bIns="0" anchor="t">
            <a:spAutoFit/>
          </a:bodyPr>
          <a:lstStyle/>
          <a:p>
            <a:pPr algn="l">
              <a:lnSpc>
                <a:spcPct val="126000"/>
              </a:lnSpc>
              <a:spcBef>
                <a:spcPts val="0"/>
              </a:spcBef>
              <a:spcAft>
                <a:spcPts val="0"/>
              </a:spcAft>
            </a:pPr>
            <a:r>
              <a:rPr sz="1100" b="0" i="0">
                <a:solidFill>
                  <a:srgbClr val="303030"/>
                </a:solidFill>
                <a:latin typeface="Calibri"/>
              </a:rPr>
              <a:t>M. Tan and Q. V. Le, </a:t>
            </a:r>
            <a:r>
              <a:rPr sz="1100" b="1" i="0">
                <a:solidFill>
                  <a:srgbClr val="1A1A1A"/>
                </a:solidFill>
                <a:latin typeface="Calibri"/>
              </a:rPr>
              <a:t>“EfficientNet: Rethinking Model Scaling for Convolutional Neural Networks,”</a:t>
            </a:r>
            <a:r>
              <a:rPr sz="1100" b="0" i="0">
                <a:solidFill>
                  <a:srgbClr val="303030"/>
                </a:solidFill>
                <a:latin typeface="Calibri"/>
              </a:rPr>
              <a:t> Proc. ICML, PMLR vol. 97, 2019, pp. 6105–6114.</a:t>
            </a:r>
          </a:p>
        </p:txBody>
      </p:sp>
      <p:sp>
        <p:nvSpPr>
          <p:cNvPr id="11" name="TextBox 10"/>
          <p:cNvSpPr txBox="1"/>
          <p:nvPr/>
        </p:nvSpPr>
        <p:spPr>
          <a:xfrm>
            <a:off x="584200" y="2434051"/>
            <a:ext cx="355600" cy="22276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0070C0"/>
                </a:solidFill>
                <a:latin typeface="Calibri"/>
              </a:rPr>
              <a:t>[3]</a:t>
            </a:r>
          </a:p>
        </p:txBody>
      </p:sp>
      <p:sp>
        <p:nvSpPr>
          <p:cNvPr id="12" name="TextBox 11"/>
          <p:cNvSpPr txBox="1"/>
          <p:nvPr/>
        </p:nvSpPr>
        <p:spPr>
          <a:xfrm>
            <a:off x="990600" y="2434051"/>
            <a:ext cx="8509000" cy="416925"/>
          </a:xfrm>
          <a:prstGeom prst="rect">
            <a:avLst/>
          </a:prstGeom>
          <a:noFill/>
        </p:spPr>
        <p:txBody>
          <a:bodyPr wrap="square" lIns="0" rIns="0" tIns="0" bIns="0" anchor="t">
            <a:spAutoFit/>
          </a:bodyPr>
          <a:lstStyle/>
          <a:p>
            <a:pPr algn="l">
              <a:lnSpc>
                <a:spcPct val="126000"/>
              </a:lnSpc>
              <a:spcBef>
                <a:spcPts val="0"/>
              </a:spcBef>
              <a:spcAft>
                <a:spcPts val="0"/>
              </a:spcAft>
            </a:pPr>
            <a:r>
              <a:rPr sz="1100" b="0" i="0">
                <a:solidFill>
                  <a:srgbClr val="303030"/>
                </a:solidFill>
                <a:latin typeface="Calibri"/>
              </a:rPr>
              <a:t>D.-H. Lee, </a:t>
            </a:r>
            <a:r>
              <a:rPr sz="1100" b="1" i="0">
                <a:solidFill>
                  <a:srgbClr val="1A1A1A"/>
                </a:solidFill>
                <a:latin typeface="Calibri"/>
              </a:rPr>
              <a:t>“Pseudo-Label: The Simple and Efficient Semi-Supervised Learning Method for Deep Neural Networks,”</a:t>
            </a:r>
            <a:r>
              <a:rPr sz="1100" b="0" i="0">
                <a:solidFill>
                  <a:srgbClr val="303030"/>
                </a:solidFill>
                <a:latin typeface="Calibri"/>
              </a:rPr>
              <a:t> ICML Workshop (WREPL), 2013.</a:t>
            </a:r>
          </a:p>
        </p:txBody>
      </p:sp>
      <p:sp>
        <p:nvSpPr>
          <p:cNvPr id="13" name="TextBox 12"/>
          <p:cNvSpPr txBox="1"/>
          <p:nvPr/>
        </p:nvSpPr>
        <p:spPr>
          <a:xfrm>
            <a:off x="584200" y="2990677"/>
            <a:ext cx="355600" cy="22276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0070C0"/>
                </a:solidFill>
                <a:latin typeface="Calibri"/>
              </a:rPr>
              <a:t>[4]</a:t>
            </a:r>
          </a:p>
        </p:txBody>
      </p:sp>
      <p:sp>
        <p:nvSpPr>
          <p:cNvPr id="14" name="TextBox 13"/>
          <p:cNvSpPr txBox="1"/>
          <p:nvPr/>
        </p:nvSpPr>
        <p:spPr>
          <a:xfrm>
            <a:off x="990600" y="2990677"/>
            <a:ext cx="8509000" cy="416925"/>
          </a:xfrm>
          <a:prstGeom prst="rect">
            <a:avLst/>
          </a:prstGeom>
          <a:noFill/>
        </p:spPr>
        <p:txBody>
          <a:bodyPr wrap="square" lIns="0" rIns="0" tIns="0" bIns="0" anchor="t">
            <a:spAutoFit/>
          </a:bodyPr>
          <a:lstStyle/>
          <a:p>
            <a:pPr algn="l">
              <a:lnSpc>
                <a:spcPct val="126000"/>
              </a:lnSpc>
              <a:spcBef>
                <a:spcPts val="0"/>
              </a:spcBef>
              <a:spcAft>
                <a:spcPts val="0"/>
              </a:spcAft>
            </a:pPr>
            <a:r>
              <a:rPr sz="1100" b="0" i="0">
                <a:solidFill>
                  <a:srgbClr val="303030"/>
                </a:solidFill>
                <a:latin typeface="Calibri"/>
              </a:rPr>
              <a:t>U. Amin, M. I. Shahzad, A. Shahzad, M. Shahzad, U. Khan and Z. Mahmood, </a:t>
            </a:r>
            <a:r>
              <a:rPr sz="1100" b="1" i="0">
                <a:solidFill>
                  <a:srgbClr val="1A1A1A"/>
                </a:solidFill>
                <a:latin typeface="Calibri"/>
              </a:rPr>
              <a:t>“Automatic Fruits Freshness Classification Using CNN and Transfer Learning,”</a:t>
            </a:r>
            <a:r>
              <a:rPr sz="1100" b="0" i="0">
                <a:solidFill>
                  <a:srgbClr val="303030"/>
                </a:solidFill>
                <a:latin typeface="Calibri"/>
              </a:rPr>
              <a:t> Applied Sciences, vol. 13, no. 14, p. 8087, 2023.</a:t>
            </a:r>
          </a:p>
        </p:txBody>
      </p:sp>
      <p:sp>
        <p:nvSpPr>
          <p:cNvPr id="15" name="TextBox 14"/>
          <p:cNvSpPr txBox="1"/>
          <p:nvPr/>
        </p:nvSpPr>
        <p:spPr>
          <a:xfrm>
            <a:off x="584200" y="3547303"/>
            <a:ext cx="355600" cy="22276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0070C0"/>
                </a:solidFill>
                <a:latin typeface="Calibri"/>
              </a:rPr>
              <a:t>[5]</a:t>
            </a:r>
          </a:p>
        </p:txBody>
      </p:sp>
      <p:sp>
        <p:nvSpPr>
          <p:cNvPr id="16" name="TextBox 15"/>
          <p:cNvSpPr txBox="1"/>
          <p:nvPr/>
        </p:nvSpPr>
        <p:spPr>
          <a:xfrm>
            <a:off x="990600" y="3547303"/>
            <a:ext cx="8509000" cy="416925"/>
          </a:xfrm>
          <a:prstGeom prst="rect">
            <a:avLst/>
          </a:prstGeom>
          <a:noFill/>
        </p:spPr>
        <p:txBody>
          <a:bodyPr wrap="square" lIns="0" rIns="0" tIns="0" bIns="0" anchor="t">
            <a:spAutoFit/>
          </a:bodyPr>
          <a:lstStyle/>
          <a:p>
            <a:pPr algn="l">
              <a:lnSpc>
                <a:spcPct val="126000"/>
              </a:lnSpc>
              <a:spcBef>
                <a:spcPts val="0"/>
              </a:spcBef>
              <a:spcAft>
                <a:spcPts val="0"/>
              </a:spcAft>
            </a:pPr>
            <a:r>
              <a:rPr sz="1100" b="0" i="0">
                <a:solidFill>
                  <a:srgbClr val="303030"/>
                </a:solidFill>
                <a:latin typeface="Calibri"/>
              </a:rPr>
              <a:t>D. Ghosh and J. P. Singh, </a:t>
            </a:r>
            <a:r>
              <a:rPr sz="1100" b="1" i="0">
                <a:solidFill>
                  <a:srgbClr val="1A1A1A"/>
                </a:solidFill>
                <a:latin typeface="Calibri"/>
              </a:rPr>
              <a:t>“A Hybrid CNN-LSTM Model for Accurate Fruit Freshness Classification Using Deep Learning,”</a:t>
            </a:r>
            <a:r>
              <a:rPr sz="1100" b="0" i="0">
                <a:solidFill>
                  <a:srgbClr val="303030"/>
                </a:solidFill>
                <a:latin typeface="Calibri"/>
              </a:rPr>
              <a:t> Discover Artificial Intelligence, vol. 6, art. no. 134, 2026.</a:t>
            </a:r>
          </a:p>
        </p:txBody>
      </p:sp>
      <p:sp>
        <p:nvSpPr>
          <p:cNvPr id="17" name="TextBox 16"/>
          <p:cNvSpPr txBox="1"/>
          <p:nvPr/>
        </p:nvSpPr>
        <p:spPr>
          <a:xfrm>
            <a:off x="584200" y="4103928"/>
            <a:ext cx="355600" cy="22276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0070C0"/>
                </a:solidFill>
                <a:latin typeface="Calibri"/>
              </a:rPr>
              <a:t>[6]</a:t>
            </a:r>
          </a:p>
        </p:txBody>
      </p:sp>
      <p:sp>
        <p:nvSpPr>
          <p:cNvPr id="18" name="TextBox 17"/>
          <p:cNvSpPr txBox="1"/>
          <p:nvPr/>
        </p:nvSpPr>
        <p:spPr>
          <a:xfrm>
            <a:off x="990600" y="4103928"/>
            <a:ext cx="8509000" cy="416925"/>
          </a:xfrm>
          <a:prstGeom prst="rect">
            <a:avLst/>
          </a:prstGeom>
          <a:noFill/>
        </p:spPr>
        <p:txBody>
          <a:bodyPr wrap="square" lIns="0" rIns="0" tIns="0" bIns="0" anchor="t">
            <a:spAutoFit/>
          </a:bodyPr>
          <a:lstStyle/>
          <a:p>
            <a:pPr algn="l">
              <a:lnSpc>
                <a:spcPct val="126000"/>
              </a:lnSpc>
              <a:spcBef>
                <a:spcPts val="0"/>
              </a:spcBef>
              <a:spcAft>
                <a:spcPts val="0"/>
              </a:spcAft>
            </a:pPr>
            <a:r>
              <a:rPr sz="1100" b="0" i="0">
                <a:solidFill>
                  <a:srgbClr val="303030"/>
                </a:solidFill>
                <a:latin typeface="Calibri"/>
              </a:rPr>
              <a:t>L. G. Fahad, S. F. Tahir, U. Rasheed, H. Saqib, M. Hassan and H. Alquhayz, </a:t>
            </a:r>
            <a:r>
              <a:rPr sz="1100" b="1" i="0">
                <a:solidFill>
                  <a:srgbClr val="1A1A1A"/>
                </a:solidFill>
                <a:latin typeface="Calibri"/>
              </a:rPr>
              <a:t>“Fruits and Vegetables Freshness Categorization Using Deep Learning,”</a:t>
            </a:r>
            <a:r>
              <a:rPr sz="1100" b="0" i="0">
                <a:solidFill>
                  <a:srgbClr val="303030"/>
                </a:solidFill>
                <a:latin typeface="Calibri"/>
              </a:rPr>
              <a:t> Computers, Materials &amp; Continua, vol. 71, no. 3, pp. 5083–5098, 2022.</a:t>
            </a:r>
          </a:p>
        </p:txBody>
      </p:sp>
      <p:sp>
        <p:nvSpPr>
          <p:cNvPr id="19" name="Rectangle 18"/>
          <p:cNvSpPr/>
          <p:nvPr/>
        </p:nvSpPr>
        <p:spPr>
          <a:xfrm>
            <a:off x="584200" y="4812954"/>
            <a:ext cx="8915400" cy="757387"/>
          </a:xfrm>
          <a:prstGeom prst="rect">
            <a:avLst/>
          </a:prstGeom>
          <a:solidFill>
            <a:srgbClr val="F2F5F9"/>
          </a:solidFill>
          <a:ln w="1143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2800" y="4965354"/>
            <a:ext cx="8458200" cy="452587"/>
          </a:xfrm>
          <a:prstGeom prst="rect">
            <a:avLst/>
          </a:prstGeom>
          <a:noFill/>
        </p:spPr>
        <p:txBody>
          <a:bodyPr wrap="square" lIns="0" rIns="0" tIns="0" bIns="0" anchor="t">
            <a:spAutoFit/>
          </a:bodyPr>
          <a:lstStyle/>
          <a:p>
            <a:pPr algn="l">
              <a:lnSpc>
                <a:spcPct val="124000"/>
              </a:lnSpc>
              <a:spcBef>
                <a:spcPts val="0"/>
              </a:spcBef>
              <a:spcAft>
                <a:spcPts val="500"/>
              </a:spcAft>
            </a:pPr>
            <a:r>
              <a:rPr sz="900" b="1" i="0">
                <a:solidFill>
                  <a:srgbClr val="0070C0"/>
                </a:solidFill>
                <a:latin typeface="Calibri"/>
              </a:rPr>
              <a:t>PROJECT REPOSITORY</a:t>
            </a:r>
          </a:p>
          <a:p>
            <a:pPr algn="l">
              <a:lnSpc>
                <a:spcPct val="124000"/>
              </a:lnSpc>
              <a:spcBef>
                <a:spcPts val="0"/>
              </a:spcBef>
              <a:spcAft>
                <a:spcPts val="0"/>
              </a:spcAft>
            </a:pPr>
            <a:r>
              <a:rPr sz="1150" b="0" i="0">
                <a:solidFill>
                  <a:srgbClr val="1A1A1A"/>
                </a:solidFill>
                <a:latin typeface="Calibri"/>
              </a:rPr>
              <a:t>https://github.com/2ViShAlv1/Fresh_Vision.git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