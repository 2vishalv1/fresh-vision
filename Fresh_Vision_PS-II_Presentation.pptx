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0083800" cy="7556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sec] Good morning. I'm Vishal Verma, and this is my PS-II project: Fresh Vision, an AI-powered fruit and vegetable quality analyzer. It takes one photo of produce and tells you what it is and how fresh it is. Thank you to my faculty and industry mentors.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Briefly on the station and what I was asked to do. My task had three parts: identify the produce from a photo, grade how far decay has gone — not just fresh vs rotten — and ship it as a usable web application rather than a notebook.</a:t>
            </a:r>
          </a:p>
          <a:p/>
          <a:p>
            <a:r>
              <a:t>Walk the timeline right-to-left quickly: first four weeks were data and the identifier, middle weeks were the freshness model and fine-tuning, last two weeks were calibration and the production build. Don't read every week — point at W4 and W8 as the turning points.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min] The problem. Produce quality is still judged by eye, one item at a time. That is subjective — two inspectors give two answers — and it does not scale: nobody hand-checks every crate, so spoiled stock reaches the shelf and good stock gets thrown away.</a:t>
            </a:r>
          </a:p>
          <a:p/>
          <a:p>
            <a:r>
              <a:t>Then the technical gap, which is the point of this slide: the public datasets I could find label produce only as fresh or rotten. That binary flag cannot tell you "use this today" from "throw this out now". And a normal classifier has no idea what "not produce" means — show it a car and it will still confidently name a fruit.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min] So the problem statement: from a single photo, identify the produce, grade freshness on a five-level scale, and reject inputs that aren't produce — while showing every confidence value rather than hiding it.</a:t>
            </a:r>
          </a:p>
          <a:p/>
          <a:p>
            <a:r>
              <a:t>Five objectives follow from that. Read only the bold titles; the evaluator can read the rest. Emphasise objective 2 — creating labels that did not exist — because that was the hardest part of the project.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How it works, in two halves.</a:t>
            </a:r>
          </a:p>
          <a:p/>
          <a:p>
            <a:r>
              <a:t>The top lane is offline, done once. I started from the unified dataset, ran HSV decay scoring over it to produce five pseudo-labels, and then trained with transfer learning. That gives me the two .h5 model files.</a:t>
            </a:r>
          </a:p>
          <a:p/>
          <a:p>
            <a:r>
              <a:t>The bottom lane is what happens to every uploaded photo at run time. Preprocess to 224x224 with MobileNetV2 normalisation — exactly what the models saw in training. Then the gatekeeper checks whether this is produce at all; if not, we stop and say so. Then the identifier names the fruit, and if it isn't at least 65% confident we stop and say "unclear" instead of guessing. Only if both checks pass does the freshness head run.</a:t>
            </a:r>
          </a:p>
          <a:p/>
          <a:p>
            <a:r>
              <a:t>Point at the two orange branches — those are the two ways the system refuses to answer, and I'll show one working in the results.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min] The architecture, top to bottom. A React 19 single-page app posts the image as multipart form data — capped at 10 MB, held in memory, never written to disk. FastAPI with Uvicorn takes it, Pillow and NumPy build the tensor.</a:t>
            </a:r>
          </a:p>
          <a:p/>
          <a:p>
            <a:r>
              <a:t>The model layer holds all three models, loaded once at startup rather than per request — that's what keeps latency down. The two custom models are about 2.4 million parameters each; the identifier is 11.6 MB, the freshness model 23.8 MB.</a:t>
            </a:r>
          </a:p>
          <a:p/>
          <a:p>
            <a:r>
              <a:t>Everything comes back as one JSON object with the full picture, including the whole freshness distribution and the latency. And when the React build exists, the same Uvicorn process serves the UI too — so the whole application runs on one port, with no database.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min] Three decisions worth defending.</a:t>
            </a:r>
          </a:p>
          <a:p/>
          <a:p>
            <a:r>
              <a:t>One: transfer learning on MobileNetV2, chosen because it is small enough to serve on CPU. I trained in two phases — head only with the backbone frozen, then unfroze the last 30 layers at a very small learning rate so I didn't wreck the pretrained weights.</a:t>
            </a:r>
          </a:p>
          <a:p/>
          <a:p>
            <a:r>
              <a:t>Two, and this is the part I'm most pleased with: the dataset only had two labels and I needed five. Instead of hand-labelling thousands of images, I used classical computer vision — convert to HSV, isolate the fruit using the saturation channel, mask the brown decayed pixels inside it, and turn that into a decay score. Bucketing that score per fruit type gives five levels. Per fruit type matters, because a rotten banana and a rotten apple are not the same colour.</a:t>
            </a:r>
          </a:p>
          <a:p/>
          <a:p>
            <a:r>
              <a:t>Three: the freshness head was biased — it over-predicted "slightly rotten" and almost never fired "very rotten". I corrected that at inference with fixed multipliers and renormalised, plus the two confidence floors.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 min] Results. On the left, the freshness classifier: 77.8% validation accuracy with the backbone frozen, 80.4% after fine-tuning the last 30 layers — a 2.6 point gain.</a:t>
            </a:r>
          </a:p>
          <a:p/>
          <a:p>
            <a:r>
              <a:t>On the right is a genuine run against the deployed system, not a mock-up. I uploaded a non-produce image and the gatekeeper caught it: "Not a Fruit or Vegetable", with what ImageNet actually thought it was and the confidence. That is the guardrail doing its job. The other guardrail behaves the same way — anything under 65% comes back as "Unclear Image" with its top-3 closest matches.</a:t>
            </a:r>
          </a:p>
          <a:p/>
          <a:p>
            <a:r>
              <a:t>The tiles are the numbers I'd defend: 80.4% validation accuracy, 14 classes across 5 freshness levels, 3 models, roughly 310 ms per image warm on CPU, and 35 MB of models in total.</a:t>
            </a:r>
          </a:p>
          <a:p/>
          <a:p>
            <a:r>
              <a:t>Be honest if asked: the freshness labels are pseudo-labels, not human ground truth, so 80.4% is accuracy against those labels. That's the main limitation and the first thing I'd fix.</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sec] To conclude — I delivered a complete working system, dataset through to deployed UI. The achievement I'd point to is solving the missing-label problem with classical CV instead of manual annotation, and the fact that the system refuses to answer when it shouldn't, rather than guessing quietly. At 35 MB and CPU-only, it is small enough to actually run where produce is handled.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sec] Six things I took away — technical, but also practical. Transfer learning strategy, reading a CNN architecture well enough to choose one for the deployment target, engineering labels when they don't exist, debugging model behaviour from its output distribution, deploying a model as a real service, and being able to state honestly what the system cannot do.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[brief] References — the MobileNetV2 and ImageNet papers, the Keras and TensorFlow documentation I worked from, and the frameworks. The full code, models and training scripts are in the repository. Thank you —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083800" cy="8890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63500" bIns="63500"/>
          <a:lstStyle/>
          <a:p>
            <a:pPr algn="ctr"/>
          </a:p>
        </p:txBody>
      </p:sp>
      <p:pic>
        <p:nvPicPr>
          <p:cNvPr id="3" name="Picture 2" descr="p1_X7.png"/>
          <p:cNvPicPr>
            <a:picLocks noChangeAspect="1"/>
          </p:cNvPicPr>
          <p:nvPr/>
        </p:nvPicPr>
        <p:blipFill>
          <a:blip r:embed="rId2"/>
          <a:stretch>
            <a:fillRect/>
          </a:stretch>
        </p:blipFill>
        <p:spPr>
          <a:xfrm>
            <a:off x="4673600" y="660400"/>
            <a:ext cx="736600" cy="749300"/>
          </a:xfrm>
          <a:prstGeom prst="rect">
            <a:avLst/>
          </a:prstGeom>
        </p:spPr>
      </p:pic>
      <p:sp>
        <p:nvSpPr>
          <p:cNvPr id="4" name="TextBox 3"/>
          <p:cNvSpPr txBox="1"/>
          <p:nvPr/>
        </p:nvSpPr>
        <p:spPr>
          <a:xfrm>
            <a:off x="584200" y="1600200"/>
            <a:ext cx="8915400" cy="254000"/>
          </a:xfrm>
          <a:prstGeom prst="rect">
            <a:avLst/>
          </a:prstGeom>
          <a:noFill/>
        </p:spPr>
        <p:txBody>
          <a:bodyPr wrap="square" lIns="0" rIns="0" tIns="0" bIns="0" anchor="t">
            <a:spAutoFit/>
          </a:bodyPr>
          <a:lstStyle/>
          <a:p>
            <a:pPr algn="ctr">
              <a:lnSpc>
                <a:spcPct val="118000"/>
              </a:lnSpc>
              <a:spcBef>
                <a:spcPts val="0"/>
              </a:spcBef>
              <a:spcAft>
                <a:spcPts val="0"/>
              </a:spcAft>
            </a:pPr>
            <a:r>
              <a:rPr sz="1150" b="1" i="0">
                <a:solidFill>
                  <a:srgbClr val="6B7784"/>
                </a:solidFill>
                <a:latin typeface="Calibri"/>
              </a:rPr>
              <a:t>PRACTICE SCHOOL-II  ·  FINAL PRESENTATION</a:t>
            </a:r>
          </a:p>
        </p:txBody>
      </p:sp>
      <p:sp>
        <p:nvSpPr>
          <p:cNvPr id="5" name="TextBox 4"/>
          <p:cNvSpPr txBox="1"/>
          <p:nvPr/>
        </p:nvSpPr>
        <p:spPr>
          <a:xfrm>
            <a:off x="584200" y="1955800"/>
            <a:ext cx="8915400" cy="762000"/>
          </a:xfrm>
          <a:prstGeom prst="rect">
            <a:avLst/>
          </a:prstGeom>
          <a:noFill/>
        </p:spPr>
        <p:txBody>
          <a:bodyPr wrap="square" lIns="0" rIns="0" tIns="0" bIns="0" anchor="t">
            <a:spAutoFit/>
          </a:bodyPr>
          <a:lstStyle/>
          <a:p>
            <a:pPr algn="ctr">
              <a:lnSpc>
                <a:spcPct val="100000"/>
              </a:lnSpc>
              <a:spcBef>
                <a:spcPts val="0"/>
              </a:spcBef>
              <a:spcAft>
                <a:spcPts val="200"/>
              </a:spcAft>
            </a:pPr>
            <a:r>
              <a:rPr sz="4400" b="1" i="0">
                <a:solidFill>
                  <a:srgbClr val="0070C0"/>
                </a:solidFill>
                <a:latin typeface="Calibri"/>
              </a:rPr>
              <a:t>FRESH VISION</a:t>
            </a:r>
          </a:p>
        </p:txBody>
      </p:sp>
      <p:sp>
        <p:nvSpPr>
          <p:cNvPr id="6" name="TextBox 5"/>
          <p:cNvSpPr txBox="1"/>
          <p:nvPr/>
        </p:nvSpPr>
        <p:spPr>
          <a:xfrm>
            <a:off x="1092200" y="2717800"/>
            <a:ext cx="7899400" cy="558800"/>
          </a:xfrm>
          <a:prstGeom prst="rect">
            <a:avLst/>
          </a:prstGeom>
          <a:noFill/>
        </p:spPr>
        <p:txBody>
          <a:bodyPr wrap="square" lIns="0" rIns="0" tIns="0" bIns="0" anchor="t">
            <a:spAutoFit/>
          </a:bodyPr>
          <a:lstStyle/>
          <a:p>
            <a:pPr algn="ctr">
              <a:lnSpc>
                <a:spcPct val="110000"/>
              </a:lnSpc>
              <a:spcBef>
                <a:spcPts val="0"/>
              </a:spcBef>
              <a:spcAft>
                <a:spcPts val="300"/>
              </a:spcAft>
            </a:pPr>
            <a:r>
              <a:rPr sz="1700" b="0" i="0">
                <a:solidFill>
                  <a:srgbClr val="1B2532"/>
                </a:solidFill>
                <a:latin typeface="Calibri"/>
              </a:rPr>
              <a:t>AI-Powered Fruit &amp; Vegetable Quality Analyzer</a:t>
            </a:r>
          </a:p>
          <a:p>
            <a:pPr algn="ctr">
              <a:lnSpc>
                <a:spcPct val="118000"/>
              </a:lnSpc>
              <a:spcBef>
                <a:spcPts val="0"/>
              </a:spcBef>
              <a:spcAft>
                <a:spcPts val="0"/>
              </a:spcAft>
            </a:pPr>
            <a:r>
              <a:rPr sz="1100" b="0" i="0">
                <a:solidFill>
                  <a:srgbClr val="6B7784"/>
                </a:solidFill>
                <a:latin typeface="Calibri"/>
              </a:rPr>
              <a:t>Produce identification and fine-grained freshness grading from a single photo</a:t>
            </a:r>
          </a:p>
        </p:txBody>
      </p:sp>
      <p:cxnSp>
        <p:nvCxnSpPr>
          <p:cNvPr id="7" name="Connector 6"/>
          <p:cNvCxnSpPr/>
          <p:nvPr/>
        </p:nvCxnSpPr>
        <p:spPr>
          <a:xfrm>
            <a:off x="4279900" y="3454400"/>
            <a:ext cx="1524000" cy="0"/>
          </a:xfrm>
          <a:prstGeom prst="line">
            <a:avLst/>
          </a:prstGeom>
          <a:ln w="19050">
            <a:solidFill>
              <a:srgbClr val="0070C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84200" y="3657600"/>
            <a:ext cx="8915400" cy="508000"/>
          </a:xfrm>
          <a:prstGeom prst="rect">
            <a:avLst/>
          </a:prstGeom>
          <a:noFill/>
        </p:spPr>
        <p:txBody>
          <a:bodyPr wrap="square" lIns="0" rIns="0" tIns="0" bIns="0" anchor="t">
            <a:spAutoFit/>
          </a:bodyPr>
          <a:lstStyle/>
          <a:p>
            <a:pPr algn="ctr">
              <a:lnSpc>
                <a:spcPct val="118000"/>
              </a:lnSpc>
              <a:spcBef>
                <a:spcPts val="0"/>
              </a:spcBef>
              <a:spcAft>
                <a:spcPts val="300"/>
              </a:spcAft>
            </a:pPr>
            <a:r>
              <a:rPr sz="1050" b="0" i="0">
                <a:solidFill>
                  <a:srgbClr val="6B7784"/>
                </a:solidFill>
                <a:latin typeface="Calibri"/>
              </a:rPr>
              <a:t>Submitted by</a:t>
            </a:r>
          </a:p>
          <a:p>
            <a:pPr algn="ctr">
              <a:lnSpc>
                <a:spcPct val="118000"/>
              </a:lnSpc>
              <a:spcBef>
                <a:spcPts val="0"/>
              </a:spcBef>
              <a:spcAft>
                <a:spcPts val="0"/>
              </a:spcAft>
            </a:pPr>
            <a:r>
              <a:rPr sz="1500" b="1">
                <a:solidFill>
                  <a:srgbClr val="1B2532"/>
                </a:solidFill>
                <a:latin typeface="Calibri"/>
              </a:rPr>
              <a:t>Vishal Verma</a:t>
            </a:r>
            <a:r>
              <a:rPr sz="1500" b="0">
                <a:solidFill>
                  <a:srgbClr val="6B7784"/>
                </a:solidFill>
                <a:latin typeface="Calibri"/>
              </a:rPr>
              <a:t>      ID: </a:t>
            </a:r>
            <a:r>
              <a:rPr sz="1500" b="1">
                <a:solidFill>
                  <a:srgbClr val="C2710C"/>
                </a:solidFill>
                <a:latin typeface="Calibri"/>
              </a:rPr>
              <a:t>[ Your BMU ID ]</a:t>
            </a:r>
          </a:p>
        </p:txBody>
      </p:sp>
      <p:sp>
        <p:nvSpPr>
          <p:cNvPr id="9" name="Rounded Rectangle 8"/>
          <p:cNvSpPr/>
          <p:nvPr/>
        </p:nvSpPr>
        <p:spPr>
          <a:xfrm>
            <a:off x="1346200" y="4445000"/>
            <a:ext cx="3568700" cy="1219200"/>
          </a:xfrm>
          <a:prstGeom prst="roundRect">
            <a:avLst>
              <a:gd name="adj" fmla="val 6000"/>
            </a:avLst>
          </a:prstGeom>
          <a:solidFill>
            <a:srgbClr val="F2F6FA"/>
          </a:solidFill>
          <a:ln w="12700">
            <a:solidFill>
              <a:srgbClr val="C7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63500" bIns="63500"/>
          <a:lstStyle/>
          <a:p>
            <a:pPr algn="ctr"/>
          </a:p>
        </p:txBody>
      </p:sp>
      <p:sp>
        <p:nvSpPr>
          <p:cNvPr id="10" name="TextBox 9"/>
          <p:cNvSpPr txBox="1"/>
          <p:nvPr/>
        </p:nvSpPr>
        <p:spPr>
          <a:xfrm>
            <a:off x="1498600" y="4597400"/>
            <a:ext cx="3263900" cy="965200"/>
          </a:xfrm>
          <a:prstGeom prst="rect">
            <a:avLst/>
          </a:prstGeom>
          <a:noFill/>
        </p:spPr>
        <p:txBody>
          <a:bodyPr wrap="square" lIns="0" rIns="0" tIns="0" bIns="0" anchor="t">
            <a:spAutoFit/>
          </a:bodyPr>
          <a:lstStyle/>
          <a:p>
            <a:pPr algn="ctr">
              <a:lnSpc>
                <a:spcPct val="118000"/>
              </a:lnSpc>
              <a:spcBef>
                <a:spcPts val="0"/>
              </a:spcBef>
              <a:spcAft>
                <a:spcPts val="500"/>
              </a:spcAft>
            </a:pPr>
            <a:r>
              <a:rPr sz="950" b="1" i="0">
                <a:solidFill>
                  <a:srgbClr val="0070C0"/>
                </a:solidFill>
                <a:latin typeface="Calibri"/>
              </a:rPr>
              <a:t>FACULTY MENTOR</a:t>
            </a:r>
          </a:p>
          <a:p>
            <a:pPr algn="ctr">
              <a:lnSpc>
                <a:spcPct val="115000"/>
              </a:lnSpc>
              <a:spcBef>
                <a:spcPts val="0"/>
              </a:spcBef>
              <a:spcAft>
                <a:spcPts val="100"/>
              </a:spcAft>
            </a:pPr>
            <a:r>
              <a:rPr sz="1100" b="1" i="0">
                <a:solidFill>
                  <a:srgbClr val="C2710C"/>
                </a:solidFill>
                <a:latin typeface="Calibri"/>
              </a:rPr>
              <a:t>[ Dr. Faculty Mentor Name ]</a:t>
            </a:r>
          </a:p>
          <a:p>
            <a:pPr algn="ctr">
              <a:lnSpc>
                <a:spcPct val="115000"/>
              </a:lnSpc>
              <a:spcBef>
                <a:spcPts val="0"/>
              </a:spcBef>
              <a:spcAft>
                <a:spcPts val="100"/>
              </a:spcAft>
            </a:pPr>
            <a:r>
              <a:rPr sz="1000" b="0" i="0">
                <a:solidFill>
                  <a:srgbClr val="C2710C"/>
                </a:solidFill>
                <a:latin typeface="Calibri"/>
              </a:rPr>
              <a:t>[ Designation ]</a:t>
            </a:r>
          </a:p>
          <a:p>
            <a:pPr algn="ctr">
              <a:lnSpc>
                <a:spcPct val="115000"/>
              </a:lnSpc>
              <a:spcBef>
                <a:spcPts val="0"/>
              </a:spcBef>
              <a:spcAft>
                <a:spcPts val="100"/>
              </a:spcAft>
            </a:pPr>
            <a:r>
              <a:rPr sz="1000" b="0" i="0">
                <a:solidFill>
                  <a:srgbClr val="333D4A"/>
                </a:solidFill>
                <a:latin typeface="Calibri"/>
              </a:rPr>
              <a:t>School of Engineering &amp; Technology, BMU</a:t>
            </a:r>
          </a:p>
        </p:txBody>
      </p:sp>
      <p:sp>
        <p:nvSpPr>
          <p:cNvPr id="11" name="Rounded Rectangle 10"/>
          <p:cNvSpPr/>
          <p:nvPr/>
        </p:nvSpPr>
        <p:spPr>
          <a:xfrm>
            <a:off x="5168900" y="4445000"/>
            <a:ext cx="3568700" cy="1219200"/>
          </a:xfrm>
          <a:prstGeom prst="roundRect">
            <a:avLst>
              <a:gd name="adj" fmla="val 6000"/>
            </a:avLst>
          </a:prstGeom>
          <a:solidFill>
            <a:srgbClr val="F2F6FA"/>
          </a:solidFill>
          <a:ln w="12700">
            <a:solidFill>
              <a:srgbClr val="C7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63500" bIns="63500"/>
          <a:lstStyle/>
          <a:p>
            <a:pPr algn="ctr"/>
          </a:p>
        </p:txBody>
      </p:sp>
      <p:sp>
        <p:nvSpPr>
          <p:cNvPr id="12" name="TextBox 11"/>
          <p:cNvSpPr txBox="1"/>
          <p:nvPr/>
        </p:nvSpPr>
        <p:spPr>
          <a:xfrm>
            <a:off x="5321300" y="4597400"/>
            <a:ext cx="3263900" cy="965200"/>
          </a:xfrm>
          <a:prstGeom prst="rect">
            <a:avLst/>
          </a:prstGeom>
          <a:noFill/>
        </p:spPr>
        <p:txBody>
          <a:bodyPr wrap="square" lIns="0" rIns="0" tIns="0" bIns="0" anchor="t">
            <a:spAutoFit/>
          </a:bodyPr>
          <a:lstStyle/>
          <a:p>
            <a:pPr algn="ctr">
              <a:lnSpc>
                <a:spcPct val="118000"/>
              </a:lnSpc>
              <a:spcBef>
                <a:spcPts val="0"/>
              </a:spcBef>
              <a:spcAft>
                <a:spcPts val="500"/>
              </a:spcAft>
            </a:pPr>
            <a:r>
              <a:rPr sz="950" b="1" i="0">
                <a:solidFill>
                  <a:srgbClr val="0070C0"/>
                </a:solidFill>
                <a:latin typeface="Calibri"/>
              </a:rPr>
              <a:t>INDUSTRY MENTOR</a:t>
            </a:r>
          </a:p>
          <a:p>
            <a:pPr algn="ctr">
              <a:lnSpc>
                <a:spcPct val="115000"/>
              </a:lnSpc>
              <a:spcBef>
                <a:spcPts val="0"/>
              </a:spcBef>
              <a:spcAft>
                <a:spcPts val="100"/>
              </a:spcAft>
            </a:pPr>
            <a:r>
              <a:rPr sz="1100" b="1" i="0">
                <a:solidFill>
                  <a:srgbClr val="C2710C"/>
                </a:solidFill>
                <a:latin typeface="Calibri"/>
              </a:rPr>
              <a:t>[ Industry Mentor Name ]</a:t>
            </a:r>
          </a:p>
          <a:p>
            <a:pPr algn="ctr">
              <a:lnSpc>
                <a:spcPct val="115000"/>
              </a:lnSpc>
              <a:spcBef>
                <a:spcPts val="0"/>
              </a:spcBef>
              <a:spcAft>
                <a:spcPts val="100"/>
              </a:spcAft>
            </a:pPr>
            <a:r>
              <a:rPr sz="1000" b="0" i="0">
                <a:solidFill>
                  <a:srgbClr val="C2710C"/>
                </a:solidFill>
                <a:latin typeface="Calibri"/>
              </a:rPr>
              <a:t>[ Designation ]</a:t>
            </a:r>
          </a:p>
          <a:p>
            <a:pPr algn="ctr">
              <a:lnSpc>
                <a:spcPct val="115000"/>
              </a:lnSpc>
              <a:spcBef>
                <a:spcPts val="0"/>
              </a:spcBef>
              <a:spcAft>
                <a:spcPts val="100"/>
              </a:spcAft>
            </a:pPr>
            <a:r>
              <a:rPr sz="1000" b="0" i="0">
                <a:solidFill>
                  <a:srgbClr val="C2710C"/>
                </a:solidFill>
                <a:latin typeface="Calibri"/>
              </a:rPr>
              <a:t>[ Organization Name ]</a:t>
            </a:r>
          </a:p>
        </p:txBody>
      </p:sp>
      <p:sp>
        <p:nvSpPr>
          <p:cNvPr id="13" name="TextBox 12"/>
          <p:cNvSpPr txBox="1"/>
          <p:nvPr/>
        </p:nvSpPr>
        <p:spPr>
          <a:xfrm>
            <a:off x="584200" y="6045200"/>
            <a:ext cx="8915400" cy="762000"/>
          </a:xfrm>
          <a:prstGeom prst="rect">
            <a:avLst/>
          </a:prstGeom>
          <a:noFill/>
        </p:spPr>
        <p:txBody>
          <a:bodyPr wrap="square" lIns="0" rIns="0" tIns="0" bIns="0" anchor="t">
            <a:spAutoFit/>
          </a:bodyPr>
          <a:lstStyle/>
          <a:p>
            <a:pPr algn="ctr">
              <a:lnSpc>
                <a:spcPct val="118000"/>
              </a:lnSpc>
              <a:spcBef>
                <a:spcPts val="0"/>
              </a:spcBef>
              <a:spcAft>
                <a:spcPts val="200"/>
              </a:spcAft>
            </a:pPr>
            <a:r>
              <a:rPr sz="1200" b="1" i="0">
                <a:solidFill>
                  <a:srgbClr val="1B2532"/>
                </a:solidFill>
                <a:latin typeface="Calibri"/>
              </a:rPr>
              <a:t>School of Engineering &amp; Technology</a:t>
            </a:r>
          </a:p>
          <a:p>
            <a:pPr algn="ctr">
              <a:lnSpc>
                <a:spcPct val="118000"/>
              </a:lnSpc>
              <a:spcBef>
                <a:spcPts val="0"/>
              </a:spcBef>
              <a:spcAft>
                <a:spcPts val="600"/>
              </a:spcAft>
            </a:pPr>
            <a:r>
              <a:rPr sz="1050" b="0" i="0">
                <a:solidFill>
                  <a:srgbClr val="333D4A"/>
                </a:solidFill>
                <a:latin typeface="Calibri"/>
              </a:rPr>
              <a:t>BML Munjal University, 67th KM Stone, NH-8, Gurugram, Haryana 122413</a:t>
            </a:r>
          </a:p>
          <a:p>
            <a:pPr algn="ctr">
              <a:lnSpc>
                <a:spcPct val="118000"/>
              </a:lnSpc>
              <a:spcBef>
                <a:spcPts val="0"/>
              </a:spcBef>
              <a:spcAft>
                <a:spcPts val="0"/>
              </a:spcAft>
            </a:pPr>
            <a:r>
              <a:rPr sz="1050" b="1" i="0">
                <a:solidFill>
                  <a:srgbClr val="6B7784"/>
                </a:solidFill>
                <a:latin typeface="Calibri"/>
              </a:rPr>
              <a:t>September 2026</a:t>
            </a:r>
          </a:p>
        </p:txBody>
      </p:sp>
      <p:sp>
        <p:nvSpPr>
          <p:cNvPr id="14" name="Rectangle 13"/>
          <p:cNvSpPr/>
          <p:nvPr/>
        </p:nvSpPr>
        <p:spPr>
          <a:xfrm>
            <a:off x="0" y="7467600"/>
            <a:ext cx="10083800" cy="8890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63500" bIns="63500"/>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4200" y="406400"/>
            <a:ext cx="8915400" cy="431800"/>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0070C0"/>
                </a:solidFill>
                <a:latin typeface="Calibri"/>
              </a:rPr>
              <a:t>PS-II STATION &amp; VISIT SUMMARY</a:t>
            </a:r>
          </a:p>
        </p:txBody>
      </p:sp>
      <p:cxnSp>
        <p:nvCxnSpPr>
          <p:cNvPr id="3" name="Connector 2"/>
          <p:cNvCxnSpPr/>
          <p:nvPr/>
        </p:nvCxnSpPr>
        <p:spPr>
          <a:xfrm>
            <a:off x="584200" y="901700"/>
            <a:ext cx="8915400" cy="0"/>
          </a:xfrm>
          <a:prstGeom prst="line">
            <a:avLst/>
          </a:prstGeom>
          <a:ln w="25400">
            <a:solidFill>
              <a:srgbClr val="0070C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84200" y="952500"/>
            <a:ext cx="8915400" cy="177800"/>
          </a:xfrm>
          <a:prstGeom prst="rect">
            <a:avLst/>
          </a:prstGeom>
          <a:noFill/>
        </p:spPr>
        <p:txBody>
          <a:bodyPr wrap="square" lIns="0" rIns="0" tIns="0" bIns="0" anchor="t">
            <a:spAutoFit/>
          </a:bodyPr>
          <a:lstStyle/>
          <a:p>
            <a:pPr algn="l">
              <a:lnSpc>
                <a:spcPct val="118000"/>
              </a:lnSpc>
              <a:spcBef>
                <a:spcPts val="0"/>
              </a:spcBef>
              <a:spcAft>
                <a:spcPts val="0"/>
              </a:spcAft>
            </a:pPr>
            <a:r>
              <a:rPr sz="1050" b="0" i="1">
                <a:solidFill>
                  <a:srgbClr val="6B7784"/>
                </a:solidFill>
                <a:latin typeface="Calibri"/>
              </a:rPr>
              <a:t>Organisation details to be filled in from your PS-II allocation letter</a:t>
            </a:r>
          </a:p>
        </p:txBody>
      </p:sp>
      <p:cxnSp>
        <p:nvCxnSpPr>
          <p:cNvPr id="5" name="Connector 4"/>
          <p:cNvCxnSpPr/>
          <p:nvPr/>
        </p:nvCxnSpPr>
        <p:spPr>
          <a:xfrm>
            <a:off x="584200" y="7086600"/>
            <a:ext cx="8915400" cy="0"/>
          </a:xfrm>
          <a:prstGeom prst="line">
            <a:avLst/>
          </a:prstGeom>
          <a:ln w="9525">
            <a:solidFill>
              <a:srgbClr val="D8DEE5"/>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84200" y="7188200"/>
            <a:ext cx="6240780" cy="177800"/>
          </a:xfrm>
          <a:prstGeom prst="rect">
            <a:avLst/>
          </a:prstGeom>
          <a:noFill/>
        </p:spPr>
        <p:txBody>
          <a:bodyPr wrap="square" lIns="0" rIns="0" tIns="0" bIns="0" anchor="t">
            <a:spAutoFit/>
          </a:bodyPr>
          <a:lstStyle/>
          <a:p>
            <a:pPr algn="l">
              <a:lnSpc>
                <a:spcPct val="118000"/>
              </a:lnSpc>
              <a:spcBef>
                <a:spcPts val="0"/>
              </a:spcBef>
              <a:spcAft>
                <a:spcPts val="0"/>
              </a:spcAft>
            </a:pPr>
            <a:r>
              <a:rPr sz="850" b="0" i="0">
                <a:solidFill>
                  <a:srgbClr val="6B7784"/>
                </a:solidFill>
                <a:latin typeface="Calibri"/>
              </a:rPr>
              <a:t>Fresh Vision  ·  Practice School-II  ·  SOET, BML Munjal University</a:t>
            </a:r>
          </a:p>
        </p:txBody>
      </p:sp>
      <p:sp>
        <p:nvSpPr>
          <p:cNvPr id="7" name="TextBox 6"/>
          <p:cNvSpPr txBox="1"/>
          <p:nvPr/>
        </p:nvSpPr>
        <p:spPr>
          <a:xfrm>
            <a:off x="8737600" y="7188200"/>
            <a:ext cx="762000" cy="177800"/>
          </a:xfrm>
          <a:prstGeom prst="rect">
            <a:avLst/>
          </a:prstGeom>
          <a:noFill/>
        </p:spPr>
        <p:txBody>
          <a:bodyPr wrap="square" lIns="0" rIns="0" tIns="0" bIns="0" anchor="t">
            <a:spAutoFit/>
          </a:bodyPr>
          <a:lstStyle/>
          <a:p>
            <a:pPr algn="r">
              <a:lnSpc>
                <a:spcPct val="118000"/>
              </a:lnSpc>
              <a:spcBef>
                <a:spcPts val="0"/>
              </a:spcBef>
              <a:spcAft>
                <a:spcPts val="0"/>
              </a:spcAft>
            </a:pPr>
            <a:r>
              <a:rPr sz="850" b="1" i="0">
                <a:solidFill>
                  <a:srgbClr val="0070C0"/>
                </a:solidFill>
                <a:latin typeface="Calibri"/>
              </a:rPr>
              <a:t>2</a:t>
            </a:r>
          </a:p>
        </p:txBody>
      </p:sp>
      <p:sp>
        <p:nvSpPr>
          <p:cNvPr id="8" name="Rounded Rectangle 7"/>
          <p:cNvSpPr/>
          <p:nvPr/>
        </p:nvSpPr>
        <p:spPr>
          <a:xfrm>
            <a:off x="584200" y="1219200"/>
            <a:ext cx="3403600" cy="5740400"/>
          </a:xfrm>
          <a:prstGeom prst="roundRect">
            <a:avLst>
              <a:gd name="adj" fmla="val 3000"/>
            </a:avLst>
          </a:prstGeom>
          <a:solidFill>
            <a:srgbClr val="F2F6FA"/>
          </a:solidFill>
          <a:ln w="12700">
            <a:solidFill>
              <a:srgbClr val="C7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63500" bIns="63500"/>
          <a:lstStyle/>
          <a:p>
            <a:pPr algn="ctr"/>
          </a:p>
        </p:txBody>
      </p:sp>
      <p:sp>
        <p:nvSpPr>
          <p:cNvPr id="9" name="TextBox 8"/>
          <p:cNvSpPr txBox="1"/>
          <p:nvPr/>
        </p:nvSpPr>
        <p:spPr>
          <a:xfrm>
            <a:off x="787400" y="1422400"/>
            <a:ext cx="2997200" cy="5334000"/>
          </a:xfrm>
          <a:prstGeom prst="rect">
            <a:avLst/>
          </a:prstGeom>
          <a:noFill/>
        </p:spPr>
        <p:txBody>
          <a:bodyPr wrap="square" lIns="0" rIns="0" tIns="0" bIns="0" anchor="t">
            <a:spAutoFit/>
          </a:bodyPr>
          <a:lstStyle/>
          <a:p>
            <a:pPr algn="l">
              <a:lnSpc>
                <a:spcPct val="118000"/>
              </a:lnSpc>
              <a:spcBef>
                <a:spcPts val="0"/>
              </a:spcBef>
              <a:spcAft>
                <a:spcPts val="900"/>
              </a:spcAft>
            </a:pPr>
            <a:r>
              <a:rPr sz="1000" b="1" i="0">
                <a:solidFill>
                  <a:srgbClr val="0070C0"/>
                </a:solidFill>
                <a:latin typeface="Calibri"/>
              </a:rPr>
              <a:t>ABOUT THE STATION</a:t>
            </a:r>
          </a:p>
          <a:p>
            <a:pPr>
              <a:lnSpc>
                <a:spcPct val="118000"/>
              </a:lnSpc>
              <a:spcBef>
                <a:spcPts val="0"/>
              </a:spcBef>
              <a:spcAft>
                <a:spcPts val="700"/>
              </a:spcAft>
            </a:pPr>
            <a:r>
              <a:rPr sz="1050" b="0">
                <a:solidFill>
                  <a:srgbClr val="6B7784"/>
                </a:solidFill>
                <a:latin typeface="Calibri"/>
              </a:rPr>
              <a:t>Organisation   </a:t>
            </a:r>
            <a:r>
              <a:rPr sz="1050" b="1">
                <a:solidFill>
                  <a:srgbClr val="C2710C"/>
                </a:solidFill>
                <a:latin typeface="Calibri"/>
              </a:rPr>
              <a:t>[ Company / Station name ]</a:t>
            </a:r>
          </a:p>
          <a:p>
            <a:pPr>
              <a:lnSpc>
                <a:spcPct val="118000"/>
              </a:lnSpc>
              <a:spcBef>
                <a:spcPts val="0"/>
              </a:spcBef>
              <a:spcAft>
                <a:spcPts val="700"/>
              </a:spcAft>
            </a:pPr>
            <a:r>
              <a:rPr sz="1050" b="0">
                <a:solidFill>
                  <a:srgbClr val="6B7784"/>
                </a:solidFill>
                <a:latin typeface="Calibri"/>
              </a:rPr>
              <a:t>Department   </a:t>
            </a:r>
            <a:r>
              <a:rPr sz="1050" b="1">
                <a:solidFill>
                  <a:srgbClr val="C2710C"/>
                </a:solidFill>
                <a:latin typeface="Calibri"/>
              </a:rPr>
              <a:t>[ Department visited ]</a:t>
            </a:r>
          </a:p>
          <a:p>
            <a:pPr>
              <a:lnSpc>
                <a:spcPct val="118000"/>
              </a:lnSpc>
              <a:spcBef>
                <a:spcPts val="0"/>
              </a:spcBef>
              <a:spcAft>
                <a:spcPts val="700"/>
              </a:spcAft>
            </a:pPr>
            <a:r>
              <a:rPr sz="1050" b="0">
                <a:solidFill>
                  <a:srgbClr val="6B7784"/>
                </a:solidFill>
                <a:latin typeface="Calibri"/>
              </a:rPr>
              <a:t>Duration   </a:t>
            </a:r>
            <a:r>
              <a:rPr sz="1050" b="1">
                <a:solidFill>
                  <a:srgbClr val="C2710C"/>
                </a:solidFill>
                <a:latin typeface="Calibri"/>
              </a:rPr>
              <a:t>[ Start date ] – [ End date ]</a:t>
            </a:r>
          </a:p>
        </p:txBody>
      </p:sp>
      <p:cxnSp>
        <p:nvCxnSpPr>
          <p:cNvPr id="10" name="Connector 9"/>
          <p:cNvCxnSpPr/>
          <p:nvPr/>
        </p:nvCxnSpPr>
        <p:spPr>
          <a:xfrm>
            <a:off x="787400" y="2717800"/>
            <a:ext cx="2997200" cy="0"/>
          </a:xfrm>
          <a:prstGeom prst="line">
            <a:avLst/>
          </a:prstGeom>
          <a:ln w="12700">
            <a:solidFill>
              <a:srgbClr val="D8DEE5"/>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87400" y="2870200"/>
            <a:ext cx="2997200" cy="3810000"/>
          </a:xfrm>
          <a:prstGeom prst="rect">
            <a:avLst/>
          </a:prstGeom>
          <a:noFill/>
        </p:spPr>
        <p:txBody>
          <a:bodyPr wrap="square" lIns="0" rIns="0" tIns="0" bIns="0" anchor="t">
            <a:spAutoFit/>
          </a:bodyPr>
          <a:lstStyle/>
          <a:p>
            <a:pPr algn="l">
              <a:lnSpc>
                <a:spcPct val="118000"/>
              </a:lnSpc>
              <a:spcBef>
                <a:spcPts val="0"/>
              </a:spcBef>
              <a:spcAft>
                <a:spcPts val="600"/>
              </a:spcAft>
            </a:pPr>
            <a:r>
              <a:rPr sz="1000" b="1" i="0">
                <a:solidFill>
                  <a:srgbClr val="0070C0"/>
                </a:solidFill>
                <a:latin typeface="Calibri"/>
              </a:rPr>
              <a:t>NATURE OF WORK</a:t>
            </a:r>
          </a:p>
          <a:p>
            <a:pPr>
              <a:lnSpc>
                <a:spcPct val="125000"/>
              </a:lnSpc>
              <a:spcBef>
                <a:spcPts val="0"/>
              </a:spcBef>
              <a:spcAft>
                <a:spcPts val="1400"/>
              </a:spcAft>
            </a:pPr>
            <a:r>
              <a:rPr sz="1050" b="0" i="0">
                <a:solidFill>
                  <a:srgbClr val="333D4A"/>
                </a:solidFill>
                <a:latin typeface="Calibri"/>
              </a:rPr>
              <a:t>Applied computer vision — building and deploying an image-based produce quality-inspection system.</a:t>
            </a:r>
          </a:p>
          <a:p>
            <a:pPr>
              <a:lnSpc>
                <a:spcPct val="118000"/>
              </a:lnSpc>
              <a:spcBef>
                <a:spcPts val="0"/>
              </a:spcBef>
              <a:spcAft>
                <a:spcPts val="600"/>
              </a:spcAft>
            </a:pPr>
            <a:r>
              <a:rPr sz="1000" b="1" i="0">
                <a:solidFill>
                  <a:srgbClr val="0070C0"/>
                </a:solidFill>
                <a:latin typeface="Calibri"/>
              </a:rPr>
              <a:t>TASK ALLOCATED</a:t>
            </a:r>
          </a:p>
          <a:p>
            <a:pPr>
              <a:lnSpc>
                <a:spcPct val="122000"/>
              </a:lnSpc>
              <a:spcBef>
                <a:spcPts val="0"/>
              </a:spcBef>
              <a:spcAft>
                <a:spcPts val="500"/>
              </a:spcAft>
            </a:pPr>
            <a:r>
              <a:rPr sz="1050" b="1">
                <a:solidFill>
                  <a:srgbClr val="0070C0"/>
                </a:solidFill>
                <a:latin typeface="Calibri"/>
              </a:rPr>
              <a:t>›  </a:t>
            </a:r>
            <a:r>
              <a:rPr sz="1050" b="0">
                <a:solidFill>
                  <a:srgbClr val="333D4A"/>
                </a:solidFill>
                <a:latin typeface="Calibri"/>
              </a:rPr>
              <a:t>Identify the fruit or vegetable from a single photo</a:t>
            </a:r>
          </a:p>
          <a:p>
            <a:pPr>
              <a:lnSpc>
                <a:spcPct val="122000"/>
              </a:lnSpc>
              <a:spcBef>
                <a:spcPts val="0"/>
              </a:spcBef>
              <a:spcAft>
                <a:spcPts val="500"/>
              </a:spcAft>
            </a:pPr>
            <a:r>
              <a:rPr sz="1050" b="1">
                <a:solidFill>
                  <a:srgbClr val="0070C0"/>
                </a:solidFill>
                <a:latin typeface="Calibri"/>
              </a:rPr>
              <a:t>›  </a:t>
            </a:r>
            <a:r>
              <a:rPr sz="1050" b="0">
                <a:solidFill>
                  <a:srgbClr val="333D4A"/>
                </a:solidFill>
                <a:latin typeface="Calibri"/>
              </a:rPr>
              <a:t>Grade how far decay has progressed, not just fresh vs. rotten</a:t>
            </a:r>
          </a:p>
          <a:p>
            <a:pPr>
              <a:lnSpc>
                <a:spcPct val="122000"/>
              </a:lnSpc>
              <a:spcBef>
                <a:spcPts val="0"/>
              </a:spcBef>
              <a:spcAft>
                <a:spcPts val="500"/>
              </a:spcAft>
            </a:pPr>
            <a:r>
              <a:rPr sz="1050" b="1">
                <a:solidFill>
                  <a:srgbClr val="0070C0"/>
                </a:solidFill>
                <a:latin typeface="Calibri"/>
              </a:rPr>
              <a:t>›  </a:t>
            </a:r>
            <a:r>
              <a:rPr sz="1050" b="0">
                <a:solidFill>
                  <a:srgbClr val="333D4A"/>
                </a:solidFill>
                <a:latin typeface="Calibri"/>
              </a:rPr>
              <a:t>Ship it as a usable web application, not a notebook</a:t>
            </a:r>
          </a:p>
        </p:txBody>
      </p:sp>
      <p:sp>
        <p:nvSpPr>
          <p:cNvPr id="12" name="Rounded Rectangle 11"/>
          <p:cNvSpPr/>
          <p:nvPr/>
        </p:nvSpPr>
        <p:spPr>
          <a:xfrm>
            <a:off x="787400" y="5689600"/>
            <a:ext cx="2997200" cy="1041400"/>
          </a:xfrm>
          <a:prstGeom prst="roundRect">
            <a:avLst>
              <a:gd name="adj" fmla="val 8000"/>
            </a:avLst>
          </a:prstGeom>
          <a:solidFill>
            <a:srgbClr val="FFFFFF"/>
          </a:solidFill>
          <a:ln w="13970">
            <a:solidFill>
              <a:srgbClr val="11874E"/>
            </a:solid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63500" bIns="63500"/>
          <a:lstStyle/>
          <a:p>
            <a:pPr algn="ctr"/>
          </a:p>
        </p:txBody>
      </p:sp>
      <p:sp>
        <p:nvSpPr>
          <p:cNvPr id="13" name="TextBox 12"/>
          <p:cNvSpPr txBox="1"/>
          <p:nvPr/>
        </p:nvSpPr>
        <p:spPr>
          <a:xfrm>
            <a:off x="965200" y="5842000"/>
            <a:ext cx="2641600" cy="787400"/>
          </a:xfrm>
          <a:prstGeom prst="rect">
            <a:avLst/>
          </a:prstGeom>
          <a:noFill/>
        </p:spPr>
        <p:txBody>
          <a:bodyPr wrap="square" lIns="0" rIns="0" tIns="0" bIns="0" anchor="t">
            <a:spAutoFit/>
          </a:bodyPr>
          <a:lstStyle/>
          <a:p>
            <a:pPr algn="l">
              <a:lnSpc>
                <a:spcPct val="118000"/>
              </a:lnSpc>
              <a:spcBef>
                <a:spcPts val="0"/>
              </a:spcBef>
              <a:spcAft>
                <a:spcPts val="500"/>
              </a:spcAft>
            </a:pPr>
            <a:r>
              <a:rPr sz="900" b="1" i="0">
                <a:solidFill>
                  <a:srgbClr val="11874E"/>
                </a:solidFill>
                <a:latin typeface="Calibri"/>
              </a:rPr>
              <a:t>DELIVERABLE</a:t>
            </a:r>
          </a:p>
          <a:p>
            <a:pPr>
              <a:lnSpc>
                <a:spcPct val="125000"/>
              </a:lnSpc>
              <a:spcBef>
                <a:spcPts val="0"/>
              </a:spcBef>
              <a:spcAft>
                <a:spcPts val="0"/>
              </a:spcAft>
            </a:pPr>
            <a:r>
              <a:rPr sz="1050" b="0" i="0">
                <a:solidFill>
                  <a:srgbClr val="1B2532"/>
                </a:solidFill>
                <a:latin typeface="Calibri"/>
              </a:rPr>
              <a:t>A deployed web application — three models behind a FastAPI service with a React user interface.</a:t>
            </a:r>
          </a:p>
        </p:txBody>
      </p:sp>
      <p:sp>
        <p:nvSpPr>
          <p:cNvPr id="14" name="TextBox 13"/>
          <p:cNvSpPr txBox="1"/>
          <p:nvPr/>
        </p:nvSpPr>
        <p:spPr>
          <a:xfrm>
            <a:off x="4216400" y="1244600"/>
            <a:ext cx="5283200" cy="254000"/>
          </a:xfrm>
          <a:prstGeom prst="rect">
            <a:avLst/>
          </a:prstGeom>
          <a:noFill/>
        </p:spPr>
        <p:txBody>
          <a:bodyPr wrap="square" lIns="0" rIns="0" tIns="0" bIns="0" anchor="t">
            <a:spAutoFit/>
          </a:bodyPr>
          <a:lstStyle/>
          <a:p>
            <a:pPr algn="l">
              <a:lnSpc>
                <a:spcPct val="118000"/>
              </a:lnSpc>
              <a:spcBef>
                <a:spcPts val="0"/>
              </a:spcBef>
              <a:spcAft>
                <a:spcPts val="0"/>
              </a:spcAft>
            </a:pPr>
            <a:r>
              <a:rPr sz="1000" b="1" i="0">
                <a:solidFill>
                  <a:srgbClr val="0070C0"/>
                </a:solidFill>
                <a:latin typeface="Calibri"/>
              </a:rPr>
              <a:t>WORK TIMELINE — EIGHT WEEKS</a:t>
            </a:r>
          </a:p>
        </p:txBody>
      </p:sp>
      <p:sp>
        <p:nvSpPr>
          <p:cNvPr id="15" name="Rounded Rectangle 14"/>
          <p:cNvSpPr/>
          <p:nvPr/>
        </p:nvSpPr>
        <p:spPr>
          <a:xfrm>
            <a:off x="4216400" y="1549400"/>
            <a:ext cx="431800" cy="596900"/>
          </a:xfrm>
          <a:prstGeom prst="roundRect">
            <a:avLst>
              <a:gd name="adj" fmla="val 1600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63500" bIns="63500"/>
          <a:lstStyle/>
          <a:p>
            <a:pPr algn="ctr"/>
          </a:p>
        </p:txBody>
      </p:sp>
      <p:sp>
        <p:nvSpPr>
          <p:cNvPr id="16" name="TextBox 15"/>
          <p:cNvSpPr txBox="1"/>
          <p:nvPr/>
        </p:nvSpPr>
        <p:spPr>
          <a:xfrm>
            <a:off x="4216400" y="1746250"/>
            <a:ext cx="431800" cy="203200"/>
          </a:xfrm>
          <a:prstGeom prst="rect">
            <a:avLst/>
          </a:prstGeom>
          <a:noFill/>
        </p:spPr>
        <p:txBody>
          <a:bodyPr wrap="square" lIns="0" rIns="0" tIns="0" bIns="0" anchor="t">
            <a:spAutoFit/>
          </a:bodyPr>
          <a:lstStyle/>
          <a:p>
            <a:pPr algn="ctr">
              <a:lnSpc>
                <a:spcPct val="118000"/>
              </a:lnSpc>
              <a:spcBef>
                <a:spcPts val="0"/>
              </a:spcBef>
              <a:spcAft>
                <a:spcPts val="0"/>
              </a:spcAft>
            </a:pPr>
            <a:r>
              <a:rPr sz="1050" b="1" i="0">
                <a:solidFill>
                  <a:srgbClr val="FFFFFF"/>
                </a:solidFill>
                <a:latin typeface="Calibri"/>
              </a:rPr>
              <a:t>W1</a:t>
            </a:r>
          </a:p>
        </p:txBody>
      </p:sp>
      <p:sp>
        <p:nvSpPr>
          <p:cNvPr id="17" name="Rounded Rectangle 16"/>
          <p:cNvSpPr/>
          <p:nvPr/>
        </p:nvSpPr>
        <p:spPr>
          <a:xfrm>
            <a:off x="4699000" y="1549400"/>
            <a:ext cx="4800600" cy="596900"/>
          </a:xfrm>
          <a:prstGeom prst="roundRect">
            <a:avLst>
              <a:gd name="adj" fmla="val 16000"/>
            </a:avLst>
          </a:prstGeom>
          <a:solidFill>
            <a:srgbClr val="FFFFFF"/>
          </a:solidFill>
          <a:ln w="12700">
            <a:solidFill>
              <a:srgbClr val="DDE4EB"/>
            </a:solid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63500" bIns="63500"/>
          <a:lstStyle/>
          <a:p>
            <a:pPr algn="ctr"/>
          </a:p>
        </p:txBody>
      </p:sp>
      <p:sp>
        <p:nvSpPr>
          <p:cNvPr id="18" name="TextBox 17"/>
          <p:cNvSpPr txBox="1"/>
          <p:nvPr/>
        </p:nvSpPr>
        <p:spPr>
          <a:xfrm>
            <a:off x="4851400" y="1651000"/>
            <a:ext cx="4495800" cy="419100"/>
          </a:xfrm>
          <a:prstGeom prst="rect">
            <a:avLst/>
          </a:prstGeom>
          <a:noFill/>
        </p:spPr>
        <p:txBody>
          <a:bodyPr wrap="square" lIns="0" rIns="0" tIns="0" bIns="0" anchor="t">
            <a:spAutoFit/>
          </a:bodyPr>
          <a:lstStyle/>
          <a:p>
            <a:pPr algn="l">
              <a:lnSpc>
                <a:spcPct val="105000"/>
              </a:lnSpc>
              <a:spcBef>
                <a:spcPts val="0"/>
              </a:spcBef>
              <a:spcAft>
                <a:spcPts val="100"/>
              </a:spcAft>
            </a:pPr>
            <a:r>
              <a:rPr sz="1100" b="1" i="0">
                <a:solidFill>
                  <a:srgbClr val="1B2532"/>
                </a:solidFill>
                <a:latin typeface="Calibri"/>
              </a:rPr>
              <a:t>Dataset consolidation</a:t>
            </a:r>
          </a:p>
          <a:p>
            <a:pPr>
              <a:lnSpc>
                <a:spcPct val="105000"/>
              </a:lnSpc>
              <a:spcBef>
                <a:spcPts val="0"/>
              </a:spcBef>
              <a:spcAft>
                <a:spcPts val="0"/>
              </a:spcAft>
            </a:pPr>
            <a:r>
              <a:rPr sz="950" b="0" i="0">
                <a:solidFill>
                  <a:srgbClr val="6B7784"/>
                </a:solidFill>
                <a:latin typeface="Calibri"/>
              </a:rPr>
              <a:t>14 produce classes, fresh/rotten folders per class</a:t>
            </a:r>
          </a:p>
        </p:txBody>
      </p:sp>
      <p:sp>
        <p:nvSpPr>
          <p:cNvPr id="19" name="Rounded Rectangle 18"/>
          <p:cNvSpPr/>
          <p:nvPr/>
        </p:nvSpPr>
        <p:spPr>
          <a:xfrm>
            <a:off x="4216400" y="2216150"/>
            <a:ext cx="431800" cy="596900"/>
          </a:xfrm>
          <a:prstGeom prst="roundRect">
            <a:avLst>
              <a:gd name="adj" fmla="val 16000"/>
            </a:avLst>
          </a:prstGeom>
          <a:solidFill>
            <a:srgbClr val="2E8B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63500" bIns="63500"/>
          <a:lstStyle/>
          <a:p>
            <a:pPr algn="ctr"/>
          </a:p>
        </p:txBody>
      </p:sp>
      <p:sp>
        <p:nvSpPr>
          <p:cNvPr id="20" name="TextBox 19"/>
          <p:cNvSpPr txBox="1"/>
          <p:nvPr/>
        </p:nvSpPr>
        <p:spPr>
          <a:xfrm>
            <a:off x="4216400" y="2413000"/>
            <a:ext cx="431800" cy="203200"/>
          </a:xfrm>
          <a:prstGeom prst="rect">
            <a:avLst/>
          </a:prstGeom>
          <a:noFill/>
        </p:spPr>
        <p:txBody>
          <a:bodyPr wrap="square" lIns="0" rIns="0" tIns="0" bIns="0" anchor="t">
            <a:spAutoFit/>
          </a:bodyPr>
          <a:lstStyle/>
          <a:p>
            <a:pPr algn="ctr">
              <a:lnSpc>
                <a:spcPct val="118000"/>
              </a:lnSpc>
              <a:spcBef>
                <a:spcPts val="0"/>
              </a:spcBef>
              <a:spcAft>
                <a:spcPts val="0"/>
              </a:spcAft>
            </a:pPr>
            <a:r>
              <a:rPr sz="1050" b="1" i="0">
                <a:solidFill>
                  <a:srgbClr val="FFFFFF"/>
                </a:solidFill>
                <a:latin typeface="Calibri"/>
              </a:rPr>
              <a:t>W2</a:t>
            </a:r>
          </a:p>
        </p:txBody>
      </p:sp>
      <p:sp>
        <p:nvSpPr>
          <p:cNvPr id="21" name="Rounded Rectangle 20"/>
          <p:cNvSpPr/>
          <p:nvPr/>
        </p:nvSpPr>
        <p:spPr>
          <a:xfrm>
            <a:off x="4699000" y="2216150"/>
            <a:ext cx="4800600" cy="596900"/>
          </a:xfrm>
          <a:prstGeom prst="roundRect">
            <a:avLst>
              <a:gd name="adj" fmla="val 16000"/>
            </a:avLst>
          </a:prstGeom>
          <a:solidFill>
            <a:srgbClr val="FFFFFF"/>
          </a:solidFill>
          <a:ln w="12700">
            <a:solidFill>
              <a:srgbClr val="DDE4EB"/>
            </a:solid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63500" bIns="63500"/>
          <a:lstStyle/>
          <a:p>
            <a:pPr algn="ctr"/>
          </a:p>
        </p:txBody>
      </p:sp>
      <p:sp>
        <p:nvSpPr>
          <p:cNvPr id="22" name="TextBox 21"/>
          <p:cNvSpPr txBox="1"/>
          <p:nvPr/>
        </p:nvSpPr>
        <p:spPr>
          <a:xfrm>
            <a:off x="4851400" y="2317750"/>
            <a:ext cx="4495800" cy="419100"/>
          </a:xfrm>
          <a:prstGeom prst="rect">
            <a:avLst/>
          </a:prstGeom>
          <a:noFill/>
        </p:spPr>
        <p:txBody>
          <a:bodyPr wrap="square" lIns="0" rIns="0" tIns="0" bIns="0" anchor="t">
            <a:spAutoFit/>
          </a:bodyPr>
          <a:lstStyle/>
          <a:p>
            <a:pPr algn="l">
              <a:lnSpc>
                <a:spcPct val="105000"/>
              </a:lnSpc>
              <a:spcBef>
                <a:spcPts val="0"/>
              </a:spcBef>
              <a:spcAft>
                <a:spcPts val="100"/>
              </a:spcAft>
            </a:pPr>
            <a:r>
              <a:rPr sz="1100" b="1" i="0">
                <a:solidFill>
                  <a:srgbClr val="1B2532"/>
                </a:solidFill>
                <a:latin typeface="Calibri"/>
              </a:rPr>
              <a:t>Data pipeline</a:t>
            </a:r>
          </a:p>
          <a:p>
            <a:pPr>
              <a:lnSpc>
                <a:spcPct val="105000"/>
              </a:lnSpc>
              <a:spcBef>
                <a:spcPts val="0"/>
              </a:spcBef>
              <a:spcAft>
                <a:spcPts val="0"/>
              </a:spcAft>
            </a:pPr>
            <a:r>
              <a:rPr sz="950" b="0" i="0">
                <a:solidFill>
                  <a:srgbClr val="6B7784"/>
                </a:solidFill>
                <a:latin typeface="Calibri"/>
              </a:rPr>
              <a:t>Stratified 80/20 split · MobileNetV2 preprocessing, 224x224</a:t>
            </a:r>
          </a:p>
        </p:txBody>
      </p:sp>
      <p:sp>
        <p:nvSpPr>
          <p:cNvPr id="23" name="Rounded Rectangle 22"/>
          <p:cNvSpPr/>
          <p:nvPr/>
        </p:nvSpPr>
        <p:spPr>
          <a:xfrm>
            <a:off x="4216400" y="2882900"/>
            <a:ext cx="431800" cy="596900"/>
          </a:xfrm>
          <a:prstGeom prst="roundRect">
            <a:avLst>
              <a:gd name="adj" fmla="val 1600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63500" bIns="63500"/>
          <a:lstStyle/>
          <a:p>
            <a:pPr algn="ctr"/>
          </a:p>
        </p:txBody>
      </p:sp>
      <p:sp>
        <p:nvSpPr>
          <p:cNvPr id="24" name="TextBox 23"/>
          <p:cNvSpPr txBox="1"/>
          <p:nvPr/>
        </p:nvSpPr>
        <p:spPr>
          <a:xfrm>
            <a:off x="4216400" y="3079750"/>
            <a:ext cx="431800" cy="203200"/>
          </a:xfrm>
          <a:prstGeom prst="rect">
            <a:avLst/>
          </a:prstGeom>
          <a:noFill/>
        </p:spPr>
        <p:txBody>
          <a:bodyPr wrap="square" lIns="0" rIns="0" tIns="0" bIns="0" anchor="t">
            <a:spAutoFit/>
          </a:bodyPr>
          <a:lstStyle/>
          <a:p>
            <a:pPr algn="ctr">
              <a:lnSpc>
                <a:spcPct val="118000"/>
              </a:lnSpc>
              <a:spcBef>
                <a:spcPts val="0"/>
              </a:spcBef>
              <a:spcAft>
                <a:spcPts val="0"/>
              </a:spcAft>
            </a:pPr>
            <a:r>
              <a:rPr sz="1050" b="1" i="0">
                <a:solidFill>
                  <a:srgbClr val="FFFFFF"/>
                </a:solidFill>
                <a:latin typeface="Calibri"/>
              </a:rPr>
              <a:t>W3</a:t>
            </a:r>
          </a:p>
        </p:txBody>
      </p:sp>
      <p:sp>
        <p:nvSpPr>
          <p:cNvPr id="25" name="Rounded Rectangle 24"/>
          <p:cNvSpPr/>
          <p:nvPr/>
        </p:nvSpPr>
        <p:spPr>
          <a:xfrm>
            <a:off x="4699000" y="2882900"/>
            <a:ext cx="4800600" cy="596900"/>
          </a:xfrm>
          <a:prstGeom prst="roundRect">
            <a:avLst>
              <a:gd name="adj" fmla="val 16000"/>
            </a:avLst>
          </a:prstGeom>
          <a:solidFill>
            <a:srgbClr val="FFFFFF"/>
          </a:solidFill>
          <a:ln w="12700">
            <a:solidFill>
              <a:srgbClr val="DDE4EB"/>
            </a:solid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63500" bIns="63500"/>
          <a:lstStyle/>
          <a:p>
            <a:pPr algn="ctr"/>
          </a:p>
        </p:txBody>
      </p:sp>
      <p:sp>
        <p:nvSpPr>
          <p:cNvPr id="26" name="TextBox 25"/>
          <p:cNvSpPr txBox="1"/>
          <p:nvPr/>
        </p:nvSpPr>
        <p:spPr>
          <a:xfrm>
            <a:off x="4851400" y="2984500"/>
            <a:ext cx="4495800" cy="419100"/>
          </a:xfrm>
          <a:prstGeom prst="rect">
            <a:avLst/>
          </a:prstGeom>
          <a:noFill/>
        </p:spPr>
        <p:txBody>
          <a:bodyPr wrap="square" lIns="0" rIns="0" tIns="0" bIns="0" anchor="t">
            <a:spAutoFit/>
          </a:bodyPr>
          <a:lstStyle/>
          <a:p>
            <a:pPr algn="l">
              <a:lnSpc>
                <a:spcPct val="105000"/>
              </a:lnSpc>
              <a:spcBef>
                <a:spcPts val="0"/>
              </a:spcBef>
              <a:spcAft>
                <a:spcPts val="100"/>
              </a:spcAft>
            </a:pPr>
            <a:r>
              <a:rPr sz="1100" b="1" i="0">
                <a:solidFill>
                  <a:srgbClr val="1B2532"/>
                </a:solidFill>
                <a:latin typeface="Calibri"/>
              </a:rPr>
              <a:t>Produce identifier</a:t>
            </a:r>
          </a:p>
          <a:p>
            <a:pPr>
              <a:lnSpc>
                <a:spcPct val="105000"/>
              </a:lnSpc>
              <a:spcBef>
                <a:spcPts val="0"/>
              </a:spcBef>
              <a:spcAft>
                <a:spcPts val="0"/>
              </a:spcAft>
            </a:pPr>
            <a:r>
              <a:rPr sz="950" b="0" i="0">
                <a:solidFill>
                  <a:srgbClr val="6B7784"/>
                </a:solidFill>
                <a:latin typeface="Calibri"/>
              </a:rPr>
              <a:t>Transfer learning on MobileNetV2 -&gt; 14-class head</a:t>
            </a:r>
          </a:p>
        </p:txBody>
      </p:sp>
      <p:sp>
        <p:nvSpPr>
          <p:cNvPr id="27" name="Rounded Rectangle 26"/>
          <p:cNvSpPr/>
          <p:nvPr/>
        </p:nvSpPr>
        <p:spPr>
          <a:xfrm>
            <a:off x="4216400" y="3549650"/>
            <a:ext cx="431800" cy="596900"/>
          </a:xfrm>
          <a:prstGeom prst="roundRect">
            <a:avLst>
              <a:gd name="adj" fmla="val 16000"/>
            </a:avLst>
          </a:prstGeom>
          <a:solidFill>
            <a:srgbClr val="2E8B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63500" bIns="63500"/>
          <a:lstStyle/>
          <a:p>
            <a:pPr algn="ctr"/>
          </a:p>
        </p:txBody>
      </p:sp>
      <p:sp>
        <p:nvSpPr>
          <p:cNvPr id="28" name="TextBox 27"/>
          <p:cNvSpPr txBox="1"/>
          <p:nvPr/>
        </p:nvSpPr>
        <p:spPr>
          <a:xfrm>
            <a:off x="4216400" y="3746500"/>
            <a:ext cx="431800" cy="203200"/>
          </a:xfrm>
          <a:prstGeom prst="rect">
            <a:avLst/>
          </a:prstGeom>
          <a:noFill/>
        </p:spPr>
        <p:txBody>
          <a:bodyPr wrap="square" lIns="0" rIns="0" tIns="0" bIns="0" anchor="t">
            <a:spAutoFit/>
          </a:bodyPr>
          <a:lstStyle/>
          <a:p>
            <a:pPr algn="ctr">
              <a:lnSpc>
                <a:spcPct val="118000"/>
              </a:lnSpc>
              <a:spcBef>
                <a:spcPts val="0"/>
              </a:spcBef>
              <a:spcAft>
                <a:spcPts val="0"/>
              </a:spcAft>
            </a:pPr>
            <a:r>
              <a:rPr sz="1050" b="1" i="0">
                <a:solidFill>
                  <a:srgbClr val="FFFFFF"/>
                </a:solidFill>
                <a:latin typeface="Calibri"/>
              </a:rPr>
              <a:t>W4</a:t>
            </a:r>
          </a:p>
        </p:txBody>
      </p:sp>
      <p:sp>
        <p:nvSpPr>
          <p:cNvPr id="29" name="Rounded Rectangle 28"/>
          <p:cNvSpPr/>
          <p:nvPr/>
        </p:nvSpPr>
        <p:spPr>
          <a:xfrm>
            <a:off x="4699000" y="3549650"/>
            <a:ext cx="4800600" cy="596900"/>
          </a:xfrm>
          <a:prstGeom prst="roundRect">
            <a:avLst>
              <a:gd name="adj" fmla="val 16000"/>
            </a:avLst>
          </a:prstGeom>
          <a:solidFill>
            <a:srgbClr val="FFFFFF"/>
          </a:solidFill>
          <a:ln w="12700">
            <a:solidFill>
              <a:srgbClr val="DDE4EB"/>
            </a:solid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63500" bIns="63500"/>
          <a:lstStyle/>
          <a:p>
            <a:pPr algn="ctr"/>
          </a:p>
        </p:txBody>
      </p:sp>
      <p:sp>
        <p:nvSpPr>
          <p:cNvPr id="30" name="TextBox 29"/>
          <p:cNvSpPr txBox="1"/>
          <p:nvPr/>
        </p:nvSpPr>
        <p:spPr>
          <a:xfrm>
            <a:off x="4851400" y="3651250"/>
            <a:ext cx="4495800" cy="419100"/>
          </a:xfrm>
          <a:prstGeom prst="rect">
            <a:avLst/>
          </a:prstGeom>
          <a:noFill/>
        </p:spPr>
        <p:txBody>
          <a:bodyPr wrap="square" lIns="0" rIns="0" tIns="0" bIns="0" anchor="t">
            <a:spAutoFit/>
          </a:bodyPr>
          <a:lstStyle/>
          <a:p>
            <a:pPr algn="l">
              <a:lnSpc>
                <a:spcPct val="105000"/>
              </a:lnSpc>
              <a:spcBef>
                <a:spcPts val="0"/>
              </a:spcBef>
              <a:spcAft>
                <a:spcPts val="100"/>
              </a:spcAft>
            </a:pPr>
            <a:r>
              <a:rPr sz="1100" b="1" i="0">
                <a:solidFill>
                  <a:srgbClr val="1B2532"/>
                </a:solidFill>
                <a:latin typeface="Calibri"/>
              </a:rPr>
              <a:t>Pseudo-labelling</a:t>
            </a:r>
          </a:p>
          <a:p>
            <a:pPr>
              <a:lnSpc>
                <a:spcPct val="105000"/>
              </a:lnSpc>
              <a:spcBef>
                <a:spcPts val="0"/>
              </a:spcBef>
              <a:spcAft>
                <a:spcPts val="0"/>
              </a:spcAft>
            </a:pPr>
            <a:r>
              <a:rPr sz="950" b="0" i="0">
                <a:solidFill>
                  <a:srgbClr val="6B7784"/>
                </a:solidFill>
                <a:latin typeface="Calibri"/>
              </a:rPr>
              <a:t>HSV decay scoring turns 2 labels into 5 freshness levels</a:t>
            </a:r>
          </a:p>
        </p:txBody>
      </p:sp>
      <p:sp>
        <p:nvSpPr>
          <p:cNvPr id="31" name="Rounded Rectangle 30"/>
          <p:cNvSpPr/>
          <p:nvPr/>
        </p:nvSpPr>
        <p:spPr>
          <a:xfrm>
            <a:off x="4216400" y="4216400"/>
            <a:ext cx="431800" cy="596900"/>
          </a:xfrm>
          <a:prstGeom prst="roundRect">
            <a:avLst>
              <a:gd name="adj" fmla="val 1600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63500" bIns="63500"/>
          <a:lstStyle/>
          <a:p>
            <a:pPr algn="ctr"/>
          </a:p>
        </p:txBody>
      </p:sp>
      <p:sp>
        <p:nvSpPr>
          <p:cNvPr id="32" name="TextBox 31"/>
          <p:cNvSpPr txBox="1"/>
          <p:nvPr/>
        </p:nvSpPr>
        <p:spPr>
          <a:xfrm>
            <a:off x="4216400" y="4413250"/>
            <a:ext cx="431800" cy="203200"/>
          </a:xfrm>
          <a:prstGeom prst="rect">
            <a:avLst/>
          </a:prstGeom>
          <a:noFill/>
        </p:spPr>
        <p:txBody>
          <a:bodyPr wrap="square" lIns="0" rIns="0" tIns="0" bIns="0" anchor="t">
            <a:spAutoFit/>
          </a:bodyPr>
          <a:lstStyle/>
          <a:p>
            <a:pPr algn="ctr">
              <a:lnSpc>
                <a:spcPct val="118000"/>
              </a:lnSpc>
              <a:spcBef>
                <a:spcPts val="0"/>
              </a:spcBef>
              <a:spcAft>
                <a:spcPts val="0"/>
              </a:spcAft>
            </a:pPr>
            <a:r>
              <a:rPr sz="1050" b="1" i="0">
                <a:solidFill>
                  <a:srgbClr val="FFFFFF"/>
                </a:solidFill>
                <a:latin typeface="Calibri"/>
              </a:rPr>
              <a:t>W5</a:t>
            </a:r>
          </a:p>
        </p:txBody>
      </p:sp>
      <p:sp>
        <p:nvSpPr>
          <p:cNvPr id="33" name="Rounded Rectangle 32"/>
          <p:cNvSpPr/>
          <p:nvPr/>
        </p:nvSpPr>
        <p:spPr>
          <a:xfrm>
            <a:off x="4699000" y="4216400"/>
            <a:ext cx="4800600" cy="596900"/>
          </a:xfrm>
          <a:prstGeom prst="roundRect">
            <a:avLst>
              <a:gd name="adj" fmla="val 16000"/>
            </a:avLst>
          </a:prstGeom>
          <a:solidFill>
            <a:srgbClr val="FFFFFF"/>
          </a:solidFill>
          <a:ln w="12700">
            <a:solidFill>
              <a:srgbClr val="DDE4EB"/>
            </a:solid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63500" bIns="63500"/>
          <a:lstStyle/>
          <a:p>
            <a:pPr algn="ctr"/>
          </a:p>
        </p:txBody>
      </p:sp>
      <p:sp>
        <p:nvSpPr>
          <p:cNvPr id="34" name="TextBox 33"/>
          <p:cNvSpPr txBox="1"/>
          <p:nvPr/>
        </p:nvSpPr>
        <p:spPr>
          <a:xfrm>
            <a:off x="4851400" y="4318000"/>
            <a:ext cx="4495800" cy="419100"/>
          </a:xfrm>
          <a:prstGeom prst="rect">
            <a:avLst/>
          </a:prstGeom>
          <a:noFill/>
        </p:spPr>
        <p:txBody>
          <a:bodyPr wrap="square" lIns="0" rIns="0" tIns="0" bIns="0" anchor="t">
            <a:spAutoFit/>
          </a:bodyPr>
          <a:lstStyle/>
          <a:p>
            <a:pPr algn="l">
              <a:lnSpc>
                <a:spcPct val="105000"/>
              </a:lnSpc>
              <a:spcBef>
                <a:spcPts val="0"/>
              </a:spcBef>
              <a:spcAft>
                <a:spcPts val="100"/>
              </a:spcAft>
            </a:pPr>
            <a:r>
              <a:rPr sz="1100" b="1" i="0">
                <a:solidFill>
                  <a:srgbClr val="1B2532"/>
                </a:solidFill>
                <a:latin typeface="Calibri"/>
              </a:rPr>
              <a:t>Freshness classifier</a:t>
            </a:r>
          </a:p>
          <a:p>
            <a:pPr>
              <a:lnSpc>
                <a:spcPct val="105000"/>
              </a:lnSpc>
              <a:spcBef>
                <a:spcPts val="0"/>
              </a:spcBef>
              <a:spcAft>
                <a:spcPts val="0"/>
              </a:spcAft>
            </a:pPr>
            <a:r>
              <a:rPr sz="950" b="0" i="0">
                <a:solidFill>
                  <a:srgbClr val="6B7784"/>
                </a:solidFill>
                <a:latin typeface="Calibri"/>
              </a:rPr>
              <a:t>Phase-1 training with the backbone frozen</a:t>
            </a:r>
          </a:p>
        </p:txBody>
      </p:sp>
      <p:sp>
        <p:nvSpPr>
          <p:cNvPr id="35" name="Rounded Rectangle 34"/>
          <p:cNvSpPr/>
          <p:nvPr/>
        </p:nvSpPr>
        <p:spPr>
          <a:xfrm>
            <a:off x="4216400" y="4883150"/>
            <a:ext cx="431800" cy="596900"/>
          </a:xfrm>
          <a:prstGeom prst="roundRect">
            <a:avLst>
              <a:gd name="adj" fmla="val 16000"/>
            </a:avLst>
          </a:prstGeom>
          <a:solidFill>
            <a:srgbClr val="2E8B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63500" bIns="63500"/>
          <a:lstStyle/>
          <a:p>
            <a:pPr algn="ctr"/>
          </a:p>
        </p:txBody>
      </p:sp>
      <p:sp>
        <p:nvSpPr>
          <p:cNvPr id="36" name="TextBox 35"/>
          <p:cNvSpPr txBox="1"/>
          <p:nvPr/>
        </p:nvSpPr>
        <p:spPr>
          <a:xfrm>
            <a:off x="4216400" y="5080000"/>
            <a:ext cx="431800" cy="203200"/>
          </a:xfrm>
          <a:prstGeom prst="rect">
            <a:avLst/>
          </a:prstGeom>
          <a:noFill/>
        </p:spPr>
        <p:txBody>
          <a:bodyPr wrap="square" lIns="0" rIns="0" tIns="0" bIns="0" anchor="t">
            <a:spAutoFit/>
          </a:bodyPr>
          <a:lstStyle/>
          <a:p>
            <a:pPr algn="ctr">
              <a:lnSpc>
                <a:spcPct val="118000"/>
              </a:lnSpc>
              <a:spcBef>
                <a:spcPts val="0"/>
              </a:spcBef>
              <a:spcAft>
                <a:spcPts val="0"/>
              </a:spcAft>
            </a:pPr>
            <a:r>
              <a:rPr sz="1050" b="1" i="0">
                <a:solidFill>
                  <a:srgbClr val="FFFFFF"/>
                </a:solidFill>
                <a:latin typeface="Calibri"/>
              </a:rPr>
              <a:t>W6</a:t>
            </a:r>
          </a:p>
        </p:txBody>
      </p:sp>
      <p:sp>
        <p:nvSpPr>
          <p:cNvPr id="37" name="Rounded Rectangle 36"/>
          <p:cNvSpPr/>
          <p:nvPr/>
        </p:nvSpPr>
        <p:spPr>
          <a:xfrm>
            <a:off x="4699000" y="4883150"/>
            <a:ext cx="4800600" cy="596900"/>
          </a:xfrm>
          <a:prstGeom prst="roundRect">
            <a:avLst>
              <a:gd name="adj" fmla="val 16000"/>
            </a:avLst>
          </a:prstGeom>
          <a:solidFill>
            <a:srgbClr val="FFFFFF"/>
          </a:solidFill>
          <a:ln w="12700">
            <a:solidFill>
              <a:srgbClr val="DDE4EB"/>
            </a:solid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63500" bIns="63500"/>
          <a:lstStyle/>
          <a:p>
            <a:pPr algn="ctr"/>
          </a:p>
        </p:txBody>
      </p:sp>
      <p:sp>
        <p:nvSpPr>
          <p:cNvPr id="38" name="TextBox 37"/>
          <p:cNvSpPr txBox="1"/>
          <p:nvPr/>
        </p:nvSpPr>
        <p:spPr>
          <a:xfrm>
            <a:off x="4851400" y="4984750"/>
            <a:ext cx="4495800" cy="419100"/>
          </a:xfrm>
          <a:prstGeom prst="rect">
            <a:avLst/>
          </a:prstGeom>
          <a:noFill/>
        </p:spPr>
        <p:txBody>
          <a:bodyPr wrap="square" lIns="0" rIns="0" tIns="0" bIns="0" anchor="t">
            <a:spAutoFit/>
          </a:bodyPr>
          <a:lstStyle/>
          <a:p>
            <a:pPr algn="l">
              <a:lnSpc>
                <a:spcPct val="105000"/>
              </a:lnSpc>
              <a:spcBef>
                <a:spcPts val="0"/>
              </a:spcBef>
              <a:spcAft>
                <a:spcPts val="100"/>
              </a:spcAft>
            </a:pPr>
            <a:r>
              <a:rPr sz="1100" b="1" i="0">
                <a:solidFill>
                  <a:srgbClr val="1B2532"/>
                </a:solidFill>
                <a:latin typeface="Calibri"/>
              </a:rPr>
              <a:t>Fine-tuning</a:t>
            </a:r>
          </a:p>
          <a:p>
            <a:pPr>
              <a:lnSpc>
                <a:spcPct val="105000"/>
              </a:lnSpc>
              <a:spcBef>
                <a:spcPts val="0"/>
              </a:spcBef>
              <a:spcAft>
                <a:spcPts val="0"/>
              </a:spcAft>
            </a:pPr>
            <a:r>
              <a:rPr sz="950" b="0" i="0">
                <a:solidFill>
                  <a:srgbClr val="6B7784"/>
                </a:solidFill>
                <a:latin typeface="Calibri"/>
              </a:rPr>
              <a:t>Last 30 layers unfrozen at learning rate 1e-5</a:t>
            </a:r>
          </a:p>
        </p:txBody>
      </p:sp>
      <p:sp>
        <p:nvSpPr>
          <p:cNvPr id="39" name="Rounded Rectangle 38"/>
          <p:cNvSpPr/>
          <p:nvPr/>
        </p:nvSpPr>
        <p:spPr>
          <a:xfrm>
            <a:off x="4216400" y="5549900"/>
            <a:ext cx="431800" cy="596900"/>
          </a:xfrm>
          <a:prstGeom prst="roundRect">
            <a:avLst>
              <a:gd name="adj" fmla="val 1600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63500" bIns="63500"/>
          <a:lstStyle/>
          <a:p>
            <a:pPr algn="ctr"/>
          </a:p>
        </p:txBody>
      </p:sp>
      <p:sp>
        <p:nvSpPr>
          <p:cNvPr id="40" name="TextBox 39"/>
          <p:cNvSpPr txBox="1"/>
          <p:nvPr/>
        </p:nvSpPr>
        <p:spPr>
          <a:xfrm>
            <a:off x="4216400" y="5746750"/>
            <a:ext cx="431800" cy="203200"/>
          </a:xfrm>
          <a:prstGeom prst="rect">
            <a:avLst/>
          </a:prstGeom>
          <a:noFill/>
        </p:spPr>
        <p:txBody>
          <a:bodyPr wrap="square" lIns="0" rIns="0" tIns="0" bIns="0" anchor="t">
            <a:spAutoFit/>
          </a:bodyPr>
          <a:lstStyle/>
          <a:p>
            <a:pPr algn="ctr">
              <a:lnSpc>
                <a:spcPct val="118000"/>
              </a:lnSpc>
              <a:spcBef>
                <a:spcPts val="0"/>
              </a:spcBef>
              <a:spcAft>
                <a:spcPts val="0"/>
              </a:spcAft>
            </a:pPr>
            <a:r>
              <a:rPr sz="1050" b="1" i="0">
                <a:solidFill>
                  <a:srgbClr val="FFFFFF"/>
                </a:solidFill>
                <a:latin typeface="Calibri"/>
              </a:rPr>
              <a:t>W7</a:t>
            </a:r>
          </a:p>
        </p:txBody>
      </p:sp>
      <p:sp>
        <p:nvSpPr>
          <p:cNvPr id="41" name="Rounded Rectangle 40"/>
          <p:cNvSpPr/>
          <p:nvPr/>
        </p:nvSpPr>
        <p:spPr>
          <a:xfrm>
            <a:off x="4699000" y="5549900"/>
            <a:ext cx="4800600" cy="596900"/>
          </a:xfrm>
          <a:prstGeom prst="roundRect">
            <a:avLst>
              <a:gd name="adj" fmla="val 16000"/>
            </a:avLst>
          </a:prstGeom>
          <a:solidFill>
            <a:srgbClr val="FFFFFF"/>
          </a:solidFill>
          <a:ln w="12700">
            <a:solidFill>
              <a:srgbClr val="DDE4EB"/>
            </a:solid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63500" bIns="63500"/>
          <a:lstStyle/>
          <a:p>
            <a:pPr algn="ctr"/>
          </a:p>
        </p:txBody>
      </p:sp>
      <p:sp>
        <p:nvSpPr>
          <p:cNvPr id="42" name="TextBox 41"/>
          <p:cNvSpPr txBox="1"/>
          <p:nvPr/>
        </p:nvSpPr>
        <p:spPr>
          <a:xfrm>
            <a:off x="4851400" y="5651500"/>
            <a:ext cx="4495800" cy="419100"/>
          </a:xfrm>
          <a:prstGeom prst="rect">
            <a:avLst/>
          </a:prstGeom>
          <a:noFill/>
        </p:spPr>
        <p:txBody>
          <a:bodyPr wrap="square" lIns="0" rIns="0" tIns="0" bIns="0" anchor="t">
            <a:spAutoFit/>
          </a:bodyPr>
          <a:lstStyle/>
          <a:p>
            <a:pPr algn="l">
              <a:lnSpc>
                <a:spcPct val="105000"/>
              </a:lnSpc>
              <a:spcBef>
                <a:spcPts val="0"/>
              </a:spcBef>
              <a:spcAft>
                <a:spcPts val="100"/>
              </a:spcAft>
            </a:pPr>
            <a:r>
              <a:rPr sz="1100" b="1" i="0">
                <a:solidFill>
                  <a:srgbClr val="1B2532"/>
                </a:solidFill>
                <a:latin typeface="Calibri"/>
              </a:rPr>
              <a:t>Calibration + prototype</a:t>
            </a:r>
          </a:p>
          <a:p>
            <a:pPr>
              <a:lnSpc>
                <a:spcPct val="105000"/>
              </a:lnSpc>
              <a:spcBef>
                <a:spcPts val="0"/>
              </a:spcBef>
              <a:spcAft>
                <a:spcPts val="0"/>
              </a:spcAft>
            </a:pPr>
            <a:r>
              <a:rPr sz="950" b="0" i="0">
                <a:solidFill>
                  <a:srgbClr val="6B7784"/>
                </a:solidFill>
                <a:latin typeface="Calibri"/>
              </a:rPr>
              <a:t>Bias correction at inference · Streamlit prototype</a:t>
            </a:r>
          </a:p>
        </p:txBody>
      </p:sp>
      <p:sp>
        <p:nvSpPr>
          <p:cNvPr id="43" name="Rounded Rectangle 42"/>
          <p:cNvSpPr/>
          <p:nvPr/>
        </p:nvSpPr>
        <p:spPr>
          <a:xfrm>
            <a:off x="4216400" y="6216650"/>
            <a:ext cx="431800" cy="596900"/>
          </a:xfrm>
          <a:prstGeom prst="roundRect">
            <a:avLst>
              <a:gd name="adj" fmla="val 16000"/>
            </a:avLst>
          </a:prstGeom>
          <a:solidFill>
            <a:srgbClr val="2E8B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63500" bIns="63500"/>
          <a:lstStyle/>
          <a:p>
            <a:pPr algn="ctr"/>
          </a:p>
        </p:txBody>
      </p:sp>
      <p:sp>
        <p:nvSpPr>
          <p:cNvPr id="44" name="TextBox 43"/>
          <p:cNvSpPr txBox="1"/>
          <p:nvPr/>
        </p:nvSpPr>
        <p:spPr>
          <a:xfrm>
            <a:off x="4216400" y="6413500"/>
            <a:ext cx="431800" cy="203200"/>
          </a:xfrm>
          <a:prstGeom prst="rect">
            <a:avLst/>
          </a:prstGeom>
          <a:noFill/>
        </p:spPr>
        <p:txBody>
          <a:bodyPr wrap="square" lIns="0" rIns="0" tIns="0" bIns="0" anchor="t">
            <a:spAutoFit/>
          </a:bodyPr>
          <a:lstStyle/>
          <a:p>
            <a:pPr algn="ctr">
              <a:lnSpc>
                <a:spcPct val="118000"/>
              </a:lnSpc>
              <a:spcBef>
                <a:spcPts val="0"/>
              </a:spcBef>
              <a:spcAft>
                <a:spcPts val="0"/>
              </a:spcAft>
            </a:pPr>
            <a:r>
              <a:rPr sz="1050" b="1" i="0">
                <a:solidFill>
                  <a:srgbClr val="FFFFFF"/>
                </a:solidFill>
                <a:latin typeface="Calibri"/>
              </a:rPr>
              <a:t>W8</a:t>
            </a:r>
          </a:p>
        </p:txBody>
      </p:sp>
      <p:sp>
        <p:nvSpPr>
          <p:cNvPr id="45" name="Rounded Rectangle 44"/>
          <p:cNvSpPr/>
          <p:nvPr/>
        </p:nvSpPr>
        <p:spPr>
          <a:xfrm>
            <a:off x="4699000" y="6216650"/>
            <a:ext cx="4800600" cy="596900"/>
          </a:xfrm>
          <a:prstGeom prst="roundRect">
            <a:avLst>
              <a:gd name="adj" fmla="val 16000"/>
            </a:avLst>
          </a:prstGeom>
          <a:solidFill>
            <a:srgbClr val="FFFFFF"/>
          </a:solidFill>
          <a:ln w="12700">
            <a:solidFill>
              <a:srgbClr val="DDE4EB"/>
            </a:solid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63500" bIns="63500"/>
          <a:lstStyle/>
          <a:p>
            <a:pPr algn="ctr"/>
          </a:p>
        </p:txBody>
      </p:sp>
      <p:sp>
        <p:nvSpPr>
          <p:cNvPr id="46" name="TextBox 45"/>
          <p:cNvSpPr txBox="1"/>
          <p:nvPr/>
        </p:nvSpPr>
        <p:spPr>
          <a:xfrm>
            <a:off x="4851400" y="6318250"/>
            <a:ext cx="4495800" cy="419100"/>
          </a:xfrm>
          <a:prstGeom prst="rect">
            <a:avLst/>
          </a:prstGeom>
          <a:noFill/>
        </p:spPr>
        <p:txBody>
          <a:bodyPr wrap="square" lIns="0" rIns="0" tIns="0" bIns="0" anchor="t">
            <a:spAutoFit/>
          </a:bodyPr>
          <a:lstStyle/>
          <a:p>
            <a:pPr algn="l">
              <a:lnSpc>
                <a:spcPct val="105000"/>
              </a:lnSpc>
              <a:spcBef>
                <a:spcPts val="0"/>
              </a:spcBef>
              <a:spcAft>
                <a:spcPts val="100"/>
              </a:spcAft>
            </a:pPr>
            <a:r>
              <a:rPr sz="1100" b="1" i="0">
                <a:solidFill>
                  <a:srgbClr val="1B2532"/>
                </a:solidFill>
                <a:latin typeface="Calibri"/>
              </a:rPr>
              <a:t>Production build</a:t>
            </a:r>
          </a:p>
          <a:p>
            <a:pPr>
              <a:lnSpc>
                <a:spcPct val="105000"/>
              </a:lnSpc>
              <a:spcBef>
                <a:spcPts val="0"/>
              </a:spcBef>
              <a:spcAft>
                <a:spcPts val="0"/>
              </a:spcAft>
            </a:pPr>
            <a:r>
              <a:rPr sz="950" b="0" i="0">
                <a:solidFill>
                  <a:srgbClr val="6B7784"/>
                </a:solidFill>
                <a:latin typeface="Calibri"/>
              </a:rPr>
              <a:t>FastAPI service + React (Vite) UI + gatekeeper integration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4200" y="406400"/>
            <a:ext cx="8915400" cy="431800"/>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0070C0"/>
                </a:solidFill>
                <a:latin typeface="Calibri"/>
              </a:rPr>
              <a:t>PROBLEM IDENTIFICATION</a:t>
            </a:r>
          </a:p>
        </p:txBody>
      </p:sp>
      <p:cxnSp>
        <p:nvCxnSpPr>
          <p:cNvPr id="3" name="Connector 2"/>
          <p:cNvCxnSpPr/>
          <p:nvPr/>
        </p:nvCxnSpPr>
        <p:spPr>
          <a:xfrm>
            <a:off x="584200" y="901700"/>
            <a:ext cx="8915400" cy="0"/>
          </a:xfrm>
          <a:prstGeom prst="line">
            <a:avLst/>
          </a:prstGeom>
          <a:ln w="25400">
            <a:solidFill>
              <a:srgbClr val="0070C0"/>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584200" y="7086600"/>
            <a:ext cx="8915400" cy="0"/>
          </a:xfrm>
          <a:prstGeom prst="line">
            <a:avLst/>
          </a:prstGeom>
          <a:ln w="9525">
            <a:solidFill>
              <a:srgbClr val="D8DEE5"/>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84200" y="7188200"/>
            <a:ext cx="6240780" cy="177800"/>
          </a:xfrm>
          <a:prstGeom prst="rect">
            <a:avLst/>
          </a:prstGeom>
          <a:noFill/>
        </p:spPr>
        <p:txBody>
          <a:bodyPr wrap="square" lIns="0" rIns="0" tIns="0" bIns="0" anchor="t">
            <a:spAutoFit/>
          </a:bodyPr>
          <a:lstStyle/>
          <a:p>
            <a:pPr algn="l">
              <a:lnSpc>
                <a:spcPct val="118000"/>
              </a:lnSpc>
              <a:spcBef>
                <a:spcPts val="0"/>
              </a:spcBef>
              <a:spcAft>
                <a:spcPts val="0"/>
              </a:spcAft>
            </a:pPr>
            <a:r>
              <a:rPr sz="850" b="0" i="0">
                <a:solidFill>
                  <a:srgbClr val="6B7784"/>
                </a:solidFill>
                <a:latin typeface="Calibri"/>
              </a:rPr>
              <a:t>Fresh Vision  ·  Practice School-II  ·  SOET, BML Munjal University</a:t>
            </a:r>
          </a:p>
        </p:txBody>
      </p:sp>
      <p:sp>
        <p:nvSpPr>
          <p:cNvPr id="6" name="TextBox 5"/>
          <p:cNvSpPr txBox="1"/>
          <p:nvPr/>
        </p:nvSpPr>
        <p:spPr>
          <a:xfrm>
            <a:off x="8737600" y="7188200"/>
            <a:ext cx="762000" cy="177800"/>
          </a:xfrm>
          <a:prstGeom prst="rect">
            <a:avLst/>
          </a:prstGeom>
          <a:noFill/>
        </p:spPr>
        <p:txBody>
          <a:bodyPr wrap="square" lIns="0" rIns="0" tIns="0" bIns="0" anchor="t">
            <a:spAutoFit/>
          </a:bodyPr>
          <a:lstStyle/>
          <a:p>
            <a:pPr algn="r">
              <a:lnSpc>
                <a:spcPct val="118000"/>
              </a:lnSpc>
              <a:spcBef>
                <a:spcPts val="0"/>
              </a:spcBef>
              <a:spcAft>
                <a:spcPts val="0"/>
              </a:spcAft>
            </a:pPr>
            <a:r>
              <a:rPr sz="850" b="1" i="0">
                <a:solidFill>
                  <a:srgbClr val="0070C0"/>
                </a:solidFill>
                <a:latin typeface="Calibri"/>
              </a:rPr>
              <a:t>3</a:t>
            </a:r>
          </a:p>
        </p:txBody>
      </p:sp>
      <p:sp>
        <p:nvSpPr>
          <p:cNvPr id="7" name="TextBox 6"/>
          <p:cNvSpPr txBox="1"/>
          <p:nvPr/>
        </p:nvSpPr>
        <p:spPr>
          <a:xfrm>
            <a:off x="584200" y="1219200"/>
            <a:ext cx="8915400" cy="508000"/>
          </a:xfrm>
          <a:prstGeom prst="rect">
            <a:avLst/>
          </a:prstGeom>
          <a:noFill/>
        </p:spPr>
        <p:txBody>
          <a:bodyPr wrap="square" lIns="0" rIns="0" tIns="0" bIns="0" anchor="t">
            <a:spAutoFit/>
          </a:bodyPr>
          <a:lstStyle/>
          <a:p>
            <a:pPr algn="l">
              <a:lnSpc>
                <a:spcPct val="115000"/>
              </a:lnSpc>
              <a:spcBef>
                <a:spcPts val="0"/>
              </a:spcBef>
              <a:spcAft>
                <a:spcPts val="0"/>
              </a:spcAft>
            </a:pPr>
            <a:r>
              <a:rPr sz="1600" b="1" i="0">
                <a:solidFill>
                  <a:srgbClr val="1B2532"/>
                </a:solidFill>
                <a:latin typeface="Calibri"/>
              </a:rPr>
              <a:t>Fruit and vegetable quality is still judged by eye — one item at a time.</a:t>
            </a:r>
          </a:p>
        </p:txBody>
      </p:sp>
      <p:sp>
        <p:nvSpPr>
          <p:cNvPr id="8" name="Rounded Rectangle 7"/>
          <p:cNvSpPr/>
          <p:nvPr/>
        </p:nvSpPr>
        <p:spPr>
          <a:xfrm>
            <a:off x="584200" y="1905000"/>
            <a:ext cx="2870200" cy="2311400"/>
          </a:xfrm>
          <a:prstGeom prst="roundRect">
            <a:avLst>
              <a:gd name="adj" fmla="val 5000"/>
            </a:avLst>
          </a:prstGeom>
          <a:solidFill>
            <a:srgbClr val="FFFFFF"/>
          </a:solidFill>
          <a:ln w="1270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63500" bIns="63500"/>
          <a:lstStyle/>
          <a:p>
            <a:pPr algn="ctr"/>
          </a:p>
        </p:txBody>
      </p:sp>
      <p:sp>
        <p:nvSpPr>
          <p:cNvPr id="9" name="Rectangle 8"/>
          <p:cNvSpPr/>
          <p:nvPr/>
        </p:nvSpPr>
        <p:spPr>
          <a:xfrm>
            <a:off x="584200" y="1905000"/>
            <a:ext cx="2870200" cy="57150"/>
          </a:xfrm>
          <a:prstGeom prst="rect">
            <a:avLst/>
          </a:prstGeom>
          <a:solidFill>
            <a:srgbClr val="1187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63500" bIns="63500"/>
          <a:lstStyle/>
          <a:p>
            <a:pPr algn="ctr"/>
          </a:p>
        </p:txBody>
      </p:sp>
      <p:sp>
        <p:nvSpPr>
          <p:cNvPr id="10" name="TextBox 9"/>
          <p:cNvSpPr txBox="1"/>
          <p:nvPr/>
        </p:nvSpPr>
        <p:spPr>
          <a:xfrm>
            <a:off x="787400" y="2209800"/>
            <a:ext cx="2463800" cy="1828800"/>
          </a:xfrm>
          <a:prstGeom prst="rect">
            <a:avLst/>
          </a:prstGeom>
          <a:noFill/>
        </p:spPr>
        <p:txBody>
          <a:bodyPr wrap="square" lIns="0" rIns="0" tIns="0" bIns="0" anchor="t">
            <a:spAutoFit/>
          </a:bodyPr>
          <a:lstStyle/>
          <a:p>
            <a:pPr algn="l">
              <a:lnSpc>
                <a:spcPct val="110000"/>
              </a:lnSpc>
              <a:spcBef>
                <a:spcPts val="0"/>
              </a:spcBef>
              <a:spcAft>
                <a:spcPts val="900"/>
              </a:spcAft>
            </a:pPr>
            <a:r>
              <a:rPr sz="1400" b="1" i="0">
                <a:solidFill>
                  <a:srgbClr val="11874E"/>
                </a:solidFill>
                <a:latin typeface="Calibri"/>
              </a:rPr>
              <a:t>Manual &amp; subjective</a:t>
            </a:r>
          </a:p>
          <a:p>
            <a:pPr>
              <a:lnSpc>
                <a:spcPct val="132000"/>
              </a:lnSpc>
              <a:spcBef>
                <a:spcPts val="0"/>
              </a:spcBef>
              <a:spcAft>
                <a:spcPts val="0"/>
              </a:spcAft>
            </a:pPr>
            <a:r>
              <a:rPr sz="1150" b="0" i="0">
                <a:solidFill>
                  <a:srgbClr val="333D4A"/>
                </a:solidFill>
                <a:latin typeface="Calibri"/>
              </a:rPr>
              <a:t>Grading depends on who is looking. Two inspectors give two answers, and consistency drops over a long shift.</a:t>
            </a:r>
          </a:p>
        </p:txBody>
      </p:sp>
      <p:sp>
        <p:nvSpPr>
          <p:cNvPr id="11" name="Rounded Rectangle 10"/>
          <p:cNvSpPr/>
          <p:nvPr/>
        </p:nvSpPr>
        <p:spPr>
          <a:xfrm>
            <a:off x="3606800" y="1905000"/>
            <a:ext cx="2870200" cy="2311400"/>
          </a:xfrm>
          <a:prstGeom prst="roundRect">
            <a:avLst>
              <a:gd name="adj" fmla="val 5000"/>
            </a:avLst>
          </a:prstGeom>
          <a:solidFill>
            <a:srgbClr val="FFFFFF"/>
          </a:solidFill>
          <a:ln w="1270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63500" bIns="63500"/>
          <a:lstStyle/>
          <a:p>
            <a:pPr algn="ctr"/>
          </a:p>
        </p:txBody>
      </p:sp>
      <p:sp>
        <p:nvSpPr>
          <p:cNvPr id="12" name="Rectangle 11"/>
          <p:cNvSpPr/>
          <p:nvPr/>
        </p:nvSpPr>
        <p:spPr>
          <a:xfrm>
            <a:off x="3606800" y="1905000"/>
            <a:ext cx="2870200" cy="571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63500" bIns="63500"/>
          <a:lstStyle/>
          <a:p>
            <a:pPr algn="ctr"/>
          </a:p>
        </p:txBody>
      </p:sp>
      <p:sp>
        <p:nvSpPr>
          <p:cNvPr id="13" name="TextBox 12"/>
          <p:cNvSpPr txBox="1"/>
          <p:nvPr/>
        </p:nvSpPr>
        <p:spPr>
          <a:xfrm>
            <a:off x="3810000" y="2209800"/>
            <a:ext cx="2463800" cy="1828800"/>
          </a:xfrm>
          <a:prstGeom prst="rect">
            <a:avLst/>
          </a:prstGeom>
          <a:noFill/>
        </p:spPr>
        <p:txBody>
          <a:bodyPr wrap="square" lIns="0" rIns="0" tIns="0" bIns="0" anchor="t">
            <a:spAutoFit/>
          </a:bodyPr>
          <a:lstStyle/>
          <a:p>
            <a:pPr algn="l">
              <a:lnSpc>
                <a:spcPct val="110000"/>
              </a:lnSpc>
              <a:spcBef>
                <a:spcPts val="0"/>
              </a:spcBef>
              <a:spcAft>
                <a:spcPts val="900"/>
              </a:spcAft>
            </a:pPr>
            <a:r>
              <a:rPr sz="1400" b="1" i="0">
                <a:solidFill>
                  <a:srgbClr val="0070C0"/>
                </a:solidFill>
                <a:latin typeface="Calibri"/>
              </a:rPr>
              <a:t>Does not scale</a:t>
            </a:r>
          </a:p>
          <a:p>
            <a:pPr>
              <a:lnSpc>
                <a:spcPct val="132000"/>
              </a:lnSpc>
              <a:spcBef>
                <a:spcPts val="0"/>
              </a:spcBef>
              <a:spcAft>
                <a:spcPts val="0"/>
              </a:spcAft>
            </a:pPr>
            <a:r>
              <a:rPr sz="1150" b="0" i="0">
                <a:solidFill>
                  <a:srgbClr val="333D4A"/>
                </a:solidFill>
                <a:latin typeface="Calibri"/>
              </a:rPr>
              <a:t>A grocery chain or warehouse cannot hand-check every crate, so spoiled stock reaches the shelf and good stock gets thrown away.</a:t>
            </a:r>
          </a:p>
        </p:txBody>
      </p:sp>
      <p:sp>
        <p:nvSpPr>
          <p:cNvPr id="14" name="Rounded Rectangle 13"/>
          <p:cNvSpPr/>
          <p:nvPr/>
        </p:nvSpPr>
        <p:spPr>
          <a:xfrm>
            <a:off x="6629400" y="1905000"/>
            <a:ext cx="2870200" cy="2311400"/>
          </a:xfrm>
          <a:prstGeom prst="roundRect">
            <a:avLst>
              <a:gd name="adj" fmla="val 5000"/>
            </a:avLst>
          </a:prstGeom>
          <a:solidFill>
            <a:srgbClr val="FFFFFF"/>
          </a:solidFill>
          <a:ln w="1270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63500" bIns="63500"/>
          <a:lstStyle/>
          <a:p>
            <a:pPr algn="ctr"/>
          </a:p>
        </p:txBody>
      </p:sp>
      <p:sp>
        <p:nvSpPr>
          <p:cNvPr id="15" name="Rectangle 14"/>
          <p:cNvSpPr/>
          <p:nvPr/>
        </p:nvSpPr>
        <p:spPr>
          <a:xfrm>
            <a:off x="6629400" y="1905000"/>
            <a:ext cx="2870200" cy="57150"/>
          </a:xfrm>
          <a:prstGeom prst="rect">
            <a:avLst/>
          </a:prstGeom>
          <a:solidFill>
            <a:srgbClr val="C27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63500" bIns="63500"/>
          <a:lstStyle/>
          <a:p>
            <a:pPr algn="ctr"/>
          </a:p>
        </p:txBody>
      </p:sp>
      <p:sp>
        <p:nvSpPr>
          <p:cNvPr id="16" name="TextBox 15"/>
          <p:cNvSpPr txBox="1"/>
          <p:nvPr/>
        </p:nvSpPr>
        <p:spPr>
          <a:xfrm>
            <a:off x="6832600" y="2209800"/>
            <a:ext cx="2463800" cy="1828800"/>
          </a:xfrm>
          <a:prstGeom prst="rect">
            <a:avLst/>
          </a:prstGeom>
          <a:noFill/>
        </p:spPr>
        <p:txBody>
          <a:bodyPr wrap="square" lIns="0" rIns="0" tIns="0" bIns="0" anchor="t">
            <a:spAutoFit/>
          </a:bodyPr>
          <a:lstStyle/>
          <a:p>
            <a:pPr algn="l">
              <a:lnSpc>
                <a:spcPct val="110000"/>
              </a:lnSpc>
              <a:spcBef>
                <a:spcPts val="0"/>
              </a:spcBef>
              <a:spcAft>
                <a:spcPts val="900"/>
              </a:spcAft>
            </a:pPr>
            <a:r>
              <a:rPr sz="1400" b="1" i="0">
                <a:solidFill>
                  <a:srgbClr val="C2710C"/>
                </a:solidFill>
                <a:latin typeface="Calibri"/>
              </a:rPr>
              <a:t>Binary labels are not enough</a:t>
            </a:r>
          </a:p>
          <a:p>
            <a:pPr>
              <a:lnSpc>
                <a:spcPct val="132000"/>
              </a:lnSpc>
              <a:spcBef>
                <a:spcPts val="0"/>
              </a:spcBef>
              <a:spcAft>
                <a:spcPts val="0"/>
              </a:spcAft>
            </a:pPr>
            <a:r>
              <a:rPr sz="1150" b="0" i="0">
                <a:solidFill>
                  <a:srgbClr val="333D4A"/>
                </a:solidFill>
                <a:latin typeface="Calibri"/>
              </a:rPr>
              <a:t>Public produce datasets label images only fresh or rotten — a flag that cannot separate “use today” from “discard now”.</a:t>
            </a:r>
          </a:p>
        </p:txBody>
      </p:sp>
      <p:sp>
        <p:nvSpPr>
          <p:cNvPr id="17" name="Rounded Rectangle 16"/>
          <p:cNvSpPr/>
          <p:nvPr/>
        </p:nvSpPr>
        <p:spPr>
          <a:xfrm>
            <a:off x="584200" y="4597400"/>
            <a:ext cx="8915400" cy="1905000"/>
          </a:xfrm>
          <a:prstGeom prst="roundRect">
            <a:avLst>
              <a:gd name="adj" fmla="val 4000"/>
            </a:avLst>
          </a:prstGeom>
          <a:solidFill>
            <a:srgbClr val="EEF7F1"/>
          </a:solidFill>
          <a:ln w="15875">
            <a:solidFill>
              <a:srgbClr val="11874E"/>
            </a:solid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63500" bIns="63500"/>
          <a:lstStyle/>
          <a:p>
            <a:pPr algn="ctr"/>
          </a:p>
        </p:txBody>
      </p:sp>
      <p:sp>
        <p:nvSpPr>
          <p:cNvPr id="18" name="TextBox 17"/>
          <p:cNvSpPr txBox="1"/>
          <p:nvPr/>
        </p:nvSpPr>
        <p:spPr>
          <a:xfrm>
            <a:off x="863600" y="4876800"/>
            <a:ext cx="8356600" cy="1498600"/>
          </a:xfrm>
          <a:prstGeom prst="rect">
            <a:avLst/>
          </a:prstGeom>
          <a:noFill/>
        </p:spPr>
        <p:txBody>
          <a:bodyPr wrap="square" lIns="0" rIns="0" tIns="0" bIns="0" anchor="t">
            <a:spAutoFit/>
          </a:bodyPr>
          <a:lstStyle/>
          <a:p>
            <a:pPr algn="l">
              <a:lnSpc>
                <a:spcPct val="118000"/>
              </a:lnSpc>
              <a:spcBef>
                <a:spcPts val="0"/>
              </a:spcBef>
              <a:spcAft>
                <a:spcPts val="700"/>
              </a:spcAft>
            </a:pPr>
            <a:r>
              <a:rPr sz="1000" b="1" i="0">
                <a:solidFill>
                  <a:srgbClr val="11874E"/>
                </a:solidFill>
                <a:latin typeface="Calibri"/>
              </a:rPr>
              <a:t>THE GAP</a:t>
            </a:r>
          </a:p>
          <a:p>
            <a:pPr>
              <a:lnSpc>
                <a:spcPct val="130000"/>
              </a:lnSpc>
              <a:spcBef>
                <a:spcPts val="0"/>
              </a:spcBef>
              <a:spcAft>
                <a:spcPts val="1000"/>
              </a:spcAft>
            </a:pPr>
            <a:r>
              <a:rPr sz="1350" b="0" i="0">
                <a:solidFill>
                  <a:srgbClr val="1B2532"/>
                </a:solidFill>
                <a:latin typeface="Calibri"/>
              </a:rPr>
              <a:t>There is no lightweight, deployable system that does all three at once: identify the produce, grade how far decay has progressed on a fine-grained scale, and refuse images it has no business judging.</a:t>
            </a:r>
          </a:p>
          <a:p>
            <a:pPr>
              <a:lnSpc>
                <a:spcPct val="125000"/>
              </a:lnSpc>
              <a:spcBef>
                <a:spcPts val="0"/>
              </a:spcBef>
              <a:spcAft>
                <a:spcPts val="0"/>
              </a:spcAft>
            </a:pPr>
            <a:r>
              <a:rPr sz="1150" b="0">
                <a:solidFill>
                  <a:srgbClr val="333D4A"/>
                </a:solidFill>
                <a:latin typeface="Calibri"/>
              </a:rPr>
              <a:t>Off-the-shelf classifiers have no notion of </a:t>
            </a:r>
            <a:r>
              <a:rPr sz="1150" b="1">
                <a:solidFill>
                  <a:srgbClr val="333D4A"/>
                </a:solidFill>
                <a:latin typeface="Calibri"/>
              </a:rPr>
              <a:t>“not produce”</a:t>
            </a:r>
            <a:r>
              <a:rPr sz="1150" b="0">
                <a:solidFill>
                  <a:srgbClr val="333D4A"/>
                </a:solidFill>
                <a:latin typeface="Calibri"/>
              </a:rPr>
              <a:t> — show one a car and it still returns a fruit, confidently.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4200" y="406400"/>
            <a:ext cx="8915400" cy="431800"/>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0070C0"/>
                </a:solidFill>
                <a:latin typeface="Calibri"/>
              </a:rPr>
              <a:t>PROBLEM STATEMENT &amp; OBJECTIVES</a:t>
            </a:r>
          </a:p>
        </p:txBody>
      </p:sp>
      <p:cxnSp>
        <p:nvCxnSpPr>
          <p:cNvPr id="3" name="Connector 2"/>
          <p:cNvCxnSpPr/>
          <p:nvPr/>
        </p:nvCxnSpPr>
        <p:spPr>
          <a:xfrm>
            <a:off x="584200" y="901700"/>
            <a:ext cx="8915400" cy="0"/>
          </a:xfrm>
          <a:prstGeom prst="line">
            <a:avLst/>
          </a:prstGeom>
          <a:ln w="25400">
            <a:solidFill>
              <a:srgbClr val="0070C0"/>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584200" y="7086600"/>
            <a:ext cx="8915400" cy="0"/>
          </a:xfrm>
          <a:prstGeom prst="line">
            <a:avLst/>
          </a:prstGeom>
          <a:ln w="9525">
            <a:solidFill>
              <a:srgbClr val="D8DEE5"/>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84200" y="7188200"/>
            <a:ext cx="6240780" cy="177800"/>
          </a:xfrm>
          <a:prstGeom prst="rect">
            <a:avLst/>
          </a:prstGeom>
          <a:noFill/>
        </p:spPr>
        <p:txBody>
          <a:bodyPr wrap="square" lIns="0" rIns="0" tIns="0" bIns="0" anchor="t">
            <a:spAutoFit/>
          </a:bodyPr>
          <a:lstStyle/>
          <a:p>
            <a:pPr algn="l">
              <a:lnSpc>
                <a:spcPct val="118000"/>
              </a:lnSpc>
              <a:spcBef>
                <a:spcPts val="0"/>
              </a:spcBef>
              <a:spcAft>
                <a:spcPts val="0"/>
              </a:spcAft>
            </a:pPr>
            <a:r>
              <a:rPr sz="850" b="0" i="0">
                <a:solidFill>
                  <a:srgbClr val="6B7784"/>
                </a:solidFill>
                <a:latin typeface="Calibri"/>
              </a:rPr>
              <a:t>Fresh Vision  ·  Practice School-II  ·  SOET, BML Munjal University</a:t>
            </a:r>
          </a:p>
        </p:txBody>
      </p:sp>
      <p:sp>
        <p:nvSpPr>
          <p:cNvPr id="6" name="TextBox 5"/>
          <p:cNvSpPr txBox="1"/>
          <p:nvPr/>
        </p:nvSpPr>
        <p:spPr>
          <a:xfrm>
            <a:off x="8737600" y="7188200"/>
            <a:ext cx="762000" cy="177800"/>
          </a:xfrm>
          <a:prstGeom prst="rect">
            <a:avLst/>
          </a:prstGeom>
          <a:noFill/>
        </p:spPr>
        <p:txBody>
          <a:bodyPr wrap="square" lIns="0" rIns="0" tIns="0" bIns="0" anchor="t">
            <a:spAutoFit/>
          </a:bodyPr>
          <a:lstStyle/>
          <a:p>
            <a:pPr algn="r">
              <a:lnSpc>
                <a:spcPct val="118000"/>
              </a:lnSpc>
              <a:spcBef>
                <a:spcPts val="0"/>
              </a:spcBef>
              <a:spcAft>
                <a:spcPts val="0"/>
              </a:spcAft>
            </a:pPr>
            <a:r>
              <a:rPr sz="850" b="1" i="0">
                <a:solidFill>
                  <a:srgbClr val="0070C0"/>
                </a:solidFill>
                <a:latin typeface="Calibri"/>
              </a:rPr>
              <a:t>4</a:t>
            </a:r>
          </a:p>
        </p:txBody>
      </p:sp>
      <p:sp>
        <p:nvSpPr>
          <p:cNvPr id="7" name="Rounded Rectangle 6"/>
          <p:cNvSpPr/>
          <p:nvPr/>
        </p:nvSpPr>
        <p:spPr>
          <a:xfrm>
            <a:off x="584200" y="1219200"/>
            <a:ext cx="8915400" cy="1473200"/>
          </a:xfrm>
          <a:prstGeom prst="roundRect">
            <a:avLst>
              <a:gd name="adj" fmla="val 5000"/>
            </a:avLst>
          </a:prstGeom>
          <a:solidFill>
            <a:srgbClr val="F2F6FA"/>
          </a:solidFill>
          <a:ln w="15875">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63500" bIns="63500"/>
          <a:lstStyle/>
          <a:p>
            <a:pPr algn="ctr"/>
          </a:p>
        </p:txBody>
      </p:sp>
      <p:sp>
        <p:nvSpPr>
          <p:cNvPr id="8" name="Rectangle 7"/>
          <p:cNvSpPr/>
          <p:nvPr/>
        </p:nvSpPr>
        <p:spPr>
          <a:xfrm>
            <a:off x="584200" y="1219200"/>
            <a:ext cx="63500" cy="147320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63500" bIns="63500"/>
          <a:lstStyle/>
          <a:p>
            <a:pPr algn="ctr"/>
          </a:p>
        </p:txBody>
      </p:sp>
      <p:sp>
        <p:nvSpPr>
          <p:cNvPr id="9" name="TextBox 8"/>
          <p:cNvSpPr txBox="1"/>
          <p:nvPr/>
        </p:nvSpPr>
        <p:spPr>
          <a:xfrm>
            <a:off x="889000" y="1447800"/>
            <a:ext cx="8305800" cy="1168400"/>
          </a:xfrm>
          <a:prstGeom prst="rect">
            <a:avLst/>
          </a:prstGeom>
          <a:noFill/>
        </p:spPr>
        <p:txBody>
          <a:bodyPr wrap="square" lIns="0" rIns="0" tIns="0" bIns="0" anchor="t">
            <a:spAutoFit/>
          </a:bodyPr>
          <a:lstStyle/>
          <a:p>
            <a:pPr algn="l">
              <a:lnSpc>
                <a:spcPct val="118000"/>
              </a:lnSpc>
              <a:spcBef>
                <a:spcPts val="0"/>
              </a:spcBef>
              <a:spcAft>
                <a:spcPts val="700"/>
              </a:spcAft>
            </a:pPr>
            <a:r>
              <a:rPr sz="1000" b="1" i="0">
                <a:solidFill>
                  <a:srgbClr val="0070C0"/>
                </a:solidFill>
                <a:latin typeface="Calibri"/>
              </a:rPr>
              <a:t>PROBLEM STATEMENT</a:t>
            </a:r>
          </a:p>
          <a:p>
            <a:pPr>
              <a:lnSpc>
                <a:spcPct val="128000"/>
              </a:lnSpc>
              <a:spcBef>
                <a:spcPts val="0"/>
              </a:spcBef>
              <a:spcAft>
                <a:spcPts val="0"/>
              </a:spcAft>
            </a:pPr>
            <a:r>
              <a:rPr sz="1300" b="0" i="0">
                <a:solidFill>
                  <a:srgbClr val="1B2532"/>
                </a:solidFill>
                <a:latin typeface="Calibri"/>
              </a:rPr>
              <a:t>Design and deploy a lightweight computer-vision system that, from a single photograph, identifies the fruit or vegetable, grades its freshness on a five-level scale, and rejects inputs that are not produce — exposing every confidence value instead of hiding it.</a:t>
            </a:r>
          </a:p>
        </p:txBody>
      </p:sp>
      <p:sp>
        <p:nvSpPr>
          <p:cNvPr id="10" name="TextBox 9"/>
          <p:cNvSpPr txBox="1"/>
          <p:nvPr/>
        </p:nvSpPr>
        <p:spPr>
          <a:xfrm>
            <a:off x="584200" y="2921000"/>
            <a:ext cx="8915400" cy="254000"/>
          </a:xfrm>
          <a:prstGeom prst="rect">
            <a:avLst/>
          </a:prstGeom>
          <a:noFill/>
        </p:spPr>
        <p:txBody>
          <a:bodyPr wrap="square" lIns="0" rIns="0" tIns="0" bIns="0" anchor="t">
            <a:spAutoFit/>
          </a:bodyPr>
          <a:lstStyle/>
          <a:p>
            <a:pPr algn="l">
              <a:lnSpc>
                <a:spcPct val="118000"/>
              </a:lnSpc>
              <a:spcBef>
                <a:spcPts val="0"/>
              </a:spcBef>
              <a:spcAft>
                <a:spcPts val="0"/>
              </a:spcAft>
            </a:pPr>
            <a:r>
              <a:rPr sz="1000" b="1" i="0">
                <a:solidFill>
                  <a:srgbClr val="0070C0"/>
                </a:solidFill>
                <a:latin typeface="Calibri"/>
              </a:rPr>
              <a:t>OBJECTIVES OF THE WORK</a:t>
            </a:r>
          </a:p>
        </p:txBody>
      </p:sp>
      <p:sp>
        <p:nvSpPr>
          <p:cNvPr id="11" name="Oval 10"/>
          <p:cNvSpPr/>
          <p:nvPr/>
        </p:nvSpPr>
        <p:spPr>
          <a:xfrm>
            <a:off x="584200" y="3225800"/>
            <a:ext cx="381000" cy="381000"/>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63500" bIns="63500"/>
          <a:lstStyle/>
          <a:p>
            <a:pPr algn="ctr"/>
          </a:p>
        </p:txBody>
      </p:sp>
      <p:sp>
        <p:nvSpPr>
          <p:cNvPr id="12" name="TextBox 11"/>
          <p:cNvSpPr txBox="1"/>
          <p:nvPr/>
        </p:nvSpPr>
        <p:spPr>
          <a:xfrm>
            <a:off x="584200" y="3314700"/>
            <a:ext cx="381000" cy="228600"/>
          </a:xfrm>
          <a:prstGeom prst="rect">
            <a:avLst/>
          </a:prstGeom>
          <a:noFill/>
        </p:spPr>
        <p:txBody>
          <a:bodyPr wrap="square" lIns="0" rIns="0" tIns="0" bIns="0" anchor="t">
            <a:spAutoFit/>
          </a:bodyPr>
          <a:lstStyle/>
          <a:p>
            <a:pPr algn="ctr">
              <a:lnSpc>
                <a:spcPct val="118000"/>
              </a:lnSpc>
              <a:spcBef>
                <a:spcPts val="0"/>
              </a:spcBef>
              <a:spcAft>
                <a:spcPts val="0"/>
              </a:spcAft>
            </a:pPr>
            <a:r>
              <a:rPr sz="1300" b="1" i="0">
                <a:solidFill>
                  <a:srgbClr val="FFFFFF"/>
                </a:solidFill>
                <a:latin typeface="Calibri"/>
              </a:rPr>
              <a:t>1</a:t>
            </a:r>
          </a:p>
        </p:txBody>
      </p:sp>
      <p:sp>
        <p:nvSpPr>
          <p:cNvPr id="13" name="TextBox 12"/>
          <p:cNvSpPr txBox="1"/>
          <p:nvPr/>
        </p:nvSpPr>
        <p:spPr>
          <a:xfrm>
            <a:off x="1143000" y="3238500"/>
            <a:ext cx="8356600" cy="711200"/>
          </a:xfrm>
          <a:prstGeom prst="rect">
            <a:avLst/>
          </a:prstGeom>
          <a:noFill/>
        </p:spPr>
        <p:txBody>
          <a:bodyPr wrap="square" lIns="0" rIns="0" tIns="0" bIns="0" anchor="t">
            <a:spAutoFit/>
          </a:bodyPr>
          <a:lstStyle/>
          <a:p>
            <a:pPr algn="l">
              <a:lnSpc>
                <a:spcPct val="110000"/>
              </a:lnSpc>
              <a:spcBef>
                <a:spcPts val="0"/>
              </a:spcBef>
              <a:spcAft>
                <a:spcPts val="200"/>
              </a:spcAft>
            </a:pPr>
            <a:r>
              <a:rPr sz="1250" b="1" i="0">
                <a:solidFill>
                  <a:srgbClr val="1B2532"/>
                </a:solidFill>
                <a:latin typeface="Calibri"/>
              </a:rPr>
              <a:t>Identify produce reliably</a:t>
            </a:r>
          </a:p>
          <a:p>
            <a:pPr>
              <a:lnSpc>
                <a:spcPct val="125000"/>
              </a:lnSpc>
              <a:spcBef>
                <a:spcPts val="0"/>
              </a:spcBef>
              <a:spcAft>
                <a:spcPts val="0"/>
              </a:spcAft>
            </a:pPr>
            <a:r>
              <a:rPr sz="1100" b="0" i="0">
                <a:solidFill>
                  <a:srgbClr val="333D4A"/>
                </a:solidFill>
                <a:latin typeface="Calibri"/>
              </a:rPr>
              <a:t>Train a 14-class identifier by transfer learning on MobileNetV2.</a:t>
            </a:r>
          </a:p>
        </p:txBody>
      </p:sp>
      <p:sp>
        <p:nvSpPr>
          <p:cNvPr id="14" name="Oval 13"/>
          <p:cNvSpPr/>
          <p:nvPr/>
        </p:nvSpPr>
        <p:spPr>
          <a:xfrm>
            <a:off x="584200" y="3962400"/>
            <a:ext cx="381000" cy="381000"/>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63500" bIns="63500"/>
          <a:lstStyle/>
          <a:p>
            <a:pPr algn="ctr"/>
          </a:p>
        </p:txBody>
      </p:sp>
      <p:sp>
        <p:nvSpPr>
          <p:cNvPr id="15" name="TextBox 14"/>
          <p:cNvSpPr txBox="1"/>
          <p:nvPr/>
        </p:nvSpPr>
        <p:spPr>
          <a:xfrm>
            <a:off x="584200" y="4051300"/>
            <a:ext cx="381000" cy="228600"/>
          </a:xfrm>
          <a:prstGeom prst="rect">
            <a:avLst/>
          </a:prstGeom>
          <a:noFill/>
        </p:spPr>
        <p:txBody>
          <a:bodyPr wrap="square" lIns="0" rIns="0" tIns="0" bIns="0" anchor="t">
            <a:spAutoFit/>
          </a:bodyPr>
          <a:lstStyle/>
          <a:p>
            <a:pPr algn="ctr">
              <a:lnSpc>
                <a:spcPct val="118000"/>
              </a:lnSpc>
              <a:spcBef>
                <a:spcPts val="0"/>
              </a:spcBef>
              <a:spcAft>
                <a:spcPts val="0"/>
              </a:spcAft>
            </a:pPr>
            <a:r>
              <a:rPr sz="1300" b="1" i="0">
                <a:solidFill>
                  <a:srgbClr val="FFFFFF"/>
                </a:solidFill>
                <a:latin typeface="Calibri"/>
              </a:rPr>
              <a:t>2</a:t>
            </a:r>
          </a:p>
        </p:txBody>
      </p:sp>
      <p:sp>
        <p:nvSpPr>
          <p:cNvPr id="16" name="TextBox 15"/>
          <p:cNvSpPr txBox="1"/>
          <p:nvPr/>
        </p:nvSpPr>
        <p:spPr>
          <a:xfrm>
            <a:off x="1143000" y="3975100"/>
            <a:ext cx="8356600" cy="711200"/>
          </a:xfrm>
          <a:prstGeom prst="rect">
            <a:avLst/>
          </a:prstGeom>
          <a:noFill/>
        </p:spPr>
        <p:txBody>
          <a:bodyPr wrap="square" lIns="0" rIns="0" tIns="0" bIns="0" anchor="t">
            <a:spAutoFit/>
          </a:bodyPr>
          <a:lstStyle/>
          <a:p>
            <a:pPr algn="l">
              <a:lnSpc>
                <a:spcPct val="110000"/>
              </a:lnSpc>
              <a:spcBef>
                <a:spcPts val="0"/>
              </a:spcBef>
              <a:spcAft>
                <a:spcPts val="200"/>
              </a:spcAft>
            </a:pPr>
            <a:r>
              <a:rPr sz="1250" b="1" i="0">
                <a:solidFill>
                  <a:srgbClr val="1B2532"/>
                </a:solidFill>
                <a:latin typeface="Calibri"/>
              </a:rPr>
              <a:t>Create the labels that did not exist</a:t>
            </a:r>
          </a:p>
          <a:p>
            <a:pPr>
              <a:lnSpc>
                <a:spcPct val="125000"/>
              </a:lnSpc>
              <a:spcBef>
                <a:spcPts val="0"/>
              </a:spcBef>
              <a:spcAft>
                <a:spcPts val="0"/>
              </a:spcAft>
            </a:pPr>
            <a:r>
              <a:rPr sz="1100" b="0" i="0">
                <a:solidFill>
                  <a:srgbClr val="333D4A"/>
                </a:solidFill>
                <a:latin typeface="Calibri"/>
              </a:rPr>
              <a:t>Derive five fine-grained freshness levels from a binary fresh/rotten dataset, without manual re-annotation.</a:t>
            </a:r>
          </a:p>
        </p:txBody>
      </p:sp>
      <p:sp>
        <p:nvSpPr>
          <p:cNvPr id="17" name="Oval 16"/>
          <p:cNvSpPr/>
          <p:nvPr/>
        </p:nvSpPr>
        <p:spPr>
          <a:xfrm>
            <a:off x="584200" y="4699000"/>
            <a:ext cx="381000" cy="381000"/>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63500" bIns="63500"/>
          <a:lstStyle/>
          <a:p>
            <a:pPr algn="ctr"/>
          </a:p>
        </p:txBody>
      </p:sp>
      <p:sp>
        <p:nvSpPr>
          <p:cNvPr id="18" name="TextBox 17"/>
          <p:cNvSpPr txBox="1"/>
          <p:nvPr/>
        </p:nvSpPr>
        <p:spPr>
          <a:xfrm>
            <a:off x="584200" y="4787900"/>
            <a:ext cx="381000" cy="228600"/>
          </a:xfrm>
          <a:prstGeom prst="rect">
            <a:avLst/>
          </a:prstGeom>
          <a:noFill/>
        </p:spPr>
        <p:txBody>
          <a:bodyPr wrap="square" lIns="0" rIns="0" tIns="0" bIns="0" anchor="t">
            <a:spAutoFit/>
          </a:bodyPr>
          <a:lstStyle/>
          <a:p>
            <a:pPr algn="ctr">
              <a:lnSpc>
                <a:spcPct val="118000"/>
              </a:lnSpc>
              <a:spcBef>
                <a:spcPts val="0"/>
              </a:spcBef>
              <a:spcAft>
                <a:spcPts val="0"/>
              </a:spcAft>
            </a:pPr>
            <a:r>
              <a:rPr sz="1300" b="1" i="0">
                <a:solidFill>
                  <a:srgbClr val="FFFFFF"/>
                </a:solidFill>
                <a:latin typeface="Calibri"/>
              </a:rPr>
              <a:t>3</a:t>
            </a:r>
          </a:p>
        </p:txBody>
      </p:sp>
      <p:sp>
        <p:nvSpPr>
          <p:cNvPr id="19" name="TextBox 18"/>
          <p:cNvSpPr txBox="1"/>
          <p:nvPr/>
        </p:nvSpPr>
        <p:spPr>
          <a:xfrm>
            <a:off x="1143000" y="4711700"/>
            <a:ext cx="8356600" cy="711200"/>
          </a:xfrm>
          <a:prstGeom prst="rect">
            <a:avLst/>
          </a:prstGeom>
          <a:noFill/>
        </p:spPr>
        <p:txBody>
          <a:bodyPr wrap="square" lIns="0" rIns="0" tIns="0" bIns="0" anchor="t">
            <a:spAutoFit/>
          </a:bodyPr>
          <a:lstStyle/>
          <a:p>
            <a:pPr algn="l">
              <a:lnSpc>
                <a:spcPct val="110000"/>
              </a:lnSpc>
              <a:spcBef>
                <a:spcPts val="0"/>
              </a:spcBef>
              <a:spcAft>
                <a:spcPts val="200"/>
              </a:spcAft>
            </a:pPr>
            <a:r>
              <a:rPr sz="1250" b="1" i="0">
                <a:solidFill>
                  <a:srgbClr val="1B2532"/>
                </a:solidFill>
                <a:latin typeface="Calibri"/>
              </a:rPr>
              <a:t>Grade freshness, then correct it</a:t>
            </a:r>
          </a:p>
          <a:p>
            <a:pPr>
              <a:lnSpc>
                <a:spcPct val="125000"/>
              </a:lnSpc>
              <a:spcBef>
                <a:spcPts val="0"/>
              </a:spcBef>
              <a:spcAft>
                <a:spcPts val="0"/>
              </a:spcAft>
            </a:pPr>
            <a:r>
              <a:rPr sz="1100" b="0" i="0">
                <a:solidFill>
                  <a:srgbClr val="333D4A"/>
                </a:solidFill>
                <a:latin typeface="Calibri"/>
              </a:rPr>
              <a:t>Train and fine-tune a freshness classifier, and calibrate its biased output at inference time.</a:t>
            </a:r>
          </a:p>
        </p:txBody>
      </p:sp>
      <p:sp>
        <p:nvSpPr>
          <p:cNvPr id="20" name="Oval 19"/>
          <p:cNvSpPr/>
          <p:nvPr/>
        </p:nvSpPr>
        <p:spPr>
          <a:xfrm>
            <a:off x="584200" y="5435600"/>
            <a:ext cx="381000" cy="381000"/>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63500" bIns="63500"/>
          <a:lstStyle/>
          <a:p>
            <a:pPr algn="ctr"/>
          </a:p>
        </p:txBody>
      </p:sp>
      <p:sp>
        <p:nvSpPr>
          <p:cNvPr id="21" name="TextBox 20"/>
          <p:cNvSpPr txBox="1"/>
          <p:nvPr/>
        </p:nvSpPr>
        <p:spPr>
          <a:xfrm>
            <a:off x="584200" y="5524500"/>
            <a:ext cx="381000" cy="228600"/>
          </a:xfrm>
          <a:prstGeom prst="rect">
            <a:avLst/>
          </a:prstGeom>
          <a:noFill/>
        </p:spPr>
        <p:txBody>
          <a:bodyPr wrap="square" lIns="0" rIns="0" tIns="0" bIns="0" anchor="t">
            <a:spAutoFit/>
          </a:bodyPr>
          <a:lstStyle/>
          <a:p>
            <a:pPr algn="ctr">
              <a:lnSpc>
                <a:spcPct val="118000"/>
              </a:lnSpc>
              <a:spcBef>
                <a:spcPts val="0"/>
              </a:spcBef>
              <a:spcAft>
                <a:spcPts val="0"/>
              </a:spcAft>
            </a:pPr>
            <a:r>
              <a:rPr sz="1300" b="1" i="0">
                <a:solidFill>
                  <a:srgbClr val="FFFFFF"/>
                </a:solidFill>
                <a:latin typeface="Calibri"/>
              </a:rPr>
              <a:t>4</a:t>
            </a:r>
          </a:p>
        </p:txBody>
      </p:sp>
      <p:sp>
        <p:nvSpPr>
          <p:cNvPr id="22" name="TextBox 21"/>
          <p:cNvSpPr txBox="1"/>
          <p:nvPr/>
        </p:nvSpPr>
        <p:spPr>
          <a:xfrm>
            <a:off x="1143000" y="5448300"/>
            <a:ext cx="8356600" cy="711200"/>
          </a:xfrm>
          <a:prstGeom prst="rect">
            <a:avLst/>
          </a:prstGeom>
          <a:noFill/>
        </p:spPr>
        <p:txBody>
          <a:bodyPr wrap="square" lIns="0" rIns="0" tIns="0" bIns="0" anchor="t">
            <a:spAutoFit/>
          </a:bodyPr>
          <a:lstStyle/>
          <a:p>
            <a:pPr algn="l">
              <a:lnSpc>
                <a:spcPct val="110000"/>
              </a:lnSpc>
              <a:spcBef>
                <a:spcPts val="0"/>
              </a:spcBef>
              <a:spcAft>
                <a:spcPts val="200"/>
              </a:spcAft>
            </a:pPr>
            <a:r>
              <a:rPr sz="1250" b="1" i="0">
                <a:solidFill>
                  <a:srgbClr val="1B2532"/>
                </a:solidFill>
                <a:latin typeface="Calibri"/>
              </a:rPr>
              <a:t>Refuse what it cannot judge</a:t>
            </a:r>
          </a:p>
          <a:p>
            <a:pPr>
              <a:lnSpc>
                <a:spcPct val="125000"/>
              </a:lnSpc>
              <a:spcBef>
                <a:spcPts val="0"/>
              </a:spcBef>
              <a:spcAft>
                <a:spcPts val="0"/>
              </a:spcAft>
            </a:pPr>
            <a:r>
              <a:rPr sz="1100" b="0" i="0">
                <a:solidFill>
                  <a:srgbClr val="333D4A"/>
                </a:solidFill>
                <a:latin typeface="Calibri"/>
              </a:rPr>
              <a:t>Add an out-of-distribution gatekeeper and a confidence floor so bad inputs fail loudly, not silently.</a:t>
            </a:r>
          </a:p>
        </p:txBody>
      </p:sp>
      <p:sp>
        <p:nvSpPr>
          <p:cNvPr id="23" name="Oval 22"/>
          <p:cNvSpPr/>
          <p:nvPr/>
        </p:nvSpPr>
        <p:spPr>
          <a:xfrm>
            <a:off x="584200" y="6172200"/>
            <a:ext cx="381000" cy="381000"/>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63500" bIns="63500"/>
          <a:lstStyle/>
          <a:p>
            <a:pPr algn="ctr"/>
          </a:p>
        </p:txBody>
      </p:sp>
      <p:sp>
        <p:nvSpPr>
          <p:cNvPr id="24" name="TextBox 23"/>
          <p:cNvSpPr txBox="1"/>
          <p:nvPr/>
        </p:nvSpPr>
        <p:spPr>
          <a:xfrm>
            <a:off x="584200" y="6261100"/>
            <a:ext cx="381000" cy="228600"/>
          </a:xfrm>
          <a:prstGeom prst="rect">
            <a:avLst/>
          </a:prstGeom>
          <a:noFill/>
        </p:spPr>
        <p:txBody>
          <a:bodyPr wrap="square" lIns="0" rIns="0" tIns="0" bIns="0" anchor="t">
            <a:spAutoFit/>
          </a:bodyPr>
          <a:lstStyle/>
          <a:p>
            <a:pPr algn="ctr">
              <a:lnSpc>
                <a:spcPct val="118000"/>
              </a:lnSpc>
              <a:spcBef>
                <a:spcPts val="0"/>
              </a:spcBef>
              <a:spcAft>
                <a:spcPts val="0"/>
              </a:spcAft>
            </a:pPr>
            <a:r>
              <a:rPr sz="1300" b="1" i="0">
                <a:solidFill>
                  <a:srgbClr val="FFFFFF"/>
                </a:solidFill>
                <a:latin typeface="Calibri"/>
              </a:rPr>
              <a:t>5</a:t>
            </a:r>
          </a:p>
        </p:txBody>
      </p:sp>
      <p:sp>
        <p:nvSpPr>
          <p:cNvPr id="25" name="TextBox 24"/>
          <p:cNvSpPr txBox="1"/>
          <p:nvPr/>
        </p:nvSpPr>
        <p:spPr>
          <a:xfrm>
            <a:off x="1143000" y="6184900"/>
            <a:ext cx="8356600" cy="711200"/>
          </a:xfrm>
          <a:prstGeom prst="rect">
            <a:avLst/>
          </a:prstGeom>
          <a:noFill/>
        </p:spPr>
        <p:txBody>
          <a:bodyPr wrap="square" lIns="0" rIns="0" tIns="0" bIns="0" anchor="t">
            <a:spAutoFit/>
          </a:bodyPr>
          <a:lstStyle/>
          <a:p>
            <a:pPr algn="l">
              <a:lnSpc>
                <a:spcPct val="110000"/>
              </a:lnSpc>
              <a:spcBef>
                <a:spcPts val="0"/>
              </a:spcBef>
              <a:spcAft>
                <a:spcPts val="200"/>
              </a:spcAft>
            </a:pPr>
            <a:r>
              <a:rPr sz="1250" b="1" i="0">
                <a:solidFill>
                  <a:srgbClr val="1B2532"/>
                </a:solidFill>
                <a:latin typeface="Calibri"/>
              </a:rPr>
              <a:t>Deploy it as a real application</a:t>
            </a:r>
          </a:p>
          <a:p>
            <a:pPr>
              <a:lnSpc>
                <a:spcPct val="125000"/>
              </a:lnSpc>
              <a:spcBef>
                <a:spcPts val="0"/>
              </a:spcBef>
              <a:spcAft>
                <a:spcPts val="0"/>
              </a:spcAft>
            </a:pPr>
            <a:r>
              <a:rPr sz="1100" b="0" i="0">
                <a:solidFill>
                  <a:srgbClr val="333D4A"/>
                </a:solidFill>
                <a:latin typeface="Calibri"/>
              </a:rPr>
              <a:t>A FastAPI service and a React single-page UI surfacing confidences, the full freshness distribution, shelf life and latency.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4200" y="406400"/>
            <a:ext cx="8915400" cy="431800"/>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0070C0"/>
                </a:solidFill>
                <a:latin typeface="Calibri"/>
              </a:rPr>
              <a:t>METHODOLOGY — END-TO-END WORKFLOW</a:t>
            </a:r>
          </a:p>
        </p:txBody>
      </p:sp>
      <p:cxnSp>
        <p:nvCxnSpPr>
          <p:cNvPr id="3" name="Connector 2"/>
          <p:cNvCxnSpPr/>
          <p:nvPr/>
        </p:nvCxnSpPr>
        <p:spPr>
          <a:xfrm>
            <a:off x="584200" y="901700"/>
            <a:ext cx="8915400" cy="0"/>
          </a:xfrm>
          <a:prstGeom prst="line">
            <a:avLst/>
          </a:prstGeom>
          <a:ln w="25400">
            <a:solidFill>
              <a:srgbClr val="0070C0"/>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584200" y="7086600"/>
            <a:ext cx="8915400" cy="0"/>
          </a:xfrm>
          <a:prstGeom prst="line">
            <a:avLst/>
          </a:prstGeom>
          <a:ln w="9525">
            <a:solidFill>
              <a:srgbClr val="D8DEE5"/>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84200" y="7188200"/>
            <a:ext cx="6240780" cy="177800"/>
          </a:xfrm>
          <a:prstGeom prst="rect">
            <a:avLst/>
          </a:prstGeom>
          <a:noFill/>
        </p:spPr>
        <p:txBody>
          <a:bodyPr wrap="square" lIns="0" rIns="0" tIns="0" bIns="0" anchor="t">
            <a:spAutoFit/>
          </a:bodyPr>
          <a:lstStyle/>
          <a:p>
            <a:pPr algn="l">
              <a:lnSpc>
                <a:spcPct val="118000"/>
              </a:lnSpc>
              <a:spcBef>
                <a:spcPts val="0"/>
              </a:spcBef>
              <a:spcAft>
                <a:spcPts val="0"/>
              </a:spcAft>
            </a:pPr>
            <a:r>
              <a:rPr sz="850" b="0" i="0">
                <a:solidFill>
                  <a:srgbClr val="6B7784"/>
                </a:solidFill>
                <a:latin typeface="Calibri"/>
              </a:rPr>
              <a:t>Fresh Vision  ·  Practice School-II  ·  SOET, BML Munjal University</a:t>
            </a:r>
          </a:p>
        </p:txBody>
      </p:sp>
      <p:sp>
        <p:nvSpPr>
          <p:cNvPr id="6" name="TextBox 5"/>
          <p:cNvSpPr txBox="1"/>
          <p:nvPr/>
        </p:nvSpPr>
        <p:spPr>
          <a:xfrm>
            <a:off x="8737600" y="7188200"/>
            <a:ext cx="762000" cy="177800"/>
          </a:xfrm>
          <a:prstGeom prst="rect">
            <a:avLst/>
          </a:prstGeom>
          <a:noFill/>
        </p:spPr>
        <p:txBody>
          <a:bodyPr wrap="square" lIns="0" rIns="0" tIns="0" bIns="0" anchor="t">
            <a:spAutoFit/>
          </a:bodyPr>
          <a:lstStyle/>
          <a:p>
            <a:pPr algn="r">
              <a:lnSpc>
                <a:spcPct val="118000"/>
              </a:lnSpc>
              <a:spcBef>
                <a:spcPts val="0"/>
              </a:spcBef>
              <a:spcAft>
                <a:spcPts val="0"/>
              </a:spcAft>
            </a:pPr>
            <a:r>
              <a:rPr sz="850" b="1" i="0">
                <a:solidFill>
                  <a:srgbClr val="0070C0"/>
                </a:solidFill>
                <a:latin typeface="Calibri"/>
              </a:rPr>
              <a:t>5</a:t>
            </a:r>
          </a:p>
        </p:txBody>
      </p:sp>
      <p:sp>
        <p:nvSpPr>
          <p:cNvPr id="7" name="TextBox 6"/>
          <p:cNvSpPr txBox="1"/>
          <p:nvPr/>
        </p:nvSpPr>
        <p:spPr>
          <a:xfrm>
            <a:off x="584200" y="1270000"/>
            <a:ext cx="8915400" cy="203200"/>
          </a:xfrm>
          <a:prstGeom prst="rect">
            <a:avLst/>
          </a:prstGeom>
          <a:noFill/>
        </p:spPr>
        <p:txBody>
          <a:bodyPr wrap="square" lIns="0" rIns="0" tIns="0" bIns="0" anchor="t">
            <a:spAutoFit/>
          </a:bodyPr>
          <a:lstStyle/>
          <a:p>
            <a:pPr algn="l">
              <a:lnSpc>
                <a:spcPct val="118000"/>
              </a:lnSpc>
              <a:spcBef>
                <a:spcPts val="0"/>
              </a:spcBef>
              <a:spcAft>
                <a:spcPts val="0"/>
              </a:spcAft>
            </a:pPr>
            <a:r>
              <a:rPr sz="1050" b="1">
                <a:solidFill>
                  <a:srgbClr val="0070C0"/>
                </a:solidFill>
                <a:latin typeface="Calibri"/>
              </a:rPr>
              <a:t>OFFLINE  </a:t>
            </a:r>
            <a:r>
              <a:rPr sz="1050" b="0">
                <a:solidFill>
                  <a:srgbClr val="6B7784"/>
                </a:solidFill>
                <a:latin typeface="Calibri"/>
              </a:rPr>
              <a:t>— building the models (done once)</a:t>
            </a:r>
          </a:p>
        </p:txBody>
      </p:sp>
      <p:sp>
        <p:nvSpPr>
          <p:cNvPr id="8" name="Rounded Rectangle 7"/>
          <p:cNvSpPr/>
          <p:nvPr/>
        </p:nvSpPr>
        <p:spPr>
          <a:xfrm>
            <a:off x="584200" y="1574800"/>
            <a:ext cx="1879600" cy="1016000"/>
          </a:xfrm>
          <a:prstGeom prst="roundRect">
            <a:avLst>
              <a:gd name="adj" fmla="val 12000"/>
            </a:avLst>
          </a:prstGeom>
          <a:solidFill>
            <a:srgbClr val="FFFFFF"/>
          </a:solidFill>
          <a:ln w="12700">
            <a:solidFill>
              <a:srgbClr val="C7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63500" bIns="63500"/>
          <a:lstStyle/>
          <a:p>
            <a:pPr algn="ctr">
              <a:lnSpc>
                <a:spcPct val="105000"/>
              </a:lnSpc>
              <a:spcBef>
                <a:spcPts val="0"/>
              </a:spcBef>
              <a:spcAft>
                <a:spcPts val="100"/>
              </a:spcAft>
            </a:pPr>
            <a:r>
              <a:rPr sz="1150" b="1" i="0">
                <a:solidFill>
                  <a:srgbClr val="1B2532"/>
                </a:solidFill>
                <a:latin typeface="Calibri"/>
              </a:rPr>
              <a:t>Unified dataset</a:t>
            </a:r>
          </a:p>
          <a:p>
            <a:pPr algn="ctr">
              <a:lnSpc>
                <a:spcPct val="105000"/>
              </a:lnSpc>
              <a:spcBef>
                <a:spcPts val="0"/>
              </a:spcBef>
              <a:spcAft>
                <a:spcPts val="0"/>
              </a:spcAft>
            </a:pPr>
            <a:r>
              <a:rPr sz="900" b="0" i="0">
                <a:solidFill>
                  <a:srgbClr val="6B7784"/>
                </a:solidFill>
                <a:latin typeface="Calibri"/>
              </a:rPr>
              <a:t>14 produce classes
fresh / rotten folders</a:t>
            </a:r>
          </a:p>
        </p:txBody>
      </p:sp>
      <p:sp>
        <p:nvSpPr>
          <p:cNvPr id="9" name="Right Arrow 8"/>
          <p:cNvSpPr/>
          <p:nvPr/>
        </p:nvSpPr>
        <p:spPr>
          <a:xfrm>
            <a:off x="2501900" y="2012950"/>
            <a:ext cx="389466" cy="139700"/>
          </a:xfrm>
          <a:prstGeom prst="rightArrow">
            <a:avLst>
              <a:gd name="adj1" fmla="val 42000"/>
              <a:gd name="adj2" fmla="val 5200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929466" y="1574800"/>
            <a:ext cx="1879600" cy="1016000"/>
          </a:xfrm>
          <a:prstGeom prst="roundRect">
            <a:avLst>
              <a:gd name="adj" fmla="val 12000"/>
            </a:avLst>
          </a:prstGeom>
          <a:solidFill>
            <a:srgbClr val="FFFFFF"/>
          </a:solidFill>
          <a:ln w="12700">
            <a:solidFill>
              <a:srgbClr val="C7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63500" bIns="63500"/>
          <a:lstStyle/>
          <a:p>
            <a:pPr algn="ctr">
              <a:lnSpc>
                <a:spcPct val="105000"/>
              </a:lnSpc>
              <a:spcBef>
                <a:spcPts val="0"/>
              </a:spcBef>
              <a:spcAft>
                <a:spcPts val="100"/>
              </a:spcAft>
            </a:pPr>
            <a:r>
              <a:rPr sz="1150" b="1" i="0">
                <a:solidFill>
                  <a:srgbClr val="1B2532"/>
                </a:solidFill>
                <a:latin typeface="Calibri"/>
              </a:rPr>
              <a:t>HSV decay scoring</a:t>
            </a:r>
          </a:p>
          <a:p>
            <a:pPr algn="ctr">
              <a:lnSpc>
                <a:spcPct val="105000"/>
              </a:lnSpc>
              <a:spcBef>
                <a:spcPts val="0"/>
              </a:spcBef>
              <a:spcAft>
                <a:spcPts val="0"/>
              </a:spcAft>
            </a:pPr>
            <a:r>
              <a:rPr sz="900" b="0" i="0">
                <a:solidFill>
                  <a:srgbClr val="6B7784"/>
                </a:solidFill>
                <a:latin typeface="Calibri"/>
              </a:rPr>
              <a:t>saturation mask isolates fruit
brown-pixel ratio -&gt; decay score</a:t>
            </a:r>
          </a:p>
        </p:txBody>
      </p:sp>
      <p:sp>
        <p:nvSpPr>
          <p:cNvPr id="11" name="Right Arrow 10"/>
          <p:cNvSpPr/>
          <p:nvPr/>
        </p:nvSpPr>
        <p:spPr>
          <a:xfrm>
            <a:off x="4847166" y="2012950"/>
            <a:ext cx="389466" cy="139700"/>
          </a:xfrm>
          <a:prstGeom prst="rightArrow">
            <a:avLst>
              <a:gd name="adj1" fmla="val 42000"/>
              <a:gd name="adj2" fmla="val 5200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274733" y="1574800"/>
            <a:ext cx="1879600" cy="1016000"/>
          </a:xfrm>
          <a:prstGeom prst="roundRect">
            <a:avLst>
              <a:gd name="adj" fmla="val 12000"/>
            </a:avLst>
          </a:prstGeom>
          <a:solidFill>
            <a:srgbClr val="FFFFFF"/>
          </a:solidFill>
          <a:ln w="12700">
            <a:solidFill>
              <a:srgbClr val="C7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63500" bIns="63500"/>
          <a:lstStyle/>
          <a:p>
            <a:pPr algn="ctr">
              <a:lnSpc>
                <a:spcPct val="105000"/>
              </a:lnSpc>
              <a:spcBef>
                <a:spcPts val="0"/>
              </a:spcBef>
              <a:spcAft>
                <a:spcPts val="100"/>
              </a:spcAft>
            </a:pPr>
            <a:r>
              <a:rPr sz="1150" b="1" i="0">
                <a:solidFill>
                  <a:srgbClr val="1B2532"/>
                </a:solidFill>
                <a:latin typeface="Calibri"/>
              </a:rPr>
              <a:t>5 pseudo-labels</a:t>
            </a:r>
          </a:p>
          <a:p>
            <a:pPr algn="ctr">
              <a:lnSpc>
                <a:spcPct val="105000"/>
              </a:lnSpc>
              <a:spcBef>
                <a:spcPts val="0"/>
              </a:spcBef>
              <a:spcAft>
                <a:spcPts val="0"/>
              </a:spcAft>
            </a:pPr>
            <a:r>
              <a:rPr sz="900" b="0" i="0">
                <a:solidFill>
                  <a:srgbClr val="6B7784"/>
                </a:solidFill>
                <a:latin typeface="Calibri"/>
              </a:rPr>
              <a:t>scores bucketed per fruit:
very fresh to very rotten</a:t>
            </a:r>
          </a:p>
        </p:txBody>
      </p:sp>
      <p:sp>
        <p:nvSpPr>
          <p:cNvPr id="13" name="Right Arrow 12"/>
          <p:cNvSpPr/>
          <p:nvPr/>
        </p:nvSpPr>
        <p:spPr>
          <a:xfrm>
            <a:off x="7192433" y="2012950"/>
            <a:ext cx="389466" cy="139700"/>
          </a:xfrm>
          <a:prstGeom prst="rightArrow">
            <a:avLst>
              <a:gd name="adj1" fmla="val 42000"/>
              <a:gd name="adj2" fmla="val 5200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620000" y="1574800"/>
            <a:ext cx="1879600" cy="1016000"/>
          </a:xfrm>
          <a:prstGeom prst="roundRect">
            <a:avLst>
              <a:gd name="adj" fmla="val 12000"/>
            </a:avLst>
          </a:prstGeom>
          <a:solidFill>
            <a:srgbClr val="FFFFFF"/>
          </a:solidFill>
          <a:ln w="12700">
            <a:solidFill>
              <a:srgbClr val="C7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63500" bIns="63500"/>
          <a:lstStyle/>
          <a:p>
            <a:pPr algn="ctr">
              <a:lnSpc>
                <a:spcPct val="105000"/>
              </a:lnSpc>
              <a:spcBef>
                <a:spcPts val="0"/>
              </a:spcBef>
              <a:spcAft>
                <a:spcPts val="100"/>
              </a:spcAft>
            </a:pPr>
            <a:r>
              <a:rPr sz="1150" b="1" i="0">
                <a:solidFill>
                  <a:srgbClr val="1B2532"/>
                </a:solidFill>
                <a:latin typeface="Calibri"/>
              </a:rPr>
              <a:t>Transfer learning</a:t>
            </a:r>
          </a:p>
          <a:p>
            <a:pPr algn="ctr">
              <a:lnSpc>
                <a:spcPct val="105000"/>
              </a:lnSpc>
              <a:spcBef>
                <a:spcPts val="0"/>
              </a:spcBef>
              <a:spcAft>
                <a:spcPts val="0"/>
              </a:spcAft>
            </a:pPr>
            <a:r>
              <a:rPr sz="900" b="0" i="0">
                <a:solidFill>
                  <a:srgbClr val="6B7784"/>
                </a:solidFill>
                <a:latin typeface="Calibri"/>
              </a:rPr>
              <a:t>MobileNetV2 backbone
Phase 1 frozen, Phase 2 tuned</a:t>
            </a:r>
          </a:p>
        </p:txBody>
      </p:sp>
      <p:sp>
        <p:nvSpPr>
          <p:cNvPr id="15" name="TextBox 14"/>
          <p:cNvSpPr txBox="1"/>
          <p:nvPr/>
        </p:nvSpPr>
        <p:spPr>
          <a:xfrm>
            <a:off x="584200" y="2667000"/>
            <a:ext cx="8915400" cy="203200"/>
          </a:xfrm>
          <a:prstGeom prst="rect">
            <a:avLst/>
          </a:prstGeom>
          <a:noFill/>
        </p:spPr>
        <p:txBody>
          <a:bodyPr wrap="square" lIns="0" rIns="0" tIns="0" bIns="0" anchor="t">
            <a:spAutoFit/>
          </a:bodyPr>
          <a:lstStyle/>
          <a:p>
            <a:pPr algn="r">
              <a:lnSpc>
                <a:spcPct val="118000"/>
              </a:lnSpc>
              <a:spcBef>
                <a:spcPts val="0"/>
              </a:spcBef>
              <a:spcAft>
                <a:spcPts val="0"/>
              </a:spcAft>
            </a:pPr>
            <a:r>
              <a:rPr sz="950" b="0">
                <a:solidFill>
                  <a:srgbClr val="6B7784"/>
                </a:solidFill>
                <a:latin typeface="Calibri"/>
              </a:rPr>
              <a:t>trained models:  </a:t>
            </a:r>
            <a:r>
              <a:rPr sz="950" b="1">
                <a:solidFill>
                  <a:srgbClr val="1B2532"/>
                </a:solidFill>
                <a:latin typeface="Calibri"/>
              </a:rPr>
              <a:t>fruit_veg_identifier.h5</a:t>
            </a:r>
            <a:r>
              <a:rPr sz="950" b="0">
                <a:solidFill>
                  <a:srgbClr val="6B7784"/>
                </a:solidFill>
                <a:latin typeface="Calibri"/>
              </a:rPr>
              <a:t>   +   </a:t>
            </a:r>
            <a:r>
              <a:rPr sz="950" b="1">
                <a:solidFill>
                  <a:srgbClr val="1B2532"/>
                </a:solidFill>
                <a:latin typeface="Calibri"/>
              </a:rPr>
              <a:t>freshness_classifier_v2.h5</a:t>
            </a:r>
          </a:p>
        </p:txBody>
      </p:sp>
      <p:cxnSp>
        <p:nvCxnSpPr>
          <p:cNvPr id="16" name="Connector 15"/>
          <p:cNvCxnSpPr/>
          <p:nvPr/>
        </p:nvCxnSpPr>
        <p:spPr>
          <a:xfrm>
            <a:off x="584200" y="3048000"/>
            <a:ext cx="8915400" cy="0"/>
          </a:xfrm>
          <a:prstGeom prst="line">
            <a:avLst/>
          </a:prstGeom>
          <a:ln w="12700">
            <a:solidFill>
              <a:srgbClr val="D8DEE5"/>
            </a:solidFill>
            <a:prstDash val="dash"/>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84200" y="3225800"/>
            <a:ext cx="8915400" cy="203200"/>
          </a:xfrm>
          <a:prstGeom prst="rect">
            <a:avLst/>
          </a:prstGeom>
          <a:noFill/>
        </p:spPr>
        <p:txBody>
          <a:bodyPr wrap="square" lIns="0" rIns="0" tIns="0" bIns="0" anchor="t">
            <a:spAutoFit/>
          </a:bodyPr>
          <a:lstStyle/>
          <a:p>
            <a:pPr algn="l">
              <a:lnSpc>
                <a:spcPct val="118000"/>
              </a:lnSpc>
              <a:spcBef>
                <a:spcPts val="0"/>
              </a:spcBef>
              <a:spcAft>
                <a:spcPts val="0"/>
              </a:spcAft>
            </a:pPr>
            <a:r>
              <a:rPr sz="1050" b="1">
                <a:solidFill>
                  <a:srgbClr val="11874E"/>
                </a:solidFill>
                <a:latin typeface="Calibri"/>
              </a:rPr>
              <a:t>ONLINE  </a:t>
            </a:r>
            <a:r>
              <a:rPr sz="1050" b="0">
                <a:solidFill>
                  <a:srgbClr val="6B7784"/>
                </a:solidFill>
                <a:latin typeface="Calibri"/>
              </a:rPr>
              <a:t>— what happens to every uploaded photo</a:t>
            </a:r>
          </a:p>
        </p:txBody>
      </p:sp>
      <p:sp>
        <p:nvSpPr>
          <p:cNvPr id="18" name="Rounded Rectangle 17"/>
          <p:cNvSpPr/>
          <p:nvPr/>
        </p:nvSpPr>
        <p:spPr>
          <a:xfrm>
            <a:off x="584200" y="3556000"/>
            <a:ext cx="1549400" cy="1168400"/>
          </a:xfrm>
          <a:prstGeom prst="roundRect">
            <a:avLst>
              <a:gd name="adj" fmla="val 12000"/>
            </a:avLst>
          </a:prstGeom>
          <a:solidFill>
            <a:srgbClr val="FFFFFF"/>
          </a:solidFill>
          <a:ln w="12700">
            <a:solidFill>
              <a:srgbClr val="C7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63500" bIns="63500"/>
          <a:lstStyle/>
          <a:p>
            <a:pPr algn="ctr">
              <a:lnSpc>
                <a:spcPct val="105000"/>
              </a:lnSpc>
              <a:spcBef>
                <a:spcPts val="0"/>
              </a:spcBef>
              <a:spcAft>
                <a:spcPts val="100"/>
              </a:spcAft>
            </a:pPr>
            <a:r>
              <a:rPr sz="1150" b="1" i="0">
                <a:solidFill>
                  <a:srgbClr val="1B2532"/>
                </a:solidFill>
                <a:latin typeface="Calibri"/>
              </a:rPr>
              <a:t>Photo upload</a:t>
            </a:r>
          </a:p>
          <a:p>
            <a:pPr algn="ctr">
              <a:lnSpc>
                <a:spcPct val="105000"/>
              </a:lnSpc>
              <a:spcBef>
                <a:spcPts val="0"/>
              </a:spcBef>
              <a:spcAft>
                <a:spcPts val="0"/>
              </a:spcAft>
            </a:pPr>
            <a:r>
              <a:rPr sz="900" b="0" i="0">
                <a:solidFill>
                  <a:srgbClr val="6B7784"/>
                </a:solidFill>
                <a:latin typeface="Calibri"/>
              </a:rPr>
              <a:t>JPG / PNG / WEBP
max 10 MB
held in memory</a:t>
            </a:r>
          </a:p>
        </p:txBody>
      </p:sp>
      <p:sp>
        <p:nvSpPr>
          <p:cNvPr id="19" name="Right Arrow 18"/>
          <p:cNvSpPr/>
          <p:nvPr/>
        </p:nvSpPr>
        <p:spPr>
          <a:xfrm>
            <a:off x="2159000" y="4070350"/>
            <a:ext cx="241300" cy="139700"/>
          </a:xfrm>
          <a:prstGeom prst="rightArrow">
            <a:avLst>
              <a:gd name="adj1" fmla="val 42000"/>
              <a:gd name="adj2" fmla="val 52000"/>
            </a:avLst>
          </a:prstGeom>
          <a:solidFill>
            <a:srgbClr val="1187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2425700" y="3556000"/>
            <a:ext cx="1549400" cy="1168400"/>
          </a:xfrm>
          <a:prstGeom prst="roundRect">
            <a:avLst>
              <a:gd name="adj" fmla="val 12000"/>
            </a:avLst>
          </a:prstGeom>
          <a:solidFill>
            <a:srgbClr val="FFFFFF"/>
          </a:solidFill>
          <a:ln w="12700">
            <a:solidFill>
              <a:srgbClr val="C7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63500" bIns="63500"/>
          <a:lstStyle/>
          <a:p>
            <a:pPr algn="ctr">
              <a:lnSpc>
                <a:spcPct val="105000"/>
              </a:lnSpc>
              <a:spcBef>
                <a:spcPts val="0"/>
              </a:spcBef>
              <a:spcAft>
                <a:spcPts val="100"/>
              </a:spcAft>
            </a:pPr>
            <a:r>
              <a:rPr sz="1150" b="1" i="0">
                <a:solidFill>
                  <a:srgbClr val="1B2532"/>
                </a:solidFill>
                <a:latin typeface="Calibri"/>
              </a:rPr>
              <a:t>Preprocess</a:t>
            </a:r>
          </a:p>
          <a:p>
            <a:pPr algn="ctr">
              <a:lnSpc>
                <a:spcPct val="105000"/>
              </a:lnSpc>
              <a:spcBef>
                <a:spcPts val="0"/>
              </a:spcBef>
              <a:spcAft>
                <a:spcPts val="0"/>
              </a:spcAft>
            </a:pPr>
            <a:r>
              <a:rPr sz="900" b="0" i="0">
                <a:solidFill>
                  <a:srgbClr val="6B7784"/>
                </a:solidFill>
                <a:latin typeface="Calibri"/>
              </a:rPr>
              <a:t>RGB, resize 224x224
MobileNetV2
normalisation</a:t>
            </a:r>
          </a:p>
        </p:txBody>
      </p:sp>
      <p:sp>
        <p:nvSpPr>
          <p:cNvPr id="21" name="Right Arrow 20"/>
          <p:cNvSpPr/>
          <p:nvPr/>
        </p:nvSpPr>
        <p:spPr>
          <a:xfrm>
            <a:off x="4000500" y="4070350"/>
            <a:ext cx="241300" cy="139700"/>
          </a:xfrm>
          <a:prstGeom prst="rightArrow">
            <a:avLst>
              <a:gd name="adj1" fmla="val 42000"/>
              <a:gd name="adj2" fmla="val 52000"/>
            </a:avLst>
          </a:prstGeom>
          <a:solidFill>
            <a:srgbClr val="1187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267200" y="3556000"/>
            <a:ext cx="1549400" cy="1168400"/>
          </a:xfrm>
          <a:prstGeom prst="roundRect">
            <a:avLst>
              <a:gd name="adj" fmla="val 12000"/>
            </a:avLst>
          </a:prstGeom>
          <a:solidFill>
            <a:srgbClr val="EEF7F1"/>
          </a:solidFill>
          <a:ln w="12700">
            <a:solidFill>
              <a:srgbClr val="11874E"/>
            </a:solid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63500" bIns="63500"/>
          <a:lstStyle/>
          <a:p>
            <a:pPr algn="ctr">
              <a:lnSpc>
                <a:spcPct val="105000"/>
              </a:lnSpc>
              <a:spcBef>
                <a:spcPts val="0"/>
              </a:spcBef>
              <a:spcAft>
                <a:spcPts val="100"/>
              </a:spcAft>
            </a:pPr>
            <a:r>
              <a:rPr sz="1150" b="1" i="0">
                <a:solidFill>
                  <a:srgbClr val="1B2532"/>
                </a:solidFill>
                <a:latin typeface="Calibri"/>
              </a:rPr>
              <a:t>Gatekeeper</a:t>
            </a:r>
          </a:p>
          <a:p>
            <a:pPr algn="ctr">
              <a:lnSpc>
                <a:spcPct val="105000"/>
              </a:lnSpc>
              <a:spcBef>
                <a:spcPts val="0"/>
              </a:spcBef>
              <a:spcAft>
                <a:spcPts val="0"/>
              </a:spcAft>
            </a:pPr>
            <a:r>
              <a:rPr sz="900" b="0" i="0">
                <a:solidFill>
                  <a:srgbClr val="6B7784"/>
                </a:solidFill>
                <a:latin typeface="Calibri"/>
              </a:rPr>
              <a:t>ImageNet MobileNetV2
screens top-5 labels
for produce keywords</a:t>
            </a:r>
          </a:p>
        </p:txBody>
      </p:sp>
      <p:sp>
        <p:nvSpPr>
          <p:cNvPr id="23" name="Right Arrow 22"/>
          <p:cNvSpPr/>
          <p:nvPr/>
        </p:nvSpPr>
        <p:spPr>
          <a:xfrm>
            <a:off x="5842000" y="4070350"/>
            <a:ext cx="241300" cy="139700"/>
          </a:xfrm>
          <a:prstGeom prst="rightArrow">
            <a:avLst>
              <a:gd name="adj1" fmla="val 42000"/>
              <a:gd name="adj2" fmla="val 52000"/>
            </a:avLst>
          </a:prstGeom>
          <a:solidFill>
            <a:srgbClr val="1187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108700" y="3556000"/>
            <a:ext cx="1549400" cy="1168400"/>
          </a:xfrm>
          <a:prstGeom prst="roundRect">
            <a:avLst>
              <a:gd name="adj" fmla="val 12000"/>
            </a:avLst>
          </a:prstGeom>
          <a:solidFill>
            <a:srgbClr val="EEF7F1"/>
          </a:solidFill>
          <a:ln w="12700">
            <a:solidFill>
              <a:srgbClr val="11874E"/>
            </a:solid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63500" bIns="63500"/>
          <a:lstStyle/>
          <a:p>
            <a:pPr algn="ctr">
              <a:lnSpc>
                <a:spcPct val="105000"/>
              </a:lnSpc>
              <a:spcBef>
                <a:spcPts val="0"/>
              </a:spcBef>
              <a:spcAft>
                <a:spcPts val="100"/>
              </a:spcAft>
            </a:pPr>
            <a:r>
              <a:rPr sz="1150" b="1" i="0">
                <a:solidFill>
                  <a:srgbClr val="1B2532"/>
                </a:solidFill>
                <a:latin typeface="Calibri"/>
              </a:rPr>
              <a:t>Identify</a:t>
            </a:r>
          </a:p>
          <a:p>
            <a:pPr algn="ctr">
              <a:lnSpc>
                <a:spcPct val="105000"/>
              </a:lnSpc>
              <a:spcBef>
                <a:spcPts val="0"/>
              </a:spcBef>
              <a:spcAft>
                <a:spcPts val="0"/>
              </a:spcAft>
            </a:pPr>
            <a:r>
              <a:rPr sz="900" b="0" i="0">
                <a:solidFill>
                  <a:srgbClr val="6B7784"/>
                </a:solidFill>
                <a:latin typeface="Calibri"/>
              </a:rPr>
              <a:t>14-class head
confidence floor
of 65%</a:t>
            </a:r>
          </a:p>
        </p:txBody>
      </p:sp>
      <p:sp>
        <p:nvSpPr>
          <p:cNvPr id="25" name="Right Arrow 24"/>
          <p:cNvSpPr/>
          <p:nvPr/>
        </p:nvSpPr>
        <p:spPr>
          <a:xfrm>
            <a:off x="7683500" y="4070350"/>
            <a:ext cx="241300" cy="139700"/>
          </a:xfrm>
          <a:prstGeom prst="rightArrow">
            <a:avLst>
              <a:gd name="adj1" fmla="val 42000"/>
              <a:gd name="adj2" fmla="val 52000"/>
            </a:avLst>
          </a:prstGeom>
          <a:solidFill>
            <a:srgbClr val="1187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7950200" y="3556000"/>
            <a:ext cx="1549400" cy="1168400"/>
          </a:xfrm>
          <a:prstGeom prst="roundRect">
            <a:avLst>
              <a:gd name="adj" fmla="val 12000"/>
            </a:avLst>
          </a:prstGeom>
          <a:solidFill>
            <a:srgbClr val="EEF7F1"/>
          </a:solidFill>
          <a:ln w="12700">
            <a:solidFill>
              <a:srgbClr val="11874E"/>
            </a:solid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63500" bIns="63500"/>
          <a:lstStyle/>
          <a:p>
            <a:pPr algn="ctr">
              <a:lnSpc>
                <a:spcPct val="105000"/>
              </a:lnSpc>
              <a:spcBef>
                <a:spcPts val="0"/>
              </a:spcBef>
              <a:spcAft>
                <a:spcPts val="100"/>
              </a:spcAft>
            </a:pPr>
            <a:r>
              <a:rPr sz="1150" b="1" i="0">
                <a:solidFill>
                  <a:srgbClr val="1B2532"/>
                </a:solidFill>
                <a:latin typeface="Calibri"/>
              </a:rPr>
              <a:t>Grade freshness</a:t>
            </a:r>
          </a:p>
          <a:p>
            <a:pPr algn="ctr">
              <a:lnSpc>
                <a:spcPct val="105000"/>
              </a:lnSpc>
              <a:spcBef>
                <a:spcPts val="0"/>
              </a:spcBef>
              <a:spcAft>
                <a:spcPts val="0"/>
              </a:spcAft>
            </a:pPr>
            <a:r>
              <a:rPr sz="900" b="0" i="0">
                <a:solidFill>
                  <a:srgbClr val="6B7784"/>
                </a:solidFill>
                <a:latin typeface="Calibri"/>
              </a:rPr>
              <a:t>5-level head
calibrated, then
renormalised</a:t>
            </a:r>
          </a:p>
        </p:txBody>
      </p:sp>
      <p:sp>
        <p:nvSpPr>
          <p:cNvPr id="27" name="Down Arrow 26"/>
          <p:cNvSpPr/>
          <p:nvPr/>
        </p:nvSpPr>
        <p:spPr>
          <a:xfrm>
            <a:off x="4984750" y="4749800"/>
            <a:ext cx="114300" cy="152400"/>
          </a:xfrm>
          <a:prstGeom prst="downArrow">
            <a:avLst>
              <a:gd name="adj1" fmla="val 42000"/>
              <a:gd name="adj2" fmla="val 45000"/>
            </a:avLst>
          </a:prstGeom>
          <a:solidFill>
            <a:srgbClr val="C27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114800" y="4978400"/>
            <a:ext cx="1854200" cy="406400"/>
          </a:xfrm>
          <a:prstGeom prst="rect">
            <a:avLst/>
          </a:prstGeom>
          <a:noFill/>
        </p:spPr>
        <p:txBody>
          <a:bodyPr wrap="square" lIns="0" rIns="0" tIns="0" bIns="0" anchor="t">
            <a:spAutoFit/>
          </a:bodyPr>
          <a:lstStyle/>
          <a:p>
            <a:pPr algn="ctr">
              <a:lnSpc>
                <a:spcPct val="105000"/>
              </a:lnSpc>
              <a:spcBef>
                <a:spcPts val="0"/>
              </a:spcBef>
              <a:spcAft>
                <a:spcPts val="100"/>
              </a:spcAft>
            </a:pPr>
            <a:r>
              <a:rPr sz="900" b="0" i="0">
                <a:solidFill>
                  <a:srgbClr val="C2710C"/>
                </a:solidFill>
                <a:latin typeface="Calibri"/>
              </a:rPr>
              <a:t>not produce</a:t>
            </a:r>
          </a:p>
          <a:p>
            <a:pPr algn="ctr">
              <a:lnSpc>
                <a:spcPct val="105000"/>
              </a:lnSpc>
              <a:spcBef>
                <a:spcPts val="0"/>
              </a:spcBef>
              <a:spcAft>
                <a:spcPts val="0"/>
              </a:spcAft>
            </a:pPr>
            <a:r>
              <a:rPr sz="900" b="1" i="0">
                <a:solidFill>
                  <a:srgbClr val="C2710C"/>
                </a:solidFill>
                <a:latin typeface="Calibri"/>
              </a:rPr>
              <a:t>“Not a Fruit or Vegetable”</a:t>
            </a:r>
          </a:p>
        </p:txBody>
      </p:sp>
      <p:sp>
        <p:nvSpPr>
          <p:cNvPr id="29" name="Down Arrow 28"/>
          <p:cNvSpPr/>
          <p:nvPr/>
        </p:nvSpPr>
        <p:spPr>
          <a:xfrm>
            <a:off x="6826250" y="4749800"/>
            <a:ext cx="114300" cy="152400"/>
          </a:xfrm>
          <a:prstGeom prst="downArrow">
            <a:avLst>
              <a:gd name="adj1" fmla="val 42000"/>
              <a:gd name="adj2" fmla="val 45000"/>
            </a:avLst>
          </a:prstGeom>
          <a:solidFill>
            <a:srgbClr val="C27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956300" y="4978400"/>
            <a:ext cx="1854200" cy="406400"/>
          </a:xfrm>
          <a:prstGeom prst="rect">
            <a:avLst/>
          </a:prstGeom>
          <a:noFill/>
        </p:spPr>
        <p:txBody>
          <a:bodyPr wrap="square" lIns="0" rIns="0" tIns="0" bIns="0" anchor="t">
            <a:spAutoFit/>
          </a:bodyPr>
          <a:lstStyle/>
          <a:p>
            <a:pPr algn="ctr">
              <a:lnSpc>
                <a:spcPct val="105000"/>
              </a:lnSpc>
              <a:spcBef>
                <a:spcPts val="0"/>
              </a:spcBef>
              <a:spcAft>
                <a:spcPts val="100"/>
              </a:spcAft>
            </a:pPr>
            <a:r>
              <a:rPr sz="900" b="0" i="0">
                <a:solidFill>
                  <a:srgbClr val="C2710C"/>
                </a:solidFill>
                <a:latin typeface="Calibri"/>
              </a:rPr>
              <a:t>below 65% confidence</a:t>
            </a:r>
          </a:p>
          <a:p>
            <a:pPr algn="ctr">
              <a:lnSpc>
                <a:spcPct val="105000"/>
              </a:lnSpc>
              <a:spcBef>
                <a:spcPts val="0"/>
              </a:spcBef>
              <a:spcAft>
                <a:spcPts val="0"/>
              </a:spcAft>
            </a:pPr>
            <a:r>
              <a:rPr sz="900" b="1" i="0">
                <a:solidFill>
                  <a:srgbClr val="C2710C"/>
                </a:solidFill>
                <a:latin typeface="Calibri"/>
              </a:rPr>
              <a:t>“Unclear Image”</a:t>
            </a:r>
          </a:p>
        </p:txBody>
      </p:sp>
      <p:sp>
        <p:nvSpPr>
          <p:cNvPr id="31" name="Rounded Rectangle 30"/>
          <p:cNvSpPr/>
          <p:nvPr/>
        </p:nvSpPr>
        <p:spPr>
          <a:xfrm>
            <a:off x="584200" y="5613400"/>
            <a:ext cx="8915400" cy="863600"/>
          </a:xfrm>
          <a:prstGeom prst="roundRect">
            <a:avLst>
              <a:gd name="adj" fmla="val 1000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63500" bIns="63500"/>
          <a:lstStyle/>
          <a:p>
            <a:pPr algn="ctr"/>
          </a:p>
        </p:txBody>
      </p:sp>
      <p:sp>
        <p:nvSpPr>
          <p:cNvPr id="32" name="TextBox 31"/>
          <p:cNvSpPr txBox="1"/>
          <p:nvPr/>
        </p:nvSpPr>
        <p:spPr>
          <a:xfrm>
            <a:off x="863600" y="5816600"/>
            <a:ext cx="8356600" cy="609600"/>
          </a:xfrm>
          <a:prstGeom prst="rect">
            <a:avLst/>
          </a:prstGeom>
          <a:noFill/>
        </p:spPr>
        <p:txBody>
          <a:bodyPr wrap="square" lIns="0" rIns="0" tIns="0" bIns="0" anchor="t">
            <a:spAutoFit/>
          </a:bodyPr>
          <a:lstStyle/>
          <a:p>
            <a:pPr algn="l">
              <a:lnSpc>
                <a:spcPct val="118000"/>
              </a:lnSpc>
              <a:spcBef>
                <a:spcPts val="0"/>
              </a:spcBef>
              <a:spcAft>
                <a:spcPts val="400"/>
              </a:spcAft>
            </a:pPr>
            <a:r>
              <a:rPr sz="1200" b="1" i="0">
                <a:solidFill>
                  <a:srgbClr val="FFFFFF"/>
                </a:solidFill>
                <a:latin typeface="Calibri"/>
              </a:rPr>
              <a:t>OUTPUT  —  graded verdict returned as JSON and rendered in the UI</a:t>
            </a:r>
          </a:p>
          <a:p>
            <a:pPr>
              <a:lnSpc>
                <a:spcPct val="115000"/>
              </a:lnSpc>
              <a:spcBef>
                <a:spcPts val="0"/>
              </a:spcBef>
              <a:spcAft>
                <a:spcPts val="0"/>
              </a:spcAft>
            </a:pPr>
            <a:r>
              <a:rPr sz="1000" b="0" i="0">
                <a:solidFill>
                  <a:srgbClr val="D8EAF8"/>
                </a:solidFill>
                <a:latin typeface="Calibri"/>
              </a:rPr>
              <a:t>produce label  ·  freshness level  ·  both confidences  ·  full 5-level distribution  ·  estimated shelf life  ·  inference latency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4200" y="406400"/>
            <a:ext cx="8915400" cy="431800"/>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0070C0"/>
                </a:solidFill>
                <a:latin typeface="Calibri"/>
              </a:rPr>
              <a:t>SYSTEM ARCHITECTURE</a:t>
            </a:r>
          </a:p>
        </p:txBody>
      </p:sp>
      <p:cxnSp>
        <p:nvCxnSpPr>
          <p:cNvPr id="3" name="Connector 2"/>
          <p:cNvCxnSpPr/>
          <p:nvPr/>
        </p:nvCxnSpPr>
        <p:spPr>
          <a:xfrm>
            <a:off x="584200" y="901700"/>
            <a:ext cx="8915400" cy="0"/>
          </a:xfrm>
          <a:prstGeom prst="line">
            <a:avLst/>
          </a:prstGeom>
          <a:ln w="25400">
            <a:solidFill>
              <a:srgbClr val="0070C0"/>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584200" y="7086600"/>
            <a:ext cx="8915400" cy="0"/>
          </a:xfrm>
          <a:prstGeom prst="line">
            <a:avLst/>
          </a:prstGeom>
          <a:ln w="9525">
            <a:solidFill>
              <a:srgbClr val="D8DEE5"/>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84200" y="7188200"/>
            <a:ext cx="6240780" cy="177800"/>
          </a:xfrm>
          <a:prstGeom prst="rect">
            <a:avLst/>
          </a:prstGeom>
          <a:noFill/>
        </p:spPr>
        <p:txBody>
          <a:bodyPr wrap="square" lIns="0" rIns="0" tIns="0" bIns="0" anchor="t">
            <a:spAutoFit/>
          </a:bodyPr>
          <a:lstStyle/>
          <a:p>
            <a:pPr algn="l">
              <a:lnSpc>
                <a:spcPct val="118000"/>
              </a:lnSpc>
              <a:spcBef>
                <a:spcPts val="0"/>
              </a:spcBef>
              <a:spcAft>
                <a:spcPts val="0"/>
              </a:spcAft>
            </a:pPr>
            <a:r>
              <a:rPr sz="850" b="0" i="0">
                <a:solidFill>
                  <a:srgbClr val="6B7784"/>
                </a:solidFill>
                <a:latin typeface="Calibri"/>
              </a:rPr>
              <a:t>Fresh Vision  ·  Practice School-II  ·  SOET, BML Munjal University</a:t>
            </a:r>
          </a:p>
        </p:txBody>
      </p:sp>
      <p:sp>
        <p:nvSpPr>
          <p:cNvPr id="6" name="TextBox 5"/>
          <p:cNvSpPr txBox="1"/>
          <p:nvPr/>
        </p:nvSpPr>
        <p:spPr>
          <a:xfrm>
            <a:off x="8737600" y="7188200"/>
            <a:ext cx="762000" cy="177800"/>
          </a:xfrm>
          <a:prstGeom prst="rect">
            <a:avLst/>
          </a:prstGeom>
          <a:noFill/>
        </p:spPr>
        <p:txBody>
          <a:bodyPr wrap="square" lIns="0" rIns="0" tIns="0" bIns="0" anchor="t">
            <a:spAutoFit/>
          </a:bodyPr>
          <a:lstStyle/>
          <a:p>
            <a:pPr algn="r">
              <a:lnSpc>
                <a:spcPct val="118000"/>
              </a:lnSpc>
              <a:spcBef>
                <a:spcPts val="0"/>
              </a:spcBef>
              <a:spcAft>
                <a:spcPts val="0"/>
              </a:spcAft>
            </a:pPr>
            <a:r>
              <a:rPr sz="850" b="1" i="0">
                <a:solidFill>
                  <a:srgbClr val="0070C0"/>
                </a:solidFill>
                <a:latin typeface="Calibri"/>
              </a:rPr>
              <a:t>6</a:t>
            </a:r>
          </a:p>
        </p:txBody>
      </p:sp>
      <p:sp>
        <p:nvSpPr>
          <p:cNvPr id="7" name="Rounded Rectangle 6"/>
          <p:cNvSpPr/>
          <p:nvPr/>
        </p:nvSpPr>
        <p:spPr>
          <a:xfrm>
            <a:off x="584200" y="1270000"/>
            <a:ext cx="8915400" cy="787400"/>
          </a:xfrm>
          <a:prstGeom prst="roundRect">
            <a:avLst>
              <a:gd name="adj" fmla="val 10000"/>
            </a:avLst>
          </a:prstGeom>
          <a:solidFill>
            <a:srgbClr val="FFFFFF"/>
          </a:solidFill>
          <a:ln w="12700">
            <a:solidFill>
              <a:srgbClr val="C7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63500" bIns="63500"/>
          <a:lstStyle/>
          <a:p>
            <a:pPr algn="ctr"/>
          </a:p>
        </p:txBody>
      </p:sp>
      <p:sp>
        <p:nvSpPr>
          <p:cNvPr id="8" name="Rectangle 7"/>
          <p:cNvSpPr/>
          <p:nvPr/>
        </p:nvSpPr>
        <p:spPr>
          <a:xfrm>
            <a:off x="584200" y="1270000"/>
            <a:ext cx="63500" cy="78740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63500" bIns="63500"/>
          <a:lstStyle/>
          <a:p>
            <a:pPr algn="ctr"/>
          </a:p>
        </p:txBody>
      </p:sp>
      <p:sp>
        <p:nvSpPr>
          <p:cNvPr id="9" name="TextBox 8"/>
          <p:cNvSpPr txBox="1"/>
          <p:nvPr/>
        </p:nvSpPr>
        <p:spPr>
          <a:xfrm>
            <a:off x="863600" y="1435100"/>
            <a:ext cx="8356600" cy="558800"/>
          </a:xfrm>
          <a:prstGeom prst="rect">
            <a:avLst/>
          </a:prstGeom>
          <a:noFill/>
        </p:spPr>
        <p:txBody>
          <a:bodyPr wrap="square" lIns="0" rIns="0" tIns="0" bIns="0" anchor="t">
            <a:spAutoFit/>
          </a:bodyPr>
          <a:lstStyle/>
          <a:p>
            <a:pPr algn="l">
              <a:lnSpc>
                <a:spcPct val="118000"/>
              </a:lnSpc>
              <a:spcBef>
                <a:spcPts val="0"/>
              </a:spcBef>
              <a:spcAft>
                <a:spcPts val="400"/>
              </a:spcAft>
            </a:pPr>
            <a:r>
              <a:rPr sz="1250" b="1">
                <a:solidFill>
                  <a:srgbClr val="0070C0"/>
                </a:solidFill>
                <a:latin typeface="Calibri"/>
              </a:rPr>
              <a:t>CLIENT   </a:t>
            </a:r>
            <a:r>
              <a:rPr sz="1250" b="1">
                <a:solidFill>
                  <a:srgbClr val="1B2532"/>
                </a:solidFill>
                <a:latin typeface="Calibri"/>
              </a:rPr>
              <a:t>React 19 + Vite single-page app</a:t>
            </a:r>
          </a:p>
          <a:p>
            <a:pPr>
              <a:lnSpc>
                <a:spcPct val="118000"/>
              </a:lnSpc>
              <a:spcBef>
                <a:spcPts val="0"/>
              </a:spcBef>
              <a:spcAft>
                <a:spcPts val="0"/>
              </a:spcAft>
            </a:pPr>
            <a:r>
              <a:rPr sz="1000" b="0" i="0">
                <a:solidFill>
                  <a:srgbClr val="6B7784"/>
                </a:solidFill>
                <a:latin typeface="Calibri"/>
              </a:rPr>
              <a:t>Dropzone (drag-drop / paste)  ·  ResultPanel  ·  ScoreDial  ·  ConfidenceBar  ·  responsive dark-mode UI</a:t>
            </a:r>
          </a:p>
        </p:txBody>
      </p:sp>
      <p:sp>
        <p:nvSpPr>
          <p:cNvPr id="10" name="Down Arrow 9"/>
          <p:cNvSpPr/>
          <p:nvPr/>
        </p:nvSpPr>
        <p:spPr>
          <a:xfrm>
            <a:off x="4972050" y="2108200"/>
            <a:ext cx="139700" cy="279400"/>
          </a:xfrm>
          <a:prstGeom prst="downArrow">
            <a:avLst>
              <a:gd name="adj1" fmla="val 42000"/>
              <a:gd name="adj2" fmla="val 4500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70500" y="2108200"/>
            <a:ext cx="3810000" cy="381000"/>
          </a:xfrm>
          <a:prstGeom prst="rect">
            <a:avLst/>
          </a:prstGeom>
          <a:noFill/>
        </p:spPr>
        <p:txBody>
          <a:bodyPr wrap="square" lIns="0" rIns="0" tIns="0" bIns="0" anchor="t">
            <a:spAutoFit/>
          </a:bodyPr>
          <a:lstStyle/>
          <a:p>
            <a:pPr algn="l">
              <a:lnSpc>
                <a:spcPct val="118000"/>
              </a:lnSpc>
              <a:spcBef>
                <a:spcPts val="0"/>
              </a:spcBef>
              <a:spcAft>
                <a:spcPts val="100"/>
              </a:spcAft>
            </a:pPr>
            <a:r>
              <a:rPr sz="950" b="1">
                <a:solidFill>
                  <a:srgbClr val="1B2532"/>
                </a:solidFill>
                <a:latin typeface="Calibri"/>
              </a:rPr>
              <a:t>POST /api/predict</a:t>
            </a:r>
          </a:p>
          <a:p>
            <a:pPr>
              <a:lnSpc>
                <a:spcPct val="118000"/>
              </a:lnSpc>
              <a:spcBef>
                <a:spcPts val="0"/>
              </a:spcBef>
              <a:spcAft>
                <a:spcPts val="0"/>
              </a:spcAft>
            </a:pPr>
            <a:r>
              <a:rPr sz="950" b="0" i="0">
                <a:solidFill>
                  <a:srgbClr val="6B7784"/>
                </a:solidFill>
                <a:latin typeface="Calibri"/>
              </a:rPr>
              <a:t>multipart/form-data  ·  max 10 MB  ·  held in memory only</a:t>
            </a:r>
          </a:p>
        </p:txBody>
      </p:sp>
      <p:sp>
        <p:nvSpPr>
          <p:cNvPr id="12" name="Rounded Rectangle 11"/>
          <p:cNvSpPr/>
          <p:nvPr/>
        </p:nvSpPr>
        <p:spPr>
          <a:xfrm>
            <a:off x="584200" y="2463800"/>
            <a:ext cx="8915400" cy="787400"/>
          </a:xfrm>
          <a:prstGeom prst="roundRect">
            <a:avLst>
              <a:gd name="adj" fmla="val 10000"/>
            </a:avLst>
          </a:prstGeom>
          <a:solidFill>
            <a:srgbClr val="FFFFFF"/>
          </a:solidFill>
          <a:ln w="12700">
            <a:solidFill>
              <a:srgbClr val="C7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63500" bIns="63500"/>
          <a:lstStyle/>
          <a:p>
            <a:pPr algn="ctr"/>
          </a:p>
        </p:txBody>
      </p:sp>
      <p:sp>
        <p:nvSpPr>
          <p:cNvPr id="13" name="Rectangle 12"/>
          <p:cNvSpPr/>
          <p:nvPr/>
        </p:nvSpPr>
        <p:spPr>
          <a:xfrm>
            <a:off x="584200" y="2463800"/>
            <a:ext cx="63500" cy="78740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63500" bIns="63500"/>
          <a:lstStyle/>
          <a:p>
            <a:pPr algn="ctr"/>
          </a:p>
        </p:txBody>
      </p:sp>
      <p:sp>
        <p:nvSpPr>
          <p:cNvPr id="14" name="TextBox 13"/>
          <p:cNvSpPr txBox="1"/>
          <p:nvPr/>
        </p:nvSpPr>
        <p:spPr>
          <a:xfrm>
            <a:off x="863600" y="2628900"/>
            <a:ext cx="8356600" cy="558800"/>
          </a:xfrm>
          <a:prstGeom prst="rect">
            <a:avLst/>
          </a:prstGeom>
          <a:noFill/>
        </p:spPr>
        <p:txBody>
          <a:bodyPr wrap="square" lIns="0" rIns="0" tIns="0" bIns="0" anchor="t">
            <a:spAutoFit/>
          </a:bodyPr>
          <a:lstStyle/>
          <a:p>
            <a:pPr algn="l">
              <a:lnSpc>
                <a:spcPct val="118000"/>
              </a:lnSpc>
              <a:spcBef>
                <a:spcPts val="0"/>
              </a:spcBef>
              <a:spcAft>
                <a:spcPts val="400"/>
              </a:spcAft>
            </a:pPr>
            <a:r>
              <a:rPr sz="1250" b="1">
                <a:solidFill>
                  <a:srgbClr val="0070C0"/>
                </a:solidFill>
                <a:latin typeface="Calibri"/>
              </a:rPr>
              <a:t>API   </a:t>
            </a:r>
            <a:r>
              <a:rPr sz="1250" b="1">
                <a:solidFill>
                  <a:srgbClr val="1B2532"/>
                </a:solidFill>
                <a:latin typeface="Calibri"/>
              </a:rPr>
              <a:t>FastAPI + Uvicorn</a:t>
            </a:r>
            <a:r>
              <a:rPr sz="1250" b="0">
                <a:solidFill>
                  <a:srgbClr val="6B7784"/>
                </a:solidFill>
                <a:latin typeface="Calibri"/>
              </a:rPr>
              <a:t>   backend/main.py</a:t>
            </a:r>
          </a:p>
          <a:p>
            <a:pPr>
              <a:lnSpc>
                <a:spcPct val="118000"/>
              </a:lnSpc>
              <a:spcBef>
                <a:spcPts val="0"/>
              </a:spcBef>
              <a:spcAft>
                <a:spcPts val="0"/>
              </a:spcAft>
            </a:pPr>
            <a:r>
              <a:rPr sz="1000" b="0" i="0">
                <a:solidFill>
                  <a:srgbClr val="6B7784"/>
                </a:solidFill>
                <a:latin typeface="Calibri"/>
              </a:rPr>
              <a:t>GET /api/health   ·   GET /api/classes   ·   POST /api/predict          Pillow + NumPy build the 224x224 tensor</a:t>
            </a:r>
          </a:p>
        </p:txBody>
      </p:sp>
      <p:sp>
        <p:nvSpPr>
          <p:cNvPr id="15" name="Down Arrow 14"/>
          <p:cNvSpPr/>
          <p:nvPr/>
        </p:nvSpPr>
        <p:spPr>
          <a:xfrm>
            <a:off x="4972050" y="3302000"/>
            <a:ext cx="139700" cy="279400"/>
          </a:xfrm>
          <a:prstGeom prst="downArrow">
            <a:avLst>
              <a:gd name="adj1" fmla="val 42000"/>
              <a:gd name="adj2" fmla="val 4500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84200" y="3657600"/>
            <a:ext cx="8915400" cy="1625600"/>
          </a:xfrm>
          <a:prstGeom prst="roundRect">
            <a:avLst>
              <a:gd name="adj" fmla="val 6000"/>
            </a:avLst>
          </a:prstGeom>
          <a:solidFill>
            <a:srgbClr val="EEF7F1"/>
          </a:solidFill>
          <a:ln w="15875">
            <a:solidFill>
              <a:srgbClr val="11874E"/>
            </a:solid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63500" bIns="63500"/>
          <a:lstStyle/>
          <a:p>
            <a:pPr algn="ctr"/>
          </a:p>
        </p:txBody>
      </p:sp>
      <p:sp>
        <p:nvSpPr>
          <p:cNvPr id="17" name="TextBox 16"/>
          <p:cNvSpPr txBox="1"/>
          <p:nvPr/>
        </p:nvSpPr>
        <p:spPr>
          <a:xfrm>
            <a:off x="812800" y="3797300"/>
            <a:ext cx="8458200" cy="177800"/>
          </a:xfrm>
          <a:prstGeom prst="rect">
            <a:avLst/>
          </a:prstGeom>
          <a:noFill/>
        </p:spPr>
        <p:txBody>
          <a:bodyPr wrap="square" lIns="0" rIns="0" tIns="0" bIns="0" anchor="t">
            <a:spAutoFit/>
          </a:bodyPr>
          <a:lstStyle/>
          <a:p>
            <a:pPr algn="l">
              <a:lnSpc>
                <a:spcPct val="118000"/>
              </a:lnSpc>
              <a:spcBef>
                <a:spcPts val="0"/>
              </a:spcBef>
              <a:spcAft>
                <a:spcPts val="0"/>
              </a:spcAft>
            </a:pPr>
            <a:r>
              <a:rPr sz="1050" b="1" i="0">
                <a:solidFill>
                  <a:srgbClr val="11874E"/>
                </a:solidFill>
                <a:latin typeface="Calibri"/>
              </a:rPr>
              <a:t>MODEL LAYER  —  TensorFlow / Keras, loaded once at startup</a:t>
            </a:r>
          </a:p>
        </p:txBody>
      </p:sp>
      <p:sp>
        <p:nvSpPr>
          <p:cNvPr id="18" name="Rounded Rectangle 17"/>
          <p:cNvSpPr/>
          <p:nvPr/>
        </p:nvSpPr>
        <p:spPr>
          <a:xfrm>
            <a:off x="812800" y="4064000"/>
            <a:ext cx="2717800" cy="1041400"/>
          </a:xfrm>
          <a:prstGeom prst="roundRect">
            <a:avLst>
              <a:gd name="adj" fmla="val 10000"/>
            </a:avLst>
          </a:prstGeom>
          <a:solidFill>
            <a:srgbClr val="FFFFFF"/>
          </a:solidFill>
          <a:ln w="12700">
            <a:solidFill>
              <a:srgbClr val="B6D8C4"/>
            </a:solid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63500" bIns="63500"/>
          <a:lstStyle/>
          <a:p>
            <a:pPr algn="ctr"/>
          </a:p>
        </p:txBody>
      </p:sp>
      <p:sp>
        <p:nvSpPr>
          <p:cNvPr id="19" name="TextBox 18"/>
          <p:cNvSpPr txBox="1"/>
          <p:nvPr/>
        </p:nvSpPr>
        <p:spPr>
          <a:xfrm>
            <a:off x="914400" y="4191000"/>
            <a:ext cx="2514600" cy="787400"/>
          </a:xfrm>
          <a:prstGeom prst="rect">
            <a:avLst/>
          </a:prstGeom>
          <a:noFill/>
        </p:spPr>
        <p:txBody>
          <a:bodyPr wrap="square" lIns="0" rIns="0" tIns="0" bIns="0" anchor="t">
            <a:spAutoFit/>
          </a:bodyPr>
          <a:lstStyle/>
          <a:p>
            <a:pPr algn="ctr">
              <a:lnSpc>
                <a:spcPct val="100000"/>
              </a:lnSpc>
              <a:spcBef>
                <a:spcPts val="0"/>
              </a:spcBef>
              <a:spcAft>
                <a:spcPts val="300"/>
              </a:spcAft>
            </a:pPr>
            <a:r>
              <a:rPr sz="1150" b="1" i="0">
                <a:solidFill>
                  <a:srgbClr val="1B2532"/>
                </a:solidFill>
                <a:latin typeface="Calibri"/>
              </a:rPr>
              <a:t>Gatekeeper</a:t>
            </a:r>
          </a:p>
          <a:p>
            <a:pPr algn="ctr">
              <a:lnSpc>
                <a:spcPct val="100000"/>
              </a:lnSpc>
              <a:spcBef>
                <a:spcPts val="0"/>
              </a:spcBef>
              <a:spcAft>
                <a:spcPts val="400"/>
              </a:spcAft>
            </a:pPr>
            <a:r>
              <a:rPr sz="900" b="1" i="0">
                <a:solidFill>
                  <a:srgbClr val="11874E"/>
                </a:solidFill>
                <a:latin typeface="Calibri"/>
              </a:rPr>
              <a:t>MobileNetV2 (ImageNet)</a:t>
            </a:r>
          </a:p>
          <a:p>
            <a:pPr algn="ctr">
              <a:lnSpc>
                <a:spcPct val="120000"/>
              </a:lnSpc>
              <a:spcBef>
                <a:spcPts val="0"/>
              </a:spcBef>
              <a:spcAft>
                <a:spcPts val="0"/>
              </a:spcAft>
            </a:pPr>
            <a:r>
              <a:rPr sz="900" b="0" i="0">
                <a:solidFill>
                  <a:srgbClr val="6B7784"/>
                </a:solidFill>
                <a:latin typeface="Calibri"/>
              </a:rPr>
              <a:t>pretrained, 1000 classes
top-5 produce keyword screen</a:t>
            </a:r>
          </a:p>
        </p:txBody>
      </p:sp>
      <p:sp>
        <p:nvSpPr>
          <p:cNvPr id="20" name="Rounded Rectangle 19"/>
          <p:cNvSpPr/>
          <p:nvPr/>
        </p:nvSpPr>
        <p:spPr>
          <a:xfrm>
            <a:off x="3683000" y="4064000"/>
            <a:ext cx="2717800" cy="1041400"/>
          </a:xfrm>
          <a:prstGeom prst="roundRect">
            <a:avLst>
              <a:gd name="adj" fmla="val 10000"/>
            </a:avLst>
          </a:prstGeom>
          <a:solidFill>
            <a:srgbClr val="FFFFFF"/>
          </a:solidFill>
          <a:ln w="12700">
            <a:solidFill>
              <a:srgbClr val="B6D8C4"/>
            </a:solid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63500" bIns="63500"/>
          <a:lstStyle/>
          <a:p>
            <a:pPr algn="ctr"/>
          </a:p>
        </p:txBody>
      </p:sp>
      <p:sp>
        <p:nvSpPr>
          <p:cNvPr id="21" name="TextBox 20"/>
          <p:cNvSpPr txBox="1"/>
          <p:nvPr/>
        </p:nvSpPr>
        <p:spPr>
          <a:xfrm>
            <a:off x="3784600" y="4191000"/>
            <a:ext cx="2514600" cy="787400"/>
          </a:xfrm>
          <a:prstGeom prst="rect">
            <a:avLst/>
          </a:prstGeom>
          <a:noFill/>
        </p:spPr>
        <p:txBody>
          <a:bodyPr wrap="square" lIns="0" rIns="0" tIns="0" bIns="0" anchor="t">
            <a:spAutoFit/>
          </a:bodyPr>
          <a:lstStyle/>
          <a:p>
            <a:pPr algn="ctr">
              <a:lnSpc>
                <a:spcPct val="100000"/>
              </a:lnSpc>
              <a:spcBef>
                <a:spcPts val="0"/>
              </a:spcBef>
              <a:spcAft>
                <a:spcPts val="300"/>
              </a:spcAft>
            </a:pPr>
            <a:r>
              <a:rPr sz="1150" b="1" i="0">
                <a:solidFill>
                  <a:srgbClr val="1B2532"/>
                </a:solidFill>
                <a:latin typeface="Calibri"/>
              </a:rPr>
              <a:t>Produce identifier</a:t>
            </a:r>
          </a:p>
          <a:p>
            <a:pPr algn="ctr">
              <a:lnSpc>
                <a:spcPct val="100000"/>
              </a:lnSpc>
              <a:spcBef>
                <a:spcPts val="0"/>
              </a:spcBef>
              <a:spcAft>
                <a:spcPts val="400"/>
              </a:spcAft>
            </a:pPr>
            <a:r>
              <a:rPr sz="900" b="1" i="0">
                <a:solidFill>
                  <a:srgbClr val="11874E"/>
                </a:solidFill>
                <a:latin typeface="Calibri"/>
              </a:rPr>
              <a:t>fruit_veg_identifier.h5</a:t>
            </a:r>
          </a:p>
          <a:p>
            <a:pPr algn="ctr">
              <a:lnSpc>
                <a:spcPct val="120000"/>
              </a:lnSpc>
              <a:spcBef>
                <a:spcPts val="0"/>
              </a:spcBef>
              <a:spcAft>
                <a:spcPts val="0"/>
              </a:spcAft>
            </a:pPr>
            <a:r>
              <a:rPr sz="900" b="0" i="0">
                <a:solidFill>
                  <a:srgbClr val="6B7784"/>
                </a:solidFill>
                <a:latin typeface="Calibri"/>
              </a:rPr>
              <a:t>14 classes  ·  2.42 M params
158 layers  ·  11.6 MB</a:t>
            </a:r>
          </a:p>
        </p:txBody>
      </p:sp>
      <p:sp>
        <p:nvSpPr>
          <p:cNvPr id="22" name="Rounded Rectangle 21"/>
          <p:cNvSpPr/>
          <p:nvPr/>
        </p:nvSpPr>
        <p:spPr>
          <a:xfrm>
            <a:off x="6553200" y="4064000"/>
            <a:ext cx="2717800" cy="1041400"/>
          </a:xfrm>
          <a:prstGeom prst="roundRect">
            <a:avLst>
              <a:gd name="adj" fmla="val 10000"/>
            </a:avLst>
          </a:prstGeom>
          <a:solidFill>
            <a:srgbClr val="FFFFFF"/>
          </a:solidFill>
          <a:ln w="12700">
            <a:solidFill>
              <a:srgbClr val="B6D8C4"/>
            </a:solid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63500" bIns="63500"/>
          <a:lstStyle/>
          <a:p>
            <a:pPr algn="ctr"/>
          </a:p>
        </p:txBody>
      </p:sp>
      <p:sp>
        <p:nvSpPr>
          <p:cNvPr id="23" name="TextBox 22"/>
          <p:cNvSpPr txBox="1"/>
          <p:nvPr/>
        </p:nvSpPr>
        <p:spPr>
          <a:xfrm>
            <a:off x="6654800" y="4191000"/>
            <a:ext cx="2514600" cy="787400"/>
          </a:xfrm>
          <a:prstGeom prst="rect">
            <a:avLst/>
          </a:prstGeom>
          <a:noFill/>
        </p:spPr>
        <p:txBody>
          <a:bodyPr wrap="square" lIns="0" rIns="0" tIns="0" bIns="0" anchor="t">
            <a:spAutoFit/>
          </a:bodyPr>
          <a:lstStyle/>
          <a:p>
            <a:pPr algn="ctr">
              <a:lnSpc>
                <a:spcPct val="100000"/>
              </a:lnSpc>
              <a:spcBef>
                <a:spcPts val="0"/>
              </a:spcBef>
              <a:spcAft>
                <a:spcPts val="300"/>
              </a:spcAft>
            </a:pPr>
            <a:r>
              <a:rPr sz="1150" b="1" i="0">
                <a:solidFill>
                  <a:srgbClr val="1B2532"/>
                </a:solidFill>
                <a:latin typeface="Calibri"/>
              </a:rPr>
              <a:t>Freshness classifier</a:t>
            </a:r>
          </a:p>
          <a:p>
            <a:pPr algn="ctr">
              <a:lnSpc>
                <a:spcPct val="100000"/>
              </a:lnSpc>
              <a:spcBef>
                <a:spcPts val="0"/>
              </a:spcBef>
              <a:spcAft>
                <a:spcPts val="400"/>
              </a:spcAft>
            </a:pPr>
            <a:r>
              <a:rPr sz="900" b="1" i="0">
                <a:solidFill>
                  <a:srgbClr val="11874E"/>
                </a:solidFill>
                <a:latin typeface="Calibri"/>
              </a:rPr>
              <a:t>freshness_classifier_v2.h5</a:t>
            </a:r>
          </a:p>
          <a:p>
            <a:pPr algn="ctr">
              <a:lnSpc>
                <a:spcPct val="120000"/>
              </a:lnSpc>
              <a:spcBef>
                <a:spcPts val="0"/>
              </a:spcBef>
              <a:spcAft>
                <a:spcPts val="0"/>
              </a:spcAft>
            </a:pPr>
            <a:r>
              <a:rPr sz="900" b="0" i="0">
                <a:solidFill>
                  <a:srgbClr val="6B7784"/>
                </a:solidFill>
                <a:latin typeface="Calibri"/>
              </a:rPr>
              <a:t>5 levels  ·  2.42 M params
158 layers  ·  23.8 MB</a:t>
            </a:r>
          </a:p>
        </p:txBody>
      </p:sp>
      <p:sp>
        <p:nvSpPr>
          <p:cNvPr id="24" name="Down Arrow 23"/>
          <p:cNvSpPr/>
          <p:nvPr/>
        </p:nvSpPr>
        <p:spPr>
          <a:xfrm>
            <a:off x="4972050" y="5334000"/>
            <a:ext cx="139700" cy="279400"/>
          </a:xfrm>
          <a:prstGeom prst="downArrow">
            <a:avLst>
              <a:gd name="adj1" fmla="val 42000"/>
              <a:gd name="adj2" fmla="val 4500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84200" y="5638800"/>
            <a:ext cx="8915400" cy="762000"/>
          </a:xfrm>
          <a:prstGeom prst="roundRect">
            <a:avLst>
              <a:gd name="adj" fmla="val 10000"/>
            </a:avLst>
          </a:prstGeom>
          <a:solidFill>
            <a:srgbClr val="1B25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63500" bIns="63500"/>
          <a:lstStyle/>
          <a:p>
            <a:pPr algn="ctr"/>
          </a:p>
        </p:txBody>
      </p:sp>
      <p:sp>
        <p:nvSpPr>
          <p:cNvPr id="26" name="TextBox 25"/>
          <p:cNvSpPr txBox="1"/>
          <p:nvPr/>
        </p:nvSpPr>
        <p:spPr>
          <a:xfrm>
            <a:off x="863600" y="5791200"/>
            <a:ext cx="8356600" cy="533400"/>
          </a:xfrm>
          <a:prstGeom prst="rect">
            <a:avLst/>
          </a:prstGeom>
          <a:noFill/>
        </p:spPr>
        <p:txBody>
          <a:bodyPr wrap="square" lIns="0" rIns="0" tIns="0" bIns="0" anchor="t">
            <a:spAutoFit/>
          </a:bodyPr>
          <a:lstStyle/>
          <a:p>
            <a:pPr algn="l">
              <a:lnSpc>
                <a:spcPct val="118000"/>
              </a:lnSpc>
              <a:spcBef>
                <a:spcPts val="0"/>
              </a:spcBef>
              <a:spcAft>
                <a:spcPts val="400"/>
              </a:spcAft>
            </a:pPr>
            <a:r>
              <a:rPr sz="1000" b="1" i="0">
                <a:solidFill>
                  <a:srgbClr val="8EC5F0"/>
                </a:solidFill>
                <a:latin typeface="Calibri"/>
              </a:rPr>
              <a:t>JSON RESPONSE</a:t>
            </a:r>
          </a:p>
          <a:p>
            <a:pPr>
              <a:lnSpc>
                <a:spcPct val="115000"/>
              </a:lnSpc>
              <a:spcBef>
                <a:spcPts val="0"/>
              </a:spcBef>
              <a:spcAft>
                <a:spcPts val="0"/>
              </a:spcAft>
            </a:pPr>
            <a:r>
              <a:rPr sz="1000" b="0" i="0">
                <a:solidFill>
                  <a:srgbClr val="FFFFFF"/>
                </a:solidFill>
                <a:latin typeface="Calibri"/>
              </a:rPr>
              <a:t>status (ok / uncertain / rejected)  ·  headline verdict  ·  top-3 produce  ·  5-level freshness distribution  ·  shelf life  ·  latency  ·  thumbnail</a:t>
            </a:r>
          </a:p>
        </p:txBody>
      </p:sp>
      <p:sp>
        <p:nvSpPr>
          <p:cNvPr id="27" name="TextBox 26"/>
          <p:cNvSpPr txBox="1"/>
          <p:nvPr/>
        </p:nvSpPr>
        <p:spPr>
          <a:xfrm>
            <a:off x="584200" y="6502400"/>
            <a:ext cx="8915400" cy="431800"/>
          </a:xfrm>
          <a:prstGeom prst="rect">
            <a:avLst/>
          </a:prstGeom>
          <a:noFill/>
        </p:spPr>
        <p:txBody>
          <a:bodyPr wrap="square" lIns="0" rIns="0" tIns="0" bIns="0" anchor="t">
            <a:spAutoFit/>
          </a:bodyPr>
          <a:lstStyle/>
          <a:p>
            <a:pPr algn="l">
              <a:lnSpc>
                <a:spcPct val="125000"/>
              </a:lnSpc>
              <a:spcBef>
                <a:spcPts val="0"/>
              </a:spcBef>
              <a:spcAft>
                <a:spcPts val="0"/>
              </a:spcAft>
            </a:pPr>
            <a:r>
              <a:rPr sz="1050" b="1">
                <a:solidFill>
                  <a:srgbClr val="0070C0"/>
                </a:solidFill>
                <a:latin typeface="Calibri"/>
              </a:rPr>
              <a:t>Deployment   </a:t>
            </a:r>
            <a:r>
              <a:rPr sz="1050" b="0">
                <a:solidFill>
                  <a:srgbClr val="333D4A"/>
                </a:solidFill>
                <a:latin typeface="Calibri"/>
              </a:rPr>
              <a:t>no database and nothing written to disk; when frontend/dist exists the same Uvicorn process serves the built UI, so the whole application runs on one port.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4200" y="406400"/>
            <a:ext cx="8915400" cy="431800"/>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0070C0"/>
                </a:solidFill>
                <a:latin typeface="Calibri"/>
              </a:rPr>
              <a:t>KEY IMPLEMENTATION</a:t>
            </a:r>
          </a:p>
        </p:txBody>
      </p:sp>
      <p:cxnSp>
        <p:nvCxnSpPr>
          <p:cNvPr id="3" name="Connector 2"/>
          <p:cNvCxnSpPr/>
          <p:nvPr/>
        </p:nvCxnSpPr>
        <p:spPr>
          <a:xfrm>
            <a:off x="584200" y="901700"/>
            <a:ext cx="8915400" cy="0"/>
          </a:xfrm>
          <a:prstGeom prst="line">
            <a:avLst/>
          </a:prstGeom>
          <a:ln w="25400">
            <a:solidFill>
              <a:srgbClr val="0070C0"/>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584200" y="7086600"/>
            <a:ext cx="8915400" cy="0"/>
          </a:xfrm>
          <a:prstGeom prst="line">
            <a:avLst/>
          </a:prstGeom>
          <a:ln w="9525">
            <a:solidFill>
              <a:srgbClr val="D8DEE5"/>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84200" y="7188200"/>
            <a:ext cx="6240780" cy="177800"/>
          </a:xfrm>
          <a:prstGeom prst="rect">
            <a:avLst/>
          </a:prstGeom>
          <a:noFill/>
        </p:spPr>
        <p:txBody>
          <a:bodyPr wrap="square" lIns="0" rIns="0" tIns="0" bIns="0" anchor="t">
            <a:spAutoFit/>
          </a:bodyPr>
          <a:lstStyle/>
          <a:p>
            <a:pPr algn="l">
              <a:lnSpc>
                <a:spcPct val="118000"/>
              </a:lnSpc>
              <a:spcBef>
                <a:spcPts val="0"/>
              </a:spcBef>
              <a:spcAft>
                <a:spcPts val="0"/>
              </a:spcAft>
            </a:pPr>
            <a:r>
              <a:rPr sz="850" b="0" i="0">
                <a:solidFill>
                  <a:srgbClr val="6B7784"/>
                </a:solidFill>
                <a:latin typeface="Calibri"/>
              </a:rPr>
              <a:t>Fresh Vision  ·  Practice School-II  ·  SOET, BML Munjal University</a:t>
            </a:r>
          </a:p>
        </p:txBody>
      </p:sp>
      <p:sp>
        <p:nvSpPr>
          <p:cNvPr id="6" name="TextBox 5"/>
          <p:cNvSpPr txBox="1"/>
          <p:nvPr/>
        </p:nvSpPr>
        <p:spPr>
          <a:xfrm>
            <a:off x="8737600" y="7188200"/>
            <a:ext cx="762000" cy="177800"/>
          </a:xfrm>
          <a:prstGeom prst="rect">
            <a:avLst/>
          </a:prstGeom>
          <a:noFill/>
        </p:spPr>
        <p:txBody>
          <a:bodyPr wrap="square" lIns="0" rIns="0" tIns="0" bIns="0" anchor="t">
            <a:spAutoFit/>
          </a:bodyPr>
          <a:lstStyle/>
          <a:p>
            <a:pPr algn="r">
              <a:lnSpc>
                <a:spcPct val="118000"/>
              </a:lnSpc>
              <a:spcBef>
                <a:spcPts val="0"/>
              </a:spcBef>
              <a:spcAft>
                <a:spcPts val="0"/>
              </a:spcAft>
            </a:pPr>
            <a:r>
              <a:rPr sz="850" b="1" i="0">
                <a:solidFill>
                  <a:srgbClr val="0070C0"/>
                </a:solidFill>
                <a:latin typeface="Calibri"/>
              </a:rPr>
              <a:t>7</a:t>
            </a:r>
          </a:p>
        </p:txBody>
      </p:sp>
      <p:sp>
        <p:nvSpPr>
          <p:cNvPr id="7" name="Rounded Rectangle 6"/>
          <p:cNvSpPr/>
          <p:nvPr/>
        </p:nvSpPr>
        <p:spPr>
          <a:xfrm>
            <a:off x="584200" y="1270000"/>
            <a:ext cx="8915400" cy="1498600"/>
          </a:xfrm>
          <a:prstGeom prst="roundRect">
            <a:avLst>
              <a:gd name="adj" fmla="val 5000"/>
            </a:avLst>
          </a:prstGeom>
          <a:solidFill>
            <a:srgbClr val="FFFFFF"/>
          </a:solidFill>
          <a:ln w="1270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63500" bIns="63500"/>
          <a:lstStyle/>
          <a:p>
            <a:pPr algn="ctr"/>
          </a:p>
        </p:txBody>
      </p:sp>
      <p:sp>
        <p:nvSpPr>
          <p:cNvPr id="8" name="Rectangle 7"/>
          <p:cNvSpPr/>
          <p:nvPr/>
        </p:nvSpPr>
        <p:spPr>
          <a:xfrm>
            <a:off x="584200" y="1270000"/>
            <a:ext cx="63500" cy="149860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63500" bIns="63500"/>
          <a:lstStyle/>
          <a:p>
            <a:pPr algn="ctr"/>
          </a:p>
        </p:txBody>
      </p:sp>
      <p:sp>
        <p:nvSpPr>
          <p:cNvPr id="9" name="TextBox 8"/>
          <p:cNvSpPr txBox="1"/>
          <p:nvPr/>
        </p:nvSpPr>
        <p:spPr>
          <a:xfrm>
            <a:off x="838200" y="1473200"/>
            <a:ext cx="431800" cy="330200"/>
          </a:xfrm>
          <a:prstGeom prst="rect">
            <a:avLst/>
          </a:prstGeom>
          <a:noFill/>
        </p:spPr>
        <p:txBody>
          <a:bodyPr wrap="square" lIns="0" rIns="0" tIns="0" bIns="0" anchor="t">
            <a:spAutoFit/>
          </a:bodyPr>
          <a:lstStyle/>
          <a:p>
            <a:pPr algn="l">
              <a:lnSpc>
                <a:spcPct val="118000"/>
              </a:lnSpc>
              <a:spcBef>
                <a:spcPts val="0"/>
              </a:spcBef>
              <a:spcAft>
                <a:spcPts val="0"/>
              </a:spcAft>
            </a:pPr>
            <a:r>
              <a:rPr sz="1700" b="1" i="0">
                <a:solidFill>
                  <a:srgbClr val="0070C0"/>
                </a:solidFill>
                <a:latin typeface="Calibri"/>
              </a:rPr>
              <a:t>01</a:t>
            </a:r>
          </a:p>
        </p:txBody>
      </p:sp>
      <p:sp>
        <p:nvSpPr>
          <p:cNvPr id="10" name="TextBox 9"/>
          <p:cNvSpPr txBox="1"/>
          <p:nvPr/>
        </p:nvSpPr>
        <p:spPr>
          <a:xfrm>
            <a:off x="1295400" y="1473200"/>
            <a:ext cx="7950200" cy="1371600"/>
          </a:xfrm>
          <a:prstGeom prst="rect">
            <a:avLst/>
          </a:prstGeom>
          <a:noFill/>
        </p:spPr>
        <p:txBody>
          <a:bodyPr wrap="square" lIns="0" rIns="0" tIns="0" bIns="0" anchor="t">
            <a:spAutoFit/>
          </a:bodyPr>
          <a:lstStyle/>
          <a:p>
            <a:pPr algn="l">
              <a:lnSpc>
                <a:spcPct val="105000"/>
              </a:lnSpc>
              <a:spcBef>
                <a:spcPts val="0"/>
              </a:spcBef>
              <a:spcAft>
                <a:spcPts val="400"/>
              </a:spcAft>
            </a:pPr>
            <a:r>
              <a:rPr sz="1350" b="1" i="0">
                <a:solidFill>
                  <a:srgbClr val="1B2532"/>
                </a:solidFill>
                <a:latin typeface="Calibri"/>
              </a:rPr>
              <a:t>Transfer learning on MobileNetV2</a:t>
            </a:r>
          </a:p>
          <a:p>
            <a:pPr>
              <a:lnSpc>
                <a:spcPct val="130000"/>
              </a:lnSpc>
              <a:spcBef>
                <a:spcPts val="0"/>
              </a:spcBef>
              <a:spcAft>
                <a:spcPts val="900"/>
              </a:spcAft>
            </a:pPr>
            <a:r>
              <a:rPr sz="1100" b="0" i="0">
                <a:solidFill>
                  <a:srgbClr val="333D4A"/>
                </a:solidFill>
                <a:latin typeface="Calibri"/>
              </a:rPr>
              <a:t>A 53-layer depthwise-separable CNN with inverted residual blocks — chosen because it is small enough to serve on CPU. Custom head: GlobalAveragePooling → Dense(128, ReLU) → Dropout(0.3) → Dense(N, softmax).</a:t>
            </a:r>
          </a:p>
          <a:p>
            <a:pPr>
              <a:lnSpc>
                <a:spcPct val="110000"/>
              </a:lnSpc>
              <a:spcBef>
                <a:spcPts val="0"/>
              </a:spcBef>
              <a:spcAft>
                <a:spcPts val="0"/>
              </a:spcAft>
            </a:pPr>
            <a:r>
              <a:rPr sz="950" b="1">
                <a:solidFill>
                  <a:srgbClr val="0070C0"/>
                </a:solidFill>
                <a:latin typeface="Consolas"/>
              </a:rPr>
              <a:t>Phase 1  frozen backbone, head only, 5 epochs      Phase 2  last 30 layers, LR 1e-5, 5 epochs</a:t>
            </a:r>
          </a:p>
        </p:txBody>
      </p:sp>
      <p:sp>
        <p:nvSpPr>
          <p:cNvPr id="11" name="Rounded Rectangle 10"/>
          <p:cNvSpPr/>
          <p:nvPr/>
        </p:nvSpPr>
        <p:spPr>
          <a:xfrm>
            <a:off x="584200" y="2946400"/>
            <a:ext cx="8915400" cy="1498600"/>
          </a:xfrm>
          <a:prstGeom prst="roundRect">
            <a:avLst>
              <a:gd name="adj" fmla="val 5000"/>
            </a:avLst>
          </a:prstGeom>
          <a:solidFill>
            <a:srgbClr val="FFFFFF"/>
          </a:solidFill>
          <a:ln w="1270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63500" bIns="63500"/>
          <a:lstStyle/>
          <a:p>
            <a:pPr algn="ctr"/>
          </a:p>
        </p:txBody>
      </p:sp>
      <p:sp>
        <p:nvSpPr>
          <p:cNvPr id="12" name="Rectangle 11"/>
          <p:cNvSpPr/>
          <p:nvPr/>
        </p:nvSpPr>
        <p:spPr>
          <a:xfrm>
            <a:off x="584200" y="2946400"/>
            <a:ext cx="63500" cy="1498600"/>
          </a:xfrm>
          <a:prstGeom prst="rect">
            <a:avLst/>
          </a:prstGeom>
          <a:solidFill>
            <a:srgbClr val="1187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63500" bIns="63500"/>
          <a:lstStyle/>
          <a:p>
            <a:pPr algn="ctr"/>
          </a:p>
        </p:txBody>
      </p:sp>
      <p:sp>
        <p:nvSpPr>
          <p:cNvPr id="13" name="TextBox 12"/>
          <p:cNvSpPr txBox="1"/>
          <p:nvPr/>
        </p:nvSpPr>
        <p:spPr>
          <a:xfrm>
            <a:off x="838200" y="3149600"/>
            <a:ext cx="431800" cy="330200"/>
          </a:xfrm>
          <a:prstGeom prst="rect">
            <a:avLst/>
          </a:prstGeom>
          <a:noFill/>
        </p:spPr>
        <p:txBody>
          <a:bodyPr wrap="square" lIns="0" rIns="0" tIns="0" bIns="0" anchor="t">
            <a:spAutoFit/>
          </a:bodyPr>
          <a:lstStyle/>
          <a:p>
            <a:pPr algn="l">
              <a:lnSpc>
                <a:spcPct val="118000"/>
              </a:lnSpc>
              <a:spcBef>
                <a:spcPts val="0"/>
              </a:spcBef>
              <a:spcAft>
                <a:spcPts val="0"/>
              </a:spcAft>
            </a:pPr>
            <a:r>
              <a:rPr sz="1700" b="1" i="0">
                <a:solidFill>
                  <a:srgbClr val="11874E"/>
                </a:solidFill>
                <a:latin typeface="Calibri"/>
              </a:rPr>
              <a:t>02</a:t>
            </a:r>
          </a:p>
        </p:txBody>
      </p:sp>
      <p:sp>
        <p:nvSpPr>
          <p:cNvPr id="14" name="TextBox 13"/>
          <p:cNvSpPr txBox="1"/>
          <p:nvPr/>
        </p:nvSpPr>
        <p:spPr>
          <a:xfrm>
            <a:off x="1295400" y="3149600"/>
            <a:ext cx="7950200" cy="1371600"/>
          </a:xfrm>
          <a:prstGeom prst="rect">
            <a:avLst/>
          </a:prstGeom>
          <a:noFill/>
        </p:spPr>
        <p:txBody>
          <a:bodyPr wrap="square" lIns="0" rIns="0" tIns="0" bIns="0" anchor="t">
            <a:spAutoFit/>
          </a:bodyPr>
          <a:lstStyle/>
          <a:p>
            <a:pPr algn="l">
              <a:lnSpc>
                <a:spcPct val="105000"/>
              </a:lnSpc>
              <a:spcBef>
                <a:spcPts val="0"/>
              </a:spcBef>
              <a:spcAft>
                <a:spcPts val="400"/>
              </a:spcAft>
            </a:pPr>
            <a:r>
              <a:rPr sz="1350" b="1" i="0">
                <a:solidFill>
                  <a:srgbClr val="1B2532"/>
                </a:solidFill>
                <a:latin typeface="Calibri"/>
              </a:rPr>
              <a:t>Pseudo-labelling with classical computer vision</a:t>
            </a:r>
          </a:p>
          <a:p>
            <a:pPr>
              <a:lnSpc>
                <a:spcPct val="130000"/>
              </a:lnSpc>
              <a:spcBef>
                <a:spcPts val="0"/>
              </a:spcBef>
              <a:spcAft>
                <a:spcPts val="900"/>
              </a:spcAft>
            </a:pPr>
            <a:r>
              <a:rPr sz="1100" b="0" i="0">
                <a:solidFill>
                  <a:srgbClr val="333D4A"/>
                </a:solidFill>
                <a:latin typeface="Calibri"/>
              </a:rPr>
              <a:t>The dataset had only two labels; five were needed. Each image is converted to HSV, the fruit is separated from the background with the saturation channel, and brown/decayed pixels are masked inside it.</a:t>
            </a:r>
          </a:p>
          <a:p>
            <a:pPr>
              <a:lnSpc>
                <a:spcPct val="110000"/>
              </a:lnSpc>
              <a:spcBef>
                <a:spcPts val="0"/>
              </a:spcBef>
              <a:spcAft>
                <a:spcPts val="0"/>
              </a:spcAft>
            </a:pPr>
            <a:r>
              <a:rPr sz="950" b="1">
                <a:solidFill>
                  <a:srgbClr val="11874E"/>
                </a:solidFill>
                <a:latin typeface="Consolas"/>
              </a:rPr>
              <a:t>decay_score = decayed px / fruit px × 100   -&gt;   bucketed per fruit type into 5 levels</a:t>
            </a:r>
          </a:p>
        </p:txBody>
      </p:sp>
      <p:sp>
        <p:nvSpPr>
          <p:cNvPr id="15" name="Rounded Rectangle 14"/>
          <p:cNvSpPr/>
          <p:nvPr/>
        </p:nvSpPr>
        <p:spPr>
          <a:xfrm>
            <a:off x="584200" y="4622800"/>
            <a:ext cx="8915400" cy="1498600"/>
          </a:xfrm>
          <a:prstGeom prst="roundRect">
            <a:avLst>
              <a:gd name="adj" fmla="val 5000"/>
            </a:avLst>
          </a:prstGeom>
          <a:solidFill>
            <a:srgbClr val="FFFFFF"/>
          </a:solidFill>
          <a:ln w="1270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63500" bIns="63500"/>
          <a:lstStyle/>
          <a:p>
            <a:pPr algn="ctr"/>
          </a:p>
        </p:txBody>
      </p:sp>
      <p:sp>
        <p:nvSpPr>
          <p:cNvPr id="16" name="Rectangle 15"/>
          <p:cNvSpPr/>
          <p:nvPr/>
        </p:nvSpPr>
        <p:spPr>
          <a:xfrm>
            <a:off x="584200" y="4622800"/>
            <a:ext cx="63500" cy="1498600"/>
          </a:xfrm>
          <a:prstGeom prst="rect">
            <a:avLst/>
          </a:prstGeom>
          <a:solidFill>
            <a:srgbClr val="C27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63500" bIns="63500"/>
          <a:lstStyle/>
          <a:p>
            <a:pPr algn="ctr"/>
          </a:p>
        </p:txBody>
      </p:sp>
      <p:sp>
        <p:nvSpPr>
          <p:cNvPr id="17" name="TextBox 16"/>
          <p:cNvSpPr txBox="1"/>
          <p:nvPr/>
        </p:nvSpPr>
        <p:spPr>
          <a:xfrm>
            <a:off x="838200" y="4826000"/>
            <a:ext cx="431800" cy="330200"/>
          </a:xfrm>
          <a:prstGeom prst="rect">
            <a:avLst/>
          </a:prstGeom>
          <a:noFill/>
        </p:spPr>
        <p:txBody>
          <a:bodyPr wrap="square" lIns="0" rIns="0" tIns="0" bIns="0" anchor="t">
            <a:spAutoFit/>
          </a:bodyPr>
          <a:lstStyle/>
          <a:p>
            <a:pPr algn="l">
              <a:lnSpc>
                <a:spcPct val="118000"/>
              </a:lnSpc>
              <a:spcBef>
                <a:spcPts val="0"/>
              </a:spcBef>
              <a:spcAft>
                <a:spcPts val="0"/>
              </a:spcAft>
            </a:pPr>
            <a:r>
              <a:rPr sz="1700" b="1" i="0">
                <a:solidFill>
                  <a:srgbClr val="C2710C"/>
                </a:solidFill>
                <a:latin typeface="Calibri"/>
              </a:rPr>
              <a:t>03</a:t>
            </a:r>
          </a:p>
        </p:txBody>
      </p:sp>
      <p:sp>
        <p:nvSpPr>
          <p:cNvPr id="18" name="TextBox 17"/>
          <p:cNvSpPr txBox="1"/>
          <p:nvPr/>
        </p:nvSpPr>
        <p:spPr>
          <a:xfrm>
            <a:off x="1295400" y="4826000"/>
            <a:ext cx="7950200" cy="1371600"/>
          </a:xfrm>
          <a:prstGeom prst="rect">
            <a:avLst/>
          </a:prstGeom>
          <a:noFill/>
        </p:spPr>
        <p:txBody>
          <a:bodyPr wrap="square" lIns="0" rIns="0" tIns="0" bIns="0" anchor="t">
            <a:spAutoFit/>
          </a:bodyPr>
          <a:lstStyle/>
          <a:p>
            <a:pPr algn="l">
              <a:lnSpc>
                <a:spcPct val="105000"/>
              </a:lnSpc>
              <a:spcBef>
                <a:spcPts val="0"/>
              </a:spcBef>
              <a:spcAft>
                <a:spcPts val="400"/>
              </a:spcAft>
            </a:pPr>
            <a:r>
              <a:rPr sz="1350" b="1" i="0">
                <a:solidFill>
                  <a:srgbClr val="1B2532"/>
                </a:solidFill>
                <a:latin typeface="Calibri"/>
              </a:rPr>
              <a:t>Calibration and guardrails at inference</a:t>
            </a:r>
          </a:p>
          <a:p>
            <a:pPr>
              <a:lnSpc>
                <a:spcPct val="130000"/>
              </a:lnSpc>
              <a:spcBef>
                <a:spcPts val="0"/>
              </a:spcBef>
              <a:spcAft>
                <a:spcPts val="900"/>
              </a:spcAft>
            </a:pPr>
            <a:r>
              <a:rPr sz="1100" b="0" i="0">
                <a:solidFill>
                  <a:srgbClr val="333D4A"/>
                </a:solidFill>
                <a:latin typeface="Calibri"/>
              </a:rPr>
              <a:t>The freshness head over-predicted “slightly rotten” and almost never fired “very rotten”. Fixed multipliers reweight it and the distribution is renormalised, so probabilities still sum to 1.</a:t>
            </a:r>
          </a:p>
          <a:p>
            <a:pPr>
              <a:lnSpc>
                <a:spcPct val="110000"/>
              </a:lnSpc>
              <a:spcBef>
                <a:spcPts val="0"/>
              </a:spcBef>
              <a:spcAft>
                <a:spcPts val="0"/>
              </a:spcAft>
            </a:pPr>
            <a:r>
              <a:rPr sz="950" b="1">
                <a:solidFill>
                  <a:srgbClr val="C2710C"/>
                </a:solidFill>
                <a:latin typeface="Consolas"/>
              </a:rPr>
              <a:t>slightly_rotten x0.3   rotten x1.5   very_rotten x2.5      ID floor 65%      gatekeeper floor 20%</a:t>
            </a:r>
          </a:p>
        </p:txBody>
      </p:sp>
      <p:sp>
        <p:nvSpPr>
          <p:cNvPr id="19" name="TextBox 18"/>
          <p:cNvSpPr txBox="1"/>
          <p:nvPr/>
        </p:nvSpPr>
        <p:spPr>
          <a:xfrm>
            <a:off x="584200" y="6477000"/>
            <a:ext cx="8915400" cy="279400"/>
          </a:xfrm>
          <a:prstGeom prst="rect">
            <a:avLst/>
          </a:prstGeom>
          <a:noFill/>
        </p:spPr>
        <p:txBody>
          <a:bodyPr wrap="square" lIns="0" rIns="0" tIns="0" bIns="0" anchor="t">
            <a:spAutoFit/>
          </a:bodyPr>
          <a:lstStyle/>
          <a:p>
            <a:pPr algn="l">
              <a:lnSpc>
                <a:spcPct val="118000"/>
              </a:lnSpc>
              <a:spcBef>
                <a:spcPts val="0"/>
              </a:spcBef>
              <a:spcAft>
                <a:spcPts val="0"/>
              </a:spcAft>
            </a:pPr>
            <a:r>
              <a:rPr sz="1100" b="1">
                <a:solidFill>
                  <a:srgbClr val="0070C0"/>
                </a:solidFill>
                <a:latin typeface="Calibri"/>
              </a:rPr>
              <a:t>Stack   </a:t>
            </a:r>
            <a:r>
              <a:rPr sz="1100" b="0">
                <a:solidFill>
                  <a:srgbClr val="333D4A"/>
                </a:solidFill>
                <a:latin typeface="Calibri"/>
              </a:rPr>
              <a:t>Python  ·  TensorFlow / Keras  ·  NumPy  ·  Pillow  ·  FastAPI  ·  Uvicorn  ·  React 19  ·  Vite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4200" y="406400"/>
            <a:ext cx="8915400" cy="431800"/>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0070C0"/>
                </a:solidFill>
                <a:latin typeface="Calibri"/>
              </a:rPr>
              <a:t>RESULTS &amp; DISCUSSION</a:t>
            </a:r>
          </a:p>
        </p:txBody>
      </p:sp>
      <p:cxnSp>
        <p:nvCxnSpPr>
          <p:cNvPr id="3" name="Connector 2"/>
          <p:cNvCxnSpPr/>
          <p:nvPr/>
        </p:nvCxnSpPr>
        <p:spPr>
          <a:xfrm>
            <a:off x="584200" y="901700"/>
            <a:ext cx="8915400" cy="0"/>
          </a:xfrm>
          <a:prstGeom prst="line">
            <a:avLst/>
          </a:prstGeom>
          <a:ln w="25400">
            <a:solidFill>
              <a:srgbClr val="0070C0"/>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584200" y="7086600"/>
            <a:ext cx="8915400" cy="0"/>
          </a:xfrm>
          <a:prstGeom prst="line">
            <a:avLst/>
          </a:prstGeom>
          <a:ln w="9525">
            <a:solidFill>
              <a:srgbClr val="D8DEE5"/>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84200" y="7188200"/>
            <a:ext cx="6240780" cy="177800"/>
          </a:xfrm>
          <a:prstGeom prst="rect">
            <a:avLst/>
          </a:prstGeom>
          <a:noFill/>
        </p:spPr>
        <p:txBody>
          <a:bodyPr wrap="square" lIns="0" rIns="0" tIns="0" bIns="0" anchor="t">
            <a:spAutoFit/>
          </a:bodyPr>
          <a:lstStyle/>
          <a:p>
            <a:pPr algn="l">
              <a:lnSpc>
                <a:spcPct val="118000"/>
              </a:lnSpc>
              <a:spcBef>
                <a:spcPts val="0"/>
              </a:spcBef>
              <a:spcAft>
                <a:spcPts val="0"/>
              </a:spcAft>
            </a:pPr>
            <a:r>
              <a:rPr sz="850" b="0" i="0">
                <a:solidFill>
                  <a:srgbClr val="6B7784"/>
                </a:solidFill>
                <a:latin typeface="Calibri"/>
              </a:rPr>
              <a:t>Fresh Vision  ·  Practice School-II  ·  SOET, BML Munjal University</a:t>
            </a:r>
          </a:p>
        </p:txBody>
      </p:sp>
      <p:sp>
        <p:nvSpPr>
          <p:cNvPr id="6" name="TextBox 5"/>
          <p:cNvSpPr txBox="1"/>
          <p:nvPr/>
        </p:nvSpPr>
        <p:spPr>
          <a:xfrm>
            <a:off x="8737600" y="7188200"/>
            <a:ext cx="762000" cy="177800"/>
          </a:xfrm>
          <a:prstGeom prst="rect">
            <a:avLst/>
          </a:prstGeom>
          <a:noFill/>
        </p:spPr>
        <p:txBody>
          <a:bodyPr wrap="square" lIns="0" rIns="0" tIns="0" bIns="0" anchor="t">
            <a:spAutoFit/>
          </a:bodyPr>
          <a:lstStyle/>
          <a:p>
            <a:pPr algn="r">
              <a:lnSpc>
                <a:spcPct val="118000"/>
              </a:lnSpc>
              <a:spcBef>
                <a:spcPts val="0"/>
              </a:spcBef>
              <a:spcAft>
                <a:spcPts val="0"/>
              </a:spcAft>
            </a:pPr>
            <a:r>
              <a:rPr sz="850" b="1" i="0">
                <a:solidFill>
                  <a:srgbClr val="0070C0"/>
                </a:solidFill>
                <a:latin typeface="Calibri"/>
              </a:rPr>
              <a:t>8</a:t>
            </a:r>
          </a:p>
        </p:txBody>
      </p:sp>
      <p:sp>
        <p:nvSpPr>
          <p:cNvPr id="7" name="Rounded Rectangle 6"/>
          <p:cNvSpPr/>
          <p:nvPr/>
        </p:nvSpPr>
        <p:spPr>
          <a:xfrm>
            <a:off x="584200" y="1320800"/>
            <a:ext cx="3810000" cy="2870200"/>
          </a:xfrm>
          <a:prstGeom prst="roundRect">
            <a:avLst>
              <a:gd name="adj" fmla="val 5000"/>
            </a:avLst>
          </a:prstGeom>
          <a:solidFill>
            <a:srgbClr val="FFFFFF"/>
          </a:solidFill>
          <a:ln w="1270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63500" bIns="63500"/>
          <a:lstStyle/>
          <a:p>
            <a:pPr algn="ctr"/>
          </a:p>
        </p:txBody>
      </p:sp>
      <p:sp>
        <p:nvSpPr>
          <p:cNvPr id="8" name="TextBox 7"/>
          <p:cNvSpPr txBox="1"/>
          <p:nvPr/>
        </p:nvSpPr>
        <p:spPr>
          <a:xfrm>
            <a:off x="787400" y="1485900"/>
            <a:ext cx="3403600" cy="330200"/>
          </a:xfrm>
          <a:prstGeom prst="rect">
            <a:avLst/>
          </a:prstGeom>
          <a:noFill/>
        </p:spPr>
        <p:txBody>
          <a:bodyPr wrap="square" lIns="0" rIns="0" tIns="0" bIns="0" anchor="t">
            <a:spAutoFit/>
          </a:bodyPr>
          <a:lstStyle/>
          <a:p>
            <a:pPr algn="l">
              <a:lnSpc>
                <a:spcPct val="118000"/>
              </a:lnSpc>
              <a:spcBef>
                <a:spcPts val="0"/>
              </a:spcBef>
              <a:spcAft>
                <a:spcPts val="0"/>
              </a:spcAft>
            </a:pPr>
            <a:r>
              <a:rPr sz="900" b="1" i="0">
                <a:solidFill>
                  <a:srgbClr val="0070C0"/>
                </a:solidFill>
                <a:latin typeface="Calibri"/>
              </a:rPr>
              <a:t>FRESHNESS CLASSIFIER — VALIDATION ACCURACY</a:t>
            </a:r>
          </a:p>
        </p:txBody>
      </p:sp>
      <p:cxnSp>
        <p:nvCxnSpPr>
          <p:cNvPr id="9" name="Connector 8"/>
          <p:cNvCxnSpPr/>
          <p:nvPr/>
        </p:nvCxnSpPr>
        <p:spPr>
          <a:xfrm>
            <a:off x="1143000" y="3098800"/>
            <a:ext cx="2946400" cy="0"/>
          </a:xfrm>
          <a:prstGeom prst="line">
            <a:avLst/>
          </a:prstGeom>
          <a:ln w="11430">
            <a:solidFill>
              <a:srgbClr val="333D4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736600" y="3022600"/>
            <a:ext cx="355600" cy="152400"/>
          </a:xfrm>
          <a:prstGeom prst="rect">
            <a:avLst/>
          </a:prstGeom>
          <a:noFill/>
        </p:spPr>
        <p:txBody>
          <a:bodyPr wrap="square" lIns="0" rIns="0" tIns="0" bIns="0" anchor="t">
            <a:spAutoFit/>
          </a:bodyPr>
          <a:lstStyle/>
          <a:p>
            <a:pPr algn="r">
              <a:lnSpc>
                <a:spcPct val="118000"/>
              </a:lnSpc>
              <a:spcBef>
                <a:spcPts val="0"/>
              </a:spcBef>
              <a:spcAft>
                <a:spcPts val="0"/>
              </a:spcAft>
            </a:pPr>
            <a:r>
              <a:rPr sz="750" b="0" i="0">
                <a:solidFill>
                  <a:srgbClr val="6B7784"/>
                </a:solidFill>
                <a:latin typeface="Calibri"/>
              </a:rPr>
              <a:t>0</a:t>
            </a:r>
          </a:p>
        </p:txBody>
      </p:sp>
      <p:cxnSp>
        <p:nvCxnSpPr>
          <p:cNvPr id="11" name="Connector 10"/>
          <p:cNvCxnSpPr/>
          <p:nvPr/>
        </p:nvCxnSpPr>
        <p:spPr>
          <a:xfrm>
            <a:off x="1143000" y="2781300"/>
            <a:ext cx="2946400" cy="0"/>
          </a:xfrm>
          <a:prstGeom prst="line">
            <a:avLst/>
          </a:prstGeom>
          <a:ln w="7620">
            <a:solidFill>
              <a:srgbClr val="E8ECF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36600" y="2705100"/>
            <a:ext cx="355600" cy="152400"/>
          </a:xfrm>
          <a:prstGeom prst="rect">
            <a:avLst/>
          </a:prstGeom>
          <a:noFill/>
        </p:spPr>
        <p:txBody>
          <a:bodyPr wrap="square" lIns="0" rIns="0" tIns="0" bIns="0" anchor="t">
            <a:spAutoFit/>
          </a:bodyPr>
          <a:lstStyle/>
          <a:p>
            <a:pPr algn="r">
              <a:lnSpc>
                <a:spcPct val="118000"/>
              </a:lnSpc>
              <a:spcBef>
                <a:spcPts val="0"/>
              </a:spcBef>
              <a:spcAft>
                <a:spcPts val="0"/>
              </a:spcAft>
            </a:pPr>
            <a:r>
              <a:rPr sz="750" b="0" i="0">
                <a:solidFill>
                  <a:srgbClr val="6B7784"/>
                </a:solidFill>
                <a:latin typeface="Calibri"/>
              </a:rPr>
              <a:t>25</a:t>
            </a:r>
          </a:p>
        </p:txBody>
      </p:sp>
      <p:cxnSp>
        <p:nvCxnSpPr>
          <p:cNvPr id="13" name="Connector 12"/>
          <p:cNvCxnSpPr/>
          <p:nvPr/>
        </p:nvCxnSpPr>
        <p:spPr>
          <a:xfrm>
            <a:off x="1143000" y="2463800"/>
            <a:ext cx="2946400" cy="0"/>
          </a:xfrm>
          <a:prstGeom prst="line">
            <a:avLst/>
          </a:prstGeom>
          <a:ln w="7620">
            <a:solidFill>
              <a:srgbClr val="E8ECF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36600" y="2387600"/>
            <a:ext cx="355600" cy="152400"/>
          </a:xfrm>
          <a:prstGeom prst="rect">
            <a:avLst/>
          </a:prstGeom>
          <a:noFill/>
        </p:spPr>
        <p:txBody>
          <a:bodyPr wrap="square" lIns="0" rIns="0" tIns="0" bIns="0" anchor="t">
            <a:spAutoFit/>
          </a:bodyPr>
          <a:lstStyle/>
          <a:p>
            <a:pPr algn="r">
              <a:lnSpc>
                <a:spcPct val="118000"/>
              </a:lnSpc>
              <a:spcBef>
                <a:spcPts val="0"/>
              </a:spcBef>
              <a:spcAft>
                <a:spcPts val="0"/>
              </a:spcAft>
            </a:pPr>
            <a:r>
              <a:rPr sz="750" b="0" i="0">
                <a:solidFill>
                  <a:srgbClr val="6B7784"/>
                </a:solidFill>
                <a:latin typeface="Calibri"/>
              </a:rPr>
              <a:t>50</a:t>
            </a:r>
          </a:p>
        </p:txBody>
      </p:sp>
      <p:cxnSp>
        <p:nvCxnSpPr>
          <p:cNvPr id="15" name="Connector 14"/>
          <p:cNvCxnSpPr/>
          <p:nvPr/>
        </p:nvCxnSpPr>
        <p:spPr>
          <a:xfrm>
            <a:off x="1143000" y="2146300"/>
            <a:ext cx="2946400" cy="0"/>
          </a:xfrm>
          <a:prstGeom prst="line">
            <a:avLst/>
          </a:prstGeom>
          <a:ln w="7620">
            <a:solidFill>
              <a:srgbClr val="E8ECF0"/>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736600" y="2070100"/>
            <a:ext cx="355600" cy="152400"/>
          </a:xfrm>
          <a:prstGeom prst="rect">
            <a:avLst/>
          </a:prstGeom>
          <a:noFill/>
        </p:spPr>
        <p:txBody>
          <a:bodyPr wrap="square" lIns="0" rIns="0" tIns="0" bIns="0" anchor="t">
            <a:spAutoFit/>
          </a:bodyPr>
          <a:lstStyle/>
          <a:p>
            <a:pPr algn="r">
              <a:lnSpc>
                <a:spcPct val="118000"/>
              </a:lnSpc>
              <a:spcBef>
                <a:spcPts val="0"/>
              </a:spcBef>
              <a:spcAft>
                <a:spcPts val="0"/>
              </a:spcAft>
            </a:pPr>
            <a:r>
              <a:rPr sz="750" b="0" i="0">
                <a:solidFill>
                  <a:srgbClr val="6B7784"/>
                </a:solidFill>
                <a:latin typeface="Calibri"/>
              </a:rPr>
              <a:t>75</a:t>
            </a:r>
          </a:p>
        </p:txBody>
      </p:sp>
      <p:cxnSp>
        <p:nvCxnSpPr>
          <p:cNvPr id="17" name="Connector 16"/>
          <p:cNvCxnSpPr/>
          <p:nvPr/>
        </p:nvCxnSpPr>
        <p:spPr>
          <a:xfrm>
            <a:off x="1143000" y="1828800"/>
            <a:ext cx="2946400" cy="0"/>
          </a:xfrm>
          <a:prstGeom prst="line">
            <a:avLst/>
          </a:prstGeom>
          <a:ln w="7620">
            <a:solidFill>
              <a:srgbClr val="E8ECF0"/>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36600" y="1752600"/>
            <a:ext cx="355600" cy="152400"/>
          </a:xfrm>
          <a:prstGeom prst="rect">
            <a:avLst/>
          </a:prstGeom>
          <a:noFill/>
        </p:spPr>
        <p:txBody>
          <a:bodyPr wrap="square" lIns="0" rIns="0" tIns="0" bIns="0" anchor="t">
            <a:spAutoFit/>
          </a:bodyPr>
          <a:lstStyle/>
          <a:p>
            <a:pPr algn="r">
              <a:lnSpc>
                <a:spcPct val="118000"/>
              </a:lnSpc>
              <a:spcBef>
                <a:spcPts val="0"/>
              </a:spcBef>
              <a:spcAft>
                <a:spcPts val="0"/>
              </a:spcAft>
            </a:pPr>
            <a:r>
              <a:rPr sz="750" b="0" i="0">
                <a:solidFill>
                  <a:srgbClr val="6B7784"/>
                </a:solidFill>
                <a:latin typeface="Calibri"/>
              </a:rPr>
              <a:t>100</a:t>
            </a:r>
          </a:p>
        </p:txBody>
      </p:sp>
      <p:sp>
        <p:nvSpPr>
          <p:cNvPr id="19" name="Rectangle 18"/>
          <p:cNvSpPr/>
          <p:nvPr/>
        </p:nvSpPr>
        <p:spPr>
          <a:xfrm>
            <a:off x="1574800" y="2110740"/>
            <a:ext cx="787400" cy="988060"/>
          </a:xfrm>
          <a:prstGeom prst="rect">
            <a:avLst/>
          </a:prstGeom>
          <a:solidFill>
            <a:srgbClr val="8FB7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63500" bIns="63500"/>
          <a:lstStyle/>
          <a:p>
            <a:pPr algn="ctr"/>
          </a:p>
        </p:txBody>
      </p:sp>
      <p:sp>
        <p:nvSpPr>
          <p:cNvPr id="20" name="TextBox 19"/>
          <p:cNvSpPr txBox="1"/>
          <p:nvPr/>
        </p:nvSpPr>
        <p:spPr>
          <a:xfrm>
            <a:off x="1346200" y="1882139"/>
            <a:ext cx="1244600" cy="190500"/>
          </a:xfrm>
          <a:prstGeom prst="rect">
            <a:avLst/>
          </a:prstGeom>
          <a:noFill/>
        </p:spPr>
        <p:txBody>
          <a:bodyPr wrap="square" lIns="0" rIns="0" tIns="0" bIns="0" anchor="t">
            <a:spAutoFit/>
          </a:bodyPr>
          <a:lstStyle/>
          <a:p>
            <a:pPr algn="ctr">
              <a:lnSpc>
                <a:spcPct val="118000"/>
              </a:lnSpc>
              <a:spcBef>
                <a:spcPts val="0"/>
              </a:spcBef>
              <a:spcAft>
                <a:spcPts val="0"/>
              </a:spcAft>
            </a:pPr>
            <a:r>
              <a:rPr sz="1250" b="1" i="0">
                <a:solidFill>
                  <a:srgbClr val="1B2532"/>
                </a:solidFill>
                <a:latin typeface="Calibri"/>
              </a:rPr>
              <a:t>77.8%</a:t>
            </a:r>
          </a:p>
        </p:txBody>
      </p:sp>
      <p:sp>
        <p:nvSpPr>
          <p:cNvPr id="21" name="TextBox 20"/>
          <p:cNvSpPr txBox="1"/>
          <p:nvPr/>
        </p:nvSpPr>
        <p:spPr>
          <a:xfrm>
            <a:off x="1320800" y="3175000"/>
            <a:ext cx="1295400" cy="330200"/>
          </a:xfrm>
          <a:prstGeom prst="rect">
            <a:avLst/>
          </a:prstGeom>
          <a:noFill/>
        </p:spPr>
        <p:txBody>
          <a:bodyPr wrap="square" lIns="0" rIns="0" tIns="0" bIns="0" anchor="t">
            <a:spAutoFit/>
          </a:bodyPr>
          <a:lstStyle/>
          <a:p>
            <a:pPr algn="ctr">
              <a:lnSpc>
                <a:spcPct val="105000"/>
              </a:lnSpc>
              <a:spcBef>
                <a:spcPts val="0"/>
              </a:spcBef>
              <a:spcAft>
                <a:spcPts val="100"/>
              </a:spcAft>
            </a:pPr>
            <a:r>
              <a:rPr sz="950" b="1" i="0">
                <a:solidFill>
                  <a:srgbClr val="1B2532"/>
                </a:solidFill>
                <a:latin typeface="Calibri"/>
              </a:rPr>
              <a:t>Phase 1</a:t>
            </a:r>
          </a:p>
          <a:p>
            <a:pPr algn="ctr">
              <a:lnSpc>
                <a:spcPct val="105000"/>
              </a:lnSpc>
              <a:spcBef>
                <a:spcPts val="0"/>
              </a:spcBef>
              <a:spcAft>
                <a:spcPts val="0"/>
              </a:spcAft>
            </a:pPr>
            <a:r>
              <a:rPr sz="850" b="0" i="0">
                <a:solidFill>
                  <a:srgbClr val="6B7784"/>
                </a:solidFill>
                <a:latin typeface="Calibri"/>
              </a:rPr>
              <a:t>backbone frozen</a:t>
            </a:r>
          </a:p>
        </p:txBody>
      </p:sp>
      <p:sp>
        <p:nvSpPr>
          <p:cNvPr id="22" name="Rectangle 21"/>
          <p:cNvSpPr/>
          <p:nvPr/>
        </p:nvSpPr>
        <p:spPr>
          <a:xfrm>
            <a:off x="2971800" y="2077720"/>
            <a:ext cx="787400" cy="102108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63500" bIns="63500"/>
          <a:lstStyle/>
          <a:p>
            <a:pPr algn="ctr"/>
          </a:p>
        </p:txBody>
      </p:sp>
      <p:sp>
        <p:nvSpPr>
          <p:cNvPr id="23" name="TextBox 22"/>
          <p:cNvSpPr txBox="1"/>
          <p:nvPr/>
        </p:nvSpPr>
        <p:spPr>
          <a:xfrm>
            <a:off x="2743200" y="1849120"/>
            <a:ext cx="1244600" cy="190500"/>
          </a:xfrm>
          <a:prstGeom prst="rect">
            <a:avLst/>
          </a:prstGeom>
          <a:noFill/>
        </p:spPr>
        <p:txBody>
          <a:bodyPr wrap="square" lIns="0" rIns="0" tIns="0" bIns="0" anchor="t">
            <a:spAutoFit/>
          </a:bodyPr>
          <a:lstStyle/>
          <a:p>
            <a:pPr algn="ctr">
              <a:lnSpc>
                <a:spcPct val="118000"/>
              </a:lnSpc>
              <a:spcBef>
                <a:spcPts val="0"/>
              </a:spcBef>
              <a:spcAft>
                <a:spcPts val="0"/>
              </a:spcAft>
            </a:pPr>
            <a:r>
              <a:rPr sz="1250" b="1" i="0">
                <a:solidFill>
                  <a:srgbClr val="0070C0"/>
                </a:solidFill>
                <a:latin typeface="Calibri"/>
              </a:rPr>
              <a:t>80.4%</a:t>
            </a:r>
          </a:p>
        </p:txBody>
      </p:sp>
      <p:sp>
        <p:nvSpPr>
          <p:cNvPr id="24" name="TextBox 23"/>
          <p:cNvSpPr txBox="1"/>
          <p:nvPr/>
        </p:nvSpPr>
        <p:spPr>
          <a:xfrm>
            <a:off x="2717800" y="3175000"/>
            <a:ext cx="1295400" cy="330200"/>
          </a:xfrm>
          <a:prstGeom prst="rect">
            <a:avLst/>
          </a:prstGeom>
          <a:noFill/>
        </p:spPr>
        <p:txBody>
          <a:bodyPr wrap="square" lIns="0" rIns="0" tIns="0" bIns="0" anchor="t">
            <a:spAutoFit/>
          </a:bodyPr>
          <a:lstStyle/>
          <a:p>
            <a:pPr algn="ctr">
              <a:lnSpc>
                <a:spcPct val="105000"/>
              </a:lnSpc>
              <a:spcBef>
                <a:spcPts val="0"/>
              </a:spcBef>
              <a:spcAft>
                <a:spcPts val="100"/>
              </a:spcAft>
            </a:pPr>
            <a:r>
              <a:rPr sz="950" b="1" i="0">
                <a:solidFill>
                  <a:srgbClr val="1B2532"/>
                </a:solidFill>
                <a:latin typeface="Calibri"/>
              </a:rPr>
              <a:t>Phase 2</a:t>
            </a:r>
          </a:p>
          <a:p>
            <a:pPr algn="ctr">
              <a:lnSpc>
                <a:spcPct val="105000"/>
              </a:lnSpc>
              <a:spcBef>
                <a:spcPts val="0"/>
              </a:spcBef>
              <a:spcAft>
                <a:spcPts val="0"/>
              </a:spcAft>
            </a:pPr>
            <a:r>
              <a:rPr sz="850" b="0" i="0">
                <a:solidFill>
                  <a:srgbClr val="6B7784"/>
                </a:solidFill>
                <a:latin typeface="Calibri"/>
              </a:rPr>
              <a:t>fine-tuned</a:t>
            </a:r>
          </a:p>
        </p:txBody>
      </p:sp>
      <p:sp>
        <p:nvSpPr>
          <p:cNvPr id="25" name="Rounded Rectangle 24"/>
          <p:cNvSpPr/>
          <p:nvPr/>
        </p:nvSpPr>
        <p:spPr>
          <a:xfrm>
            <a:off x="787400" y="3683000"/>
            <a:ext cx="3403600" cy="355600"/>
          </a:xfrm>
          <a:prstGeom prst="roundRect">
            <a:avLst>
              <a:gd name="adj" fmla="val 20000"/>
            </a:avLst>
          </a:prstGeom>
          <a:solidFill>
            <a:srgbClr val="EEF7F1"/>
          </a:solidFill>
          <a:ln w="12700">
            <a:solidFill>
              <a:srgbClr val="11874E"/>
            </a:solid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63500" bIns="63500"/>
          <a:lstStyle/>
          <a:p>
            <a:pPr algn="ctr"/>
          </a:p>
        </p:txBody>
      </p:sp>
      <p:sp>
        <p:nvSpPr>
          <p:cNvPr id="26" name="TextBox 25"/>
          <p:cNvSpPr txBox="1"/>
          <p:nvPr/>
        </p:nvSpPr>
        <p:spPr>
          <a:xfrm>
            <a:off x="787400" y="3771900"/>
            <a:ext cx="3403600" cy="203200"/>
          </a:xfrm>
          <a:prstGeom prst="rect">
            <a:avLst/>
          </a:prstGeom>
          <a:noFill/>
        </p:spPr>
        <p:txBody>
          <a:bodyPr wrap="square" lIns="0" rIns="0" tIns="0" bIns="0" anchor="t">
            <a:spAutoFit/>
          </a:bodyPr>
          <a:lstStyle/>
          <a:p>
            <a:pPr algn="ctr">
              <a:lnSpc>
                <a:spcPct val="118000"/>
              </a:lnSpc>
              <a:spcBef>
                <a:spcPts val="0"/>
              </a:spcBef>
              <a:spcAft>
                <a:spcPts val="0"/>
              </a:spcAft>
            </a:pPr>
            <a:r>
              <a:rPr sz="950" b="1">
                <a:solidFill>
                  <a:srgbClr val="11874E"/>
                </a:solidFill>
                <a:latin typeface="Calibri"/>
              </a:rPr>
              <a:t>+2.6 points</a:t>
            </a:r>
            <a:r>
              <a:rPr sz="950" b="0">
                <a:solidFill>
                  <a:srgbClr val="333D4A"/>
                </a:solidFill>
                <a:latin typeface="Calibri"/>
              </a:rPr>
              <a:t>  from unfreezing the last 30 layers</a:t>
            </a:r>
          </a:p>
        </p:txBody>
      </p:sp>
      <p:sp>
        <p:nvSpPr>
          <p:cNvPr id="27" name="TextBox 26"/>
          <p:cNvSpPr txBox="1"/>
          <p:nvPr/>
        </p:nvSpPr>
        <p:spPr>
          <a:xfrm>
            <a:off x="4622800" y="1143000"/>
            <a:ext cx="4876800" cy="177800"/>
          </a:xfrm>
          <a:prstGeom prst="rect">
            <a:avLst/>
          </a:prstGeom>
          <a:noFill/>
        </p:spPr>
        <p:txBody>
          <a:bodyPr wrap="square" lIns="0" rIns="0" tIns="0" bIns="0" anchor="t">
            <a:spAutoFit/>
          </a:bodyPr>
          <a:lstStyle/>
          <a:p>
            <a:pPr algn="l">
              <a:lnSpc>
                <a:spcPct val="118000"/>
              </a:lnSpc>
              <a:spcBef>
                <a:spcPts val="0"/>
              </a:spcBef>
              <a:spcAft>
                <a:spcPts val="0"/>
              </a:spcAft>
            </a:pPr>
            <a:r>
              <a:rPr sz="900" b="1">
                <a:solidFill>
                  <a:srgbClr val="11874E"/>
                </a:solidFill>
                <a:latin typeface="Calibri"/>
              </a:rPr>
              <a:t>LIVE RUN  </a:t>
            </a:r>
            <a:r>
              <a:rPr sz="900" b="0">
                <a:solidFill>
                  <a:srgbClr val="6B7784"/>
                </a:solidFill>
                <a:latin typeface="Calibri"/>
              </a:rPr>
              <a:t>— the gatekeeper rejecting a non-produce image</a:t>
            </a:r>
          </a:p>
        </p:txBody>
      </p:sp>
      <p:pic>
        <p:nvPicPr>
          <p:cNvPr id="28" name="Picture 27" descr="res_rejected.png"/>
          <p:cNvPicPr>
            <a:picLocks noChangeAspect="1"/>
          </p:cNvPicPr>
          <p:nvPr/>
        </p:nvPicPr>
        <p:blipFill>
          <a:blip r:embed="rId2"/>
          <a:stretch>
            <a:fillRect/>
          </a:stretch>
        </p:blipFill>
        <p:spPr>
          <a:xfrm>
            <a:off x="5118669" y="1320800"/>
            <a:ext cx="3885061" cy="2870200"/>
          </a:xfrm>
          <a:prstGeom prst="rect">
            <a:avLst/>
          </a:prstGeom>
          <a:ln w="9525">
            <a:solidFill>
              <a:srgbClr val="D8DEE5"/>
            </a:solidFill>
          </a:ln>
        </p:spPr>
      </p:pic>
      <p:sp>
        <p:nvSpPr>
          <p:cNvPr id="29" name="Rounded Rectangle 28"/>
          <p:cNvSpPr/>
          <p:nvPr/>
        </p:nvSpPr>
        <p:spPr>
          <a:xfrm>
            <a:off x="584200" y="4394200"/>
            <a:ext cx="1681480" cy="812800"/>
          </a:xfrm>
          <a:prstGeom prst="roundRect">
            <a:avLst>
              <a:gd name="adj" fmla="val 9000"/>
            </a:avLst>
          </a:prstGeom>
          <a:solidFill>
            <a:srgbClr val="F2F6FA"/>
          </a:solidFill>
          <a:ln w="12700">
            <a:solidFill>
              <a:srgbClr val="C7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63500" bIns="63500"/>
          <a:lstStyle/>
          <a:p>
            <a:pPr algn="ctr"/>
          </a:p>
        </p:txBody>
      </p:sp>
      <p:sp>
        <p:nvSpPr>
          <p:cNvPr id="30" name="TextBox 29"/>
          <p:cNvSpPr txBox="1"/>
          <p:nvPr/>
        </p:nvSpPr>
        <p:spPr>
          <a:xfrm>
            <a:off x="660400" y="4533900"/>
            <a:ext cx="1529080" cy="635000"/>
          </a:xfrm>
          <a:prstGeom prst="rect">
            <a:avLst/>
          </a:prstGeom>
          <a:noFill/>
        </p:spPr>
        <p:txBody>
          <a:bodyPr wrap="square" lIns="0" rIns="0" tIns="0" bIns="0" anchor="t">
            <a:spAutoFit/>
          </a:bodyPr>
          <a:lstStyle/>
          <a:p>
            <a:pPr algn="ctr">
              <a:lnSpc>
                <a:spcPct val="100000"/>
              </a:lnSpc>
              <a:spcBef>
                <a:spcPts val="0"/>
              </a:spcBef>
              <a:spcAft>
                <a:spcPts val="300"/>
              </a:spcAft>
            </a:pPr>
            <a:r>
              <a:rPr sz="1700" b="1" i="0">
                <a:solidFill>
                  <a:srgbClr val="0070C0"/>
                </a:solidFill>
                <a:latin typeface="Calibri"/>
              </a:rPr>
              <a:t>80.4%</a:t>
            </a:r>
          </a:p>
          <a:p>
            <a:pPr algn="ctr">
              <a:lnSpc>
                <a:spcPct val="112000"/>
              </a:lnSpc>
              <a:spcBef>
                <a:spcPts val="0"/>
              </a:spcBef>
              <a:spcAft>
                <a:spcPts val="0"/>
              </a:spcAft>
            </a:pPr>
            <a:r>
              <a:rPr sz="850" b="0" i="0">
                <a:solidFill>
                  <a:srgbClr val="6B7784"/>
                </a:solidFill>
                <a:latin typeface="Calibri"/>
              </a:rPr>
              <a:t>validation accuracy
freshness, fine-tuned</a:t>
            </a:r>
          </a:p>
        </p:txBody>
      </p:sp>
      <p:sp>
        <p:nvSpPr>
          <p:cNvPr id="31" name="Rounded Rectangle 30"/>
          <p:cNvSpPr/>
          <p:nvPr/>
        </p:nvSpPr>
        <p:spPr>
          <a:xfrm>
            <a:off x="2392680" y="4394200"/>
            <a:ext cx="1681480" cy="812800"/>
          </a:xfrm>
          <a:prstGeom prst="roundRect">
            <a:avLst>
              <a:gd name="adj" fmla="val 9000"/>
            </a:avLst>
          </a:prstGeom>
          <a:solidFill>
            <a:srgbClr val="F2F6FA"/>
          </a:solidFill>
          <a:ln w="12700">
            <a:solidFill>
              <a:srgbClr val="C7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63500" bIns="63500"/>
          <a:lstStyle/>
          <a:p>
            <a:pPr algn="ctr"/>
          </a:p>
        </p:txBody>
      </p:sp>
      <p:sp>
        <p:nvSpPr>
          <p:cNvPr id="32" name="TextBox 31"/>
          <p:cNvSpPr txBox="1"/>
          <p:nvPr/>
        </p:nvSpPr>
        <p:spPr>
          <a:xfrm>
            <a:off x="2468880" y="4533900"/>
            <a:ext cx="1529080" cy="635000"/>
          </a:xfrm>
          <a:prstGeom prst="rect">
            <a:avLst/>
          </a:prstGeom>
          <a:noFill/>
        </p:spPr>
        <p:txBody>
          <a:bodyPr wrap="square" lIns="0" rIns="0" tIns="0" bIns="0" anchor="t">
            <a:spAutoFit/>
          </a:bodyPr>
          <a:lstStyle/>
          <a:p>
            <a:pPr algn="ctr">
              <a:lnSpc>
                <a:spcPct val="100000"/>
              </a:lnSpc>
              <a:spcBef>
                <a:spcPts val="0"/>
              </a:spcBef>
              <a:spcAft>
                <a:spcPts val="300"/>
              </a:spcAft>
            </a:pPr>
            <a:r>
              <a:rPr sz="1700" b="1" i="0">
                <a:solidFill>
                  <a:srgbClr val="0070C0"/>
                </a:solidFill>
                <a:latin typeface="Calibri"/>
              </a:rPr>
              <a:t>14 / 5</a:t>
            </a:r>
          </a:p>
          <a:p>
            <a:pPr algn="ctr">
              <a:lnSpc>
                <a:spcPct val="112000"/>
              </a:lnSpc>
              <a:spcBef>
                <a:spcPts val="0"/>
              </a:spcBef>
              <a:spcAft>
                <a:spcPts val="0"/>
              </a:spcAft>
            </a:pPr>
            <a:r>
              <a:rPr sz="850" b="0" i="0">
                <a:solidFill>
                  <a:srgbClr val="6B7784"/>
                </a:solidFill>
                <a:latin typeface="Calibri"/>
              </a:rPr>
              <a:t>produce classes /
freshness levels</a:t>
            </a:r>
          </a:p>
        </p:txBody>
      </p:sp>
      <p:sp>
        <p:nvSpPr>
          <p:cNvPr id="33" name="Rounded Rectangle 32"/>
          <p:cNvSpPr/>
          <p:nvPr/>
        </p:nvSpPr>
        <p:spPr>
          <a:xfrm>
            <a:off x="4201160" y="4394200"/>
            <a:ext cx="1681480" cy="812800"/>
          </a:xfrm>
          <a:prstGeom prst="roundRect">
            <a:avLst>
              <a:gd name="adj" fmla="val 9000"/>
            </a:avLst>
          </a:prstGeom>
          <a:solidFill>
            <a:srgbClr val="F2F6FA"/>
          </a:solidFill>
          <a:ln w="12700">
            <a:solidFill>
              <a:srgbClr val="C7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63500" bIns="63500"/>
          <a:lstStyle/>
          <a:p>
            <a:pPr algn="ctr"/>
          </a:p>
        </p:txBody>
      </p:sp>
      <p:sp>
        <p:nvSpPr>
          <p:cNvPr id="34" name="TextBox 33"/>
          <p:cNvSpPr txBox="1"/>
          <p:nvPr/>
        </p:nvSpPr>
        <p:spPr>
          <a:xfrm>
            <a:off x="4277360" y="4533900"/>
            <a:ext cx="1529080" cy="635000"/>
          </a:xfrm>
          <a:prstGeom prst="rect">
            <a:avLst/>
          </a:prstGeom>
          <a:noFill/>
        </p:spPr>
        <p:txBody>
          <a:bodyPr wrap="square" lIns="0" rIns="0" tIns="0" bIns="0" anchor="t">
            <a:spAutoFit/>
          </a:bodyPr>
          <a:lstStyle/>
          <a:p>
            <a:pPr algn="ctr">
              <a:lnSpc>
                <a:spcPct val="100000"/>
              </a:lnSpc>
              <a:spcBef>
                <a:spcPts val="0"/>
              </a:spcBef>
              <a:spcAft>
                <a:spcPts val="300"/>
              </a:spcAft>
            </a:pPr>
            <a:r>
              <a:rPr sz="1700" b="1" i="0">
                <a:solidFill>
                  <a:srgbClr val="0070C0"/>
                </a:solidFill>
                <a:latin typeface="Calibri"/>
              </a:rPr>
              <a:t>3</a:t>
            </a:r>
          </a:p>
          <a:p>
            <a:pPr algn="ctr">
              <a:lnSpc>
                <a:spcPct val="112000"/>
              </a:lnSpc>
              <a:spcBef>
                <a:spcPts val="0"/>
              </a:spcBef>
              <a:spcAft>
                <a:spcPts val="0"/>
              </a:spcAft>
            </a:pPr>
            <a:r>
              <a:rPr sz="850" b="0" i="0">
                <a:solidFill>
                  <a:srgbClr val="6B7784"/>
                </a:solidFill>
                <a:latin typeface="Calibri"/>
              </a:rPr>
              <a:t>models in the
inference pipeline</a:t>
            </a:r>
          </a:p>
        </p:txBody>
      </p:sp>
      <p:sp>
        <p:nvSpPr>
          <p:cNvPr id="35" name="Rounded Rectangle 34"/>
          <p:cNvSpPr/>
          <p:nvPr/>
        </p:nvSpPr>
        <p:spPr>
          <a:xfrm>
            <a:off x="6009640" y="4394200"/>
            <a:ext cx="1681480" cy="812800"/>
          </a:xfrm>
          <a:prstGeom prst="roundRect">
            <a:avLst>
              <a:gd name="adj" fmla="val 9000"/>
            </a:avLst>
          </a:prstGeom>
          <a:solidFill>
            <a:srgbClr val="F2F6FA"/>
          </a:solidFill>
          <a:ln w="12700">
            <a:solidFill>
              <a:srgbClr val="C7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63500" bIns="63500"/>
          <a:lstStyle/>
          <a:p>
            <a:pPr algn="ctr"/>
          </a:p>
        </p:txBody>
      </p:sp>
      <p:sp>
        <p:nvSpPr>
          <p:cNvPr id="36" name="TextBox 35"/>
          <p:cNvSpPr txBox="1"/>
          <p:nvPr/>
        </p:nvSpPr>
        <p:spPr>
          <a:xfrm>
            <a:off x="6085840" y="4533900"/>
            <a:ext cx="1529080" cy="635000"/>
          </a:xfrm>
          <a:prstGeom prst="rect">
            <a:avLst/>
          </a:prstGeom>
          <a:noFill/>
        </p:spPr>
        <p:txBody>
          <a:bodyPr wrap="square" lIns="0" rIns="0" tIns="0" bIns="0" anchor="t">
            <a:spAutoFit/>
          </a:bodyPr>
          <a:lstStyle/>
          <a:p>
            <a:pPr algn="ctr">
              <a:lnSpc>
                <a:spcPct val="100000"/>
              </a:lnSpc>
              <a:spcBef>
                <a:spcPts val="0"/>
              </a:spcBef>
              <a:spcAft>
                <a:spcPts val="300"/>
              </a:spcAft>
            </a:pPr>
            <a:r>
              <a:rPr sz="1700" b="1" i="0">
                <a:solidFill>
                  <a:srgbClr val="0070C0"/>
                </a:solidFill>
                <a:latin typeface="Calibri"/>
              </a:rPr>
              <a:t>~310 ms</a:t>
            </a:r>
          </a:p>
          <a:p>
            <a:pPr algn="ctr">
              <a:lnSpc>
                <a:spcPct val="112000"/>
              </a:lnSpc>
              <a:spcBef>
                <a:spcPts val="0"/>
              </a:spcBef>
              <a:spcAft>
                <a:spcPts val="0"/>
              </a:spcAft>
            </a:pPr>
            <a:r>
              <a:rPr sz="850" b="0" i="0">
                <a:solidFill>
                  <a:srgbClr val="6B7784"/>
                </a:solidFill>
                <a:latin typeface="Calibri"/>
              </a:rPr>
              <a:t>warm inference, CPU-only
measured via /api/predict</a:t>
            </a:r>
          </a:p>
        </p:txBody>
      </p:sp>
      <p:sp>
        <p:nvSpPr>
          <p:cNvPr id="37" name="Rounded Rectangle 36"/>
          <p:cNvSpPr/>
          <p:nvPr/>
        </p:nvSpPr>
        <p:spPr>
          <a:xfrm>
            <a:off x="7818120" y="4394200"/>
            <a:ext cx="1681480" cy="812800"/>
          </a:xfrm>
          <a:prstGeom prst="roundRect">
            <a:avLst>
              <a:gd name="adj" fmla="val 9000"/>
            </a:avLst>
          </a:prstGeom>
          <a:solidFill>
            <a:srgbClr val="F2F6FA"/>
          </a:solidFill>
          <a:ln w="12700">
            <a:solidFill>
              <a:srgbClr val="C7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63500" bIns="63500"/>
          <a:lstStyle/>
          <a:p>
            <a:pPr algn="ctr"/>
          </a:p>
        </p:txBody>
      </p:sp>
      <p:sp>
        <p:nvSpPr>
          <p:cNvPr id="38" name="TextBox 37"/>
          <p:cNvSpPr txBox="1"/>
          <p:nvPr/>
        </p:nvSpPr>
        <p:spPr>
          <a:xfrm>
            <a:off x="7894320" y="4533900"/>
            <a:ext cx="1529080" cy="635000"/>
          </a:xfrm>
          <a:prstGeom prst="rect">
            <a:avLst/>
          </a:prstGeom>
          <a:noFill/>
        </p:spPr>
        <p:txBody>
          <a:bodyPr wrap="square" lIns="0" rIns="0" tIns="0" bIns="0" anchor="t">
            <a:spAutoFit/>
          </a:bodyPr>
          <a:lstStyle/>
          <a:p>
            <a:pPr algn="ctr">
              <a:lnSpc>
                <a:spcPct val="100000"/>
              </a:lnSpc>
              <a:spcBef>
                <a:spcPts val="0"/>
              </a:spcBef>
              <a:spcAft>
                <a:spcPts val="300"/>
              </a:spcAft>
            </a:pPr>
            <a:r>
              <a:rPr sz="1700" b="1" i="0">
                <a:solidFill>
                  <a:srgbClr val="0070C0"/>
                </a:solidFill>
                <a:latin typeface="Calibri"/>
              </a:rPr>
              <a:t>35.4 MB</a:t>
            </a:r>
          </a:p>
          <a:p>
            <a:pPr algn="ctr">
              <a:lnSpc>
                <a:spcPct val="112000"/>
              </a:lnSpc>
              <a:spcBef>
                <a:spcPts val="0"/>
              </a:spcBef>
              <a:spcAft>
                <a:spcPts val="0"/>
              </a:spcAft>
            </a:pPr>
            <a:r>
              <a:rPr sz="850" b="0" i="0">
                <a:solidFill>
                  <a:srgbClr val="6B7784"/>
                </a:solidFill>
                <a:latin typeface="Calibri"/>
              </a:rPr>
              <a:t>total trained-model
footprint on disk</a:t>
            </a:r>
          </a:p>
        </p:txBody>
      </p:sp>
      <p:sp>
        <p:nvSpPr>
          <p:cNvPr id="39" name="TextBox 38"/>
          <p:cNvSpPr txBox="1"/>
          <p:nvPr/>
        </p:nvSpPr>
        <p:spPr>
          <a:xfrm>
            <a:off x="584200" y="5384800"/>
            <a:ext cx="8915400" cy="1143000"/>
          </a:xfrm>
          <a:prstGeom prst="rect">
            <a:avLst/>
          </a:prstGeom>
          <a:noFill/>
        </p:spPr>
        <p:txBody>
          <a:bodyPr wrap="square" lIns="0" rIns="0" tIns="0" bIns="0" anchor="t">
            <a:spAutoFit/>
          </a:bodyPr>
          <a:lstStyle/>
          <a:p>
            <a:pPr algn="l">
              <a:lnSpc>
                <a:spcPct val="118000"/>
              </a:lnSpc>
              <a:spcBef>
                <a:spcPts val="0"/>
              </a:spcBef>
              <a:spcAft>
                <a:spcPts val="600"/>
              </a:spcAft>
            </a:pPr>
            <a:r>
              <a:rPr sz="1000" b="1" i="0">
                <a:solidFill>
                  <a:srgbClr val="0070C0"/>
                </a:solidFill>
                <a:latin typeface="Calibri"/>
              </a:rPr>
              <a:t>DISCUSSION</a:t>
            </a:r>
          </a:p>
          <a:p>
            <a:pPr>
              <a:lnSpc>
                <a:spcPct val="125000"/>
              </a:lnSpc>
              <a:spcBef>
                <a:spcPts val="0"/>
              </a:spcBef>
              <a:spcAft>
                <a:spcPts val="500"/>
              </a:spcAft>
            </a:pPr>
            <a:r>
              <a:rPr sz="1050" b="1">
                <a:solidFill>
                  <a:srgbClr val="0070C0"/>
                </a:solidFill>
                <a:latin typeface="Calibri"/>
              </a:rPr>
              <a:t>▪  </a:t>
            </a:r>
            <a:r>
              <a:rPr sz="1050" b="0">
                <a:solidFill>
                  <a:srgbClr val="333D4A"/>
                </a:solidFill>
                <a:latin typeface="Calibri"/>
              </a:rPr>
              <a:t>Fine-tuning the last 30 layers was worth it — validation accuracy rose from 77.8% to 80.4%, while the frozen backbone kept training stable on a small dataset.</a:t>
            </a:r>
          </a:p>
          <a:p>
            <a:pPr>
              <a:lnSpc>
                <a:spcPct val="125000"/>
              </a:lnSpc>
              <a:spcBef>
                <a:spcPts val="0"/>
              </a:spcBef>
              <a:spcAft>
                <a:spcPts val="500"/>
              </a:spcAft>
            </a:pPr>
            <a:r>
              <a:rPr sz="1050" b="1">
                <a:solidFill>
                  <a:srgbClr val="0070C0"/>
                </a:solidFill>
                <a:latin typeface="Calibri"/>
              </a:rPr>
              <a:t>▪  </a:t>
            </a:r>
            <a:r>
              <a:rPr sz="1050" b="0">
                <a:solidFill>
                  <a:srgbClr val="333D4A"/>
                </a:solidFill>
                <a:latin typeface="Calibri"/>
              </a:rPr>
              <a:t>The guardrails work: non-produce inputs return “Not a Fruit or Vegetable”, and anything under 65% returns “Unclear Image” with its top-3 matches — the system fails visibly rather than guessing.</a:t>
            </a:r>
          </a:p>
          <a:p>
            <a:pPr>
              <a:lnSpc>
                <a:spcPct val="125000"/>
              </a:lnSpc>
              <a:spcBef>
                <a:spcPts val="0"/>
              </a:spcBef>
              <a:spcAft>
                <a:spcPts val="500"/>
              </a:spcAft>
            </a:pPr>
            <a:r>
              <a:rPr sz="1050" b="1">
                <a:solidFill>
                  <a:srgbClr val="0070C0"/>
                </a:solidFill>
                <a:latin typeface="Calibri"/>
              </a:rPr>
              <a:t>▪  </a:t>
            </a:r>
            <a:r>
              <a:rPr sz="1050" b="0">
                <a:solidFill>
                  <a:srgbClr val="333D4A"/>
                </a:solidFill>
                <a:latin typeface="Calibri"/>
              </a:rPr>
              <a:t>At ~35 MB and ~310 ms per image on CPU, the pipeline deploys on ordinary hardware — no GPU and no database.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4200" y="406400"/>
            <a:ext cx="8915400" cy="431800"/>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0070C0"/>
                </a:solidFill>
                <a:latin typeface="Calibri"/>
              </a:rPr>
              <a:t>CONCLUSION &amp; KEY ACHIEVEMENTS</a:t>
            </a:r>
          </a:p>
        </p:txBody>
      </p:sp>
      <p:cxnSp>
        <p:nvCxnSpPr>
          <p:cNvPr id="3" name="Connector 2"/>
          <p:cNvCxnSpPr/>
          <p:nvPr/>
        </p:nvCxnSpPr>
        <p:spPr>
          <a:xfrm>
            <a:off x="584200" y="901700"/>
            <a:ext cx="8915400" cy="0"/>
          </a:xfrm>
          <a:prstGeom prst="line">
            <a:avLst/>
          </a:prstGeom>
          <a:ln w="25400">
            <a:solidFill>
              <a:srgbClr val="0070C0"/>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584200" y="7086600"/>
            <a:ext cx="8915400" cy="0"/>
          </a:xfrm>
          <a:prstGeom prst="line">
            <a:avLst/>
          </a:prstGeom>
          <a:ln w="9525">
            <a:solidFill>
              <a:srgbClr val="D8DEE5"/>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84200" y="7188200"/>
            <a:ext cx="6240780" cy="177800"/>
          </a:xfrm>
          <a:prstGeom prst="rect">
            <a:avLst/>
          </a:prstGeom>
          <a:noFill/>
        </p:spPr>
        <p:txBody>
          <a:bodyPr wrap="square" lIns="0" rIns="0" tIns="0" bIns="0" anchor="t">
            <a:spAutoFit/>
          </a:bodyPr>
          <a:lstStyle/>
          <a:p>
            <a:pPr algn="l">
              <a:lnSpc>
                <a:spcPct val="118000"/>
              </a:lnSpc>
              <a:spcBef>
                <a:spcPts val="0"/>
              </a:spcBef>
              <a:spcAft>
                <a:spcPts val="0"/>
              </a:spcAft>
            </a:pPr>
            <a:r>
              <a:rPr sz="850" b="0" i="0">
                <a:solidFill>
                  <a:srgbClr val="6B7784"/>
                </a:solidFill>
                <a:latin typeface="Calibri"/>
              </a:rPr>
              <a:t>Fresh Vision  ·  Practice School-II  ·  SOET, BML Munjal University</a:t>
            </a:r>
          </a:p>
        </p:txBody>
      </p:sp>
      <p:sp>
        <p:nvSpPr>
          <p:cNvPr id="6" name="TextBox 5"/>
          <p:cNvSpPr txBox="1"/>
          <p:nvPr/>
        </p:nvSpPr>
        <p:spPr>
          <a:xfrm>
            <a:off x="8737600" y="7188200"/>
            <a:ext cx="762000" cy="177800"/>
          </a:xfrm>
          <a:prstGeom prst="rect">
            <a:avLst/>
          </a:prstGeom>
          <a:noFill/>
        </p:spPr>
        <p:txBody>
          <a:bodyPr wrap="square" lIns="0" rIns="0" tIns="0" bIns="0" anchor="t">
            <a:spAutoFit/>
          </a:bodyPr>
          <a:lstStyle/>
          <a:p>
            <a:pPr algn="r">
              <a:lnSpc>
                <a:spcPct val="118000"/>
              </a:lnSpc>
              <a:spcBef>
                <a:spcPts val="0"/>
              </a:spcBef>
              <a:spcAft>
                <a:spcPts val="0"/>
              </a:spcAft>
            </a:pPr>
            <a:r>
              <a:rPr sz="850" b="1" i="0">
                <a:solidFill>
                  <a:srgbClr val="0070C0"/>
                </a:solidFill>
                <a:latin typeface="Calibri"/>
              </a:rPr>
              <a:t>9</a:t>
            </a:r>
          </a:p>
        </p:txBody>
      </p:sp>
      <p:sp>
        <p:nvSpPr>
          <p:cNvPr id="7" name="Rounded Rectangle 6"/>
          <p:cNvSpPr/>
          <p:nvPr/>
        </p:nvSpPr>
        <p:spPr>
          <a:xfrm>
            <a:off x="584200" y="1219200"/>
            <a:ext cx="8915400" cy="939800"/>
          </a:xfrm>
          <a:prstGeom prst="roundRect">
            <a:avLst>
              <a:gd name="adj" fmla="val 6000"/>
            </a:avLst>
          </a:prstGeom>
          <a:solidFill>
            <a:srgbClr val="EEF7F1"/>
          </a:solidFill>
          <a:ln w="15875">
            <a:solidFill>
              <a:srgbClr val="11874E"/>
            </a:solid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63500" bIns="63500"/>
          <a:lstStyle/>
          <a:p>
            <a:pPr algn="ctr"/>
          </a:p>
        </p:txBody>
      </p:sp>
      <p:sp>
        <p:nvSpPr>
          <p:cNvPr id="8" name="TextBox 7"/>
          <p:cNvSpPr txBox="1"/>
          <p:nvPr/>
        </p:nvSpPr>
        <p:spPr>
          <a:xfrm>
            <a:off x="889000" y="1447800"/>
            <a:ext cx="8305800" cy="685800"/>
          </a:xfrm>
          <a:prstGeom prst="rect">
            <a:avLst/>
          </a:prstGeom>
          <a:noFill/>
        </p:spPr>
        <p:txBody>
          <a:bodyPr wrap="square" lIns="0" rIns="0" tIns="0" bIns="0" anchor="t">
            <a:spAutoFit/>
          </a:bodyPr>
          <a:lstStyle/>
          <a:p>
            <a:pPr algn="l">
              <a:lnSpc>
                <a:spcPct val="125000"/>
              </a:lnSpc>
              <a:spcBef>
                <a:spcPts val="0"/>
              </a:spcBef>
              <a:spcAft>
                <a:spcPts val="0"/>
              </a:spcAft>
            </a:pPr>
            <a:r>
              <a:rPr sz="1500" b="1" i="0">
                <a:solidFill>
                  <a:srgbClr val="1B2532"/>
                </a:solidFill>
                <a:latin typeface="Calibri"/>
              </a:rPr>
              <a:t>A complete, working system was delivered end to end — dataset to models to API to user interface — not a notebook and not a demo.</a:t>
            </a:r>
          </a:p>
        </p:txBody>
      </p:sp>
      <p:sp>
        <p:nvSpPr>
          <p:cNvPr id="9" name="Rounded Rectangle 8"/>
          <p:cNvSpPr/>
          <p:nvPr/>
        </p:nvSpPr>
        <p:spPr>
          <a:xfrm>
            <a:off x="584200" y="2362200"/>
            <a:ext cx="8915400" cy="889000"/>
          </a:xfrm>
          <a:prstGeom prst="roundRect">
            <a:avLst>
              <a:gd name="adj" fmla="val 9000"/>
            </a:avLst>
          </a:prstGeom>
          <a:solidFill>
            <a:srgbClr val="FFFFFF"/>
          </a:solidFill>
          <a:ln w="1270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63500" bIns="63500"/>
          <a:lstStyle/>
          <a:p>
            <a:pPr algn="ctr"/>
          </a:p>
        </p:txBody>
      </p:sp>
      <p:sp>
        <p:nvSpPr>
          <p:cNvPr id="10" name="Rectangle 9"/>
          <p:cNvSpPr/>
          <p:nvPr/>
        </p:nvSpPr>
        <p:spPr>
          <a:xfrm>
            <a:off x="584200" y="2362200"/>
            <a:ext cx="57150" cy="889000"/>
          </a:xfrm>
          <a:prstGeom prst="rect">
            <a:avLst/>
          </a:prstGeom>
          <a:solidFill>
            <a:srgbClr val="1187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63500" bIns="63500"/>
          <a:lstStyle/>
          <a:p>
            <a:pPr algn="ctr"/>
          </a:p>
        </p:txBody>
      </p:sp>
      <p:sp>
        <p:nvSpPr>
          <p:cNvPr id="11" name="TextBox 10"/>
          <p:cNvSpPr txBox="1"/>
          <p:nvPr/>
        </p:nvSpPr>
        <p:spPr>
          <a:xfrm>
            <a:off x="889000" y="2540000"/>
            <a:ext cx="8305800" cy="660400"/>
          </a:xfrm>
          <a:prstGeom prst="rect">
            <a:avLst/>
          </a:prstGeom>
          <a:noFill/>
        </p:spPr>
        <p:txBody>
          <a:bodyPr wrap="square" lIns="0" rIns="0" tIns="0" bIns="0" anchor="t">
            <a:spAutoFit/>
          </a:bodyPr>
          <a:lstStyle/>
          <a:p>
            <a:pPr algn="l">
              <a:lnSpc>
                <a:spcPct val="105000"/>
              </a:lnSpc>
              <a:spcBef>
                <a:spcPts val="0"/>
              </a:spcBef>
              <a:spcAft>
                <a:spcPts val="300"/>
              </a:spcAft>
            </a:pPr>
            <a:r>
              <a:rPr sz="1300" b="1" i="0">
                <a:solidFill>
                  <a:srgbClr val="11874E"/>
                </a:solidFill>
                <a:latin typeface="Calibri"/>
              </a:rPr>
              <a:t>Built the whole pipeline</a:t>
            </a:r>
          </a:p>
          <a:p>
            <a:pPr>
              <a:lnSpc>
                <a:spcPct val="125000"/>
              </a:lnSpc>
              <a:spcBef>
                <a:spcPts val="0"/>
              </a:spcBef>
              <a:spcAft>
                <a:spcPts val="0"/>
              </a:spcAft>
            </a:pPr>
            <a:r>
              <a:rPr sz="1100" b="0" i="0">
                <a:solidFill>
                  <a:srgbClr val="333D4A"/>
                </a:solidFill>
                <a:latin typeface="Calibri"/>
              </a:rPr>
              <a:t>Three models behind one FastAPI service and a React UI, running on a single port with no GPU and no database.</a:t>
            </a:r>
          </a:p>
        </p:txBody>
      </p:sp>
      <p:sp>
        <p:nvSpPr>
          <p:cNvPr id="12" name="Rounded Rectangle 11"/>
          <p:cNvSpPr/>
          <p:nvPr/>
        </p:nvSpPr>
        <p:spPr>
          <a:xfrm>
            <a:off x="584200" y="3378200"/>
            <a:ext cx="8915400" cy="889000"/>
          </a:xfrm>
          <a:prstGeom prst="roundRect">
            <a:avLst>
              <a:gd name="adj" fmla="val 9000"/>
            </a:avLst>
          </a:prstGeom>
          <a:solidFill>
            <a:srgbClr val="FFFFFF"/>
          </a:solidFill>
          <a:ln w="1270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63500" bIns="63500"/>
          <a:lstStyle/>
          <a:p>
            <a:pPr algn="ctr"/>
          </a:p>
        </p:txBody>
      </p:sp>
      <p:sp>
        <p:nvSpPr>
          <p:cNvPr id="13" name="Rectangle 12"/>
          <p:cNvSpPr/>
          <p:nvPr/>
        </p:nvSpPr>
        <p:spPr>
          <a:xfrm>
            <a:off x="584200" y="3378200"/>
            <a:ext cx="57150" cy="88900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63500" bIns="63500"/>
          <a:lstStyle/>
          <a:p>
            <a:pPr algn="ctr"/>
          </a:p>
        </p:txBody>
      </p:sp>
      <p:sp>
        <p:nvSpPr>
          <p:cNvPr id="14" name="TextBox 13"/>
          <p:cNvSpPr txBox="1"/>
          <p:nvPr/>
        </p:nvSpPr>
        <p:spPr>
          <a:xfrm>
            <a:off x="889000" y="3556000"/>
            <a:ext cx="8305800" cy="660400"/>
          </a:xfrm>
          <a:prstGeom prst="rect">
            <a:avLst/>
          </a:prstGeom>
          <a:noFill/>
        </p:spPr>
        <p:txBody>
          <a:bodyPr wrap="square" lIns="0" rIns="0" tIns="0" bIns="0" anchor="t">
            <a:spAutoFit/>
          </a:bodyPr>
          <a:lstStyle/>
          <a:p>
            <a:pPr algn="l">
              <a:lnSpc>
                <a:spcPct val="105000"/>
              </a:lnSpc>
              <a:spcBef>
                <a:spcPts val="0"/>
              </a:spcBef>
              <a:spcAft>
                <a:spcPts val="300"/>
              </a:spcAft>
            </a:pPr>
            <a:r>
              <a:rPr sz="1300" b="1" i="0">
                <a:solidFill>
                  <a:srgbClr val="0070C0"/>
                </a:solidFill>
                <a:latin typeface="Calibri"/>
              </a:rPr>
              <a:t>Solved the missing-label problem</a:t>
            </a:r>
          </a:p>
          <a:p>
            <a:pPr>
              <a:lnSpc>
                <a:spcPct val="125000"/>
              </a:lnSpc>
              <a:spcBef>
                <a:spcPts val="0"/>
              </a:spcBef>
              <a:spcAft>
                <a:spcPts val="0"/>
              </a:spcAft>
            </a:pPr>
            <a:r>
              <a:rPr sz="1100" b="0" i="0">
                <a:solidFill>
                  <a:srgbClr val="333D4A"/>
                </a:solidFill>
                <a:latin typeface="Calibri"/>
              </a:rPr>
              <a:t>Classical computer vision (HSV decay scoring) turned a binary fresh/rotten dataset into five usable freshness levels, with zero manual annotation.</a:t>
            </a:r>
          </a:p>
        </p:txBody>
      </p:sp>
      <p:sp>
        <p:nvSpPr>
          <p:cNvPr id="15" name="Rounded Rectangle 14"/>
          <p:cNvSpPr/>
          <p:nvPr/>
        </p:nvSpPr>
        <p:spPr>
          <a:xfrm>
            <a:off x="584200" y="4394200"/>
            <a:ext cx="8915400" cy="889000"/>
          </a:xfrm>
          <a:prstGeom prst="roundRect">
            <a:avLst>
              <a:gd name="adj" fmla="val 9000"/>
            </a:avLst>
          </a:prstGeom>
          <a:solidFill>
            <a:srgbClr val="FFFFFF"/>
          </a:solidFill>
          <a:ln w="1270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63500" bIns="63500"/>
          <a:lstStyle/>
          <a:p>
            <a:pPr algn="ctr"/>
          </a:p>
        </p:txBody>
      </p:sp>
      <p:sp>
        <p:nvSpPr>
          <p:cNvPr id="16" name="Rectangle 15"/>
          <p:cNvSpPr/>
          <p:nvPr/>
        </p:nvSpPr>
        <p:spPr>
          <a:xfrm>
            <a:off x="584200" y="4394200"/>
            <a:ext cx="57150" cy="88900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63500" bIns="63500"/>
          <a:lstStyle/>
          <a:p>
            <a:pPr algn="ctr"/>
          </a:p>
        </p:txBody>
      </p:sp>
      <p:sp>
        <p:nvSpPr>
          <p:cNvPr id="17" name="TextBox 16"/>
          <p:cNvSpPr txBox="1"/>
          <p:nvPr/>
        </p:nvSpPr>
        <p:spPr>
          <a:xfrm>
            <a:off x="889000" y="4572000"/>
            <a:ext cx="8305800" cy="660400"/>
          </a:xfrm>
          <a:prstGeom prst="rect">
            <a:avLst/>
          </a:prstGeom>
          <a:noFill/>
        </p:spPr>
        <p:txBody>
          <a:bodyPr wrap="square" lIns="0" rIns="0" tIns="0" bIns="0" anchor="t">
            <a:spAutoFit/>
          </a:bodyPr>
          <a:lstStyle/>
          <a:p>
            <a:pPr algn="l">
              <a:lnSpc>
                <a:spcPct val="105000"/>
              </a:lnSpc>
              <a:spcBef>
                <a:spcPts val="0"/>
              </a:spcBef>
              <a:spcAft>
                <a:spcPts val="300"/>
              </a:spcAft>
            </a:pPr>
            <a:r>
              <a:rPr sz="1300" b="1" i="0">
                <a:solidFill>
                  <a:srgbClr val="0070C0"/>
                </a:solidFill>
                <a:latin typeface="Calibri"/>
              </a:rPr>
              <a:t>Improved the model measurably</a:t>
            </a:r>
          </a:p>
          <a:p>
            <a:pPr>
              <a:lnSpc>
                <a:spcPct val="125000"/>
              </a:lnSpc>
              <a:spcBef>
                <a:spcPts val="0"/>
              </a:spcBef>
              <a:spcAft>
                <a:spcPts val="0"/>
              </a:spcAft>
            </a:pPr>
            <a:r>
              <a:rPr sz="1100" b="0" i="0">
                <a:solidFill>
                  <a:srgbClr val="333D4A"/>
                </a:solidFill>
                <a:latin typeface="Calibri"/>
              </a:rPr>
              <a:t>Two-phase transfer learning lifted freshness validation accuracy from 77.8% to 80.4%, and inference-time calibration corrected a real class bias.</a:t>
            </a:r>
          </a:p>
        </p:txBody>
      </p:sp>
      <p:sp>
        <p:nvSpPr>
          <p:cNvPr id="18" name="Rounded Rectangle 17"/>
          <p:cNvSpPr/>
          <p:nvPr/>
        </p:nvSpPr>
        <p:spPr>
          <a:xfrm>
            <a:off x="584200" y="5410200"/>
            <a:ext cx="8915400" cy="889000"/>
          </a:xfrm>
          <a:prstGeom prst="roundRect">
            <a:avLst>
              <a:gd name="adj" fmla="val 9000"/>
            </a:avLst>
          </a:prstGeom>
          <a:solidFill>
            <a:srgbClr val="FFFFFF"/>
          </a:solidFill>
          <a:ln w="1270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63500" bIns="63500"/>
          <a:lstStyle/>
          <a:p>
            <a:pPr algn="ctr"/>
          </a:p>
        </p:txBody>
      </p:sp>
      <p:sp>
        <p:nvSpPr>
          <p:cNvPr id="19" name="Rectangle 18"/>
          <p:cNvSpPr/>
          <p:nvPr/>
        </p:nvSpPr>
        <p:spPr>
          <a:xfrm>
            <a:off x="584200" y="5410200"/>
            <a:ext cx="57150" cy="889000"/>
          </a:xfrm>
          <a:prstGeom prst="rect">
            <a:avLst/>
          </a:prstGeom>
          <a:solidFill>
            <a:srgbClr val="C27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63500" bIns="63500"/>
          <a:lstStyle/>
          <a:p>
            <a:pPr algn="ctr"/>
          </a:p>
        </p:txBody>
      </p:sp>
      <p:sp>
        <p:nvSpPr>
          <p:cNvPr id="20" name="TextBox 19"/>
          <p:cNvSpPr txBox="1"/>
          <p:nvPr/>
        </p:nvSpPr>
        <p:spPr>
          <a:xfrm>
            <a:off x="889000" y="5588000"/>
            <a:ext cx="8305800" cy="660400"/>
          </a:xfrm>
          <a:prstGeom prst="rect">
            <a:avLst/>
          </a:prstGeom>
          <a:noFill/>
        </p:spPr>
        <p:txBody>
          <a:bodyPr wrap="square" lIns="0" rIns="0" tIns="0" bIns="0" anchor="t">
            <a:spAutoFit/>
          </a:bodyPr>
          <a:lstStyle/>
          <a:p>
            <a:pPr algn="l">
              <a:lnSpc>
                <a:spcPct val="105000"/>
              </a:lnSpc>
              <a:spcBef>
                <a:spcPts val="0"/>
              </a:spcBef>
              <a:spcAft>
                <a:spcPts val="300"/>
              </a:spcAft>
            </a:pPr>
            <a:r>
              <a:rPr sz="1300" b="1" i="0">
                <a:solidFill>
                  <a:srgbClr val="C2710C"/>
                </a:solidFill>
                <a:latin typeface="Calibri"/>
              </a:rPr>
              <a:t>Made the system honest</a:t>
            </a:r>
          </a:p>
          <a:p>
            <a:pPr>
              <a:lnSpc>
                <a:spcPct val="125000"/>
              </a:lnSpc>
              <a:spcBef>
                <a:spcPts val="0"/>
              </a:spcBef>
              <a:spcAft>
                <a:spcPts val="0"/>
              </a:spcAft>
            </a:pPr>
            <a:r>
              <a:rPr sz="1100" b="0" i="0">
                <a:solidFill>
                  <a:srgbClr val="333D4A"/>
                </a:solidFill>
                <a:latin typeface="Calibri"/>
              </a:rPr>
              <a:t>An out-of-distribution gatekeeper and a 65% confidence floor turn silent misclassifications into visible “rejected” and “uncertain” states.</a:t>
            </a:r>
          </a:p>
        </p:txBody>
      </p:sp>
      <p:sp>
        <p:nvSpPr>
          <p:cNvPr id="21" name="TextBox 20"/>
          <p:cNvSpPr txBox="1"/>
          <p:nvPr/>
        </p:nvSpPr>
        <p:spPr>
          <a:xfrm>
            <a:off x="584200" y="6502400"/>
            <a:ext cx="8915400" cy="508000"/>
          </a:xfrm>
          <a:prstGeom prst="rect">
            <a:avLst/>
          </a:prstGeom>
          <a:noFill/>
        </p:spPr>
        <p:txBody>
          <a:bodyPr wrap="square" lIns="0" rIns="0" tIns="0" bIns="0" anchor="t">
            <a:spAutoFit/>
          </a:bodyPr>
          <a:lstStyle/>
          <a:p>
            <a:pPr algn="l">
              <a:lnSpc>
                <a:spcPct val="125000"/>
              </a:lnSpc>
              <a:spcBef>
                <a:spcPts val="0"/>
              </a:spcBef>
              <a:spcAft>
                <a:spcPts val="0"/>
              </a:spcAft>
            </a:pPr>
            <a:r>
              <a:rPr sz="1100" b="1">
                <a:solidFill>
                  <a:srgbClr val="0070C0"/>
                </a:solidFill>
                <a:latin typeface="Calibri"/>
              </a:rPr>
              <a:t>Practical significance   </a:t>
            </a:r>
            <a:r>
              <a:rPr sz="1100" b="0">
                <a:solidFill>
                  <a:srgbClr val="333D4A"/>
                </a:solidFill>
                <a:latin typeface="Calibri"/>
              </a:rPr>
              <a:t>the footprint (~35 MB, CPU-only, ~310 ms per image) is small enough for in-store or warehouse screening, and every confidence value is exposed so a human can overrule the model.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4200" y="406400"/>
            <a:ext cx="8915400" cy="431800"/>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0070C0"/>
                </a:solidFill>
                <a:latin typeface="Calibri"/>
              </a:rPr>
              <a:t>LEARNING OUTCOMES</a:t>
            </a:r>
          </a:p>
        </p:txBody>
      </p:sp>
      <p:cxnSp>
        <p:nvCxnSpPr>
          <p:cNvPr id="3" name="Connector 2"/>
          <p:cNvCxnSpPr/>
          <p:nvPr/>
        </p:nvCxnSpPr>
        <p:spPr>
          <a:xfrm>
            <a:off x="584200" y="901700"/>
            <a:ext cx="8915400" cy="0"/>
          </a:xfrm>
          <a:prstGeom prst="line">
            <a:avLst/>
          </a:prstGeom>
          <a:ln w="25400">
            <a:solidFill>
              <a:srgbClr val="0070C0"/>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584200" y="7086600"/>
            <a:ext cx="8915400" cy="0"/>
          </a:xfrm>
          <a:prstGeom prst="line">
            <a:avLst/>
          </a:prstGeom>
          <a:ln w="9525">
            <a:solidFill>
              <a:srgbClr val="D8DEE5"/>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84200" y="7188200"/>
            <a:ext cx="6240780" cy="177800"/>
          </a:xfrm>
          <a:prstGeom prst="rect">
            <a:avLst/>
          </a:prstGeom>
          <a:noFill/>
        </p:spPr>
        <p:txBody>
          <a:bodyPr wrap="square" lIns="0" rIns="0" tIns="0" bIns="0" anchor="t">
            <a:spAutoFit/>
          </a:bodyPr>
          <a:lstStyle/>
          <a:p>
            <a:pPr algn="l">
              <a:lnSpc>
                <a:spcPct val="118000"/>
              </a:lnSpc>
              <a:spcBef>
                <a:spcPts val="0"/>
              </a:spcBef>
              <a:spcAft>
                <a:spcPts val="0"/>
              </a:spcAft>
            </a:pPr>
            <a:r>
              <a:rPr sz="850" b="0" i="0">
                <a:solidFill>
                  <a:srgbClr val="6B7784"/>
                </a:solidFill>
                <a:latin typeface="Calibri"/>
              </a:rPr>
              <a:t>Fresh Vision  ·  Practice School-II  ·  SOET, BML Munjal University</a:t>
            </a:r>
          </a:p>
        </p:txBody>
      </p:sp>
      <p:sp>
        <p:nvSpPr>
          <p:cNvPr id="6" name="TextBox 5"/>
          <p:cNvSpPr txBox="1"/>
          <p:nvPr/>
        </p:nvSpPr>
        <p:spPr>
          <a:xfrm>
            <a:off x="8737600" y="7188200"/>
            <a:ext cx="762000" cy="177800"/>
          </a:xfrm>
          <a:prstGeom prst="rect">
            <a:avLst/>
          </a:prstGeom>
          <a:noFill/>
        </p:spPr>
        <p:txBody>
          <a:bodyPr wrap="square" lIns="0" rIns="0" tIns="0" bIns="0" anchor="t">
            <a:spAutoFit/>
          </a:bodyPr>
          <a:lstStyle/>
          <a:p>
            <a:pPr algn="r">
              <a:lnSpc>
                <a:spcPct val="118000"/>
              </a:lnSpc>
              <a:spcBef>
                <a:spcPts val="0"/>
              </a:spcBef>
              <a:spcAft>
                <a:spcPts val="0"/>
              </a:spcAft>
            </a:pPr>
            <a:r>
              <a:rPr sz="850" b="1" i="0">
                <a:solidFill>
                  <a:srgbClr val="0070C0"/>
                </a:solidFill>
                <a:latin typeface="Calibri"/>
              </a:rPr>
              <a:t>10</a:t>
            </a:r>
          </a:p>
        </p:txBody>
      </p:sp>
      <p:sp>
        <p:nvSpPr>
          <p:cNvPr id="7" name="Rounded Rectangle 6"/>
          <p:cNvSpPr/>
          <p:nvPr/>
        </p:nvSpPr>
        <p:spPr>
          <a:xfrm>
            <a:off x="584200" y="1295400"/>
            <a:ext cx="4356100" cy="1524000"/>
          </a:xfrm>
          <a:prstGeom prst="roundRect">
            <a:avLst>
              <a:gd name="adj" fmla="val 5000"/>
            </a:avLst>
          </a:prstGeom>
          <a:solidFill>
            <a:srgbClr val="FFFFFF"/>
          </a:solidFill>
          <a:ln w="1270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63500" bIns="63500"/>
          <a:lstStyle/>
          <a:p>
            <a:pPr algn="ctr"/>
          </a:p>
        </p:txBody>
      </p:sp>
      <p:sp>
        <p:nvSpPr>
          <p:cNvPr id="8" name="Rectangle 7"/>
          <p:cNvSpPr/>
          <p:nvPr/>
        </p:nvSpPr>
        <p:spPr>
          <a:xfrm>
            <a:off x="584200" y="1295400"/>
            <a:ext cx="4356100" cy="571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63500" bIns="63500"/>
          <a:lstStyle/>
          <a:p>
            <a:pPr algn="ctr"/>
          </a:p>
        </p:txBody>
      </p:sp>
      <p:sp>
        <p:nvSpPr>
          <p:cNvPr id="9" name="Oval 8"/>
          <p:cNvSpPr/>
          <p:nvPr/>
        </p:nvSpPr>
        <p:spPr>
          <a:xfrm>
            <a:off x="812800" y="1549400"/>
            <a:ext cx="330200" cy="330200"/>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63500" bIns="63500"/>
          <a:lstStyle/>
          <a:p>
            <a:pPr algn="ctr"/>
          </a:p>
        </p:txBody>
      </p:sp>
      <p:sp>
        <p:nvSpPr>
          <p:cNvPr id="10" name="TextBox 9"/>
          <p:cNvSpPr txBox="1"/>
          <p:nvPr/>
        </p:nvSpPr>
        <p:spPr>
          <a:xfrm>
            <a:off x="812800" y="1625600"/>
            <a:ext cx="330200" cy="203200"/>
          </a:xfrm>
          <a:prstGeom prst="rect">
            <a:avLst/>
          </a:prstGeom>
          <a:noFill/>
        </p:spPr>
        <p:txBody>
          <a:bodyPr wrap="square" lIns="0" rIns="0" tIns="0" bIns="0" anchor="t">
            <a:spAutoFit/>
          </a:bodyPr>
          <a:lstStyle/>
          <a:p>
            <a:pPr algn="ctr">
              <a:lnSpc>
                <a:spcPct val="118000"/>
              </a:lnSpc>
              <a:spcBef>
                <a:spcPts val="0"/>
              </a:spcBef>
              <a:spcAft>
                <a:spcPts val="0"/>
              </a:spcAft>
            </a:pPr>
            <a:r>
              <a:rPr sz="1200" b="1" i="0">
                <a:solidFill>
                  <a:srgbClr val="FFFFFF"/>
                </a:solidFill>
                <a:latin typeface="Calibri"/>
              </a:rPr>
              <a:t>1</a:t>
            </a:r>
          </a:p>
        </p:txBody>
      </p:sp>
      <p:sp>
        <p:nvSpPr>
          <p:cNvPr id="11" name="TextBox 10"/>
          <p:cNvSpPr txBox="1"/>
          <p:nvPr/>
        </p:nvSpPr>
        <p:spPr>
          <a:xfrm>
            <a:off x="1270000" y="1574800"/>
            <a:ext cx="3416300" cy="1244600"/>
          </a:xfrm>
          <a:prstGeom prst="rect">
            <a:avLst/>
          </a:prstGeom>
          <a:noFill/>
        </p:spPr>
        <p:txBody>
          <a:bodyPr wrap="square" lIns="0" rIns="0" tIns="0" bIns="0" anchor="t">
            <a:spAutoFit/>
          </a:bodyPr>
          <a:lstStyle/>
          <a:p>
            <a:pPr algn="l">
              <a:lnSpc>
                <a:spcPct val="108000"/>
              </a:lnSpc>
              <a:spcBef>
                <a:spcPts val="0"/>
              </a:spcBef>
              <a:spcAft>
                <a:spcPts val="500"/>
              </a:spcAft>
            </a:pPr>
            <a:r>
              <a:rPr sz="1250" b="1" i="0">
                <a:solidFill>
                  <a:srgbClr val="1B2532"/>
                </a:solidFill>
                <a:latin typeface="Calibri"/>
              </a:rPr>
              <a:t>Transfer learning in practice</a:t>
            </a:r>
          </a:p>
          <a:p>
            <a:pPr>
              <a:lnSpc>
                <a:spcPct val="128000"/>
              </a:lnSpc>
              <a:spcBef>
                <a:spcPts val="0"/>
              </a:spcBef>
              <a:spcAft>
                <a:spcPts val="0"/>
              </a:spcAft>
            </a:pPr>
            <a:r>
              <a:rPr sz="1050" b="0" i="0">
                <a:solidFill>
                  <a:srgbClr val="333D4A"/>
                </a:solidFill>
                <a:latin typeface="Calibri"/>
              </a:rPr>
              <a:t>Why a small dataset rules out training from scratch, and why you freeze the backbone first and fine-tune later at a much smaller learning rate.</a:t>
            </a:r>
          </a:p>
        </p:txBody>
      </p:sp>
      <p:sp>
        <p:nvSpPr>
          <p:cNvPr id="12" name="Rounded Rectangle 11"/>
          <p:cNvSpPr/>
          <p:nvPr/>
        </p:nvSpPr>
        <p:spPr>
          <a:xfrm>
            <a:off x="5143500" y="1295400"/>
            <a:ext cx="4356100" cy="1524000"/>
          </a:xfrm>
          <a:prstGeom prst="roundRect">
            <a:avLst>
              <a:gd name="adj" fmla="val 5000"/>
            </a:avLst>
          </a:prstGeom>
          <a:solidFill>
            <a:srgbClr val="FFFFFF"/>
          </a:solidFill>
          <a:ln w="1270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63500" bIns="63500"/>
          <a:lstStyle/>
          <a:p>
            <a:pPr algn="ctr"/>
          </a:p>
        </p:txBody>
      </p:sp>
      <p:sp>
        <p:nvSpPr>
          <p:cNvPr id="13" name="Rectangle 12"/>
          <p:cNvSpPr/>
          <p:nvPr/>
        </p:nvSpPr>
        <p:spPr>
          <a:xfrm>
            <a:off x="5143500" y="1295400"/>
            <a:ext cx="4356100" cy="57150"/>
          </a:xfrm>
          <a:prstGeom prst="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63500" bIns="63500"/>
          <a:lstStyle/>
          <a:p>
            <a:pPr algn="ctr"/>
          </a:p>
        </p:txBody>
      </p:sp>
      <p:sp>
        <p:nvSpPr>
          <p:cNvPr id="14" name="Oval 13"/>
          <p:cNvSpPr/>
          <p:nvPr/>
        </p:nvSpPr>
        <p:spPr>
          <a:xfrm>
            <a:off x="5372100" y="1549400"/>
            <a:ext cx="330200" cy="330200"/>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63500" bIns="63500"/>
          <a:lstStyle/>
          <a:p>
            <a:pPr algn="ctr"/>
          </a:p>
        </p:txBody>
      </p:sp>
      <p:sp>
        <p:nvSpPr>
          <p:cNvPr id="15" name="TextBox 14"/>
          <p:cNvSpPr txBox="1"/>
          <p:nvPr/>
        </p:nvSpPr>
        <p:spPr>
          <a:xfrm>
            <a:off x="5372100" y="1625600"/>
            <a:ext cx="330200" cy="203200"/>
          </a:xfrm>
          <a:prstGeom prst="rect">
            <a:avLst/>
          </a:prstGeom>
          <a:noFill/>
        </p:spPr>
        <p:txBody>
          <a:bodyPr wrap="square" lIns="0" rIns="0" tIns="0" bIns="0" anchor="t">
            <a:spAutoFit/>
          </a:bodyPr>
          <a:lstStyle/>
          <a:p>
            <a:pPr algn="ctr">
              <a:lnSpc>
                <a:spcPct val="118000"/>
              </a:lnSpc>
              <a:spcBef>
                <a:spcPts val="0"/>
              </a:spcBef>
              <a:spcAft>
                <a:spcPts val="0"/>
              </a:spcAft>
            </a:pPr>
            <a:r>
              <a:rPr sz="1200" b="1" i="0">
                <a:solidFill>
                  <a:srgbClr val="FFFFFF"/>
                </a:solidFill>
                <a:latin typeface="Calibri"/>
              </a:rPr>
              <a:t>2</a:t>
            </a:r>
          </a:p>
        </p:txBody>
      </p:sp>
      <p:sp>
        <p:nvSpPr>
          <p:cNvPr id="16" name="TextBox 15"/>
          <p:cNvSpPr txBox="1"/>
          <p:nvPr/>
        </p:nvSpPr>
        <p:spPr>
          <a:xfrm>
            <a:off x="5829300" y="1574800"/>
            <a:ext cx="3416300" cy="1244600"/>
          </a:xfrm>
          <a:prstGeom prst="rect">
            <a:avLst/>
          </a:prstGeom>
          <a:noFill/>
        </p:spPr>
        <p:txBody>
          <a:bodyPr wrap="square" lIns="0" rIns="0" tIns="0" bIns="0" anchor="t">
            <a:spAutoFit/>
          </a:bodyPr>
          <a:lstStyle/>
          <a:p>
            <a:pPr algn="l">
              <a:lnSpc>
                <a:spcPct val="108000"/>
              </a:lnSpc>
              <a:spcBef>
                <a:spcPts val="0"/>
              </a:spcBef>
              <a:spcAft>
                <a:spcPts val="500"/>
              </a:spcAft>
            </a:pPr>
            <a:r>
              <a:rPr sz="1250" b="1" i="0">
                <a:solidFill>
                  <a:srgbClr val="1B2532"/>
                </a:solidFill>
                <a:latin typeface="Calibri"/>
              </a:rPr>
              <a:t>Reading a CNN architecture</a:t>
            </a:r>
          </a:p>
          <a:p>
            <a:pPr>
              <a:lnSpc>
                <a:spcPct val="128000"/>
              </a:lnSpc>
              <a:spcBef>
                <a:spcPts val="0"/>
              </a:spcBef>
              <a:spcAft>
                <a:spcPts val="0"/>
              </a:spcAft>
            </a:pPr>
            <a:r>
              <a:rPr sz="1050" b="0" i="0">
                <a:solidFill>
                  <a:srgbClr val="333D4A"/>
                </a:solidFill>
                <a:latin typeface="Calibri"/>
              </a:rPr>
              <a:t>Depthwise separable convolutions, inverted residuals and linear bottlenecks — and picking a model for the deployment target rather than for a benchmark.</a:t>
            </a:r>
          </a:p>
        </p:txBody>
      </p:sp>
      <p:sp>
        <p:nvSpPr>
          <p:cNvPr id="17" name="Rounded Rectangle 16"/>
          <p:cNvSpPr/>
          <p:nvPr/>
        </p:nvSpPr>
        <p:spPr>
          <a:xfrm>
            <a:off x="584200" y="3048000"/>
            <a:ext cx="4356100" cy="1524000"/>
          </a:xfrm>
          <a:prstGeom prst="roundRect">
            <a:avLst>
              <a:gd name="adj" fmla="val 5000"/>
            </a:avLst>
          </a:prstGeom>
          <a:solidFill>
            <a:srgbClr val="FFFFFF"/>
          </a:solidFill>
          <a:ln w="1270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63500" bIns="63500"/>
          <a:lstStyle/>
          <a:p>
            <a:pPr algn="ctr"/>
          </a:p>
        </p:txBody>
      </p:sp>
      <p:sp>
        <p:nvSpPr>
          <p:cNvPr id="18" name="Rectangle 17"/>
          <p:cNvSpPr/>
          <p:nvPr/>
        </p:nvSpPr>
        <p:spPr>
          <a:xfrm>
            <a:off x="584200" y="3048000"/>
            <a:ext cx="4356100" cy="57150"/>
          </a:xfrm>
          <a:prstGeom prst="rect">
            <a:avLst/>
          </a:prstGeom>
          <a:solidFill>
            <a:srgbClr val="1187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63500" bIns="63500"/>
          <a:lstStyle/>
          <a:p>
            <a:pPr algn="ctr"/>
          </a:p>
        </p:txBody>
      </p:sp>
      <p:sp>
        <p:nvSpPr>
          <p:cNvPr id="19" name="Oval 18"/>
          <p:cNvSpPr/>
          <p:nvPr/>
        </p:nvSpPr>
        <p:spPr>
          <a:xfrm>
            <a:off x="812800" y="3302000"/>
            <a:ext cx="330200" cy="330200"/>
          </a:xfrm>
          <a:prstGeom prst="ellipse">
            <a:avLst/>
          </a:prstGeom>
          <a:solidFill>
            <a:srgbClr val="1187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63500" bIns="63500"/>
          <a:lstStyle/>
          <a:p>
            <a:pPr algn="ctr"/>
          </a:p>
        </p:txBody>
      </p:sp>
      <p:sp>
        <p:nvSpPr>
          <p:cNvPr id="20" name="TextBox 19"/>
          <p:cNvSpPr txBox="1"/>
          <p:nvPr/>
        </p:nvSpPr>
        <p:spPr>
          <a:xfrm>
            <a:off x="812800" y="3378200"/>
            <a:ext cx="330200" cy="203200"/>
          </a:xfrm>
          <a:prstGeom prst="rect">
            <a:avLst/>
          </a:prstGeom>
          <a:noFill/>
        </p:spPr>
        <p:txBody>
          <a:bodyPr wrap="square" lIns="0" rIns="0" tIns="0" bIns="0" anchor="t">
            <a:spAutoFit/>
          </a:bodyPr>
          <a:lstStyle/>
          <a:p>
            <a:pPr algn="ctr">
              <a:lnSpc>
                <a:spcPct val="118000"/>
              </a:lnSpc>
              <a:spcBef>
                <a:spcPts val="0"/>
              </a:spcBef>
              <a:spcAft>
                <a:spcPts val="0"/>
              </a:spcAft>
            </a:pPr>
            <a:r>
              <a:rPr sz="1200" b="1" i="0">
                <a:solidFill>
                  <a:srgbClr val="FFFFFF"/>
                </a:solidFill>
                <a:latin typeface="Calibri"/>
              </a:rPr>
              <a:t>3</a:t>
            </a:r>
          </a:p>
        </p:txBody>
      </p:sp>
      <p:sp>
        <p:nvSpPr>
          <p:cNvPr id="21" name="TextBox 20"/>
          <p:cNvSpPr txBox="1"/>
          <p:nvPr/>
        </p:nvSpPr>
        <p:spPr>
          <a:xfrm>
            <a:off x="1270000" y="3327400"/>
            <a:ext cx="3416300" cy="1244600"/>
          </a:xfrm>
          <a:prstGeom prst="rect">
            <a:avLst/>
          </a:prstGeom>
          <a:noFill/>
        </p:spPr>
        <p:txBody>
          <a:bodyPr wrap="square" lIns="0" rIns="0" tIns="0" bIns="0" anchor="t">
            <a:spAutoFit/>
          </a:bodyPr>
          <a:lstStyle/>
          <a:p>
            <a:pPr algn="l">
              <a:lnSpc>
                <a:spcPct val="108000"/>
              </a:lnSpc>
              <a:spcBef>
                <a:spcPts val="0"/>
              </a:spcBef>
              <a:spcAft>
                <a:spcPts val="500"/>
              </a:spcAft>
            </a:pPr>
            <a:r>
              <a:rPr sz="1250" b="1" i="0">
                <a:solidFill>
                  <a:srgbClr val="1B2532"/>
                </a:solidFill>
                <a:latin typeface="Calibri"/>
              </a:rPr>
              <a:t>Data-centric problem solving</a:t>
            </a:r>
          </a:p>
          <a:p>
            <a:pPr>
              <a:lnSpc>
                <a:spcPct val="128000"/>
              </a:lnSpc>
              <a:spcBef>
                <a:spcPts val="0"/>
              </a:spcBef>
              <a:spcAft>
                <a:spcPts val="0"/>
              </a:spcAft>
            </a:pPr>
            <a:r>
              <a:rPr sz="1050" b="0" i="0">
                <a:solidFill>
                  <a:srgbClr val="333D4A"/>
                </a:solidFill>
                <a:latin typeface="Calibri"/>
              </a:rPr>
              <a:t>When the labels you need do not exist, engineer them: classical CV became a labelling tool instead of waiting on manual annotation.</a:t>
            </a:r>
          </a:p>
        </p:txBody>
      </p:sp>
      <p:sp>
        <p:nvSpPr>
          <p:cNvPr id="22" name="Rounded Rectangle 21"/>
          <p:cNvSpPr/>
          <p:nvPr/>
        </p:nvSpPr>
        <p:spPr>
          <a:xfrm>
            <a:off x="5143500" y="3048000"/>
            <a:ext cx="4356100" cy="1524000"/>
          </a:xfrm>
          <a:prstGeom prst="roundRect">
            <a:avLst>
              <a:gd name="adj" fmla="val 5000"/>
            </a:avLst>
          </a:prstGeom>
          <a:solidFill>
            <a:srgbClr val="FFFFFF"/>
          </a:solidFill>
          <a:ln w="1270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63500" bIns="63500"/>
          <a:lstStyle/>
          <a:p>
            <a:pPr algn="ctr"/>
          </a:p>
        </p:txBody>
      </p:sp>
      <p:sp>
        <p:nvSpPr>
          <p:cNvPr id="23" name="Rectangle 22"/>
          <p:cNvSpPr/>
          <p:nvPr/>
        </p:nvSpPr>
        <p:spPr>
          <a:xfrm>
            <a:off x="5143500" y="3048000"/>
            <a:ext cx="4356100" cy="57150"/>
          </a:xfrm>
          <a:prstGeom prst="rect">
            <a:avLst/>
          </a:prstGeom>
          <a:solidFill>
            <a:srgbClr val="1187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63500" bIns="63500"/>
          <a:lstStyle/>
          <a:p>
            <a:pPr algn="ctr"/>
          </a:p>
        </p:txBody>
      </p:sp>
      <p:sp>
        <p:nvSpPr>
          <p:cNvPr id="24" name="Oval 23"/>
          <p:cNvSpPr/>
          <p:nvPr/>
        </p:nvSpPr>
        <p:spPr>
          <a:xfrm>
            <a:off x="5372100" y="3302000"/>
            <a:ext cx="330200" cy="330200"/>
          </a:xfrm>
          <a:prstGeom prst="ellipse">
            <a:avLst/>
          </a:prstGeom>
          <a:solidFill>
            <a:srgbClr val="1187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63500" bIns="63500"/>
          <a:lstStyle/>
          <a:p>
            <a:pPr algn="ctr"/>
          </a:p>
        </p:txBody>
      </p:sp>
      <p:sp>
        <p:nvSpPr>
          <p:cNvPr id="25" name="TextBox 24"/>
          <p:cNvSpPr txBox="1"/>
          <p:nvPr/>
        </p:nvSpPr>
        <p:spPr>
          <a:xfrm>
            <a:off x="5372100" y="3378200"/>
            <a:ext cx="330200" cy="203200"/>
          </a:xfrm>
          <a:prstGeom prst="rect">
            <a:avLst/>
          </a:prstGeom>
          <a:noFill/>
        </p:spPr>
        <p:txBody>
          <a:bodyPr wrap="square" lIns="0" rIns="0" tIns="0" bIns="0" anchor="t">
            <a:spAutoFit/>
          </a:bodyPr>
          <a:lstStyle/>
          <a:p>
            <a:pPr algn="ctr">
              <a:lnSpc>
                <a:spcPct val="118000"/>
              </a:lnSpc>
              <a:spcBef>
                <a:spcPts val="0"/>
              </a:spcBef>
              <a:spcAft>
                <a:spcPts val="0"/>
              </a:spcAft>
            </a:pPr>
            <a:r>
              <a:rPr sz="1200" b="1" i="0">
                <a:solidFill>
                  <a:srgbClr val="FFFFFF"/>
                </a:solidFill>
                <a:latin typeface="Calibri"/>
              </a:rPr>
              <a:t>4</a:t>
            </a:r>
          </a:p>
        </p:txBody>
      </p:sp>
      <p:sp>
        <p:nvSpPr>
          <p:cNvPr id="26" name="TextBox 25"/>
          <p:cNvSpPr txBox="1"/>
          <p:nvPr/>
        </p:nvSpPr>
        <p:spPr>
          <a:xfrm>
            <a:off x="5829300" y="3327400"/>
            <a:ext cx="3416300" cy="1244600"/>
          </a:xfrm>
          <a:prstGeom prst="rect">
            <a:avLst/>
          </a:prstGeom>
          <a:noFill/>
        </p:spPr>
        <p:txBody>
          <a:bodyPr wrap="square" lIns="0" rIns="0" tIns="0" bIns="0" anchor="t">
            <a:spAutoFit/>
          </a:bodyPr>
          <a:lstStyle/>
          <a:p>
            <a:pPr algn="l">
              <a:lnSpc>
                <a:spcPct val="108000"/>
              </a:lnSpc>
              <a:spcBef>
                <a:spcPts val="0"/>
              </a:spcBef>
              <a:spcAft>
                <a:spcPts val="500"/>
              </a:spcAft>
            </a:pPr>
            <a:r>
              <a:rPr sz="1250" b="1" i="0">
                <a:solidFill>
                  <a:srgbClr val="1B2532"/>
                </a:solidFill>
                <a:latin typeface="Calibri"/>
              </a:rPr>
              <a:t>Debugging model behaviour</a:t>
            </a:r>
          </a:p>
          <a:p>
            <a:pPr>
              <a:lnSpc>
                <a:spcPct val="128000"/>
              </a:lnSpc>
              <a:spcBef>
                <a:spcPts val="0"/>
              </a:spcBef>
              <a:spcAft>
                <a:spcPts val="0"/>
              </a:spcAft>
            </a:pPr>
            <a:r>
              <a:rPr sz="1050" b="0" i="0">
                <a:solidFill>
                  <a:srgbClr val="333D4A"/>
                </a:solidFill>
                <a:latin typeface="Calibri"/>
              </a:rPr>
              <a:t>Diagnosing class bias from the output distribution and correcting it at inference, and choosing confidence thresholds deliberately.</a:t>
            </a:r>
          </a:p>
        </p:txBody>
      </p:sp>
      <p:sp>
        <p:nvSpPr>
          <p:cNvPr id="27" name="Rounded Rectangle 26"/>
          <p:cNvSpPr/>
          <p:nvPr/>
        </p:nvSpPr>
        <p:spPr>
          <a:xfrm>
            <a:off x="584200" y="4800600"/>
            <a:ext cx="4356100" cy="1524000"/>
          </a:xfrm>
          <a:prstGeom prst="roundRect">
            <a:avLst>
              <a:gd name="adj" fmla="val 5000"/>
            </a:avLst>
          </a:prstGeom>
          <a:solidFill>
            <a:srgbClr val="FFFFFF"/>
          </a:solidFill>
          <a:ln w="1270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63500" bIns="63500"/>
          <a:lstStyle/>
          <a:p>
            <a:pPr algn="ctr"/>
          </a:p>
        </p:txBody>
      </p:sp>
      <p:sp>
        <p:nvSpPr>
          <p:cNvPr id="28" name="Rectangle 27"/>
          <p:cNvSpPr/>
          <p:nvPr/>
        </p:nvSpPr>
        <p:spPr>
          <a:xfrm>
            <a:off x="584200" y="4800600"/>
            <a:ext cx="4356100" cy="57150"/>
          </a:xfrm>
          <a:prstGeom prst="rect">
            <a:avLst/>
          </a:prstGeom>
          <a:solidFill>
            <a:srgbClr val="C27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63500" bIns="63500"/>
          <a:lstStyle/>
          <a:p>
            <a:pPr algn="ctr"/>
          </a:p>
        </p:txBody>
      </p:sp>
      <p:sp>
        <p:nvSpPr>
          <p:cNvPr id="29" name="Oval 28"/>
          <p:cNvSpPr/>
          <p:nvPr/>
        </p:nvSpPr>
        <p:spPr>
          <a:xfrm>
            <a:off x="812800" y="5054600"/>
            <a:ext cx="330200" cy="330200"/>
          </a:xfrm>
          <a:prstGeom prst="ellipse">
            <a:avLst/>
          </a:prstGeom>
          <a:solidFill>
            <a:srgbClr val="C27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63500" bIns="63500"/>
          <a:lstStyle/>
          <a:p>
            <a:pPr algn="ctr"/>
          </a:p>
        </p:txBody>
      </p:sp>
      <p:sp>
        <p:nvSpPr>
          <p:cNvPr id="30" name="TextBox 29"/>
          <p:cNvSpPr txBox="1"/>
          <p:nvPr/>
        </p:nvSpPr>
        <p:spPr>
          <a:xfrm>
            <a:off x="812800" y="5130800"/>
            <a:ext cx="330200" cy="203200"/>
          </a:xfrm>
          <a:prstGeom prst="rect">
            <a:avLst/>
          </a:prstGeom>
          <a:noFill/>
        </p:spPr>
        <p:txBody>
          <a:bodyPr wrap="square" lIns="0" rIns="0" tIns="0" bIns="0" anchor="t">
            <a:spAutoFit/>
          </a:bodyPr>
          <a:lstStyle/>
          <a:p>
            <a:pPr algn="ctr">
              <a:lnSpc>
                <a:spcPct val="118000"/>
              </a:lnSpc>
              <a:spcBef>
                <a:spcPts val="0"/>
              </a:spcBef>
              <a:spcAft>
                <a:spcPts val="0"/>
              </a:spcAft>
            </a:pPr>
            <a:r>
              <a:rPr sz="1200" b="1" i="0">
                <a:solidFill>
                  <a:srgbClr val="FFFFFF"/>
                </a:solidFill>
                <a:latin typeface="Calibri"/>
              </a:rPr>
              <a:t>5</a:t>
            </a:r>
          </a:p>
        </p:txBody>
      </p:sp>
      <p:sp>
        <p:nvSpPr>
          <p:cNvPr id="31" name="TextBox 30"/>
          <p:cNvSpPr txBox="1"/>
          <p:nvPr/>
        </p:nvSpPr>
        <p:spPr>
          <a:xfrm>
            <a:off x="1270000" y="5080000"/>
            <a:ext cx="3416300" cy="1244600"/>
          </a:xfrm>
          <a:prstGeom prst="rect">
            <a:avLst/>
          </a:prstGeom>
          <a:noFill/>
        </p:spPr>
        <p:txBody>
          <a:bodyPr wrap="square" lIns="0" rIns="0" tIns="0" bIns="0" anchor="t">
            <a:spAutoFit/>
          </a:bodyPr>
          <a:lstStyle/>
          <a:p>
            <a:pPr algn="l">
              <a:lnSpc>
                <a:spcPct val="108000"/>
              </a:lnSpc>
              <a:spcBef>
                <a:spcPts val="0"/>
              </a:spcBef>
              <a:spcAft>
                <a:spcPts val="500"/>
              </a:spcAft>
            </a:pPr>
            <a:r>
              <a:rPr sz="1250" b="1" i="0">
                <a:solidFill>
                  <a:srgbClr val="1B2532"/>
                </a:solidFill>
                <a:latin typeface="Calibri"/>
              </a:rPr>
              <a:t>Full-stack ML deployment</a:t>
            </a:r>
          </a:p>
          <a:p>
            <a:pPr>
              <a:lnSpc>
                <a:spcPct val="128000"/>
              </a:lnSpc>
              <a:spcBef>
                <a:spcPts val="0"/>
              </a:spcBef>
              <a:spcAft>
                <a:spcPts val="0"/>
              </a:spcAft>
            </a:pPr>
            <a:r>
              <a:rPr sz="1050" b="0" i="0">
                <a:solidFill>
                  <a:srgbClr val="333D4A"/>
                </a:solidFill>
                <a:latin typeface="Calibri"/>
              </a:rPr>
              <a:t>FastAPI service design, loading models once at startup, handling multipart uploads safely, and serving a built React SPA from the same process.</a:t>
            </a:r>
          </a:p>
        </p:txBody>
      </p:sp>
      <p:sp>
        <p:nvSpPr>
          <p:cNvPr id="32" name="Rounded Rectangle 31"/>
          <p:cNvSpPr/>
          <p:nvPr/>
        </p:nvSpPr>
        <p:spPr>
          <a:xfrm>
            <a:off x="5143500" y="4800600"/>
            <a:ext cx="4356100" cy="1524000"/>
          </a:xfrm>
          <a:prstGeom prst="roundRect">
            <a:avLst>
              <a:gd name="adj" fmla="val 5000"/>
            </a:avLst>
          </a:prstGeom>
          <a:solidFill>
            <a:srgbClr val="FFFFFF"/>
          </a:solidFill>
          <a:ln w="1270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63500" bIns="63500"/>
          <a:lstStyle/>
          <a:p>
            <a:pPr algn="ctr"/>
          </a:p>
        </p:txBody>
      </p:sp>
      <p:sp>
        <p:nvSpPr>
          <p:cNvPr id="33" name="Rectangle 32"/>
          <p:cNvSpPr/>
          <p:nvPr/>
        </p:nvSpPr>
        <p:spPr>
          <a:xfrm>
            <a:off x="5143500" y="4800600"/>
            <a:ext cx="4356100" cy="57150"/>
          </a:xfrm>
          <a:prstGeom prst="rect">
            <a:avLst/>
          </a:prstGeom>
          <a:solidFill>
            <a:srgbClr val="C27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63500" bIns="63500"/>
          <a:lstStyle/>
          <a:p>
            <a:pPr algn="ctr"/>
          </a:p>
        </p:txBody>
      </p:sp>
      <p:sp>
        <p:nvSpPr>
          <p:cNvPr id="34" name="Oval 33"/>
          <p:cNvSpPr/>
          <p:nvPr/>
        </p:nvSpPr>
        <p:spPr>
          <a:xfrm>
            <a:off x="5372100" y="5054600"/>
            <a:ext cx="330200" cy="330200"/>
          </a:xfrm>
          <a:prstGeom prst="ellipse">
            <a:avLst/>
          </a:prstGeom>
          <a:solidFill>
            <a:srgbClr val="C2710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63500" bIns="63500"/>
          <a:lstStyle/>
          <a:p>
            <a:pPr algn="ctr"/>
          </a:p>
        </p:txBody>
      </p:sp>
      <p:sp>
        <p:nvSpPr>
          <p:cNvPr id="35" name="TextBox 34"/>
          <p:cNvSpPr txBox="1"/>
          <p:nvPr/>
        </p:nvSpPr>
        <p:spPr>
          <a:xfrm>
            <a:off x="5372100" y="5130800"/>
            <a:ext cx="330200" cy="203200"/>
          </a:xfrm>
          <a:prstGeom prst="rect">
            <a:avLst/>
          </a:prstGeom>
          <a:noFill/>
        </p:spPr>
        <p:txBody>
          <a:bodyPr wrap="square" lIns="0" rIns="0" tIns="0" bIns="0" anchor="t">
            <a:spAutoFit/>
          </a:bodyPr>
          <a:lstStyle/>
          <a:p>
            <a:pPr algn="ctr">
              <a:lnSpc>
                <a:spcPct val="118000"/>
              </a:lnSpc>
              <a:spcBef>
                <a:spcPts val="0"/>
              </a:spcBef>
              <a:spcAft>
                <a:spcPts val="0"/>
              </a:spcAft>
            </a:pPr>
            <a:r>
              <a:rPr sz="1200" b="1" i="0">
                <a:solidFill>
                  <a:srgbClr val="FFFFFF"/>
                </a:solidFill>
                <a:latin typeface="Calibri"/>
              </a:rPr>
              <a:t>6</a:t>
            </a:r>
          </a:p>
        </p:txBody>
      </p:sp>
      <p:sp>
        <p:nvSpPr>
          <p:cNvPr id="36" name="TextBox 35"/>
          <p:cNvSpPr txBox="1"/>
          <p:nvPr/>
        </p:nvSpPr>
        <p:spPr>
          <a:xfrm>
            <a:off x="5829300" y="5080000"/>
            <a:ext cx="3416300" cy="1244600"/>
          </a:xfrm>
          <a:prstGeom prst="rect">
            <a:avLst/>
          </a:prstGeom>
          <a:noFill/>
        </p:spPr>
        <p:txBody>
          <a:bodyPr wrap="square" lIns="0" rIns="0" tIns="0" bIns="0" anchor="t">
            <a:spAutoFit/>
          </a:bodyPr>
          <a:lstStyle/>
          <a:p>
            <a:pPr algn="l">
              <a:lnSpc>
                <a:spcPct val="108000"/>
              </a:lnSpc>
              <a:spcBef>
                <a:spcPts val="0"/>
              </a:spcBef>
              <a:spcAft>
                <a:spcPts val="500"/>
              </a:spcAft>
            </a:pPr>
            <a:r>
              <a:rPr sz="1250" b="1" i="0">
                <a:solidFill>
                  <a:srgbClr val="1B2532"/>
                </a:solidFill>
                <a:latin typeface="Calibri"/>
              </a:rPr>
              <a:t>Engineering judgement</a:t>
            </a:r>
          </a:p>
          <a:p>
            <a:pPr>
              <a:lnSpc>
                <a:spcPct val="128000"/>
              </a:lnSpc>
              <a:spcBef>
                <a:spcPts val="0"/>
              </a:spcBef>
              <a:spcAft>
                <a:spcPts val="0"/>
              </a:spcAft>
            </a:pPr>
            <a:r>
              <a:rPr sz="1050" b="0" i="0">
                <a:solidFill>
                  <a:srgbClr val="333D4A"/>
                </a:solidFill>
                <a:latin typeface="Calibri"/>
              </a:rPr>
              <a:t>Documenting trade-offs honestly — pseudo-labels are not ground truth, calibration is not retraining — and being able to state the system's limits.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84200" y="406400"/>
            <a:ext cx="8915400" cy="431800"/>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0070C0"/>
                </a:solidFill>
                <a:latin typeface="Calibri"/>
              </a:rPr>
              <a:t>REFERENCES</a:t>
            </a:r>
          </a:p>
        </p:txBody>
      </p:sp>
      <p:cxnSp>
        <p:nvCxnSpPr>
          <p:cNvPr id="3" name="Connector 2"/>
          <p:cNvCxnSpPr/>
          <p:nvPr/>
        </p:nvCxnSpPr>
        <p:spPr>
          <a:xfrm>
            <a:off x="584200" y="901700"/>
            <a:ext cx="8915400" cy="0"/>
          </a:xfrm>
          <a:prstGeom prst="line">
            <a:avLst/>
          </a:prstGeom>
          <a:ln w="25400">
            <a:solidFill>
              <a:srgbClr val="0070C0"/>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584200" y="7086600"/>
            <a:ext cx="8915400" cy="0"/>
          </a:xfrm>
          <a:prstGeom prst="line">
            <a:avLst/>
          </a:prstGeom>
          <a:ln w="9525">
            <a:solidFill>
              <a:srgbClr val="D8DEE5"/>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84200" y="7188200"/>
            <a:ext cx="6240780" cy="177800"/>
          </a:xfrm>
          <a:prstGeom prst="rect">
            <a:avLst/>
          </a:prstGeom>
          <a:noFill/>
        </p:spPr>
        <p:txBody>
          <a:bodyPr wrap="square" lIns="0" rIns="0" tIns="0" bIns="0" anchor="t">
            <a:spAutoFit/>
          </a:bodyPr>
          <a:lstStyle/>
          <a:p>
            <a:pPr algn="l">
              <a:lnSpc>
                <a:spcPct val="118000"/>
              </a:lnSpc>
              <a:spcBef>
                <a:spcPts val="0"/>
              </a:spcBef>
              <a:spcAft>
                <a:spcPts val="0"/>
              </a:spcAft>
            </a:pPr>
            <a:r>
              <a:rPr sz="850" b="0" i="0">
                <a:solidFill>
                  <a:srgbClr val="6B7784"/>
                </a:solidFill>
                <a:latin typeface="Calibri"/>
              </a:rPr>
              <a:t>Fresh Vision  ·  Practice School-II  ·  SOET, BML Munjal University</a:t>
            </a:r>
          </a:p>
        </p:txBody>
      </p:sp>
      <p:sp>
        <p:nvSpPr>
          <p:cNvPr id="6" name="TextBox 5"/>
          <p:cNvSpPr txBox="1"/>
          <p:nvPr/>
        </p:nvSpPr>
        <p:spPr>
          <a:xfrm>
            <a:off x="8737600" y="7188200"/>
            <a:ext cx="762000" cy="177800"/>
          </a:xfrm>
          <a:prstGeom prst="rect">
            <a:avLst/>
          </a:prstGeom>
          <a:noFill/>
        </p:spPr>
        <p:txBody>
          <a:bodyPr wrap="square" lIns="0" rIns="0" tIns="0" bIns="0" anchor="t">
            <a:spAutoFit/>
          </a:bodyPr>
          <a:lstStyle/>
          <a:p>
            <a:pPr algn="r">
              <a:lnSpc>
                <a:spcPct val="118000"/>
              </a:lnSpc>
              <a:spcBef>
                <a:spcPts val="0"/>
              </a:spcBef>
              <a:spcAft>
                <a:spcPts val="0"/>
              </a:spcAft>
            </a:pPr>
            <a:r>
              <a:rPr sz="850" b="1" i="0">
                <a:solidFill>
                  <a:srgbClr val="0070C0"/>
                </a:solidFill>
                <a:latin typeface="Calibri"/>
              </a:rPr>
              <a:t>11</a:t>
            </a:r>
          </a:p>
        </p:txBody>
      </p:sp>
      <p:sp>
        <p:nvSpPr>
          <p:cNvPr id="7" name="TextBox 6"/>
          <p:cNvSpPr txBox="1"/>
          <p:nvPr/>
        </p:nvSpPr>
        <p:spPr>
          <a:xfrm>
            <a:off x="584200" y="1371600"/>
            <a:ext cx="330200" cy="254000"/>
          </a:xfrm>
          <a:prstGeom prst="rect">
            <a:avLst/>
          </a:prstGeom>
          <a:noFill/>
        </p:spPr>
        <p:txBody>
          <a:bodyPr wrap="square" lIns="0" rIns="0" tIns="0" bIns="0" anchor="t">
            <a:spAutoFit/>
          </a:bodyPr>
          <a:lstStyle/>
          <a:p>
            <a:pPr algn="l">
              <a:lnSpc>
                <a:spcPct val="118000"/>
              </a:lnSpc>
              <a:spcBef>
                <a:spcPts val="0"/>
              </a:spcBef>
              <a:spcAft>
                <a:spcPts val="0"/>
              </a:spcAft>
            </a:pPr>
            <a:r>
              <a:rPr sz="1100" b="1" i="0">
                <a:solidFill>
                  <a:srgbClr val="0070C0"/>
                </a:solidFill>
                <a:latin typeface="Calibri"/>
              </a:rPr>
              <a:t>[1]</a:t>
            </a:r>
          </a:p>
        </p:txBody>
      </p:sp>
      <p:sp>
        <p:nvSpPr>
          <p:cNvPr id="8" name="TextBox 7"/>
          <p:cNvSpPr txBox="1"/>
          <p:nvPr/>
        </p:nvSpPr>
        <p:spPr>
          <a:xfrm>
            <a:off x="990600" y="1371600"/>
            <a:ext cx="8509000" cy="508000"/>
          </a:xfrm>
          <a:prstGeom prst="rect">
            <a:avLst/>
          </a:prstGeom>
          <a:noFill/>
        </p:spPr>
        <p:txBody>
          <a:bodyPr wrap="square" lIns="0" rIns="0" tIns="0" bIns="0" anchor="t">
            <a:spAutoFit/>
          </a:bodyPr>
          <a:lstStyle/>
          <a:p>
            <a:pPr algn="l">
              <a:lnSpc>
                <a:spcPct val="125000"/>
              </a:lnSpc>
              <a:spcBef>
                <a:spcPts val="0"/>
              </a:spcBef>
              <a:spcAft>
                <a:spcPts val="0"/>
              </a:spcAft>
            </a:pPr>
            <a:r>
              <a:rPr sz="1150" b="0">
                <a:solidFill>
                  <a:srgbClr val="333D4A"/>
                </a:solidFill>
                <a:latin typeface="Calibri"/>
              </a:rPr>
              <a:t>M. Sandler, A. Howard, M. Zhu, A. Zhmoginov and L.-C. Chen, </a:t>
            </a:r>
            <a:r>
              <a:rPr sz="1150" b="1">
                <a:solidFill>
                  <a:srgbClr val="1B2532"/>
                </a:solidFill>
                <a:latin typeface="Calibri"/>
              </a:rPr>
              <a:t>“MobileNetV2: Inverted Residuals and Linear Bottlenecks,”</a:t>
            </a:r>
            <a:r>
              <a:rPr sz="1150" b="0">
                <a:solidFill>
                  <a:srgbClr val="333D4A"/>
                </a:solidFill>
                <a:latin typeface="Calibri"/>
              </a:rPr>
              <a:t> Proc. IEEE/CVF CVPR, 2018. arXiv:1801.04381.</a:t>
            </a:r>
          </a:p>
        </p:txBody>
      </p:sp>
      <p:sp>
        <p:nvSpPr>
          <p:cNvPr id="9" name="TextBox 8"/>
          <p:cNvSpPr txBox="1"/>
          <p:nvPr/>
        </p:nvSpPr>
        <p:spPr>
          <a:xfrm>
            <a:off x="584200" y="2006600"/>
            <a:ext cx="330200" cy="254000"/>
          </a:xfrm>
          <a:prstGeom prst="rect">
            <a:avLst/>
          </a:prstGeom>
          <a:noFill/>
        </p:spPr>
        <p:txBody>
          <a:bodyPr wrap="square" lIns="0" rIns="0" tIns="0" bIns="0" anchor="t">
            <a:spAutoFit/>
          </a:bodyPr>
          <a:lstStyle/>
          <a:p>
            <a:pPr algn="l">
              <a:lnSpc>
                <a:spcPct val="118000"/>
              </a:lnSpc>
              <a:spcBef>
                <a:spcPts val="0"/>
              </a:spcBef>
              <a:spcAft>
                <a:spcPts val="0"/>
              </a:spcAft>
            </a:pPr>
            <a:r>
              <a:rPr sz="1100" b="1" i="0">
                <a:solidFill>
                  <a:srgbClr val="0070C0"/>
                </a:solidFill>
                <a:latin typeface="Calibri"/>
              </a:rPr>
              <a:t>[2]</a:t>
            </a:r>
          </a:p>
        </p:txBody>
      </p:sp>
      <p:sp>
        <p:nvSpPr>
          <p:cNvPr id="10" name="TextBox 9"/>
          <p:cNvSpPr txBox="1"/>
          <p:nvPr/>
        </p:nvSpPr>
        <p:spPr>
          <a:xfrm>
            <a:off x="990600" y="2006600"/>
            <a:ext cx="8509000" cy="508000"/>
          </a:xfrm>
          <a:prstGeom prst="rect">
            <a:avLst/>
          </a:prstGeom>
          <a:noFill/>
        </p:spPr>
        <p:txBody>
          <a:bodyPr wrap="square" lIns="0" rIns="0" tIns="0" bIns="0" anchor="t">
            <a:spAutoFit/>
          </a:bodyPr>
          <a:lstStyle/>
          <a:p>
            <a:pPr algn="l">
              <a:lnSpc>
                <a:spcPct val="125000"/>
              </a:lnSpc>
              <a:spcBef>
                <a:spcPts val="0"/>
              </a:spcBef>
              <a:spcAft>
                <a:spcPts val="0"/>
              </a:spcAft>
            </a:pPr>
            <a:r>
              <a:rPr sz="1150" b="0">
                <a:solidFill>
                  <a:srgbClr val="333D4A"/>
                </a:solidFill>
                <a:latin typeface="Calibri"/>
              </a:rPr>
              <a:t>J. Deng, W. Dong, R. Socher, L.-J. Li, K. Li and L. Fei-Fei, </a:t>
            </a:r>
            <a:r>
              <a:rPr sz="1150" b="1">
                <a:solidFill>
                  <a:srgbClr val="1B2532"/>
                </a:solidFill>
                <a:latin typeface="Calibri"/>
              </a:rPr>
              <a:t>“ImageNet: A Large-Scale Hierarchical Image Database,”</a:t>
            </a:r>
            <a:r>
              <a:rPr sz="1150" b="0">
                <a:solidFill>
                  <a:srgbClr val="333D4A"/>
                </a:solidFill>
                <a:latin typeface="Calibri"/>
              </a:rPr>
              <a:t> Proc. IEEE CVPR, 2009.</a:t>
            </a:r>
          </a:p>
        </p:txBody>
      </p:sp>
      <p:sp>
        <p:nvSpPr>
          <p:cNvPr id="11" name="TextBox 10"/>
          <p:cNvSpPr txBox="1"/>
          <p:nvPr/>
        </p:nvSpPr>
        <p:spPr>
          <a:xfrm>
            <a:off x="584200" y="2641600"/>
            <a:ext cx="330200" cy="254000"/>
          </a:xfrm>
          <a:prstGeom prst="rect">
            <a:avLst/>
          </a:prstGeom>
          <a:noFill/>
        </p:spPr>
        <p:txBody>
          <a:bodyPr wrap="square" lIns="0" rIns="0" tIns="0" bIns="0" anchor="t">
            <a:spAutoFit/>
          </a:bodyPr>
          <a:lstStyle/>
          <a:p>
            <a:pPr algn="l">
              <a:lnSpc>
                <a:spcPct val="118000"/>
              </a:lnSpc>
              <a:spcBef>
                <a:spcPts val="0"/>
              </a:spcBef>
              <a:spcAft>
                <a:spcPts val="0"/>
              </a:spcAft>
            </a:pPr>
            <a:r>
              <a:rPr sz="1100" b="1" i="0">
                <a:solidFill>
                  <a:srgbClr val="0070C0"/>
                </a:solidFill>
                <a:latin typeface="Calibri"/>
              </a:rPr>
              <a:t>[3]</a:t>
            </a:r>
          </a:p>
        </p:txBody>
      </p:sp>
      <p:sp>
        <p:nvSpPr>
          <p:cNvPr id="12" name="TextBox 11"/>
          <p:cNvSpPr txBox="1"/>
          <p:nvPr/>
        </p:nvSpPr>
        <p:spPr>
          <a:xfrm>
            <a:off x="990600" y="2641600"/>
            <a:ext cx="8509000" cy="508000"/>
          </a:xfrm>
          <a:prstGeom prst="rect">
            <a:avLst/>
          </a:prstGeom>
          <a:noFill/>
        </p:spPr>
        <p:txBody>
          <a:bodyPr wrap="square" lIns="0" rIns="0" tIns="0" bIns="0" anchor="t">
            <a:spAutoFit/>
          </a:bodyPr>
          <a:lstStyle/>
          <a:p>
            <a:pPr algn="l">
              <a:lnSpc>
                <a:spcPct val="125000"/>
              </a:lnSpc>
              <a:spcBef>
                <a:spcPts val="0"/>
              </a:spcBef>
              <a:spcAft>
                <a:spcPts val="0"/>
              </a:spcAft>
            </a:pPr>
            <a:r>
              <a:rPr sz="1150" b="0">
                <a:solidFill>
                  <a:srgbClr val="333D4A"/>
                </a:solidFill>
                <a:latin typeface="Calibri"/>
              </a:rPr>
              <a:t>Keras, </a:t>
            </a:r>
            <a:r>
              <a:rPr sz="1150" b="1">
                <a:solidFill>
                  <a:srgbClr val="1B2532"/>
                </a:solidFill>
                <a:latin typeface="Calibri"/>
              </a:rPr>
              <a:t>“Keras Applications — MobileNetV2,”</a:t>
            </a:r>
            <a:r>
              <a:rPr sz="1150" b="0">
                <a:solidFill>
                  <a:srgbClr val="333D4A"/>
                </a:solidFill>
                <a:latin typeface="Calibri"/>
              </a:rPr>
              <a:t> documentation. https://keras.io/api/applications/mobilenet/</a:t>
            </a:r>
          </a:p>
        </p:txBody>
      </p:sp>
      <p:sp>
        <p:nvSpPr>
          <p:cNvPr id="13" name="TextBox 12"/>
          <p:cNvSpPr txBox="1"/>
          <p:nvPr/>
        </p:nvSpPr>
        <p:spPr>
          <a:xfrm>
            <a:off x="584200" y="3276600"/>
            <a:ext cx="330200" cy="254000"/>
          </a:xfrm>
          <a:prstGeom prst="rect">
            <a:avLst/>
          </a:prstGeom>
          <a:noFill/>
        </p:spPr>
        <p:txBody>
          <a:bodyPr wrap="square" lIns="0" rIns="0" tIns="0" bIns="0" anchor="t">
            <a:spAutoFit/>
          </a:bodyPr>
          <a:lstStyle/>
          <a:p>
            <a:pPr algn="l">
              <a:lnSpc>
                <a:spcPct val="118000"/>
              </a:lnSpc>
              <a:spcBef>
                <a:spcPts val="0"/>
              </a:spcBef>
              <a:spcAft>
                <a:spcPts val="0"/>
              </a:spcAft>
            </a:pPr>
            <a:r>
              <a:rPr sz="1100" b="1" i="0">
                <a:solidFill>
                  <a:srgbClr val="0070C0"/>
                </a:solidFill>
                <a:latin typeface="Calibri"/>
              </a:rPr>
              <a:t>[4]</a:t>
            </a:r>
          </a:p>
        </p:txBody>
      </p:sp>
      <p:sp>
        <p:nvSpPr>
          <p:cNvPr id="14" name="TextBox 13"/>
          <p:cNvSpPr txBox="1"/>
          <p:nvPr/>
        </p:nvSpPr>
        <p:spPr>
          <a:xfrm>
            <a:off x="990600" y="3276600"/>
            <a:ext cx="8509000" cy="508000"/>
          </a:xfrm>
          <a:prstGeom prst="rect">
            <a:avLst/>
          </a:prstGeom>
          <a:noFill/>
        </p:spPr>
        <p:txBody>
          <a:bodyPr wrap="square" lIns="0" rIns="0" tIns="0" bIns="0" anchor="t">
            <a:spAutoFit/>
          </a:bodyPr>
          <a:lstStyle/>
          <a:p>
            <a:pPr algn="l">
              <a:lnSpc>
                <a:spcPct val="125000"/>
              </a:lnSpc>
              <a:spcBef>
                <a:spcPts val="0"/>
              </a:spcBef>
              <a:spcAft>
                <a:spcPts val="0"/>
              </a:spcAft>
            </a:pPr>
            <a:r>
              <a:rPr sz="1150" b="0">
                <a:solidFill>
                  <a:srgbClr val="333D4A"/>
                </a:solidFill>
                <a:latin typeface="Calibri"/>
              </a:rPr>
              <a:t>TensorFlow, </a:t>
            </a:r>
            <a:r>
              <a:rPr sz="1150" b="1">
                <a:solidFill>
                  <a:srgbClr val="1B2532"/>
                </a:solidFill>
                <a:latin typeface="Calibri"/>
              </a:rPr>
              <a:t>“Transfer learning and fine-tuning,”</a:t>
            </a:r>
            <a:r>
              <a:rPr sz="1150" b="0">
                <a:solidFill>
                  <a:srgbClr val="333D4A"/>
                </a:solidFill>
                <a:latin typeface="Calibri"/>
              </a:rPr>
              <a:t> official tutorial. https://www.tensorflow.org/tutorials/images/transfer_learning</a:t>
            </a:r>
          </a:p>
        </p:txBody>
      </p:sp>
      <p:sp>
        <p:nvSpPr>
          <p:cNvPr id="15" name="TextBox 14"/>
          <p:cNvSpPr txBox="1"/>
          <p:nvPr/>
        </p:nvSpPr>
        <p:spPr>
          <a:xfrm>
            <a:off x="584200" y="3911600"/>
            <a:ext cx="330200" cy="254000"/>
          </a:xfrm>
          <a:prstGeom prst="rect">
            <a:avLst/>
          </a:prstGeom>
          <a:noFill/>
        </p:spPr>
        <p:txBody>
          <a:bodyPr wrap="square" lIns="0" rIns="0" tIns="0" bIns="0" anchor="t">
            <a:spAutoFit/>
          </a:bodyPr>
          <a:lstStyle/>
          <a:p>
            <a:pPr algn="l">
              <a:lnSpc>
                <a:spcPct val="118000"/>
              </a:lnSpc>
              <a:spcBef>
                <a:spcPts val="0"/>
              </a:spcBef>
              <a:spcAft>
                <a:spcPts val="0"/>
              </a:spcAft>
            </a:pPr>
            <a:r>
              <a:rPr sz="1100" b="1" i="0">
                <a:solidFill>
                  <a:srgbClr val="0070C0"/>
                </a:solidFill>
                <a:latin typeface="Calibri"/>
              </a:rPr>
              <a:t>[5]</a:t>
            </a:r>
          </a:p>
        </p:txBody>
      </p:sp>
      <p:sp>
        <p:nvSpPr>
          <p:cNvPr id="16" name="TextBox 15"/>
          <p:cNvSpPr txBox="1"/>
          <p:nvPr/>
        </p:nvSpPr>
        <p:spPr>
          <a:xfrm>
            <a:off x="990600" y="3911600"/>
            <a:ext cx="8509000" cy="508000"/>
          </a:xfrm>
          <a:prstGeom prst="rect">
            <a:avLst/>
          </a:prstGeom>
          <a:noFill/>
        </p:spPr>
        <p:txBody>
          <a:bodyPr wrap="square" lIns="0" rIns="0" tIns="0" bIns="0" anchor="t">
            <a:spAutoFit/>
          </a:bodyPr>
          <a:lstStyle/>
          <a:p>
            <a:pPr algn="l">
              <a:lnSpc>
                <a:spcPct val="125000"/>
              </a:lnSpc>
              <a:spcBef>
                <a:spcPts val="0"/>
              </a:spcBef>
              <a:spcAft>
                <a:spcPts val="0"/>
              </a:spcAft>
            </a:pPr>
            <a:r>
              <a:rPr sz="1150" b="0">
                <a:solidFill>
                  <a:srgbClr val="333D4A"/>
                </a:solidFill>
                <a:latin typeface="Calibri"/>
              </a:rPr>
              <a:t>S. Ramírez, </a:t>
            </a:r>
            <a:r>
              <a:rPr sz="1150" b="1">
                <a:solidFill>
                  <a:srgbClr val="1B2532"/>
                </a:solidFill>
                <a:latin typeface="Calibri"/>
              </a:rPr>
              <a:t>“FastAPI,”</a:t>
            </a:r>
            <a:r>
              <a:rPr sz="1150" b="0">
                <a:solidFill>
                  <a:srgbClr val="333D4A"/>
                </a:solidFill>
                <a:latin typeface="Calibri"/>
              </a:rPr>
              <a:t> official documentation. https://fastapi.tiangolo.com</a:t>
            </a:r>
          </a:p>
        </p:txBody>
      </p:sp>
      <p:sp>
        <p:nvSpPr>
          <p:cNvPr id="17" name="TextBox 16"/>
          <p:cNvSpPr txBox="1"/>
          <p:nvPr/>
        </p:nvSpPr>
        <p:spPr>
          <a:xfrm>
            <a:off x="584200" y="4546600"/>
            <a:ext cx="330200" cy="254000"/>
          </a:xfrm>
          <a:prstGeom prst="rect">
            <a:avLst/>
          </a:prstGeom>
          <a:noFill/>
        </p:spPr>
        <p:txBody>
          <a:bodyPr wrap="square" lIns="0" rIns="0" tIns="0" bIns="0" anchor="t">
            <a:spAutoFit/>
          </a:bodyPr>
          <a:lstStyle/>
          <a:p>
            <a:pPr algn="l">
              <a:lnSpc>
                <a:spcPct val="118000"/>
              </a:lnSpc>
              <a:spcBef>
                <a:spcPts val="0"/>
              </a:spcBef>
              <a:spcAft>
                <a:spcPts val="0"/>
              </a:spcAft>
            </a:pPr>
            <a:r>
              <a:rPr sz="1100" b="1" i="0">
                <a:solidFill>
                  <a:srgbClr val="0070C0"/>
                </a:solidFill>
                <a:latin typeface="Calibri"/>
              </a:rPr>
              <a:t>[6]</a:t>
            </a:r>
          </a:p>
        </p:txBody>
      </p:sp>
      <p:sp>
        <p:nvSpPr>
          <p:cNvPr id="18" name="TextBox 17"/>
          <p:cNvSpPr txBox="1"/>
          <p:nvPr/>
        </p:nvSpPr>
        <p:spPr>
          <a:xfrm>
            <a:off x="990600" y="4546600"/>
            <a:ext cx="8509000" cy="508000"/>
          </a:xfrm>
          <a:prstGeom prst="rect">
            <a:avLst/>
          </a:prstGeom>
          <a:noFill/>
        </p:spPr>
        <p:txBody>
          <a:bodyPr wrap="square" lIns="0" rIns="0" tIns="0" bIns="0" anchor="t">
            <a:spAutoFit/>
          </a:bodyPr>
          <a:lstStyle/>
          <a:p>
            <a:pPr algn="l">
              <a:lnSpc>
                <a:spcPct val="125000"/>
              </a:lnSpc>
              <a:spcBef>
                <a:spcPts val="0"/>
              </a:spcBef>
              <a:spcAft>
                <a:spcPts val="0"/>
              </a:spcAft>
            </a:pPr>
            <a:r>
              <a:rPr sz="1150" b="0">
                <a:solidFill>
                  <a:srgbClr val="333D4A"/>
                </a:solidFill>
                <a:latin typeface="Calibri"/>
              </a:rPr>
              <a:t>Meta Open Source, </a:t>
            </a:r>
            <a:r>
              <a:rPr sz="1150" b="1">
                <a:solidFill>
                  <a:srgbClr val="1B2532"/>
                </a:solidFill>
                <a:latin typeface="Calibri"/>
              </a:rPr>
              <a:t>“React,”</a:t>
            </a:r>
            <a:r>
              <a:rPr sz="1150" b="0">
                <a:solidFill>
                  <a:srgbClr val="333D4A"/>
                </a:solidFill>
                <a:latin typeface="Calibri"/>
              </a:rPr>
              <a:t> documentation. https://react.dev   ·   Vite. https://vite.dev</a:t>
            </a:r>
          </a:p>
        </p:txBody>
      </p:sp>
      <p:sp>
        <p:nvSpPr>
          <p:cNvPr id="19" name="Rounded Rectangle 18"/>
          <p:cNvSpPr/>
          <p:nvPr/>
        </p:nvSpPr>
        <p:spPr>
          <a:xfrm>
            <a:off x="584200" y="5511800"/>
            <a:ext cx="8915400" cy="736600"/>
          </a:xfrm>
          <a:prstGeom prst="roundRect">
            <a:avLst>
              <a:gd name="adj" fmla="val 9000"/>
            </a:avLst>
          </a:prstGeom>
          <a:solidFill>
            <a:srgbClr val="F2F6FA"/>
          </a:solidFill>
          <a:ln w="12700">
            <a:solidFill>
              <a:srgbClr val="C7D6E4"/>
            </a:solidFill>
          </a:ln>
          <a:effectLst/>
        </p:spPr>
        <p:style>
          <a:lnRef idx="1">
            <a:schemeClr val="accent1"/>
          </a:lnRef>
          <a:fillRef idx="3">
            <a:schemeClr val="accent1"/>
          </a:fillRef>
          <a:effectRef idx="2">
            <a:schemeClr val="accent1"/>
          </a:effectRef>
          <a:fontRef idx="minor">
            <a:schemeClr val="lt1"/>
          </a:fontRef>
        </p:style>
        <p:txBody>
          <a:bodyPr rtlCol="0" anchor="ctr" wrap="square" lIns="88900" rIns="88900" tIns="63500" bIns="63500"/>
          <a:lstStyle/>
          <a:p>
            <a:pPr algn="ctr"/>
          </a:p>
        </p:txBody>
      </p:sp>
      <p:sp>
        <p:nvSpPr>
          <p:cNvPr id="20" name="TextBox 19"/>
          <p:cNvSpPr txBox="1"/>
          <p:nvPr/>
        </p:nvSpPr>
        <p:spPr>
          <a:xfrm>
            <a:off x="863600" y="5689600"/>
            <a:ext cx="8356600" cy="482600"/>
          </a:xfrm>
          <a:prstGeom prst="rect">
            <a:avLst/>
          </a:prstGeom>
          <a:noFill/>
        </p:spPr>
        <p:txBody>
          <a:bodyPr wrap="square" lIns="0" rIns="0" tIns="0" bIns="0" anchor="t">
            <a:spAutoFit/>
          </a:bodyPr>
          <a:lstStyle/>
          <a:p>
            <a:pPr algn="l">
              <a:lnSpc>
                <a:spcPct val="118000"/>
              </a:lnSpc>
              <a:spcBef>
                <a:spcPts val="0"/>
              </a:spcBef>
              <a:spcAft>
                <a:spcPts val="400"/>
              </a:spcAft>
            </a:pPr>
            <a:r>
              <a:rPr sz="950" b="1" i="0">
                <a:solidFill>
                  <a:srgbClr val="0070C0"/>
                </a:solidFill>
                <a:latin typeface="Calibri"/>
              </a:rPr>
              <a:t>PROJECT REPOSITORY</a:t>
            </a:r>
          </a:p>
          <a:p>
            <a:pPr>
              <a:lnSpc>
                <a:spcPct val="118000"/>
              </a:lnSpc>
              <a:spcBef>
                <a:spcPts val="0"/>
              </a:spcBef>
              <a:spcAft>
                <a:spcPts val="0"/>
              </a:spcAft>
            </a:pPr>
            <a:r>
              <a:rPr sz="1150" b="0" i="0">
                <a:solidFill>
                  <a:srgbClr val="1B2532"/>
                </a:solidFill>
                <a:latin typeface="Calibri"/>
              </a:rPr>
              <a:t>github.com/2ViShAlv1/Fresh-Vision   —   models, FastAPI backend, React frontend, training and labelling code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