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0076688" cy="7562088"/>
  <p:notesSz cx="7562088" cy="100766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0201A"/>
                </a:solidFill>
                <a:latin typeface="Arial"/>
              </a:defRPr>
            </a:pPr>
            <a:r>
              <a:rPr sz="1250" b="0" i="0" u="none" strike="noStrike">
                <a:solidFill>
                  <a:srgbClr val="10201A"/>
                </a:solidFill>
                <a:latin typeface="Arial"/>
              </a:rPr>
              <a:t>Freshness classifier — validation accuracy</a:t>
            </a:r>
          </a:p>
        </c:rich>
      </c:tx>
      <c:layout/>
      <c:overlay val="0"/>
    </c:title>
    <c:autoTitleDeleted val="0"/>
    <c:plotArea>
      <c:layout/>
      <c:barChart>
        <c:barDir val="col"/>
        <c:grouping val="clustered"/>
        <c:varyColors val="0"/>
        <c:ser>
          <c:idx val="0"/>
          <c:order val="0"/>
          <c:tx>
            <c:strRef>
              <c:f>Sheet1!$B$1</c:f>
              <c:strCache>
                <c:ptCount val="1"/>
                <c:pt idx="0">
                  <c:v>Validation accuracy (%)</c:v>
                </c:pt>
              </c:strCache>
            </c:strRef>
          </c:tx>
          <c:spPr>
            <a:solidFill>
              <a:srgbClr val="0E5C3A"/>
            </a:solidFill>
            <a:effectLst/>
          </c:spPr>
          <c:invertIfNegative val="0"/>
          <c:dLbls>
            <c:numFmt formatCode="0.0&quot;%&quot;" sourceLinked="0"/>
            <c:txPr>
              <a:bodyPr/>
              <a:lstStyle/>
              <a:p>
                <a:pPr>
                  <a:defRPr b="0" i="0" strike="noStrike" sz="1200" u="none">
                    <a:solidFill>
                      <a:srgbClr val="10201A"/>
                    </a:solidFill>
                    <a:latin typeface="Arial"/>
                  </a:defRPr>
                </a:pPr>
              </a:p>
            </c:txPr>
            <c:showLegendKey val="0"/>
            <c:showVal val="1"/>
            <c:showCatName val="0"/>
            <c:showSerName val="0"/>
            <c:showPercent val="0"/>
            <c:showBubbleSize val="0"/>
            <c:showLeaderLines val="0"/>
          </c:dLbls>
          <c:dPt>
            <c:idx val="0"/>
            <c:invertIfNegative val="0"/>
            <c:bubble3D val="0"/>
            <c:spPr>
              <a:solidFill>
                <a:srgbClr val="0E5C3A"/>
              </a:solidFill>
              <a:effectLst/>
            </c:spPr>
          </c:dPt>
          <c:dPt>
            <c:idx val="1"/>
            <c:invertIfNegative val="0"/>
            <c:bubble3D val="0"/>
            <c:spPr>
              <a:solidFill>
                <a:srgbClr val="1C9A63"/>
              </a:solidFill>
              <a:effectLst/>
            </c:spPr>
          </c:dPt>
          <c:cat>
            <c:multiLvlStrRef>
              <c:f>Sheet1!$A$2:$A$3</c:f>
              <c:multiLvlStrCache>
                <c:ptCount val="2"/>
                <c:lvl>
                  <c:pt idx="0">
                    <c:v>Phase 1
(frozen backbone)</c:v>
                  </c:pt>
                  <c:pt idx="1">
                    <c:v>Phase 2
(fine-tuned)</c:v>
                  </c:pt>
                </c:lvl>
              </c:multiLvlStrCache>
            </c:multiLvlStrRef>
          </c:cat>
          <c:val>
            <c:numRef>
              <c:f>Sheet1!$B$2:$B$3</c:f>
              <c:numCache>
                <c:formatCode>General</c:formatCode>
                <c:ptCount val="2"/>
                <c:pt idx="0">
                  <c:v>77.8</c:v>
                </c:pt>
                <c:pt idx="1">
                  <c:v>80.4</c:v>
                </c:pt>
              </c:numCache>
            </c:numRef>
          </c:val>
        </c:ser>
        <c:dLbls>
          <c:numFmt formatCode="0.0&quot;%&quot;" sourceLinked="0"/>
          <c:txPr>
            <a:bodyPr/>
            <a:lstStyle/>
            <a:p>
              <a:pPr>
                <a:defRPr b="0" i="0" strike="noStrike" sz="1200" u="none">
                  <a:solidFill>
                    <a:srgbClr val="10201A"/>
                  </a:solidFill>
                  <a:latin typeface="Arial"/>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A7B71"/>
                </a:solidFill>
                <a:latin typeface="Arial"/>
              </a:defRPr>
            </a:pPr>
            <a:endParaRPr lang="en-US"/>
          </a:p>
        </c:txPr>
        <c:crossAx val="2094734552"/>
        <c:crosses val="autoZero"/>
        <c:auto val="1"/>
        <c:lblAlgn val="ctr"/>
        <c:noMultiLvlLbl val="1"/>
      </c:catAx>
      <c:valAx>
        <c:axId val="2094734552"/>
        <c:scaling>
          <c:orientation val="minMax"/>
          <c:max val="85"/>
          <c:min val="70"/>
        </c:scaling>
        <c:delete val="0"/>
        <c:axPos val="l"/>
        <c:majorGridlines>
          <c:spPr>
            <a:ln w="12700" cap="flat">
              <a:solidFill>
                <a:srgbClr val="E6EE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A7B71"/>
                </a:solidFill>
                <a:latin typeface="Arial"/>
              </a:defRPr>
            </a:pPr>
            <a:endParaRPr lang="en-US"/>
          </a:p>
        </c:txPr>
        <c:crossAx val="2094734554"/>
        <c:crosses val="autoZero"/>
        <c:crossBetween val="between"/>
      </c:valAx>
      <c:spPr>
        <a:solidFill>
          <a:srgbClr val="F4FAF6"/>
        </a:solidFill>
        <a:ln>
          <a:noFill/>
        </a:ln>
        <a:effectLst/>
      </c:spPr>
    </c:plotArea>
    <c:plotVisOnly val="1"/>
    <c:dispBlanksAs val="span"/>
  </c:chart>
  <c:spPr>
    <a:solidFill>
      <a:srgbClr val="F4FAF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0201A"/>
                </a:solidFill>
                <a:latin typeface="Arial"/>
              </a:defRPr>
            </a:pPr>
            <a:r>
              <a:rPr sz="1250" b="0" i="0" u="none" strike="noStrike">
                <a:solidFill>
                  <a:srgbClr val="10201A"/>
                </a:solidFill>
                <a:latin typeface="Arial"/>
              </a:rPr>
              <a:t>Inference-time calibration weights</a:t>
            </a:r>
          </a:p>
        </c:rich>
      </c:tx>
      <c:layout/>
      <c:overlay val="0"/>
    </c:title>
    <c:autoTitleDeleted val="0"/>
    <c:plotArea>
      <c:layout/>
      <c:barChart>
        <c:barDir val="col"/>
        <c:grouping val="clustered"/>
        <c:varyColors val="0"/>
        <c:ser>
          <c:idx val="0"/>
          <c:order val="0"/>
          <c:tx>
            <c:strRef>
              <c:f>Sheet1!$B$1</c:f>
              <c:strCache>
                <c:ptCount val="1"/>
                <c:pt idx="0">
                  <c:v>Calibration multiplier</c:v>
                </c:pt>
              </c:strCache>
            </c:strRef>
          </c:tx>
          <c:spPr>
            <a:solidFill>
              <a:srgbClr val="D9A227"/>
            </a:solidFill>
            <a:effectLst/>
          </c:spPr>
          <c:invertIfNegative val="0"/>
          <c:dLbls>
            <c:numFmt formatCode="0.0&quot;x&quot;" sourceLinked="0"/>
            <c:txPr>
              <a:bodyPr/>
              <a:lstStyle/>
              <a:p>
                <a:pPr>
                  <a:defRPr b="0" i="0" strike="noStrike" sz="1200" u="none">
                    <a:solidFill>
                      <a:srgbClr val="10201A"/>
                    </a:solidFill>
                    <a:latin typeface="Arial"/>
                  </a:defRPr>
                </a:pPr>
              </a:p>
            </c:txPr>
            <c:showLegendKey val="0"/>
            <c:showVal val="1"/>
            <c:showCatName val="0"/>
            <c:showSerName val="0"/>
            <c:showPercent val="0"/>
            <c:showBubbleSize val="0"/>
            <c:showLeaderLines val="0"/>
          </c:dLbls>
          <c:dPt>
            <c:idx val="0"/>
            <c:invertIfNegative val="0"/>
            <c:bubble3D val="0"/>
            <c:spPr>
              <a:solidFill>
                <a:srgbClr val="D9A227"/>
              </a:solidFill>
              <a:effectLst/>
            </c:spPr>
          </c:dPt>
          <c:dPt>
            <c:idx val="1"/>
            <c:invertIfNegative val="0"/>
            <c:bubble3D val="0"/>
            <c:spPr>
              <a:solidFill>
                <a:srgbClr val="C4652A"/>
              </a:solidFill>
              <a:effectLst/>
            </c:spPr>
          </c:dPt>
          <c:dPt>
            <c:idx val="2"/>
            <c:invertIfNegative val="0"/>
            <c:bubble3D val="0"/>
            <c:spPr>
              <a:solidFill>
                <a:srgbClr val="8E2F22"/>
              </a:solidFill>
              <a:effectLst/>
            </c:spPr>
          </c:dPt>
          <c:cat>
            <c:multiLvlStrRef>
              <c:f>Sheet1!$A$2:$A$4</c:f>
              <c:multiLvlStrCache>
                <c:ptCount val="3"/>
                <c:lvl>
                  <c:pt idx="0">
                    <c:v>Slightly rotten</c:v>
                  </c:pt>
                  <c:pt idx="1">
                    <c:v>Rotten</c:v>
                  </c:pt>
                  <c:pt idx="2">
                    <c:v>Very rotten</c:v>
                  </c:pt>
                </c:lvl>
              </c:multiLvlStrCache>
            </c:multiLvlStrRef>
          </c:cat>
          <c:val>
            <c:numRef>
              <c:f>Sheet1!$B$2:$B$4</c:f>
              <c:numCache>
                <c:formatCode>General</c:formatCode>
                <c:ptCount val="3"/>
                <c:pt idx="0">
                  <c:v>0.3</c:v>
                </c:pt>
                <c:pt idx="1">
                  <c:v>1.5</c:v>
                </c:pt>
                <c:pt idx="2">
                  <c:v>2.5</c:v>
                </c:pt>
              </c:numCache>
            </c:numRef>
          </c:val>
        </c:ser>
        <c:dLbls>
          <c:numFmt formatCode="0.0&quot;x&quot;" sourceLinked="0"/>
          <c:txPr>
            <a:bodyPr/>
            <a:lstStyle/>
            <a:p>
              <a:pPr>
                <a:defRPr b="0" i="0" strike="noStrike" sz="1200" u="none">
                  <a:solidFill>
                    <a:srgbClr val="10201A"/>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A7B71"/>
                </a:solidFill>
                <a:latin typeface="Arial"/>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12700" cap="flat">
              <a:solidFill>
                <a:srgbClr val="E6EE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A7B71"/>
                </a:solidFill>
                <a:latin typeface="Arial"/>
              </a:defRPr>
            </a:pPr>
            <a:endParaRPr lang="en-US"/>
          </a:p>
        </c:txPr>
        <c:crossAx val="2094734554"/>
        <c:crosses val="autoZero"/>
        <c:crossBetween val="between"/>
      </c:valAx>
      <c:spPr>
        <a:solidFill>
          <a:srgbClr val="F4FAF6"/>
        </a:solidFill>
        <a:ln>
          <a:noFill/>
        </a:ln>
        <a:effectLst/>
      </c:spPr>
    </c:plotArea>
    <c:plotVisOnly val="1"/>
    <c:dispBlanksAs val="span"/>
  </c:chart>
  <c:spPr>
    <a:solidFill>
      <a:srgbClr val="F4FAF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Fresh Vision identifies a fruit or vegetable from a photo and grades how fresh it is, using three neural networks behind a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weekly lines mirror the actual build order of the project; add the real start and end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five-level scale is what the project has to produce; the source data only distinguishes fresh from rotten.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to Phase 2 is a 2.6 point gain. The calibration weights multiply the three under- or over-fired classes before the distribution is renormalised.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Uploads are capped at 10 MB and held in memory only — nothing is written to disk. When frontend/dist exists the backend serves the built UI itself, so the whole app runs on one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chart" Target="/ppt/charts/chart1.xml"/><Relationship Id="rId6" Type="http://schemas.openxmlformats.org/officeDocument/2006/relationships/chart" Target="/ppt/charts/chart2.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94360" y="566928"/>
            <a:ext cx="420624" cy="420624"/>
          </a:xfrm>
          <a:prstGeom prst="ellipse">
            <a:avLst/>
          </a:prstGeom>
          <a:solidFill>
            <a:srgbClr val="1C9A63"/>
          </a:solidFill>
          <a:ln w="12700">
            <a:solidFill>
              <a:srgbClr val="1C9A63"/>
            </a:solidFill>
            <a:prstDash val="solid"/>
          </a:ln>
        </p:spPr>
      </p:sp>
      <p:pic>
        <p:nvPicPr>
          <p:cNvPr id="3" name="Image 0" descr="/home/user/Fresh-Vision/presentation/assets/icons/LuLeaf.png">    </p:cNvPr>
          <p:cNvPicPr>
            <a:picLocks noChangeAspect="1"/>
          </p:cNvPicPr>
          <p:nvPr/>
        </p:nvPicPr>
        <p:blipFill>
          <a:blip r:embed="rId2"/>
          <a:stretch>
            <a:fillRect/>
          </a:stretch>
        </p:blipFill>
        <p:spPr>
          <a:xfrm>
            <a:off x="707928" y="680496"/>
            <a:ext cx="193487" cy="193487"/>
          </a:xfrm>
          <a:prstGeom prst="rect">
            <a:avLst/>
          </a:prstGeom>
        </p:spPr>
      </p:pic>
      <p:sp>
        <p:nvSpPr>
          <p:cNvPr id="4" name="Text 1"/>
          <p:cNvSpPr txBox="1"/>
          <p:nvPr/>
        </p:nvSpPr>
        <p:spPr>
          <a:xfrm>
            <a:off x="1161288" y="566928"/>
            <a:ext cx="3657600" cy="420624"/>
          </a:xfrm>
          <a:prstGeom prst="rect">
            <a:avLst/>
          </a:prstGeom>
          <a:noFill/>
          <a:ln/>
        </p:spPr>
        <p:txBody>
          <a:bodyPr wrap="square" lIns="0" tIns="0" rIns="0" bIns="0" rtlCol="0" anchor="ctr"/>
          <a:lstStyle/>
          <a:p>
            <a:pPr indent="0" marL="0">
              <a:buNone/>
            </a:pPr>
            <a:r>
              <a:rPr lang="en-US" sz="1400" b="1" spc="160" kern="0" dirty="0">
                <a:solidFill>
                  <a:srgbClr val="FFFFFF"/>
                </a:solidFill>
                <a:latin typeface="Arial" pitchFamily="34" charset="0"/>
                <a:ea typeface="Arial" pitchFamily="34" charset="-122"/>
                <a:cs typeface="Arial" pitchFamily="34" charset="-120"/>
              </a:rPr>
              <a:t>FRESH VISION</a:t>
            </a:r>
            <a:endParaRPr lang="en-US" sz="1400" dirty="0"/>
          </a:p>
        </p:txBody>
      </p:sp>
      <p:sp>
        <p:nvSpPr>
          <p:cNvPr id="5" name="Text 2"/>
          <p:cNvSpPr txBox="1"/>
          <p:nvPr/>
        </p:nvSpPr>
        <p:spPr>
          <a:xfrm>
            <a:off x="5824728" y="566928"/>
            <a:ext cx="3657600" cy="420624"/>
          </a:xfrm>
          <a:prstGeom prst="rect">
            <a:avLst/>
          </a:prstGeom>
          <a:noFill/>
          <a:ln/>
        </p:spPr>
        <p:txBody>
          <a:bodyPr wrap="square" lIns="0" tIns="0" rIns="0" bIns="0" rtlCol="0" anchor="ctr"/>
          <a:lstStyle/>
          <a:p>
            <a:pPr algn="r" indent="0" marL="0">
              <a:buNone/>
            </a:pPr>
            <a:r>
              <a:rPr lang="en-US" sz="1100" b="1" spc="240" kern="0" dirty="0">
                <a:solidFill>
                  <a:srgbClr val="7FD1A6"/>
                </a:solidFill>
                <a:latin typeface="Arial" pitchFamily="34" charset="0"/>
                <a:ea typeface="Arial" pitchFamily="34" charset="-122"/>
                <a:cs typeface="Arial" pitchFamily="34" charset="-120"/>
              </a:rPr>
              <a:t>PRACTICE SCHOOL-II</a:t>
            </a:r>
            <a:endParaRPr lang="en-US" sz="1100" dirty="0"/>
          </a:p>
        </p:txBody>
      </p:sp>
      <p:sp>
        <p:nvSpPr>
          <p:cNvPr id="6" name="Text 3"/>
          <p:cNvSpPr txBox="1"/>
          <p:nvPr/>
        </p:nvSpPr>
        <p:spPr>
          <a:xfrm>
            <a:off x="594360" y="1481328"/>
            <a:ext cx="7863840" cy="56692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An AI-powered fruit &amp; vegetable</a:t>
            </a:r>
            <a:endParaRPr lang="en-US" sz="4000" dirty="0"/>
          </a:p>
        </p:txBody>
      </p:sp>
      <p:sp>
        <p:nvSpPr>
          <p:cNvPr id="7" name="Text 4"/>
          <p:cNvSpPr txBox="1"/>
          <p:nvPr/>
        </p:nvSpPr>
        <p:spPr>
          <a:xfrm>
            <a:off x="594360" y="2048256"/>
            <a:ext cx="7863840" cy="566928"/>
          </a:xfrm>
          <a:prstGeom prst="rect">
            <a:avLst/>
          </a:prstGeom>
          <a:noFill/>
          <a:ln/>
        </p:spPr>
        <p:txBody>
          <a:bodyPr wrap="square" lIns="0" tIns="0" rIns="0" bIns="0" rtlCol="0" anchor="ctr"/>
          <a:lstStyle/>
          <a:p>
            <a:pPr indent="0" marL="0">
              <a:buNone/>
            </a:pPr>
            <a:r>
              <a:rPr lang="en-US" sz="4000" b="1" dirty="0">
                <a:solidFill>
                  <a:srgbClr val="7FD1A6"/>
                </a:solidFill>
                <a:latin typeface="Arial" pitchFamily="34" charset="0"/>
                <a:ea typeface="Arial" pitchFamily="34" charset="-122"/>
                <a:cs typeface="Arial" pitchFamily="34" charset="-120"/>
              </a:rPr>
              <a:t>freshness </a:t>
            </a:r>
            <a:pPr indent="0" marL="0">
              <a:buNone/>
            </a:pPr>
            <a:r>
              <a:rPr lang="en-US" sz="4000" b="1" dirty="0">
                <a:solidFill>
                  <a:srgbClr val="FFFFFF"/>
                </a:solidFill>
                <a:latin typeface="Arial" pitchFamily="34" charset="0"/>
                <a:ea typeface="Arial" pitchFamily="34" charset="-122"/>
                <a:cs typeface="Arial" pitchFamily="34" charset="-120"/>
              </a:rPr>
              <a:t>analyzer</a:t>
            </a:r>
            <a:endParaRPr lang="en-US" sz="4000" dirty="0"/>
          </a:p>
        </p:txBody>
      </p:sp>
      <p:sp>
        <p:nvSpPr>
          <p:cNvPr id="8" name="Text 5"/>
          <p:cNvSpPr txBox="1"/>
          <p:nvPr/>
        </p:nvSpPr>
        <p:spPr>
          <a:xfrm>
            <a:off x="594360" y="2724912"/>
            <a:ext cx="6766560" cy="566928"/>
          </a:xfrm>
          <a:prstGeom prst="rect">
            <a:avLst/>
          </a:prstGeom>
          <a:noFill/>
          <a:ln/>
        </p:spPr>
        <p:txBody>
          <a:bodyPr wrap="square" lIns="0" tIns="0" rIns="0" bIns="0" rtlCol="0" anchor="ctr"/>
          <a:lstStyle/>
          <a:p>
            <a:pPr indent="0" marL="0">
              <a:lnSpc>
                <a:spcPts val="2000"/>
              </a:lnSpc>
              <a:buNone/>
            </a:pPr>
            <a:r>
              <a:rPr lang="en-US" sz="1350" dirty="0">
                <a:solidFill>
                  <a:srgbClr val="A6BCAF"/>
                </a:solidFill>
                <a:latin typeface="Arial" pitchFamily="34" charset="0"/>
                <a:ea typeface="Arial" pitchFamily="34" charset="-122"/>
                <a:cs typeface="Arial" pitchFamily="34" charset="-120"/>
              </a:rPr>
              <a:t>Three MobileNetV2 models turn one photograph into an identified item, a five-level freshness grade and a shelf-life estimate — in under a second, in the browser.</a:t>
            </a:r>
            <a:endParaRPr lang="en-US" sz="1350" dirty="0"/>
          </a:p>
        </p:txBody>
      </p:sp>
      <p:sp>
        <p:nvSpPr>
          <p:cNvPr id="9" name="Shape 6"/>
          <p:cNvSpPr/>
          <p:nvPr/>
        </p:nvSpPr>
        <p:spPr>
          <a:xfrm>
            <a:off x="594360" y="3529584"/>
            <a:ext cx="1093622" cy="237744"/>
          </a:xfrm>
          <a:prstGeom prst="roundRect">
            <a:avLst>
              <a:gd name="adj" fmla="val 23077"/>
            </a:avLst>
          </a:prstGeom>
          <a:solidFill>
            <a:srgbClr val="0F7A4A"/>
          </a:solidFill>
          <a:ln w="12700">
            <a:solidFill>
              <a:srgbClr val="0F7A4A"/>
            </a:solidFill>
            <a:prstDash val="solid"/>
          </a:ln>
        </p:spPr>
      </p:sp>
      <p:sp>
        <p:nvSpPr>
          <p:cNvPr id="10" name="Text 7"/>
          <p:cNvSpPr txBox="1"/>
          <p:nvPr/>
        </p:nvSpPr>
        <p:spPr>
          <a:xfrm>
            <a:off x="594360" y="3822192"/>
            <a:ext cx="1093622"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Very fresh</a:t>
            </a:r>
            <a:endParaRPr lang="en-US" sz="950" dirty="0"/>
          </a:p>
        </p:txBody>
      </p:sp>
      <p:sp>
        <p:nvSpPr>
          <p:cNvPr id="11" name="Shape 8"/>
          <p:cNvSpPr/>
          <p:nvPr/>
        </p:nvSpPr>
        <p:spPr>
          <a:xfrm>
            <a:off x="1761134" y="3529584"/>
            <a:ext cx="1093622" cy="237744"/>
          </a:xfrm>
          <a:prstGeom prst="roundRect">
            <a:avLst>
              <a:gd name="adj" fmla="val 23077"/>
            </a:avLst>
          </a:prstGeom>
          <a:solidFill>
            <a:srgbClr val="3FA76B"/>
          </a:solidFill>
          <a:ln w="12700">
            <a:solidFill>
              <a:srgbClr val="3FA76B"/>
            </a:solidFill>
            <a:prstDash val="solid"/>
          </a:ln>
        </p:spPr>
      </p:sp>
      <p:sp>
        <p:nvSpPr>
          <p:cNvPr id="12" name="Text 9"/>
          <p:cNvSpPr txBox="1"/>
          <p:nvPr/>
        </p:nvSpPr>
        <p:spPr>
          <a:xfrm>
            <a:off x="1761134" y="3822192"/>
            <a:ext cx="1093622"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Fresh</a:t>
            </a:r>
            <a:endParaRPr lang="en-US" sz="950" dirty="0"/>
          </a:p>
        </p:txBody>
      </p:sp>
      <p:sp>
        <p:nvSpPr>
          <p:cNvPr id="13" name="Shape 10"/>
          <p:cNvSpPr/>
          <p:nvPr/>
        </p:nvSpPr>
        <p:spPr>
          <a:xfrm>
            <a:off x="2927909" y="3529584"/>
            <a:ext cx="1093622" cy="237744"/>
          </a:xfrm>
          <a:prstGeom prst="roundRect">
            <a:avLst>
              <a:gd name="adj" fmla="val 23077"/>
            </a:avLst>
          </a:prstGeom>
          <a:solidFill>
            <a:srgbClr val="D9A227"/>
          </a:solidFill>
          <a:ln w="12700">
            <a:solidFill>
              <a:srgbClr val="D9A227"/>
            </a:solidFill>
            <a:prstDash val="solid"/>
          </a:ln>
        </p:spPr>
      </p:sp>
      <p:sp>
        <p:nvSpPr>
          <p:cNvPr id="14" name="Text 11"/>
          <p:cNvSpPr txBox="1"/>
          <p:nvPr/>
        </p:nvSpPr>
        <p:spPr>
          <a:xfrm>
            <a:off x="2927909" y="3822192"/>
            <a:ext cx="1093622"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Slightly rotten</a:t>
            </a:r>
            <a:endParaRPr lang="en-US" sz="950" dirty="0"/>
          </a:p>
        </p:txBody>
      </p:sp>
      <p:sp>
        <p:nvSpPr>
          <p:cNvPr id="15" name="Shape 12"/>
          <p:cNvSpPr/>
          <p:nvPr/>
        </p:nvSpPr>
        <p:spPr>
          <a:xfrm>
            <a:off x="4094683" y="3529584"/>
            <a:ext cx="1093622" cy="237744"/>
          </a:xfrm>
          <a:prstGeom prst="roundRect">
            <a:avLst>
              <a:gd name="adj" fmla="val 23077"/>
            </a:avLst>
          </a:prstGeom>
          <a:solidFill>
            <a:srgbClr val="C4652A"/>
          </a:solidFill>
          <a:ln w="12700">
            <a:solidFill>
              <a:srgbClr val="C4652A"/>
            </a:solidFill>
            <a:prstDash val="solid"/>
          </a:ln>
        </p:spPr>
      </p:sp>
      <p:sp>
        <p:nvSpPr>
          <p:cNvPr id="16" name="Text 13"/>
          <p:cNvSpPr txBox="1"/>
          <p:nvPr/>
        </p:nvSpPr>
        <p:spPr>
          <a:xfrm>
            <a:off x="4094683" y="3822192"/>
            <a:ext cx="1093622"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Rotten</a:t>
            </a:r>
            <a:endParaRPr lang="en-US" sz="950" dirty="0"/>
          </a:p>
        </p:txBody>
      </p:sp>
      <p:sp>
        <p:nvSpPr>
          <p:cNvPr id="17" name="Shape 14"/>
          <p:cNvSpPr/>
          <p:nvPr/>
        </p:nvSpPr>
        <p:spPr>
          <a:xfrm>
            <a:off x="5261458" y="3529584"/>
            <a:ext cx="1093622" cy="237744"/>
          </a:xfrm>
          <a:prstGeom prst="roundRect">
            <a:avLst>
              <a:gd name="adj" fmla="val 23077"/>
            </a:avLst>
          </a:prstGeom>
          <a:solidFill>
            <a:srgbClr val="8E2F22"/>
          </a:solidFill>
          <a:ln w="12700">
            <a:solidFill>
              <a:srgbClr val="8E2F22"/>
            </a:solidFill>
            <a:prstDash val="solid"/>
          </a:ln>
        </p:spPr>
      </p:sp>
      <p:sp>
        <p:nvSpPr>
          <p:cNvPr id="18" name="Text 15"/>
          <p:cNvSpPr txBox="1"/>
          <p:nvPr/>
        </p:nvSpPr>
        <p:spPr>
          <a:xfrm>
            <a:off x="5261458" y="3822192"/>
            <a:ext cx="1093622"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Very rotten</a:t>
            </a:r>
            <a:endParaRPr lang="en-US" sz="950" dirty="0"/>
          </a:p>
        </p:txBody>
      </p:sp>
      <p:sp>
        <p:nvSpPr>
          <p:cNvPr id="19" name="Shape 16"/>
          <p:cNvSpPr/>
          <p:nvPr/>
        </p:nvSpPr>
        <p:spPr>
          <a:xfrm>
            <a:off x="594360" y="4480560"/>
            <a:ext cx="2810256" cy="1371600"/>
          </a:xfrm>
          <a:prstGeom prst="roundRect">
            <a:avLst>
              <a:gd name="adj" fmla="val 6000"/>
            </a:avLst>
          </a:prstGeom>
          <a:solidFill>
            <a:srgbClr val="16281F"/>
          </a:solidFill>
          <a:ln w="12700">
            <a:solidFill>
              <a:srgbClr val="2C4638"/>
            </a:solidFill>
            <a:prstDash val="solid"/>
          </a:ln>
        </p:spPr>
      </p:sp>
      <p:sp>
        <p:nvSpPr>
          <p:cNvPr id="20" name="Text 17"/>
          <p:cNvSpPr txBox="1"/>
          <p:nvPr/>
        </p:nvSpPr>
        <p:spPr>
          <a:xfrm>
            <a:off x="813816" y="4645152"/>
            <a:ext cx="2371344" cy="237744"/>
          </a:xfrm>
          <a:prstGeom prst="rect">
            <a:avLst/>
          </a:prstGeom>
          <a:noFill/>
          <a:ln/>
        </p:spPr>
        <p:txBody>
          <a:bodyPr wrap="square" lIns="0" tIns="0" rIns="0" bIns="0" rtlCol="0" anchor="ctr"/>
          <a:lstStyle/>
          <a:p>
            <a:pPr indent="0" marL="0">
              <a:buNone/>
            </a:pPr>
            <a:r>
              <a:rPr lang="en-US" sz="1000" b="1" spc="160" kern="0" dirty="0">
                <a:solidFill>
                  <a:srgbClr val="7FD1A6"/>
                </a:solidFill>
                <a:latin typeface="Arial" pitchFamily="34" charset="0"/>
                <a:ea typeface="Arial" pitchFamily="34" charset="-122"/>
                <a:cs typeface="Arial" pitchFamily="34" charset="-120"/>
              </a:rPr>
              <a:t>SUBMITTED BY</a:t>
            </a:r>
            <a:endParaRPr lang="en-US" sz="1000" dirty="0"/>
          </a:p>
        </p:txBody>
      </p:sp>
      <p:sp>
        <p:nvSpPr>
          <p:cNvPr id="21" name="Text 18"/>
          <p:cNvSpPr txBox="1"/>
          <p:nvPr/>
        </p:nvSpPr>
        <p:spPr>
          <a:xfrm>
            <a:off x="813816" y="4937760"/>
            <a:ext cx="2371344" cy="82296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Arial" pitchFamily="34" charset="0"/>
                <a:ea typeface="Arial" pitchFamily="34" charset="-122"/>
                <a:cs typeface="Arial" pitchFamily="34" charset="-120"/>
              </a:rPr>
              <a:t>Name:  ___________________</a:t>
            </a:r>
            <a:endParaRPr lang="en-US" sz="1200" dirty="0"/>
          </a:p>
          <a:p>
            <a:pPr indent="0" marL="0">
              <a:lnSpc>
                <a:spcPts val="1700"/>
              </a:lnSpc>
              <a:buNone/>
            </a:pPr>
            <a:r>
              <a:rPr lang="en-US" sz="1200" dirty="0">
                <a:solidFill>
                  <a:srgbClr val="FFFFFF"/>
                </a:solidFill>
                <a:latin typeface="Arial" pitchFamily="34" charset="0"/>
                <a:ea typeface="Arial" pitchFamily="34" charset="-122"/>
                <a:cs typeface="Arial" pitchFamily="34" charset="-120"/>
              </a:rPr>
              <a:t>ID:  ___________________</a:t>
            </a:r>
            <a:endParaRPr lang="en-US" sz="1200" dirty="0"/>
          </a:p>
        </p:txBody>
      </p:sp>
      <p:sp>
        <p:nvSpPr>
          <p:cNvPr id="22" name="Shape 19"/>
          <p:cNvSpPr/>
          <p:nvPr/>
        </p:nvSpPr>
        <p:spPr>
          <a:xfrm>
            <a:off x="3633216" y="4480560"/>
            <a:ext cx="2810256" cy="1371600"/>
          </a:xfrm>
          <a:prstGeom prst="roundRect">
            <a:avLst>
              <a:gd name="adj" fmla="val 6000"/>
            </a:avLst>
          </a:prstGeom>
          <a:solidFill>
            <a:srgbClr val="16281F"/>
          </a:solidFill>
          <a:ln w="12700">
            <a:solidFill>
              <a:srgbClr val="2C4638"/>
            </a:solidFill>
            <a:prstDash val="solid"/>
          </a:ln>
        </p:spPr>
      </p:sp>
      <p:sp>
        <p:nvSpPr>
          <p:cNvPr id="23" name="Text 20"/>
          <p:cNvSpPr txBox="1"/>
          <p:nvPr/>
        </p:nvSpPr>
        <p:spPr>
          <a:xfrm>
            <a:off x="3852672" y="4645152"/>
            <a:ext cx="2371344" cy="237744"/>
          </a:xfrm>
          <a:prstGeom prst="rect">
            <a:avLst/>
          </a:prstGeom>
          <a:noFill/>
          <a:ln/>
        </p:spPr>
        <p:txBody>
          <a:bodyPr wrap="square" lIns="0" tIns="0" rIns="0" bIns="0" rtlCol="0" anchor="ctr"/>
          <a:lstStyle/>
          <a:p>
            <a:pPr indent="0" marL="0">
              <a:buNone/>
            </a:pPr>
            <a:r>
              <a:rPr lang="en-US" sz="1000" b="1" spc="160" kern="0" dirty="0">
                <a:solidFill>
                  <a:srgbClr val="7FD1A6"/>
                </a:solidFill>
                <a:latin typeface="Arial" pitchFamily="34" charset="0"/>
                <a:ea typeface="Arial" pitchFamily="34" charset="-122"/>
                <a:cs typeface="Arial" pitchFamily="34" charset="-120"/>
              </a:rPr>
              <a:t>FACULTY MENTOR</a:t>
            </a:r>
            <a:endParaRPr lang="en-US" sz="1000" dirty="0"/>
          </a:p>
        </p:txBody>
      </p:sp>
      <p:sp>
        <p:nvSpPr>
          <p:cNvPr id="24" name="Text 21"/>
          <p:cNvSpPr txBox="1"/>
          <p:nvPr/>
        </p:nvSpPr>
        <p:spPr>
          <a:xfrm>
            <a:off x="3852672" y="4937760"/>
            <a:ext cx="2371344" cy="82296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Arial" pitchFamily="34" charset="0"/>
                <a:ea typeface="Arial" pitchFamily="34" charset="-122"/>
                <a:cs typeface="Arial" pitchFamily="34" charset="-120"/>
              </a:rPr>
              <a:t>Dr. XYZ</a:t>
            </a:r>
            <a:endParaRPr lang="en-US" sz="1200" dirty="0"/>
          </a:p>
          <a:p>
            <a:pPr indent="0" marL="0">
              <a:lnSpc>
                <a:spcPts val="1700"/>
              </a:lnSpc>
              <a:buNone/>
            </a:pPr>
            <a:r>
              <a:rPr lang="en-US" sz="1200" dirty="0">
                <a:solidFill>
                  <a:srgbClr val="FFFFFF"/>
                </a:solidFill>
                <a:latin typeface="Arial" pitchFamily="34" charset="0"/>
                <a:ea typeface="Arial" pitchFamily="34" charset="-122"/>
                <a:cs typeface="Arial" pitchFamily="34" charset="-120"/>
              </a:rPr>
              <a:t>Designation</a:t>
            </a:r>
            <a:endParaRPr lang="en-US" sz="1200" dirty="0"/>
          </a:p>
          <a:p>
            <a:pPr indent="0" marL="0">
              <a:lnSpc>
                <a:spcPts val="1700"/>
              </a:lnSpc>
              <a:buNone/>
            </a:pPr>
            <a:r>
              <a:rPr lang="en-US" sz="1200" dirty="0">
                <a:solidFill>
                  <a:srgbClr val="FFFFFF"/>
                </a:solidFill>
                <a:latin typeface="Arial" pitchFamily="34" charset="0"/>
                <a:ea typeface="Arial" pitchFamily="34" charset="-122"/>
                <a:cs typeface="Arial" pitchFamily="34" charset="-120"/>
              </a:rPr>
              <a:t>SOET, BMU</a:t>
            </a:r>
            <a:endParaRPr lang="en-US" sz="1200" dirty="0"/>
          </a:p>
        </p:txBody>
      </p:sp>
      <p:sp>
        <p:nvSpPr>
          <p:cNvPr id="25" name="Shape 22"/>
          <p:cNvSpPr/>
          <p:nvPr/>
        </p:nvSpPr>
        <p:spPr>
          <a:xfrm>
            <a:off x="6672072" y="4480560"/>
            <a:ext cx="2810256" cy="1371600"/>
          </a:xfrm>
          <a:prstGeom prst="roundRect">
            <a:avLst>
              <a:gd name="adj" fmla="val 6000"/>
            </a:avLst>
          </a:prstGeom>
          <a:solidFill>
            <a:srgbClr val="16281F"/>
          </a:solidFill>
          <a:ln w="12700">
            <a:solidFill>
              <a:srgbClr val="2C4638"/>
            </a:solidFill>
            <a:prstDash val="solid"/>
          </a:ln>
        </p:spPr>
      </p:sp>
      <p:sp>
        <p:nvSpPr>
          <p:cNvPr id="26" name="Text 23"/>
          <p:cNvSpPr txBox="1"/>
          <p:nvPr/>
        </p:nvSpPr>
        <p:spPr>
          <a:xfrm>
            <a:off x="6891528" y="4645152"/>
            <a:ext cx="2371344" cy="237744"/>
          </a:xfrm>
          <a:prstGeom prst="rect">
            <a:avLst/>
          </a:prstGeom>
          <a:noFill/>
          <a:ln/>
        </p:spPr>
        <p:txBody>
          <a:bodyPr wrap="square" lIns="0" tIns="0" rIns="0" bIns="0" rtlCol="0" anchor="ctr"/>
          <a:lstStyle/>
          <a:p>
            <a:pPr indent="0" marL="0">
              <a:buNone/>
            </a:pPr>
            <a:r>
              <a:rPr lang="en-US" sz="1000" b="1" spc="160" kern="0" dirty="0">
                <a:solidFill>
                  <a:srgbClr val="7FD1A6"/>
                </a:solidFill>
                <a:latin typeface="Arial" pitchFamily="34" charset="0"/>
                <a:ea typeface="Arial" pitchFamily="34" charset="-122"/>
                <a:cs typeface="Arial" pitchFamily="34" charset="-120"/>
              </a:rPr>
              <a:t>INDUSTRY MENTOR</a:t>
            </a:r>
            <a:endParaRPr lang="en-US" sz="1000" dirty="0"/>
          </a:p>
        </p:txBody>
      </p:sp>
      <p:sp>
        <p:nvSpPr>
          <p:cNvPr id="27" name="Text 24"/>
          <p:cNvSpPr txBox="1"/>
          <p:nvPr/>
        </p:nvSpPr>
        <p:spPr>
          <a:xfrm>
            <a:off x="6891528" y="4937760"/>
            <a:ext cx="2371344" cy="82296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Arial" pitchFamily="34" charset="0"/>
                <a:ea typeface="Arial" pitchFamily="34" charset="-122"/>
                <a:cs typeface="Arial" pitchFamily="34" charset="-120"/>
              </a:rPr>
              <a:t>Mr. ABC</a:t>
            </a:r>
            <a:endParaRPr lang="en-US" sz="1200" dirty="0"/>
          </a:p>
          <a:p>
            <a:pPr indent="0" marL="0">
              <a:lnSpc>
                <a:spcPts val="1700"/>
              </a:lnSpc>
              <a:buNone/>
            </a:pPr>
            <a:r>
              <a:rPr lang="en-US" sz="1200" dirty="0">
                <a:solidFill>
                  <a:srgbClr val="FFFFFF"/>
                </a:solidFill>
                <a:latin typeface="Arial" pitchFamily="34" charset="0"/>
                <a:ea typeface="Arial" pitchFamily="34" charset="-122"/>
                <a:cs typeface="Arial" pitchFamily="34" charset="-120"/>
              </a:rPr>
              <a:t>Designation</a:t>
            </a:r>
            <a:endParaRPr lang="en-US" sz="1200" dirty="0"/>
          </a:p>
          <a:p>
            <a:pPr indent="0" marL="0">
              <a:lnSpc>
                <a:spcPts val="1700"/>
              </a:lnSpc>
              <a:buNone/>
            </a:pPr>
            <a:r>
              <a:rPr lang="en-US" sz="1200" dirty="0">
                <a:solidFill>
                  <a:srgbClr val="FFFFFF"/>
                </a:solidFill>
                <a:latin typeface="Arial" pitchFamily="34" charset="0"/>
                <a:ea typeface="Arial" pitchFamily="34" charset="-122"/>
                <a:cs typeface="Arial" pitchFamily="34" charset="-120"/>
              </a:rPr>
              <a:t>Organization name</a:t>
            </a:r>
            <a:endParaRPr lang="en-US" sz="1200" dirty="0"/>
          </a:p>
        </p:txBody>
      </p:sp>
      <p:sp>
        <p:nvSpPr>
          <p:cNvPr id="28" name="Text 25"/>
          <p:cNvSpPr txBox="1"/>
          <p:nvPr/>
        </p:nvSpPr>
        <p:spPr>
          <a:xfrm>
            <a:off x="594360" y="6144768"/>
            <a:ext cx="8887968"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School of Engineering &amp; Technology  ·  BML Munjal University</a:t>
            </a:r>
            <a:endParaRPr lang="en-US" sz="1300" dirty="0"/>
          </a:p>
        </p:txBody>
      </p:sp>
      <p:sp>
        <p:nvSpPr>
          <p:cNvPr id="29" name="Text 26"/>
          <p:cNvSpPr txBox="1"/>
          <p:nvPr/>
        </p:nvSpPr>
        <p:spPr>
          <a:xfrm>
            <a:off x="594360" y="6419088"/>
            <a:ext cx="8887968" cy="256032"/>
          </a:xfrm>
          <a:prstGeom prst="rect">
            <a:avLst/>
          </a:prstGeom>
          <a:noFill/>
          <a:ln/>
        </p:spPr>
        <p:txBody>
          <a:bodyPr wrap="square" lIns="0" tIns="0" rIns="0" bIns="0" rtlCol="0" anchor="ctr"/>
          <a:lstStyle/>
          <a:p>
            <a:pPr indent="0" marL="0">
              <a:buNone/>
            </a:pPr>
            <a:r>
              <a:rPr lang="en-US" sz="1150" dirty="0">
                <a:solidFill>
                  <a:srgbClr val="A6BCAF"/>
                </a:solidFill>
                <a:latin typeface="Arial" pitchFamily="34" charset="0"/>
                <a:ea typeface="Arial" pitchFamily="34" charset="-122"/>
                <a:cs typeface="Arial" pitchFamily="34" charset="-120"/>
              </a:rPr>
              <a:t>67th KM Stone, NH-8, Gurugram, Haryana 122413</a:t>
            </a:r>
            <a:endParaRPr lang="en-US" sz="1150" dirty="0"/>
          </a:p>
        </p:txBody>
      </p:sp>
      <p:sp>
        <p:nvSpPr>
          <p:cNvPr id="30" name="Text 27"/>
          <p:cNvSpPr txBox="1"/>
          <p:nvPr/>
        </p:nvSpPr>
        <p:spPr>
          <a:xfrm>
            <a:off x="6739128" y="6144768"/>
            <a:ext cx="2743200" cy="274320"/>
          </a:xfrm>
          <a:prstGeom prst="rect">
            <a:avLst/>
          </a:prstGeom>
          <a:noFill/>
          <a:ln/>
        </p:spPr>
        <p:txBody>
          <a:bodyPr wrap="square" lIns="0" tIns="0" rIns="0" bIns="0" rtlCol="0" anchor="ctr"/>
          <a:lstStyle/>
          <a:p>
            <a:pPr algn="r" indent="0" marL="0">
              <a:buNone/>
            </a:pPr>
            <a:r>
              <a:rPr lang="en-US" sz="1300" b="1" dirty="0">
                <a:solidFill>
                  <a:srgbClr val="7FD1A6"/>
                </a:solidFill>
                <a:latin typeface="Arial" pitchFamily="34" charset="0"/>
                <a:ea typeface="Arial" pitchFamily="34" charset="-122"/>
                <a:cs typeface="Arial" pitchFamily="34" charset="-120"/>
              </a:rPr>
              <a:t>August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01</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CONTENTS</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Outline of the presentation</a:t>
            </a:r>
            <a:endParaRPr lang="en-US" sz="2700" dirty="0"/>
          </a:p>
        </p:txBody>
      </p:sp>
      <p:sp>
        <p:nvSpPr>
          <p:cNvPr id="6" name="Shape 4"/>
          <p:cNvSpPr/>
          <p:nvPr/>
        </p:nvSpPr>
        <p:spPr>
          <a:xfrm>
            <a:off x="594360" y="1572768"/>
            <a:ext cx="512064" cy="512064"/>
          </a:xfrm>
          <a:prstGeom prst="ellipse">
            <a:avLst/>
          </a:prstGeom>
          <a:solidFill>
            <a:srgbClr val="0E5C3A"/>
          </a:solidFill>
          <a:ln w="12700">
            <a:solidFill>
              <a:srgbClr val="0E5C3A"/>
            </a:solidFill>
            <a:prstDash val="solid"/>
          </a:ln>
        </p:spPr>
      </p:sp>
      <p:pic>
        <p:nvPicPr>
          <p:cNvPr id="7" name="Image 0" descr="/home/user/Fresh-Vision/presentation/assets/icons/LuBuilding2.png">    </p:cNvPr>
          <p:cNvPicPr>
            <a:picLocks noChangeAspect="1"/>
          </p:cNvPicPr>
          <p:nvPr/>
        </p:nvPicPr>
        <p:blipFill>
          <a:blip r:embed="rId1"/>
          <a:stretch>
            <a:fillRect/>
          </a:stretch>
        </p:blipFill>
        <p:spPr>
          <a:xfrm>
            <a:off x="732617" y="1711025"/>
            <a:ext cx="235549" cy="235549"/>
          </a:xfrm>
          <a:prstGeom prst="rect">
            <a:avLst/>
          </a:prstGeom>
        </p:spPr>
      </p:pic>
      <p:sp>
        <p:nvSpPr>
          <p:cNvPr id="8" name="Text 5"/>
          <p:cNvSpPr txBox="1"/>
          <p:nvPr/>
        </p:nvSpPr>
        <p:spPr>
          <a:xfrm>
            <a:off x="1252728" y="1554480"/>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01</a:t>
            </a:r>
            <a:endParaRPr lang="en-US" sz="1100" dirty="0"/>
          </a:p>
        </p:txBody>
      </p:sp>
      <p:sp>
        <p:nvSpPr>
          <p:cNvPr id="9" name="Text 6"/>
          <p:cNvSpPr txBox="1"/>
          <p:nvPr/>
        </p:nvSpPr>
        <p:spPr>
          <a:xfrm>
            <a:off x="1252728" y="1755648"/>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About the PS-II station</a:t>
            </a:r>
            <a:endParaRPr lang="en-US" sz="1550" dirty="0"/>
          </a:p>
        </p:txBody>
      </p:sp>
      <p:sp>
        <p:nvSpPr>
          <p:cNvPr id="10" name="Text 7"/>
          <p:cNvSpPr txBox="1"/>
          <p:nvPr/>
        </p:nvSpPr>
        <p:spPr>
          <a:xfrm>
            <a:off x="1252728" y="2057400"/>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Organisation, department and mentors</a:t>
            </a:r>
            <a:endParaRPr lang="en-US" sz="1150" dirty="0"/>
          </a:p>
        </p:txBody>
      </p:sp>
      <p:sp>
        <p:nvSpPr>
          <p:cNvPr id="11" name="Shape 8"/>
          <p:cNvSpPr/>
          <p:nvPr/>
        </p:nvSpPr>
        <p:spPr>
          <a:xfrm>
            <a:off x="594360" y="2633472"/>
            <a:ext cx="512064" cy="512064"/>
          </a:xfrm>
          <a:prstGeom prst="ellipse">
            <a:avLst/>
          </a:prstGeom>
          <a:solidFill>
            <a:srgbClr val="1C9A63"/>
          </a:solidFill>
          <a:ln w="12700">
            <a:solidFill>
              <a:srgbClr val="1C9A63"/>
            </a:solidFill>
            <a:prstDash val="solid"/>
          </a:ln>
        </p:spPr>
      </p:sp>
      <p:pic>
        <p:nvPicPr>
          <p:cNvPr id="12" name="Image 1" descr="/home/user/Fresh-Vision/presentation/assets/icons/LuCalendarDays.png">    </p:cNvPr>
          <p:cNvPicPr>
            <a:picLocks noChangeAspect="1"/>
          </p:cNvPicPr>
          <p:nvPr/>
        </p:nvPicPr>
        <p:blipFill>
          <a:blip r:embed="rId2"/>
          <a:stretch>
            <a:fillRect/>
          </a:stretch>
        </p:blipFill>
        <p:spPr>
          <a:xfrm>
            <a:off x="732617" y="2771729"/>
            <a:ext cx="235549" cy="235549"/>
          </a:xfrm>
          <a:prstGeom prst="rect">
            <a:avLst/>
          </a:prstGeom>
        </p:spPr>
      </p:pic>
      <p:sp>
        <p:nvSpPr>
          <p:cNvPr id="13" name="Text 9"/>
          <p:cNvSpPr txBox="1"/>
          <p:nvPr/>
        </p:nvSpPr>
        <p:spPr>
          <a:xfrm>
            <a:off x="1252728" y="2615184"/>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02</a:t>
            </a:r>
            <a:endParaRPr lang="en-US" sz="1100" dirty="0"/>
          </a:p>
        </p:txBody>
      </p:sp>
      <p:sp>
        <p:nvSpPr>
          <p:cNvPr id="14" name="Text 10"/>
          <p:cNvSpPr txBox="1"/>
          <p:nvPr/>
        </p:nvSpPr>
        <p:spPr>
          <a:xfrm>
            <a:off x="1252728" y="2816352"/>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Visit summary</a:t>
            </a:r>
            <a:endParaRPr lang="en-US" sz="1550" dirty="0"/>
          </a:p>
        </p:txBody>
      </p:sp>
      <p:sp>
        <p:nvSpPr>
          <p:cNvPr id="15" name="Text 11"/>
          <p:cNvSpPr txBox="1"/>
          <p:nvPr/>
        </p:nvSpPr>
        <p:spPr>
          <a:xfrm>
            <a:off x="1252728" y="3118104"/>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Eight-week work log</a:t>
            </a:r>
            <a:endParaRPr lang="en-US" sz="1150" dirty="0"/>
          </a:p>
        </p:txBody>
      </p:sp>
      <p:sp>
        <p:nvSpPr>
          <p:cNvPr id="16" name="Shape 12"/>
          <p:cNvSpPr/>
          <p:nvPr/>
        </p:nvSpPr>
        <p:spPr>
          <a:xfrm>
            <a:off x="594360" y="3694176"/>
            <a:ext cx="512064" cy="512064"/>
          </a:xfrm>
          <a:prstGeom prst="ellipse">
            <a:avLst/>
          </a:prstGeom>
          <a:solidFill>
            <a:srgbClr val="0E5C3A"/>
          </a:solidFill>
          <a:ln w="12700">
            <a:solidFill>
              <a:srgbClr val="0E5C3A"/>
            </a:solidFill>
            <a:prstDash val="solid"/>
          </a:ln>
        </p:spPr>
      </p:sp>
      <p:pic>
        <p:nvPicPr>
          <p:cNvPr id="17" name="Image 2" descr="/home/user/Fresh-Vision/presentation/assets/icons/LuCircleAlert.png">    </p:cNvPr>
          <p:cNvPicPr>
            <a:picLocks noChangeAspect="1"/>
          </p:cNvPicPr>
          <p:nvPr/>
        </p:nvPicPr>
        <p:blipFill>
          <a:blip r:embed="rId3"/>
          <a:stretch>
            <a:fillRect/>
          </a:stretch>
        </p:blipFill>
        <p:spPr>
          <a:xfrm>
            <a:off x="732617" y="3832433"/>
            <a:ext cx="235549" cy="235549"/>
          </a:xfrm>
          <a:prstGeom prst="rect">
            <a:avLst/>
          </a:prstGeom>
        </p:spPr>
      </p:pic>
      <p:sp>
        <p:nvSpPr>
          <p:cNvPr id="18" name="Text 13"/>
          <p:cNvSpPr txBox="1"/>
          <p:nvPr/>
        </p:nvSpPr>
        <p:spPr>
          <a:xfrm>
            <a:off x="1252728" y="3675888"/>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03</a:t>
            </a:r>
            <a:endParaRPr lang="en-US" sz="1100" dirty="0"/>
          </a:p>
        </p:txBody>
      </p:sp>
      <p:sp>
        <p:nvSpPr>
          <p:cNvPr id="19" name="Text 14"/>
          <p:cNvSpPr txBox="1"/>
          <p:nvPr/>
        </p:nvSpPr>
        <p:spPr>
          <a:xfrm>
            <a:off x="1252728" y="3877056"/>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Problem identification</a:t>
            </a:r>
            <a:endParaRPr lang="en-US" sz="1550" dirty="0"/>
          </a:p>
        </p:txBody>
      </p:sp>
      <p:sp>
        <p:nvSpPr>
          <p:cNvPr id="20" name="Text 15"/>
          <p:cNvSpPr txBox="1"/>
          <p:nvPr/>
        </p:nvSpPr>
        <p:spPr>
          <a:xfrm>
            <a:off x="1252728" y="4178808"/>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Why grading produce by eye fails</a:t>
            </a:r>
            <a:endParaRPr lang="en-US" sz="1150" dirty="0"/>
          </a:p>
        </p:txBody>
      </p:sp>
      <p:sp>
        <p:nvSpPr>
          <p:cNvPr id="21" name="Shape 16"/>
          <p:cNvSpPr/>
          <p:nvPr/>
        </p:nvSpPr>
        <p:spPr>
          <a:xfrm>
            <a:off x="594360" y="4754880"/>
            <a:ext cx="512064" cy="512064"/>
          </a:xfrm>
          <a:prstGeom prst="ellipse">
            <a:avLst/>
          </a:prstGeom>
          <a:solidFill>
            <a:srgbClr val="1C9A63"/>
          </a:solidFill>
          <a:ln w="12700">
            <a:solidFill>
              <a:srgbClr val="1C9A63"/>
            </a:solidFill>
            <a:prstDash val="solid"/>
          </a:ln>
        </p:spPr>
      </p:sp>
      <p:pic>
        <p:nvPicPr>
          <p:cNvPr id="22" name="Image 3" descr="/home/user/Fresh-Vision/presentation/assets/icons/LuTarget.png">    </p:cNvPr>
          <p:cNvPicPr>
            <a:picLocks noChangeAspect="1"/>
          </p:cNvPicPr>
          <p:nvPr/>
        </p:nvPicPr>
        <p:blipFill>
          <a:blip r:embed="rId4"/>
          <a:stretch>
            <a:fillRect/>
          </a:stretch>
        </p:blipFill>
        <p:spPr>
          <a:xfrm>
            <a:off x="732617" y="4893137"/>
            <a:ext cx="235549" cy="235549"/>
          </a:xfrm>
          <a:prstGeom prst="rect">
            <a:avLst/>
          </a:prstGeom>
        </p:spPr>
      </p:pic>
      <p:sp>
        <p:nvSpPr>
          <p:cNvPr id="23" name="Text 17"/>
          <p:cNvSpPr txBox="1"/>
          <p:nvPr/>
        </p:nvSpPr>
        <p:spPr>
          <a:xfrm>
            <a:off x="1252728" y="4736592"/>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04</a:t>
            </a:r>
            <a:endParaRPr lang="en-US" sz="1100" dirty="0"/>
          </a:p>
        </p:txBody>
      </p:sp>
      <p:sp>
        <p:nvSpPr>
          <p:cNvPr id="24" name="Text 18"/>
          <p:cNvSpPr txBox="1"/>
          <p:nvPr/>
        </p:nvSpPr>
        <p:spPr>
          <a:xfrm>
            <a:off x="1252728" y="4937760"/>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Problem statement</a:t>
            </a:r>
            <a:endParaRPr lang="en-US" sz="1550" dirty="0"/>
          </a:p>
        </p:txBody>
      </p:sp>
      <p:sp>
        <p:nvSpPr>
          <p:cNvPr id="25" name="Text 19"/>
          <p:cNvSpPr txBox="1"/>
          <p:nvPr/>
        </p:nvSpPr>
        <p:spPr>
          <a:xfrm>
            <a:off x="1252728" y="5239512"/>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What the system must solve</a:t>
            </a:r>
            <a:endParaRPr lang="en-US" sz="1150" dirty="0"/>
          </a:p>
        </p:txBody>
      </p:sp>
      <p:sp>
        <p:nvSpPr>
          <p:cNvPr id="26" name="Shape 20"/>
          <p:cNvSpPr/>
          <p:nvPr/>
        </p:nvSpPr>
        <p:spPr>
          <a:xfrm>
            <a:off x="594360" y="5815584"/>
            <a:ext cx="512064" cy="512064"/>
          </a:xfrm>
          <a:prstGeom prst="ellipse">
            <a:avLst/>
          </a:prstGeom>
          <a:solidFill>
            <a:srgbClr val="0E5C3A"/>
          </a:solidFill>
          <a:ln w="12700">
            <a:solidFill>
              <a:srgbClr val="0E5C3A"/>
            </a:solidFill>
            <a:prstDash val="solid"/>
          </a:ln>
        </p:spPr>
      </p:sp>
      <p:pic>
        <p:nvPicPr>
          <p:cNvPr id="27" name="Image 4" descr="/home/user/Fresh-Vision/presentation/assets/icons/LuBoxes.png">    </p:cNvPr>
          <p:cNvPicPr>
            <a:picLocks noChangeAspect="1"/>
          </p:cNvPicPr>
          <p:nvPr/>
        </p:nvPicPr>
        <p:blipFill>
          <a:blip r:embed="rId5"/>
          <a:stretch>
            <a:fillRect/>
          </a:stretch>
        </p:blipFill>
        <p:spPr>
          <a:xfrm>
            <a:off x="732617" y="5953841"/>
            <a:ext cx="235549" cy="235549"/>
          </a:xfrm>
          <a:prstGeom prst="rect">
            <a:avLst/>
          </a:prstGeom>
        </p:spPr>
      </p:pic>
      <p:sp>
        <p:nvSpPr>
          <p:cNvPr id="28" name="Text 21"/>
          <p:cNvSpPr txBox="1"/>
          <p:nvPr/>
        </p:nvSpPr>
        <p:spPr>
          <a:xfrm>
            <a:off x="1252728" y="5797296"/>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05</a:t>
            </a:r>
            <a:endParaRPr lang="en-US" sz="1100" dirty="0"/>
          </a:p>
        </p:txBody>
      </p:sp>
      <p:sp>
        <p:nvSpPr>
          <p:cNvPr id="29" name="Text 22"/>
          <p:cNvSpPr txBox="1"/>
          <p:nvPr/>
        </p:nvSpPr>
        <p:spPr>
          <a:xfrm>
            <a:off x="1252728" y="5998464"/>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Objectives of the work</a:t>
            </a:r>
            <a:endParaRPr lang="en-US" sz="1550" dirty="0"/>
          </a:p>
        </p:txBody>
      </p:sp>
      <p:sp>
        <p:nvSpPr>
          <p:cNvPr id="30" name="Text 23"/>
          <p:cNvSpPr txBox="1"/>
          <p:nvPr/>
        </p:nvSpPr>
        <p:spPr>
          <a:xfrm>
            <a:off x="1252728" y="6300216"/>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Six measurable goals</a:t>
            </a:r>
            <a:endParaRPr lang="en-US" sz="1150" dirty="0"/>
          </a:p>
        </p:txBody>
      </p:sp>
      <p:sp>
        <p:nvSpPr>
          <p:cNvPr id="31" name="Shape 24"/>
          <p:cNvSpPr/>
          <p:nvPr/>
        </p:nvSpPr>
        <p:spPr>
          <a:xfrm>
            <a:off x="5312664" y="1572768"/>
            <a:ext cx="512064" cy="512064"/>
          </a:xfrm>
          <a:prstGeom prst="ellipse">
            <a:avLst/>
          </a:prstGeom>
          <a:solidFill>
            <a:srgbClr val="1C9A63"/>
          </a:solidFill>
          <a:ln w="12700">
            <a:solidFill>
              <a:srgbClr val="1C9A63"/>
            </a:solidFill>
            <a:prstDash val="solid"/>
          </a:ln>
        </p:spPr>
      </p:sp>
      <p:pic>
        <p:nvPicPr>
          <p:cNvPr id="32" name="Image 5" descr="/home/user/Fresh-Vision/presentation/assets/icons/LuGitBranch.png">    </p:cNvPr>
          <p:cNvPicPr>
            <a:picLocks noChangeAspect="1"/>
          </p:cNvPicPr>
          <p:nvPr/>
        </p:nvPicPr>
        <p:blipFill>
          <a:blip r:embed="rId6"/>
          <a:stretch>
            <a:fillRect/>
          </a:stretch>
        </p:blipFill>
        <p:spPr>
          <a:xfrm>
            <a:off x="5450921" y="1711025"/>
            <a:ext cx="235549" cy="235549"/>
          </a:xfrm>
          <a:prstGeom prst="rect">
            <a:avLst/>
          </a:prstGeom>
        </p:spPr>
      </p:pic>
      <p:sp>
        <p:nvSpPr>
          <p:cNvPr id="33" name="Text 25"/>
          <p:cNvSpPr txBox="1"/>
          <p:nvPr/>
        </p:nvSpPr>
        <p:spPr>
          <a:xfrm>
            <a:off x="5971032" y="1554480"/>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06</a:t>
            </a:r>
            <a:endParaRPr lang="en-US" sz="1100" dirty="0"/>
          </a:p>
        </p:txBody>
      </p:sp>
      <p:sp>
        <p:nvSpPr>
          <p:cNvPr id="34" name="Text 26"/>
          <p:cNvSpPr txBox="1"/>
          <p:nvPr/>
        </p:nvSpPr>
        <p:spPr>
          <a:xfrm>
            <a:off x="5971032" y="1755648"/>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Methodology</a:t>
            </a:r>
            <a:endParaRPr lang="en-US" sz="1550" dirty="0"/>
          </a:p>
        </p:txBody>
      </p:sp>
      <p:sp>
        <p:nvSpPr>
          <p:cNvPr id="35" name="Text 27"/>
          <p:cNvSpPr txBox="1"/>
          <p:nvPr/>
        </p:nvSpPr>
        <p:spPr>
          <a:xfrm>
            <a:off x="5971032" y="2057400"/>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Data, pseudo-labelling, training, deployment</a:t>
            </a:r>
            <a:endParaRPr lang="en-US" sz="1150" dirty="0"/>
          </a:p>
        </p:txBody>
      </p:sp>
      <p:sp>
        <p:nvSpPr>
          <p:cNvPr id="36" name="Shape 28"/>
          <p:cNvSpPr/>
          <p:nvPr/>
        </p:nvSpPr>
        <p:spPr>
          <a:xfrm>
            <a:off x="5312664" y="2633472"/>
            <a:ext cx="512064" cy="512064"/>
          </a:xfrm>
          <a:prstGeom prst="ellipse">
            <a:avLst/>
          </a:prstGeom>
          <a:solidFill>
            <a:srgbClr val="0E5C3A"/>
          </a:solidFill>
          <a:ln w="12700">
            <a:solidFill>
              <a:srgbClr val="0E5C3A"/>
            </a:solidFill>
            <a:prstDash val="solid"/>
          </a:ln>
        </p:spPr>
      </p:sp>
      <p:pic>
        <p:nvPicPr>
          <p:cNvPr id="37" name="Image 6" descr="/home/user/Fresh-Vision/presentation/assets/icons/LuChartColumn.png">    </p:cNvPr>
          <p:cNvPicPr>
            <a:picLocks noChangeAspect="1"/>
          </p:cNvPicPr>
          <p:nvPr/>
        </p:nvPicPr>
        <p:blipFill>
          <a:blip r:embed="rId7"/>
          <a:stretch>
            <a:fillRect/>
          </a:stretch>
        </p:blipFill>
        <p:spPr>
          <a:xfrm>
            <a:off x="5450921" y="2771729"/>
            <a:ext cx="235549" cy="235549"/>
          </a:xfrm>
          <a:prstGeom prst="rect">
            <a:avLst/>
          </a:prstGeom>
        </p:spPr>
      </p:pic>
      <p:sp>
        <p:nvSpPr>
          <p:cNvPr id="38" name="Text 29"/>
          <p:cNvSpPr txBox="1"/>
          <p:nvPr/>
        </p:nvSpPr>
        <p:spPr>
          <a:xfrm>
            <a:off x="5971032" y="2615184"/>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07</a:t>
            </a:r>
            <a:endParaRPr lang="en-US" sz="1100" dirty="0"/>
          </a:p>
        </p:txBody>
      </p:sp>
      <p:sp>
        <p:nvSpPr>
          <p:cNvPr id="39" name="Text 30"/>
          <p:cNvSpPr txBox="1"/>
          <p:nvPr/>
        </p:nvSpPr>
        <p:spPr>
          <a:xfrm>
            <a:off x="5971032" y="2816352"/>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Results &amp; discussions</a:t>
            </a:r>
            <a:endParaRPr lang="en-US" sz="1550" dirty="0"/>
          </a:p>
        </p:txBody>
      </p:sp>
      <p:sp>
        <p:nvSpPr>
          <p:cNvPr id="40" name="Text 31"/>
          <p:cNvSpPr txBox="1"/>
          <p:nvPr/>
        </p:nvSpPr>
        <p:spPr>
          <a:xfrm>
            <a:off x="5971032" y="3118104"/>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Accuracy, calibration, the working app</a:t>
            </a:r>
            <a:endParaRPr lang="en-US" sz="1150" dirty="0"/>
          </a:p>
        </p:txBody>
      </p:sp>
      <p:sp>
        <p:nvSpPr>
          <p:cNvPr id="41" name="Shape 32"/>
          <p:cNvSpPr/>
          <p:nvPr/>
        </p:nvSpPr>
        <p:spPr>
          <a:xfrm>
            <a:off x="5312664" y="3694176"/>
            <a:ext cx="512064" cy="512064"/>
          </a:xfrm>
          <a:prstGeom prst="ellipse">
            <a:avLst/>
          </a:prstGeom>
          <a:solidFill>
            <a:srgbClr val="1C9A63"/>
          </a:solidFill>
          <a:ln w="12700">
            <a:solidFill>
              <a:srgbClr val="1C9A63"/>
            </a:solidFill>
            <a:prstDash val="solid"/>
          </a:ln>
        </p:spPr>
      </p:sp>
      <p:pic>
        <p:nvPicPr>
          <p:cNvPr id="42" name="Image 7" descr="/home/user/Fresh-Vision/presentation/assets/icons/LuSparkles.png">    </p:cNvPr>
          <p:cNvPicPr>
            <a:picLocks noChangeAspect="1"/>
          </p:cNvPicPr>
          <p:nvPr/>
        </p:nvPicPr>
        <p:blipFill>
          <a:blip r:embed="rId8"/>
          <a:stretch>
            <a:fillRect/>
          </a:stretch>
        </p:blipFill>
        <p:spPr>
          <a:xfrm>
            <a:off x="5450921" y="3832433"/>
            <a:ext cx="235549" cy="235549"/>
          </a:xfrm>
          <a:prstGeom prst="rect">
            <a:avLst/>
          </a:prstGeom>
        </p:spPr>
      </p:pic>
      <p:sp>
        <p:nvSpPr>
          <p:cNvPr id="43" name="Text 33"/>
          <p:cNvSpPr txBox="1"/>
          <p:nvPr/>
        </p:nvSpPr>
        <p:spPr>
          <a:xfrm>
            <a:off x="5971032" y="3675888"/>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08</a:t>
            </a:r>
            <a:endParaRPr lang="en-US" sz="1100" dirty="0"/>
          </a:p>
        </p:txBody>
      </p:sp>
      <p:sp>
        <p:nvSpPr>
          <p:cNvPr id="44" name="Text 34"/>
          <p:cNvSpPr txBox="1"/>
          <p:nvPr/>
        </p:nvSpPr>
        <p:spPr>
          <a:xfrm>
            <a:off x="5971032" y="3877056"/>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Learning outcomes</a:t>
            </a:r>
            <a:endParaRPr lang="en-US" sz="1550" dirty="0"/>
          </a:p>
        </p:txBody>
      </p:sp>
      <p:sp>
        <p:nvSpPr>
          <p:cNvPr id="45" name="Text 35"/>
          <p:cNvSpPr txBox="1"/>
          <p:nvPr/>
        </p:nvSpPr>
        <p:spPr>
          <a:xfrm>
            <a:off x="5971032" y="4178808"/>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Technical and professional takeaways</a:t>
            </a:r>
            <a:endParaRPr lang="en-US" sz="1150" dirty="0"/>
          </a:p>
        </p:txBody>
      </p:sp>
      <p:sp>
        <p:nvSpPr>
          <p:cNvPr id="46" name="Shape 36"/>
          <p:cNvSpPr/>
          <p:nvPr/>
        </p:nvSpPr>
        <p:spPr>
          <a:xfrm>
            <a:off x="5312664" y="4754880"/>
            <a:ext cx="512064" cy="512064"/>
          </a:xfrm>
          <a:prstGeom prst="ellipse">
            <a:avLst/>
          </a:prstGeom>
          <a:solidFill>
            <a:srgbClr val="0E5C3A"/>
          </a:solidFill>
          <a:ln w="12700">
            <a:solidFill>
              <a:srgbClr val="0E5C3A"/>
            </a:solidFill>
            <a:prstDash val="solid"/>
          </a:ln>
        </p:spPr>
      </p:sp>
      <p:pic>
        <p:nvPicPr>
          <p:cNvPr id="47" name="Image 8" descr="/home/user/Fresh-Vision/presentation/assets/icons/LuBookOpen.png">    </p:cNvPr>
          <p:cNvPicPr>
            <a:picLocks noChangeAspect="1"/>
          </p:cNvPicPr>
          <p:nvPr/>
        </p:nvPicPr>
        <p:blipFill>
          <a:blip r:embed="rId9"/>
          <a:stretch>
            <a:fillRect/>
          </a:stretch>
        </p:blipFill>
        <p:spPr>
          <a:xfrm>
            <a:off x="5450921" y="4893137"/>
            <a:ext cx="235549" cy="235549"/>
          </a:xfrm>
          <a:prstGeom prst="rect">
            <a:avLst/>
          </a:prstGeom>
        </p:spPr>
      </p:pic>
      <p:sp>
        <p:nvSpPr>
          <p:cNvPr id="48" name="Text 37"/>
          <p:cNvSpPr txBox="1"/>
          <p:nvPr/>
        </p:nvSpPr>
        <p:spPr>
          <a:xfrm>
            <a:off x="5971032" y="4736592"/>
            <a:ext cx="457200" cy="274320"/>
          </a:xfrm>
          <a:prstGeom prst="rect">
            <a:avLst/>
          </a:prstGeom>
          <a:noFill/>
          <a:ln/>
        </p:spPr>
        <p:txBody>
          <a:bodyPr wrap="square" lIns="0" tIns="0" rIns="0" bIns="0" rtlCol="0" anchor="ctr"/>
          <a:lstStyle/>
          <a:p>
            <a:pPr indent="0" marL="0">
              <a:buNone/>
            </a:pPr>
            <a:r>
              <a:rPr lang="en-US" sz="1100" b="1" spc="100" kern="0" dirty="0">
                <a:solidFill>
                  <a:srgbClr val="1C9A63"/>
                </a:solidFill>
                <a:latin typeface="Arial" pitchFamily="34" charset="0"/>
                <a:ea typeface="Arial" pitchFamily="34" charset="-122"/>
                <a:cs typeface="Arial" pitchFamily="34" charset="-120"/>
              </a:rPr>
              <a:t>09</a:t>
            </a:r>
            <a:endParaRPr lang="en-US" sz="1100" dirty="0"/>
          </a:p>
        </p:txBody>
      </p:sp>
      <p:sp>
        <p:nvSpPr>
          <p:cNvPr id="49" name="Text 38"/>
          <p:cNvSpPr txBox="1"/>
          <p:nvPr/>
        </p:nvSpPr>
        <p:spPr>
          <a:xfrm>
            <a:off x="5971032" y="4937760"/>
            <a:ext cx="3438144" cy="292608"/>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References</a:t>
            </a:r>
            <a:endParaRPr lang="en-US" sz="1550" dirty="0"/>
          </a:p>
        </p:txBody>
      </p:sp>
      <p:sp>
        <p:nvSpPr>
          <p:cNvPr id="50" name="Text 39"/>
          <p:cNvSpPr txBox="1"/>
          <p:nvPr/>
        </p:nvSpPr>
        <p:spPr>
          <a:xfrm>
            <a:off x="5971032" y="5239512"/>
            <a:ext cx="3438144" cy="256032"/>
          </a:xfrm>
          <a:prstGeom prst="rect">
            <a:avLst/>
          </a:prstGeom>
          <a:noFill/>
          <a:ln/>
        </p:spPr>
        <p:txBody>
          <a:bodyPr wrap="square" lIns="0" tIns="0" rIns="0" bIns="0" rtlCol="0" anchor="ctr"/>
          <a:lstStyle/>
          <a:p>
            <a:pPr indent="0" marL="0">
              <a:buNone/>
            </a:pPr>
            <a:r>
              <a:rPr lang="en-US" sz="1150" dirty="0">
                <a:solidFill>
                  <a:srgbClr val="6A7B71"/>
                </a:solidFill>
                <a:latin typeface="Arial" pitchFamily="34" charset="0"/>
                <a:ea typeface="Arial" pitchFamily="34" charset="-122"/>
                <a:cs typeface="Arial" pitchFamily="34" charset="-120"/>
              </a:rPr>
              <a:t>Papers, datasets and documentation</a:t>
            </a:r>
            <a:endParaRPr lang="en-US" sz="1150" dirty="0"/>
          </a:p>
        </p:txBody>
      </p:sp>
      <p:sp>
        <p:nvSpPr>
          <p:cNvPr id="51" name="Shape 40"/>
          <p:cNvSpPr/>
          <p:nvPr/>
        </p:nvSpPr>
        <p:spPr>
          <a:xfrm>
            <a:off x="5312664" y="5815584"/>
            <a:ext cx="4169664" cy="896112"/>
          </a:xfrm>
          <a:prstGeom prst="roundRect">
            <a:avLst>
              <a:gd name="adj" fmla="val 9184"/>
            </a:avLst>
          </a:prstGeom>
          <a:solidFill>
            <a:srgbClr val="EAF5EF"/>
          </a:solidFill>
          <a:ln w="12700">
            <a:solidFill>
              <a:srgbClr val="EAF5EF"/>
            </a:solidFill>
            <a:prstDash val="solid"/>
          </a:ln>
        </p:spPr>
      </p:sp>
      <p:sp>
        <p:nvSpPr>
          <p:cNvPr id="52" name="Text 41"/>
          <p:cNvSpPr txBox="1"/>
          <p:nvPr/>
        </p:nvSpPr>
        <p:spPr>
          <a:xfrm>
            <a:off x="5532120" y="5815584"/>
            <a:ext cx="3730752" cy="896112"/>
          </a:xfrm>
          <a:prstGeom prst="rect">
            <a:avLst/>
          </a:prstGeom>
          <a:noFill/>
          <a:ln/>
        </p:spPr>
        <p:txBody>
          <a:bodyPr wrap="square" lIns="0" tIns="0" rIns="0" bIns="0" rtlCol="0" anchor="ctr"/>
          <a:lstStyle/>
          <a:p>
            <a:pPr indent="0" marL="0">
              <a:lnSpc>
                <a:spcPts val="1700"/>
              </a:lnSpc>
              <a:buNone/>
            </a:pPr>
            <a:r>
              <a:rPr lang="en-US" sz="1200" b="1" dirty="0">
                <a:solidFill>
                  <a:srgbClr val="0E5C3A"/>
                </a:solidFill>
                <a:latin typeface="Arial" pitchFamily="34" charset="0"/>
                <a:ea typeface="Arial" pitchFamily="34" charset="-122"/>
                <a:cs typeface="Arial" pitchFamily="34" charset="-120"/>
              </a:rPr>
              <a:t>Fresh Vision in one line:  </a:t>
            </a:r>
            <a:pPr indent="0" marL="0">
              <a:lnSpc>
                <a:spcPts val="1700"/>
              </a:lnSpc>
              <a:buNone/>
            </a:pPr>
            <a:r>
              <a:rPr lang="en-US" sz="1200" dirty="0">
                <a:solidFill>
                  <a:srgbClr val="3C4C43"/>
                </a:solidFill>
                <a:latin typeface="Arial" pitchFamily="34" charset="0"/>
                <a:ea typeface="Arial" pitchFamily="34" charset="-122"/>
                <a:cs typeface="Arial" pitchFamily="34" charset="-120"/>
              </a:rPr>
              <a:t>identify the produce, grade its decay, explain the verdict.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2103120"/>
            <a:ext cx="2743200" cy="1554480"/>
          </a:xfrm>
          <a:prstGeom prst="rect">
            <a:avLst/>
          </a:prstGeom>
          <a:noFill/>
          <a:ln/>
        </p:spPr>
        <p:txBody>
          <a:bodyPr wrap="square" lIns="0" tIns="0" rIns="0" bIns="0" rtlCol="0" anchor="ctr"/>
          <a:lstStyle/>
          <a:p>
            <a:pPr indent="0" marL="0">
              <a:buNone/>
            </a:pPr>
            <a:r>
              <a:rPr lang="en-US" sz="10800" b="1" dirty="0">
                <a:solidFill>
                  <a:srgbClr val="27604A"/>
                </a:solidFill>
                <a:latin typeface="Arial" pitchFamily="34" charset="0"/>
                <a:ea typeface="Arial" pitchFamily="34" charset="-122"/>
                <a:cs typeface="Arial" pitchFamily="34" charset="-120"/>
              </a:rPr>
              <a:t>01</a:t>
            </a:r>
            <a:endParaRPr lang="en-US" sz="10800" dirty="0"/>
          </a:p>
        </p:txBody>
      </p:sp>
      <p:sp>
        <p:nvSpPr>
          <p:cNvPr id="3" name="Text 1"/>
          <p:cNvSpPr txBox="1"/>
          <p:nvPr/>
        </p:nvSpPr>
        <p:spPr>
          <a:xfrm>
            <a:off x="667512" y="3675888"/>
            <a:ext cx="2743200" cy="274320"/>
          </a:xfrm>
          <a:prstGeom prst="rect">
            <a:avLst/>
          </a:prstGeom>
          <a:noFill/>
          <a:ln/>
        </p:spPr>
        <p:txBody>
          <a:bodyPr wrap="square" lIns="0" tIns="0" rIns="0" bIns="0" rtlCol="0" anchor="ctr"/>
          <a:lstStyle/>
          <a:p>
            <a:pPr indent="0" marL="0">
              <a:buNone/>
            </a:pPr>
            <a:r>
              <a:rPr lang="en-US" sz="1050" b="1" spc="240" kern="0" dirty="0">
                <a:solidFill>
                  <a:srgbClr val="7FD1A6"/>
                </a:solidFill>
                <a:latin typeface="Arial" pitchFamily="34" charset="0"/>
                <a:ea typeface="Arial" pitchFamily="34" charset="-122"/>
                <a:cs typeface="Arial" pitchFamily="34" charset="-120"/>
              </a:rPr>
              <a:t>SECTION</a:t>
            </a:r>
            <a:endParaRPr lang="en-US" sz="1050" dirty="0"/>
          </a:p>
        </p:txBody>
      </p:sp>
      <p:sp>
        <p:nvSpPr>
          <p:cNvPr id="4" name="Text 2"/>
          <p:cNvSpPr txBox="1"/>
          <p:nvPr/>
        </p:nvSpPr>
        <p:spPr>
          <a:xfrm>
            <a:off x="3337560" y="2651760"/>
            <a:ext cx="6144768"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PS-II station</a:t>
            </a:r>
            <a:endParaRPr lang="en-US" sz="3400" dirty="0"/>
          </a:p>
        </p:txBody>
      </p:sp>
      <p:sp>
        <p:nvSpPr>
          <p:cNvPr id="5" name="Text 3"/>
          <p:cNvSpPr txBox="1"/>
          <p:nvPr/>
        </p:nvSpPr>
        <p:spPr>
          <a:xfrm>
            <a:off x="3383280" y="3328416"/>
            <a:ext cx="6099048" cy="365760"/>
          </a:xfrm>
          <a:prstGeom prst="rect">
            <a:avLst/>
          </a:prstGeom>
          <a:noFill/>
          <a:ln/>
        </p:spPr>
        <p:txBody>
          <a:bodyPr wrap="square" lIns="0" tIns="0" rIns="0" bIns="0" rtlCol="0" anchor="ctr"/>
          <a:lstStyle/>
          <a:p>
            <a:pPr indent="0" marL="0">
              <a:lnSpc>
                <a:spcPts val="2000"/>
              </a:lnSpc>
              <a:buNone/>
            </a:pPr>
            <a:r>
              <a:rPr lang="en-US" sz="1400" dirty="0">
                <a:solidFill>
                  <a:srgbClr val="A6BCAF"/>
                </a:solidFill>
                <a:latin typeface="Arial" pitchFamily="34" charset="0"/>
                <a:ea typeface="Arial" pitchFamily="34" charset="-122"/>
                <a:cs typeface="Arial" pitchFamily="34" charset="-120"/>
              </a:rPr>
              <a:t>Where the work was carried out, and what the eight weeks covered.</a:t>
            </a:r>
            <a:endParaRPr lang="en-US" sz="1400" dirty="0"/>
          </a:p>
        </p:txBody>
      </p:sp>
      <p:sp>
        <p:nvSpPr>
          <p:cNvPr id="6" name="Text 4"/>
          <p:cNvSpPr txBox="1"/>
          <p:nvPr/>
        </p:nvSpPr>
        <p:spPr>
          <a:xfrm>
            <a:off x="3383280" y="4114800"/>
            <a:ext cx="2866644"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About the station</a:t>
            </a:r>
            <a:endParaRPr lang="en-US" sz="1200" dirty="0"/>
          </a:p>
        </p:txBody>
      </p:sp>
      <p:sp>
        <p:nvSpPr>
          <p:cNvPr id="7" name="Text 5"/>
          <p:cNvSpPr txBox="1"/>
          <p:nvPr/>
        </p:nvSpPr>
        <p:spPr>
          <a:xfrm>
            <a:off x="6432804" y="4114800"/>
            <a:ext cx="2866644"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Visit summary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02</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01</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About the PS-II station</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Station details to be completed before submission</a:t>
            </a:r>
            <a:endParaRPr lang="en-US" sz="1250" dirty="0"/>
          </a:p>
        </p:txBody>
      </p:sp>
      <p:sp>
        <p:nvSpPr>
          <p:cNvPr id="7" name="Shape 5"/>
          <p:cNvSpPr/>
          <p:nvPr/>
        </p:nvSpPr>
        <p:spPr>
          <a:xfrm>
            <a:off x="594360" y="1572768"/>
            <a:ext cx="8887968" cy="1536192"/>
          </a:xfrm>
          <a:prstGeom prst="roundRect">
            <a:avLst>
              <a:gd name="adj" fmla="val 5357"/>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8" name="Shape 6"/>
          <p:cNvSpPr/>
          <p:nvPr/>
        </p:nvSpPr>
        <p:spPr>
          <a:xfrm>
            <a:off x="850392" y="1810512"/>
            <a:ext cx="420624" cy="420624"/>
          </a:xfrm>
          <a:prstGeom prst="ellipse">
            <a:avLst/>
          </a:prstGeom>
          <a:solidFill>
            <a:srgbClr val="0E5C3A"/>
          </a:solidFill>
          <a:ln w="12700">
            <a:solidFill>
              <a:srgbClr val="0E5C3A"/>
            </a:solidFill>
            <a:prstDash val="solid"/>
          </a:ln>
        </p:spPr>
      </p:sp>
      <p:pic>
        <p:nvPicPr>
          <p:cNvPr id="9" name="Image 0" descr="/home/user/Fresh-Vision/presentation/assets/icons/LuBuilding2.png">    </p:cNvPr>
          <p:cNvPicPr>
            <a:picLocks noChangeAspect="1"/>
          </p:cNvPicPr>
          <p:nvPr/>
        </p:nvPicPr>
        <p:blipFill>
          <a:blip r:embed="rId1"/>
          <a:stretch>
            <a:fillRect/>
          </a:stretch>
        </p:blipFill>
        <p:spPr>
          <a:xfrm>
            <a:off x="963960" y="1924080"/>
            <a:ext cx="193487" cy="193487"/>
          </a:xfrm>
          <a:prstGeom prst="rect">
            <a:avLst/>
          </a:prstGeom>
        </p:spPr>
      </p:pic>
      <p:sp>
        <p:nvSpPr>
          <p:cNvPr id="10" name="Text 7"/>
          <p:cNvSpPr txBox="1"/>
          <p:nvPr/>
        </p:nvSpPr>
        <p:spPr>
          <a:xfrm>
            <a:off x="1380744" y="1810512"/>
            <a:ext cx="3657600" cy="42062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About the Company</a:t>
            </a:r>
            <a:endParaRPr lang="en-US" sz="1600" dirty="0"/>
          </a:p>
        </p:txBody>
      </p:sp>
      <p:sp>
        <p:nvSpPr>
          <p:cNvPr id="11" name="Text 8"/>
          <p:cNvSpPr txBox="1"/>
          <p:nvPr/>
        </p:nvSpPr>
        <p:spPr>
          <a:xfrm>
            <a:off x="1380744" y="2340864"/>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Est. date:</a:t>
            </a:r>
            <a:endParaRPr lang="en-US" sz="1250" dirty="0"/>
          </a:p>
        </p:txBody>
      </p:sp>
      <p:sp>
        <p:nvSpPr>
          <p:cNvPr id="12" name="Shape 9"/>
          <p:cNvSpPr/>
          <p:nvPr/>
        </p:nvSpPr>
        <p:spPr>
          <a:xfrm>
            <a:off x="1380744" y="2615184"/>
            <a:ext cx="3712464" cy="0"/>
          </a:xfrm>
          <a:prstGeom prst="line">
            <a:avLst/>
          </a:prstGeom>
          <a:noFill/>
          <a:ln w="12700">
            <a:solidFill>
              <a:srgbClr val="DCE7E1"/>
            </a:solidFill>
            <a:prstDash val="solid"/>
          </a:ln>
        </p:spPr>
      </p:sp>
      <p:sp>
        <p:nvSpPr>
          <p:cNvPr id="13" name="Text 10"/>
          <p:cNvSpPr txBox="1"/>
          <p:nvPr/>
        </p:nvSpPr>
        <p:spPr>
          <a:xfrm>
            <a:off x="5376672" y="2340864"/>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Turnover:</a:t>
            </a:r>
            <a:endParaRPr lang="en-US" sz="1250" dirty="0"/>
          </a:p>
        </p:txBody>
      </p:sp>
      <p:sp>
        <p:nvSpPr>
          <p:cNvPr id="14" name="Shape 11"/>
          <p:cNvSpPr/>
          <p:nvPr/>
        </p:nvSpPr>
        <p:spPr>
          <a:xfrm>
            <a:off x="5376672" y="2615184"/>
            <a:ext cx="3712464" cy="0"/>
          </a:xfrm>
          <a:prstGeom prst="line">
            <a:avLst/>
          </a:prstGeom>
          <a:noFill/>
          <a:ln w="12700">
            <a:solidFill>
              <a:srgbClr val="DCE7E1"/>
            </a:solidFill>
            <a:prstDash val="solid"/>
          </a:ln>
        </p:spPr>
      </p:sp>
      <p:sp>
        <p:nvSpPr>
          <p:cNvPr id="15" name="Text 12"/>
          <p:cNvSpPr txBox="1"/>
          <p:nvPr/>
        </p:nvSpPr>
        <p:spPr>
          <a:xfrm>
            <a:off x="1380744" y="2743200"/>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Product type:</a:t>
            </a:r>
            <a:endParaRPr lang="en-US" sz="1250" dirty="0"/>
          </a:p>
        </p:txBody>
      </p:sp>
      <p:sp>
        <p:nvSpPr>
          <p:cNvPr id="16" name="Shape 13"/>
          <p:cNvSpPr/>
          <p:nvPr/>
        </p:nvSpPr>
        <p:spPr>
          <a:xfrm>
            <a:off x="1380744" y="3017520"/>
            <a:ext cx="3712464" cy="0"/>
          </a:xfrm>
          <a:prstGeom prst="line">
            <a:avLst/>
          </a:prstGeom>
          <a:noFill/>
          <a:ln w="12700">
            <a:solidFill>
              <a:srgbClr val="DCE7E1"/>
            </a:solidFill>
            <a:prstDash val="solid"/>
          </a:ln>
        </p:spPr>
      </p:sp>
      <p:sp>
        <p:nvSpPr>
          <p:cNvPr id="17" name="Text 14"/>
          <p:cNvSpPr txBox="1"/>
          <p:nvPr/>
        </p:nvSpPr>
        <p:spPr>
          <a:xfrm>
            <a:off x="5376672" y="2743200"/>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Number of employees:</a:t>
            </a:r>
            <a:endParaRPr lang="en-US" sz="1250" dirty="0"/>
          </a:p>
        </p:txBody>
      </p:sp>
      <p:sp>
        <p:nvSpPr>
          <p:cNvPr id="18" name="Shape 15"/>
          <p:cNvSpPr/>
          <p:nvPr/>
        </p:nvSpPr>
        <p:spPr>
          <a:xfrm>
            <a:off x="5376672" y="3017520"/>
            <a:ext cx="3712464" cy="0"/>
          </a:xfrm>
          <a:prstGeom prst="line">
            <a:avLst/>
          </a:prstGeom>
          <a:noFill/>
          <a:ln w="12700">
            <a:solidFill>
              <a:srgbClr val="DCE7E1"/>
            </a:solidFill>
            <a:prstDash val="solid"/>
          </a:ln>
        </p:spPr>
      </p:sp>
      <p:sp>
        <p:nvSpPr>
          <p:cNvPr id="19" name="Shape 16"/>
          <p:cNvSpPr/>
          <p:nvPr/>
        </p:nvSpPr>
        <p:spPr>
          <a:xfrm>
            <a:off x="594360" y="3364992"/>
            <a:ext cx="8887968" cy="1536192"/>
          </a:xfrm>
          <a:prstGeom prst="roundRect">
            <a:avLst>
              <a:gd name="adj" fmla="val 5357"/>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0" name="Shape 17"/>
          <p:cNvSpPr/>
          <p:nvPr/>
        </p:nvSpPr>
        <p:spPr>
          <a:xfrm>
            <a:off x="850392" y="3602736"/>
            <a:ext cx="420624" cy="420624"/>
          </a:xfrm>
          <a:prstGeom prst="ellipse">
            <a:avLst/>
          </a:prstGeom>
          <a:solidFill>
            <a:srgbClr val="1C9A63"/>
          </a:solidFill>
          <a:ln w="12700">
            <a:solidFill>
              <a:srgbClr val="1C9A63"/>
            </a:solidFill>
            <a:prstDash val="solid"/>
          </a:ln>
        </p:spPr>
      </p:sp>
      <p:pic>
        <p:nvPicPr>
          <p:cNvPr id="21" name="Image 1" descr="/home/user/Fresh-Vision/presentation/assets/icons/LuBoxes.png">    </p:cNvPr>
          <p:cNvPicPr>
            <a:picLocks noChangeAspect="1"/>
          </p:cNvPicPr>
          <p:nvPr/>
        </p:nvPicPr>
        <p:blipFill>
          <a:blip r:embed="rId2"/>
          <a:stretch>
            <a:fillRect/>
          </a:stretch>
        </p:blipFill>
        <p:spPr>
          <a:xfrm>
            <a:off x="963960" y="3716304"/>
            <a:ext cx="193487" cy="193487"/>
          </a:xfrm>
          <a:prstGeom prst="rect">
            <a:avLst/>
          </a:prstGeom>
        </p:spPr>
      </p:pic>
      <p:sp>
        <p:nvSpPr>
          <p:cNvPr id="22" name="Text 18"/>
          <p:cNvSpPr txBox="1"/>
          <p:nvPr/>
        </p:nvSpPr>
        <p:spPr>
          <a:xfrm>
            <a:off x="1380744" y="3602736"/>
            <a:ext cx="3657600" cy="42062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Department Visited</a:t>
            </a:r>
            <a:endParaRPr lang="en-US" sz="1600" dirty="0"/>
          </a:p>
        </p:txBody>
      </p:sp>
      <p:sp>
        <p:nvSpPr>
          <p:cNvPr id="23" name="Text 19"/>
          <p:cNvSpPr txBox="1"/>
          <p:nvPr/>
        </p:nvSpPr>
        <p:spPr>
          <a:xfrm>
            <a:off x="1380744" y="4133088"/>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Name of department:</a:t>
            </a:r>
            <a:endParaRPr lang="en-US" sz="1250" dirty="0"/>
          </a:p>
        </p:txBody>
      </p:sp>
      <p:sp>
        <p:nvSpPr>
          <p:cNvPr id="24" name="Shape 20"/>
          <p:cNvSpPr/>
          <p:nvPr/>
        </p:nvSpPr>
        <p:spPr>
          <a:xfrm>
            <a:off x="1380744" y="4407408"/>
            <a:ext cx="3712464" cy="0"/>
          </a:xfrm>
          <a:prstGeom prst="line">
            <a:avLst/>
          </a:prstGeom>
          <a:noFill/>
          <a:ln w="12700">
            <a:solidFill>
              <a:srgbClr val="DCE7E1"/>
            </a:solidFill>
            <a:prstDash val="solid"/>
          </a:ln>
        </p:spPr>
      </p:sp>
      <p:sp>
        <p:nvSpPr>
          <p:cNvPr id="25" name="Text 21"/>
          <p:cNvSpPr txBox="1"/>
          <p:nvPr/>
        </p:nvSpPr>
        <p:spPr>
          <a:xfrm>
            <a:off x="5376672" y="4133088"/>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Nature of work:</a:t>
            </a:r>
            <a:endParaRPr lang="en-US" sz="1250" dirty="0"/>
          </a:p>
        </p:txBody>
      </p:sp>
      <p:sp>
        <p:nvSpPr>
          <p:cNvPr id="26" name="Shape 22"/>
          <p:cNvSpPr/>
          <p:nvPr/>
        </p:nvSpPr>
        <p:spPr>
          <a:xfrm>
            <a:off x="5376672" y="4407408"/>
            <a:ext cx="3712464" cy="0"/>
          </a:xfrm>
          <a:prstGeom prst="line">
            <a:avLst/>
          </a:prstGeom>
          <a:noFill/>
          <a:ln w="12700">
            <a:solidFill>
              <a:srgbClr val="DCE7E1"/>
            </a:solidFill>
            <a:prstDash val="solid"/>
          </a:ln>
        </p:spPr>
      </p:sp>
      <p:sp>
        <p:nvSpPr>
          <p:cNvPr id="27" name="Text 23"/>
          <p:cNvSpPr txBox="1"/>
          <p:nvPr/>
        </p:nvSpPr>
        <p:spPr>
          <a:xfrm>
            <a:off x="1380744" y="4535424"/>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Task allocated:</a:t>
            </a:r>
            <a:endParaRPr lang="en-US" sz="1250" dirty="0"/>
          </a:p>
        </p:txBody>
      </p:sp>
      <p:sp>
        <p:nvSpPr>
          <p:cNvPr id="28" name="Shape 24"/>
          <p:cNvSpPr/>
          <p:nvPr/>
        </p:nvSpPr>
        <p:spPr>
          <a:xfrm>
            <a:off x="1380744" y="4809744"/>
            <a:ext cx="3712464" cy="0"/>
          </a:xfrm>
          <a:prstGeom prst="line">
            <a:avLst/>
          </a:prstGeom>
          <a:noFill/>
          <a:ln w="12700">
            <a:solidFill>
              <a:srgbClr val="DCE7E1"/>
            </a:solidFill>
            <a:prstDash val="solid"/>
          </a:ln>
        </p:spPr>
      </p:sp>
      <p:sp>
        <p:nvSpPr>
          <p:cNvPr id="29" name="Shape 25"/>
          <p:cNvSpPr/>
          <p:nvPr/>
        </p:nvSpPr>
        <p:spPr>
          <a:xfrm>
            <a:off x="594360" y="5157216"/>
            <a:ext cx="8887968" cy="1536192"/>
          </a:xfrm>
          <a:prstGeom prst="roundRect">
            <a:avLst>
              <a:gd name="adj" fmla="val 5357"/>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0" name="Shape 26"/>
          <p:cNvSpPr/>
          <p:nvPr/>
        </p:nvSpPr>
        <p:spPr>
          <a:xfrm>
            <a:off x="850392" y="5394960"/>
            <a:ext cx="420624" cy="420624"/>
          </a:xfrm>
          <a:prstGeom prst="ellipse">
            <a:avLst/>
          </a:prstGeom>
          <a:solidFill>
            <a:srgbClr val="0E5C3A"/>
          </a:solidFill>
          <a:ln w="12700">
            <a:solidFill>
              <a:srgbClr val="0E5C3A"/>
            </a:solidFill>
            <a:prstDash val="solid"/>
          </a:ln>
        </p:spPr>
      </p:sp>
      <p:pic>
        <p:nvPicPr>
          <p:cNvPr id="31" name="Image 2" descr="/home/user/Fresh-Vision/presentation/assets/icons/LuUsers.png">    </p:cNvPr>
          <p:cNvPicPr>
            <a:picLocks noChangeAspect="1"/>
          </p:cNvPicPr>
          <p:nvPr/>
        </p:nvPicPr>
        <p:blipFill>
          <a:blip r:embed="rId3"/>
          <a:stretch>
            <a:fillRect/>
          </a:stretch>
        </p:blipFill>
        <p:spPr>
          <a:xfrm>
            <a:off x="963960" y="5508528"/>
            <a:ext cx="193487" cy="193487"/>
          </a:xfrm>
          <a:prstGeom prst="rect">
            <a:avLst/>
          </a:prstGeom>
        </p:spPr>
      </p:pic>
      <p:sp>
        <p:nvSpPr>
          <p:cNvPr id="32" name="Text 27"/>
          <p:cNvSpPr txBox="1"/>
          <p:nvPr/>
        </p:nvSpPr>
        <p:spPr>
          <a:xfrm>
            <a:off x="1380744" y="5394960"/>
            <a:ext cx="3657600" cy="42062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Faculty Mentor Details</a:t>
            </a:r>
            <a:endParaRPr lang="en-US" sz="1600" dirty="0"/>
          </a:p>
        </p:txBody>
      </p:sp>
      <p:sp>
        <p:nvSpPr>
          <p:cNvPr id="33" name="Text 28"/>
          <p:cNvSpPr txBox="1"/>
          <p:nvPr/>
        </p:nvSpPr>
        <p:spPr>
          <a:xfrm>
            <a:off x="1380744" y="5925312"/>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Name:</a:t>
            </a:r>
            <a:endParaRPr lang="en-US" sz="1250" dirty="0"/>
          </a:p>
        </p:txBody>
      </p:sp>
      <p:sp>
        <p:nvSpPr>
          <p:cNvPr id="34" name="Shape 29"/>
          <p:cNvSpPr/>
          <p:nvPr/>
        </p:nvSpPr>
        <p:spPr>
          <a:xfrm>
            <a:off x="1380744" y="6199632"/>
            <a:ext cx="3712464" cy="0"/>
          </a:xfrm>
          <a:prstGeom prst="line">
            <a:avLst/>
          </a:prstGeom>
          <a:noFill/>
          <a:ln w="12700">
            <a:solidFill>
              <a:srgbClr val="DCE7E1"/>
            </a:solidFill>
            <a:prstDash val="solid"/>
          </a:ln>
        </p:spPr>
      </p:sp>
      <p:sp>
        <p:nvSpPr>
          <p:cNvPr id="35" name="Text 30"/>
          <p:cNvSpPr txBox="1"/>
          <p:nvPr/>
        </p:nvSpPr>
        <p:spPr>
          <a:xfrm>
            <a:off x="5376672" y="5925312"/>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Department:</a:t>
            </a:r>
            <a:endParaRPr lang="en-US" sz="1250" dirty="0"/>
          </a:p>
        </p:txBody>
      </p:sp>
      <p:sp>
        <p:nvSpPr>
          <p:cNvPr id="36" name="Shape 31"/>
          <p:cNvSpPr/>
          <p:nvPr/>
        </p:nvSpPr>
        <p:spPr>
          <a:xfrm>
            <a:off x="5376672" y="6199632"/>
            <a:ext cx="3712464" cy="0"/>
          </a:xfrm>
          <a:prstGeom prst="line">
            <a:avLst/>
          </a:prstGeom>
          <a:noFill/>
          <a:ln w="12700">
            <a:solidFill>
              <a:srgbClr val="DCE7E1"/>
            </a:solidFill>
            <a:prstDash val="solid"/>
          </a:ln>
        </p:spPr>
      </p:sp>
      <p:sp>
        <p:nvSpPr>
          <p:cNvPr id="37" name="Text 32"/>
          <p:cNvSpPr txBox="1"/>
          <p:nvPr/>
        </p:nvSpPr>
        <p:spPr>
          <a:xfrm>
            <a:off x="1380744" y="6327648"/>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Designation:</a:t>
            </a:r>
            <a:endParaRPr lang="en-US" sz="1250" dirty="0"/>
          </a:p>
        </p:txBody>
      </p:sp>
      <p:sp>
        <p:nvSpPr>
          <p:cNvPr id="38" name="Shape 33"/>
          <p:cNvSpPr/>
          <p:nvPr/>
        </p:nvSpPr>
        <p:spPr>
          <a:xfrm>
            <a:off x="1380744" y="6601968"/>
            <a:ext cx="3712464" cy="0"/>
          </a:xfrm>
          <a:prstGeom prst="line">
            <a:avLst/>
          </a:prstGeom>
          <a:noFill/>
          <a:ln w="12700">
            <a:solidFill>
              <a:srgbClr val="DCE7E1"/>
            </a:solidFill>
            <a:prstDash val="solid"/>
          </a:ln>
        </p:spPr>
      </p:sp>
      <p:sp>
        <p:nvSpPr>
          <p:cNvPr id="39" name="Text 34"/>
          <p:cNvSpPr txBox="1"/>
          <p:nvPr/>
        </p:nvSpPr>
        <p:spPr>
          <a:xfrm>
            <a:off x="5376672" y="6327648"/>
            <a:ext cx="3849624" cy="274320"/>
          </a:xfrm>
          <a:prstGeom prst="rect">
            <a:avLst/>
          </a:prstGeom>
          <a:noFill/>
          <a:ln/>
        </p:spPr>
        <p:txBody>
          <a:bodyPr wrap="square" lIns="0" tIns="0" rIns="0" bIns="0" rtlCol="0" anchor="ctr"/>
          <a:lstStyle/>
          <a:p>
            <a:pPr indent="0" marL="0">
              <a:buNone/>
            </a:pPr>
            <a:r>
              <a:rPr lang="en-US" sz="1250" dirty="0">
                <a:solidFill>
                  <a:srgbClr val="3C4C43"/>
                </a:solidFill>
                <a:latin typeface="Arial" pitchFamily="34" charset="0"/>
                <a:ea typeface="Arial" pitchFamily="34" charset="-122"/>
                <a:cs typeface="Arial" pitchFamily="34" charset="-120"/>
              </a:rPr>
              <a:t>Contact info:</a:t>
            </a:r>
            <a:endParaRPr lang="en-US" sz="1250" dirty="0"/>
          </a:p>
        </p:txBody>
      </p:sp>
      <p:sp>
        <p:nvSpPr>
          <p:cNvPr id="40" name="Shape 35"/>
          <p:cNvSpPr/>
          <p:nvPr/>
        </p:nvSpPr>
        <p:spPr>
          <a:xfrm>
            <a:off x="5376672" y="6601968"/>
            <a:ext cx="3712464" cy="0"/>
          </a:xfrm>
          <a:prstGeom prst="line">
            <a:avLst/>
          </a:prstGeom>
          <a:noFill/>
          <a:ln w="12700">
            <a:solidFill>
              <a:srgbClr val="DCE7E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03</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01</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Visit summary</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Eight weeks, from problem survey to a deployed application</a:t>
            </a:r>
            <a:endParaRPr lang="en-US" sz="1250" dirty="0"/>
          </a:p>
        </p:txBody>
      </p:sp>
      <p:sp>
        <p:nvSpPr>
          <p:cNvPr id="7" name="Shape 5"/>
          <p:cNvSpPr/>
          <p:nvPr/>
        </p:nvSpPr>
        <p:spPr>
          <a:xfrm>
            <a:off x="594360" y="1609344"/>
            <a:ext cx="4306824" cy="548640"/>
          </a:xfrm>
          <a:prstGeom prst="roundRect">
            <a:avLst>
              <a:gd name="adj" fmla="val 15000"/>
            </a:avLst>
          </a:prstGeom>
          <a:solidFill>
            <a:srgbClr val="EAF5EF"/>
          </a:solidFill>
          <a:ln w="12700">
            <a:solidFill>
              <a:srgbClr val="EAF5EF"/>
            </a:solidFill>
            <a:prstDash val="solid"/>
          </a:ln>
        </p:spPr>
      </p:sp>
      <p:sp>
        <p:nvSpPr>
          <p:cNvPr id="8" name="Shape 6"/>
          <p:cNvSpPr/>
          <p:nvPr/>
        </p:nvSpPr>
        <p:spPr>
          <a:xfrm>
            <a:off x="758952" y="1719072"/>
            <a:ext cx="329184" cy="329184"/>
          </a:xfrm>
          <a:prstGeom prst="ellipse">
            <a:avLst/>
          </a:prstGeom>
          <a:solidFill>
            <a:srgbClr val="0E5C3A"/>
          </a:solidFill>
          <a:ln w="12700">
            <a:solidFill>
              <a:srgbClr val="0E5C3A"/>
            </a:solidFill>
            <a:prstDash val="solid"/>
          </a:ln>
        </p:spPr>
      </p:sp>
      <p:pic>
        <p:nvPicPr>
          <p:cNvPr id="9" name="Image 0" descr="/home/user/Fresh-Vision/presentation/assets/icons/LuCalendarDays.png">    </p:cNvPr>
          <p:cNvPicPr>
            <a:picLocks noChangeAspect="1"/>
          </p:cNvPicPr>
          <p:nvPr/>
        </p:nvPicPr>
        <p:blipFill>
          <a:blip r:embed="rId1"/>
          <a:stretch>
            <a:fillRect/>
          </a:stretch>
        </p:blipFill>
        <p:spPr>
          <a:xfrm>
            <a:off x="847832" y="1807952"/>
            <a:ext cx="151425" cy="151425"/>
          </a:xfrm>
          <a:prstGeom prst="rect">
            <a:avLst/>
          </a:prstGeom>
        </p:spPr>
      </p:pic>
      <p:sp>
        <p:nvSpPr>
          <p:cNvPr id="10" name="Text 7"/>
          <p:cNvSpPr txBox="1"/>
          <p:nvPr/>
        </p:nvSpPr>
        <p:spPr>
          <a:xfrm>
            <a:off x="1197864" y="1609344"/>
            <a:ext cx="3520440" cy="548640"/>
          </a:xfrm>
          <a:prstGeom prst="rect">
            <a:avLst/>
          </a:prstGeom>
          <a:noFill/>
          <a:ln/>
        </p:spPr>
        <p:txBody>
          <a:bodyPr wrap="square" lIns="0" tIns="0" rIns="0" bIns="0" rtlCol="0" anchor="ctr"/>
          <a:lstStyle/>
          <a:p>
            <a:pPr indent="0" marL="0">
              <a:buNone/>
            </a:pPr>
            <a:r>
              <a:rPr lang="en-US" sz="1300" b="1" dirty="0">
                <a:solidFill>
                  <a:srgbClr val="10201A"/>
                </a:solidFill>
                <a:latin typeface="Arial" pitchFamily="34" charset="0"/>
                <a:ea typeface="Arial" pitchFamily="34" charset="-122"/>
                <a:cs typeface="Arial" pitchFamily="34" charset="-120"/>
              </a:rPr>
              <a:t>Start date:  </a:t>
            </a:r>
            <a:pPr indent="0" marL="0">
              <a:buNone/>
            </a:pPr>
            <a:r>
              <a:rPr lang="en-US" sz="1300" dirty="0">
                <a:solidFill>
                  <a:srgbClr val="6A7B71"/>
                </a:solidFill>
                <a:latin typeface="Arial" pitchFamily="34" charset="0"/>
                <a:ea typeface="Arial" pitchFamily="34" charset="-122"/>
                <a:cs typeface="Arial" pitchFamily="34" charset="-120"/>
              </a:rPr>
              <a:t>________________________</a:t>
            </a:r>
            <a:endParaRPr lang="en-US" sz="1300" dirty="0"/>
          </a:p>
        </p:txBody>
      </p:sp>
      <p:sp>
        <p:nvSpPr>
          <p:cNvPr id="11" name="Shape 8"/>
          <p:cNvSpPr/>
          <p:nvPr/>
        </p:nvSpPr>
        <p:spPr>
          <a:xfrm>
            <a:off x="5175504" y="1609344"/>
            <a:ext cx="4306824" cy="548640"/>
          </a:xfrm>
          <a:prstGeom prst="roundRect">
            <a:avLst>
              <a:gd name="adj" fmla="val 15000"/>
            </a:avLst>
          </a:prstGeom>
          <a:solidFill>
            <a:srgbClr val="EAF5EF"/>
          </a:solidFill>
          <a:ln w="12700">
            <a:solidFill>
              <a:srgbClr val="EAF5EF"/>
            </a:solidFill>
            <a:prstDash val="solid"/>
          </a:ln>
        </p:spPr>
      </p:sp>
      <p:sp>
        <p:nvSpPr>
          <p:cNvPr id="12" name="Shape 9"/>
          <p:cNvSpPr/>
          <p:nvPr/>
        </p:nvSpPr>
        <p:spPr>
          <a:xfrm>
            <a:off x="5340096" y="1719072"/>
            <a:ext cx="329184" cy="329184"/>
          </a:xfrm>
          <a:prstGeom prst="ellipse">
            <a:avLst/>
          </a:prstGeom>
          <a:solidFill>
            <a:srgbClr val="0E5C3A"/>
          </a:solidFill>
          <a:ln w="12700">
            <a:solidFill>
              <a:srgbClr val="0E5C3A"/>
            </a:solidFill>
            <a:prstDash val="solid"/>
          </a:ln>
        </p:spPr>
      </p:sp>
      <p:pic>
        <p:nvPicPr>
          <p:cNvPr id="13" name="Image 1" descr="/home/user/Fresh-Vision/presentation/assets/icons/LuCalendarDays.png">    </p:cNvPr>
          <p:cNvPicPr>
            <a:picLocks noChangeAspect="1"/>
          </p:cNvPicPr>
          <p:nvPr/>
        </p:nvPicPr>
        <p:blipFill>
          <a:blip r:embed="rId2"/>
          <a:stretch>
            <a:fillRect/>
          </a:stretch>
        </p:blipFill>
        <p:spPr>
          <a:xfrm>
            <a:off x="5428976" y="1807952"/>
            <a:ext cx="151425" cy="151425"/>
          </a:xfrm>
          <a:prstGeom prst="rect">
            <a:avLst/>
          </a:prstGeom>
        </p:spPr>
      </p:pic>
      <p:sp>
        <p:nvSpPr>
          <p:cNvPr id="14" name="Text 10"/>
          <p:cNvSpPr txBox="1"/>
          <p:nvPr/>
        </p:nvSpPr>
        <p:spPr>
          <a:xfrm>
            <a:off x="5779008" y="1609344"/>
            <a:ext cx="3520440" cy="548640"/>
          </a:xfrm>
          <a:prstGeom prst="rect">
            <a:avLst/>
          </a:prstGeom>
          <a:noFill/>
          <a:ln/>
        </p:spPr>
        <p:txBody>
          <a:bodyPr wrap="square" lIns="0" tIns="0" rIns="0" bIns="0" rtlCol="0" anchor="ctr"/>
          <a:lstStyle/>
          <a:p>
            <a:pPr indent="0" marL="0">
              <a:buNone/>
            </a:pPr>
            <a:r>
              <a:rPr lang="en-US" sz="1300" b="1" dirty="0">
                <a:solidFill>
                  <a:srgbClr val="10201A"/>
                </a:solidFill>
                <a:latin typeface="Arial" pitchFamily="34" charset="0"/>
                <a:ea typeface="Arial" pitchFamily="34" charset="-122"/>
                <a:cs typeface="Arial" pitchFamily="34" charset="-120"/>
              </a:rPr>
              <a:t>End date:  </a:t>
            </a:r>
            <a:pPr indent="0" marL="0">
              <a:buNone/>
            </a:pPr>
            <a:r>
              <a:rPr lang="en-US" sz="1300" dirty="0">
                <a:solidFill>
                  <a:srgbClr val="6A7B71"/>
                </a:solidFill>
                <a:latin typeface="Arial" pitchFamily="34" charset="0"/>
                <a:ea typeface="Arial" pitchFamily="34" charset="-122"/>
                <a:cs typeface="Arial" pitchFamily="34" charset="-120"/>
              </a:rPr>
              <a:t>________________________</a:t>
            </a:r>
            <a:endParaRPr lang="en-US" sz="1300" dirty="0"/>
          </a:p>
        </p:txBody>
      </p:sp>
      <p:sp>
        <p:nvSpPr>
          <p:cNvPr id="15" name="Shape 11"/>
          <p:cNvSpPr/>
          <p:nvPr/>
        </p:nvSpPr>
        <p:spPr>
          <a:xfrm>
            <a:off x="594360" y="245059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6" name="Shape 12"/>
          <p:cNvSpPr/>
          <p:nvPr/>
        </p:nvSpPr>
        <p:spPr>
          <a:xfrm>
            <a:off x="813816" y="2724912"/>
            <a:ext cx="402336" cy="402336"/>
          </a:xfrm>
          <a:prstGeom prst="ellipse">
            <a:avLst/>
          </a:prstGeom>
          <a:solidFill>
            <a:srgbClr val="0E5C3A"/>
          </a:solidFill>
          <a:ln w="12700">
            <a:solidFill>
              <a:srgbClr val="0E5C3A"/>
            </a:solidFill>
            <a:prstDash val="solid"/>
          </a:ln>
        </p:spPr>
      </p:sp>
      <p:sp>
        <p:nvSpPr>
          <p:cNvPr id="17" name="Text 13"/>
          <p:cNvSpPr txBox="1"/>
          <p:nvPr/>
        </p:nvSpPr>
        <p:spPr>
          <a:xfrm>
            <a:off x="813816"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4"/>
          <p:cNvSpPr txBox="1"/>
          <p:nvPr/>
        </p:nvSpPr>
        <p:spPr>
          <a:xfrm>
            <a:off x="1325880" y="257860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1</a:t>
            </a:r>
            <a:endParaRPr lang="en-US" sz="950" dirty="0"/>
          </a:p>
        </p:txBody>
      </p:sp>
      <p:sp>
        <p:nvSpPr>
          <p:cNvPr id="19" name="Text 15"/>
          <p:cNvSpPr txBox="1"/>
          <p:nvPr/>
        </p:nvSpPr>
        <p:spPr>
          <a:xfrm>
            <a:off x="1325880" y="279806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Studied the problem domain and surveyed CNN architectures for produce quality inspection.</a:t>
            </a:r>
            <a:endParaRPr lang="en-US" sz="1150" dirty="0"/>
          </a:p>
        </p:txBody>
      </p:sp>
      <p:sp>
        <p:nvSpPr>
          <p:cNvPr id="20" name="Shape 16"/>
          <p:cNvSpPr/>
          <p:nvPr/>
        </p:nvSpPr>
        <p:spPr>
          <a:xfrm>
            <a:off x="594360" y="354787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1" name="Shape 17"/>
          <p:cNvSpPr/>
          <p:nvPr/>
        </p:nvSpPr>
        <p:spPr>
          <a:xfrm>
            <a:off x="813816" y="3822192"/>
            <a:ext cx="402336" cy="402336"/>
          </a:xfrm>
          <a:prstGeom prst="ellipse">
            <a:avLst/>
          </a:prstGeom>
          <a:solidFill>
            <a:srgbClr val="1C9A63"/>
          </a:solidFill>
          <a:ln w="12700">
            <a:solidFill>
              <a:srgbClr val="1C9A63"/>
            </a:solidFill>
            <a:prstDash val="solid"/>
          </a:ln>
        </p:spPr>
      </p:sp>
      <p:sp>
        <p:nvSpPr>
          <p:cNvPr id="22" name="Text 18"/>
          <p:cNvSpPr txBox="1"/>
          <p:nvPr/>
        </p:nvSpPr>
        <p:spPr>
          <a:xfrm>
            <a:off x="813816" y="3822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3" name="Text 19"/>
          <p:cNvSpPr txBox="1"/>
          <p:nvPr/>
        </p:nvSpPr>
        <p:spPr>
          <a:xfrm>
            <a:off x="1325880" y="367588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2</a:t>
            </a:r>
            <a:endParaRPr lang="en-US" sz="950" dirty="0"/>
          </a:p>
        </p:txBody>
      </p:sp>
      <p:sp>
        <p:nvSpPr>
          <p:cNvPr id="24" name="Text 20"/>
          <p:cNvSpPr txBox="1"/>
          <p:nvPr/>
        </p:nvSpPr>
        <p:spPr>
          <a:xfrm>
            <a:off x="1325880" y="389534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Collected and unified the dataset — 14 produce classes, each with fresh and rotten images.</a:t>
            </a:r>
            <a:endParaRPr lang="en-US" sz="1150" dirty="0"/>
          </a:p>
        </p:txBody>
      </p:sp>
      <p:sp>
        <p:nvSpPr>
          <p:cNvPr id="25" name="Shape 21"/>
          <p:cNvSpPr/>
          <p:nvPr/>
        </p:nvSpPr>
        <p:spPr>
          <a:xfrm>
            <a:off x="594360" y="464515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6" name="Shape 22"/>
          <p:cNvSpPr/>
          <p:nvPr/>
        </p:nvSpPr>
        <p:spPr>
          <a:xfrm>
            <a:off x="813816" y="4919472"/>
            <a:ext cx="402336" cy="402336"/>
          </a:xfrm>
          <a:prstGeom prst="ellipse">
            <a:avLst/>
          </a:prstGeom>
          <a:solidFill>
            <a:srgbClr val="0E5C3A"/>
          </a:solidFill>
          <a:ln w="12700">
            <a:solidFill>
              <a:srgbClr val="0E5C3A"/>
            </a:solidFill>
            <a:prstDash val="solid"/>
          </a:ln>
        </p:spPr>
      </p:sp>
      <p:sp>
        <p:nvSpPr>
          <p:cNvPr id="27" name="Text 23"/>
          <p:cNvSpPr txBox="1"/>
          <p:nvPr/>
        </p:nvSpPr>
        <p:spPr>
          <a:xfrm>
            <a:off x="813816" y="49194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8" name="Text 24"/>
          <p:cNvSpPr txBox="1"/>
          <p:nvPr/>
        </p:nvSpPr>
        <p:spPr>
          <a:xfrm>
            <a:off x="1325880" y="477316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3</a:t>
            </a:r>
            <a:endParaRPr lang="en-US" sz="950" dirty="0"/>
          </a:p>
        </p:txBody>
      </p:sp>
      <p:sp>
        <p:nvSpPr>
          <p:cNvPr id="29" name="Text 25"/>
          <p:cNvSpPr txBox="1"/>
          <p:nvPr/>
        </p:nvSpPr>
        <p:spPr>
          <a:xfrm>
            <a:off x="1325880" y="499262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Built the data pipeline: stratified 80/20 split and MobileNetV2 preprocessing generators.</a:t>
            </a:r>
            <a:endParaRPr lang="en-US" sz="1150" dirty="0"/>
          </a:p>
        </p:txBody>
      </p:sp>
      <p:sp>
        <p:nvSpPr>
          <p:cNvPr id="30" name="Shape 26"/>
          <p:cNvSpPr/>
          <p:nvPr/>
        </p:nvSpPr>
        <p:spPr>
          <a:xfrm>
            <a:off x="594360" y="574243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1" name="Shape 27"/>
          <p:cNvSpPr/>
          <p:nvPr/>
        </p:nvSpPr>
        <p:spPr>
          <a:xfrm>
            <a:off x="813816" y="6016752"/>
            <a:ext cx="402336" cy="402336"/>
          </a:xfrm>
          <a:prstGeom prst="ellipse">
            <a:avLst/>
          </a:prstGeom>
          <a:solidFill>
            <a:srgbClr val="1C9A63"/>
          </a:solidFill>
          <a:ln w="12700">
            <a:solidFill>
              <a:srgbClr val="1C9A63"/>
            </a:solidFill>
            <a:prstDash val="solid"/>
          </a:ln>
        </p:spPr>
      </p:sp>
      <p:sp>
        <p:nvSpPr>
          <p:cNvPr id="32" name="Text 28"/>
          <p:cNvSpPr txBox="1"/>
          <p:nvPr/>
        </p:nvSpPr>
        <p:spPr>
          <a:xfrm>
            <a:off x="813816" y="6016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3" name="Text 29"/>
          <p:cNvSpPr txBox="1"/>
          <p:nvPr/>
        </p:nvSpPr>
        <p:spPr>
          <a:xfrm>
            <a:off x="1325880" y="587044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4</a:t>
            </a:r>
            <a:endParaRPr lang="en-US" sz="950" dirty="0"/>
          </a:p>
        </p:txBody>
      </p:sp>
      <p:sp>
        <p:nvSpPr>
          <p:cNvPr id="34" name="Text 30"/>
          <p:cNvSpPr txBox="1"/>
          <p:nvPr/>
        </p:nvSpPr>
        <p:spPr>
          <a:xfrm>
            <a:off x="1325880" y="608990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Trained the 14-class produce identifier on a frozen MobileNetV2 backbone.</a:t>
            </a:r>
            <a:endParaRPr lang="en-US" sz="1150" dirty="0"/>
          </a:p>
        </p:txBody>
      </p:sp>
      <p:sp>
        <p:nvSpPr>
          <p:cNvPr id="35" name="Shape 31"/>
          <p:cNvSpPr/>
          <p:nvPr/>
        </p:nvSpPr>
        <p:spPr>
          <a:xfrm>
            <a:off x="5266944" y="245059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6" name="Shape 32"/>
          <p:cNvSpPr/>
          <p:nvPr/>
        </p:nvSpPr>
        <p:spPr>
          <a:xfrm>
            <a:off x="5486400" y="2724912"/>
            <a:ext cx="402336" cy="402336"/>
          </a:xfrm>
          <a:prstGeom prst="ellipse">
            <a:avLst/>
          </a:prstGeom>
          <a:solidFill>
            <a:srgbClr val="0E5C3A"/>
          </a:solidFill>
          <a:ln w="12700">
            <a:solidFill>
              <a:srgbClr val="0E5C3A"/>
            </a:solidFill>
            <a:prstDash val="solid"/>
          </a:ln>
        </p:spPr>
      </p:sp>
      <p:sp>
        <p:nvSpPr>
          <p:cNvPr id="37" name="Text 33"/>
          <p:cNvSpPr txBox="1"/>
          <p:nvPr/>
        </p:nvSpPr>
        <p:spPr>
          <a:xfrm>
            <a:off x="5486400" y="27249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8" name="Text 34"/>
          <p:cNvSpPr txBox="1"/>
          <p:nvPr/>
        </p:nvSpPr>
        <p:spPr>
          <a:xfrm>
            <a:off x="5998464" y="257860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5</a:t>
            </a:r>
            <a:endParaRPr lang="en-US" sz="950" dirty="0"/>
          </a:p>
        </p:txBody>
      </p:sp>
      <p:sp>
        <p:nvSpPr>
          <p:cNvPr id="39" name="Text 35"/>
          <p:cNvSpPr txBox="1"/>
          <p:nvPr/>
        </p:nvSpPr>
        <p:spPr>
          <a:xfrm>
            <a:off x="5998464" y="279806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Generated 5-level freshness pseudo-labels by HSV decay scoring; trained the freshness head.</a:t>
            </a:r>
            <a:endParaRPr lang="en-US" sz="1150" dirty="0"/>
          </a:p>
        </p:txBody>
      </p:sp>
      <p:sp>
        <p:nvSpPr>
          <p:cNvPr id="40" name="Shape 36"/>
          <p:cNvSpPr/>
          <p:nvPr/>
        </p:nvSpPr>
        <p:spPr>
          <a:xfrm>
            <a:off x="5266944" y="354787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41" name="Shape 37"/>
          <p:cNvSpPr/>
          <p:nvPr/>
        </p:nvSpPr>
        <p:spPr>
          <a:xfrm>
            <a:off x="5486400" y="3822192"/>
            <a:ext cx="402336" cy="402336"/>
          </a:xfrm>
          <a:prstGeom prst="ellipse">
            <a:avLst/>
          </a:prstGeom>
          <a:solidFill>
            <a:srgbClr val="1C9A63"/>
          </a:solidFill>
          <a:ln w="12700">
            <a:solidFill>
              <a:srgbClr val="1C9A63"/>
            </a:solidFill>
            <a:prstDash val="solid"/>
          </a:ln>
        </p:spPr>
      </p:sp>
      <p:sp>
        <p:nvSpPr>
          <p:cNvPr id="42" name="Text 38"/>
          <p:cNvSpPr txBox="1"/>
          <p:nvPr/>
        </p:nvSpPr>
        <p:spPr>
          <a:xfrm>
            <a:off x="5486400" y="3822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3" name="Text 39"/>
          <p:cNvSpPr txBox="1"/>
          <p:nvPr/>
        </p:nvSpPr>
        <p:spPr>
          <a:xfrm>
            <a:off x="5998464" y="367588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6</a:t>
            </a:r>
            <a:endParaRPr lang="en-US" sz="950" dirty="0"/>
          </a:p>
        </p:txBody>
      </p:sp>
      <p:sp>
        <p:nvSpPr>
          <p:cNvPr id="44" name="Text 40"/>
          <p:cNvSpPr txBox="1"/>
          <p:nvPr/>
        </p:nvSpPr>
        <p:spPr>
          <a:xfrm>
            <a:off x="5998464" y="389534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Fine-tuned the last 30 backbone layers and added inference-time confidence calibration.</a:t>
            </a:r>
            <a:endParaRPr lang="en-US" sz="1150" dirty="0"/>
          </a:p>
        </p:txBody>
      </p:sp>
      <p:sp>
        <p:nvSpPr>
          <p:cNvPr id="45" name="Shape 41"/>
          <p:cNvSpPr/>
          <p:nvPr/>
        </p:nvSpPr>
        <p:spPr>
          <a:xfrm>
            <a:off x="5266944" y="464515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46" name="Shape 42"/>
          <p:cNvSpPr/>
          <p:nvPr/>
        </p:nvSpPr>
        <p:spPr>
          <a:xfrm>
            <a:off x="5486400" y="4919472"/>
            <a:ext cx="402336" cy="402336"/>
          </a:xfrm>
          <a:prstGeom prst="ellipse">
            <a:avLst/>
          </a:prstGeom>
          <a:solidFill>
            <a:srgbClr val="0E5C3A"/>
          </a:solidFill>
          <a:ln w="12700">
            <a:solidFill>
              <a:srgbClr val="0E5C3A"/>
            </a:solidFill>
            <a:prstDash val="solid"/>
          </a:ln>
        </p:spPr>
      </p:sp>
      <p:sp>
        <p:nvSpPr>
          <p:cNvPr id="47" name="Text 43"/>
          <p:cNvSpPr txBox="1"/>
          <p:nvPr/>
        </p:nvSpPr>
        <p:spPr>
          <a:xfrm>
            <a:off x="5486400" y="49194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8" name="Text 44"/>
          <p:cNvSpPr txBox="1"/>
          <p:nvPr/>
        </p:nvSpPr>
        <p:spPr>
          <a:xfrm>
            <a:off x="5998464" y="477316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7</a:t>
            </a:r>
            <a:endParaRPr lang="en-US" sz="950" dirty="0"/>
          </a:p>
        </p:txBody>
      </p:sp>
      <p:sp>
        <p:nvSpPr>
          <p:cNvPr id="49" name="Text 45"/>
          <p:cNvSpPr txBox="1"/>
          <p:nvPr/>
        </p:nvSpPr>
        <p:spPr>
          <a:xfrm>
            <a:off x="5998464" y="499262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Added the ImageNet gatekeeper and exposed the pipeline as a FastAPI service.</a:t>
            </a:r>
            <a:endParaRPr lang="en-US" sz="1150" dirty="0"/>
          </a:p>
        </p:txBody>
      </p:sp>
      <p:sp>
        <p:nvSpPr>
          <p:cNvPr id="50" name="Shape 46"/>
          <p:cNvSpPr/>
          <p:nvPr/>
        </p:nvSpPr>
        <p:spPr>
          <a:xfrm>
            <a:off x="5266944" y="5742432"/>
            <a:ext cx="4215384" cy="950976"/>
          </a:xfrm>
          <a:prstGeom prst="roundRect">
            <a:avLst>
              <a:gd name="adj" fmla="val 865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51" name="Shape 47"/>
          <p:cNvSpPr/>
          <p:nvPr/>
        </p:nvSpPr>
        <p:spPr>
          <a:xfrm>
            <a:off x="5486400" y="6016752"/>
            <a:ext cx="402336" cy="402336"/>
          </a:xfrm>
          <a:prstGeom prst="ellipse">
            <a:avLst/>
          </a:prstGeom>
          <a:solidFill>
            <a:srgbClr val="1C9A63"/>
          </a:solidFill>
          <a:ln w="12700">
            <a:solidFill>
              <a:srgbClr val="1C9A63"/>
            </a:solidFill>
            <a:prstDash val="solid"/>
          </a:ln>
        </p:spPr>
      </p:sp>
      <p:sp>
        <p:nvSpPr>
          <p:cNvPr id="52" name="Text 48"/>
          <p:cNvSpPr txBox="1"/>
          <p:nvPr/>
        </p:nvSpPr>
        <p:spPr>
          <a:xfrm>
            <a:off x="5486400" y="6016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3" name="Text 49"/>
          <p:cNvSpPr txBox="1"/>
          <p:nvPr/>
        </p:nvSpPr>
        <p:spPr>
          <a:xfrm>
            <a:off x="5998464" y="5870448"/>
            <a:ext cx="3300984" cy="21945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WEEK 8</a:t>
            </a:r>
            <a:endParaRPr lang="en-US" sz="950" dirty="0"/>
          </a:p>
        </p:txBody>
      </p:sp>
      <p:sp>
        <p:nvSpPr>
          <p:cNvPr id="54" name="Text 50"/>
          <p:cNvSpPr txBox="1"/>
          <p:nvPr/>
        </p:nvSpPr>
        <p:spPr>
          <a:xfrm>
            <a:off x="5998464" y="6089904"/>
            <a:ext cx="3282696" cy="530352"/>
          </a:xfrm>
          <a:prstGeom prst="rect">
            <a:avLst/>
          </a:prstGeom>
          <a:noFill/>
          <a:ln/>
        </p:spPr>
        <p:txBody>
          <a:bodyPr wrap="square" lIns="0" tIns="0" rIns="0" bIns="0" rtlCol="0" anchor="ctr"/>
          <a:lstStyle/>
          <a:p>
            <a:pPr indent="0" marL="0">
              <a:lnSpc>
                <a:spcPts val="1500"/>
              </a:lnSpc>
              <a:buNone/>
            </a:pPr>
            <a:r>
              <a:rPr lang="en-US" sz="1150" dirty="0">
                <a:solidFill>
                  <a:srgbClr val="3C4C43"/>
                </a:solidFill>
                <a:latin typeface="Arial" pitchFamily="34" charset="0"/>
                <a:ea typeface="Arial" pitchFamily="34" charset="-122"/>
                <a:cs typeface="Arial" pitchFamily="34" charset="-120"/>
              </a:rPr>
              <a:t>Built the React + Vite frontend, ran end-to-end testing and documented the project.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2103120"/>
            <a:ext cx="2743200" cy="1554480"/>
          </a:xfrm>
          <a:prstGeom prst="rect">
            <a:avLst/>
          </a:prstGeom>
          <a:noFill/>
          <a:ln/>
        </p:spPr>
        <p:txBody>
          <a:bodyPr wrap="square" lIns="0" tIns="0" rIns="0" bIns="0" rtlCol="0" anchor="ctr"/>
          <a:lstStyle/>
          <a:p>
            <a:pPr indent="0" marL="0">
              <a:buNone/>
            </a:pPr>
            <a:r>
              <a:rPr lang="en-US" sz="10800" b="1" dirty="0">
                <a:solidFill>
                  <a:srgbClr val="27604A"/>
                </a:solidFill>
                <a:latin typeface="Arial" pitchFamily="34" charset="0"/>
                <a:ea typeface="Arial" pitchFamily="34" charset="-122"/>
                <a:cs typeface="Arial" pitchFamily="34" charset="-120"/>
              </a:rPr>
              <a:t>02</a:t>
            </a:r>
            <a:endParaRPr lang="en-US" sz="10800" dirty="0"/>
          </a:p>
        </p:txBody>
      </p:sp>
      <p:sp>
        <p:nvSpPr>
          <p:cNvPr id="3" name="Text 1"/>
          <p:cNvSpPr txBox="1"/>
          <p:nvPr/>
        </p:nvSpPr>
        <p:spPr>
          <a:xfrm>
            <a:off x="667512" y="3675888"/>
            <a:ext cx="2743200" cy="274320"/>
          </a:xfrm>
          <a:prstGeom prst="rect">
            <a:avLst/>
          </a:prstGeom>
          <a:noFill/>
          <a:ln/>
        </p:spPr>
        <p:txBody>
          <a:bodyPr wrap="square" lIns="0" tIns="0" rIns="0" bIns="0" rtlCol="0" anchor="ctr"/>
          <a:lstStyle/>
          <a:p>
            <a:pPr indent="0" marL="0">
              <a:buNone/>
            </a:pPr>
            <a:r>
              <a:rPr lang="en-US" sz="1050" b="1" spc="240" kern="0" dirty="0">
                <a:solidFill>
                  <a:srgbClr val="7FD1A6"/>
                </a:solidFill>
                <a:latin typeface="Arial" pitchFamily="34" charset="0"/>
                <a:ea typeface="Arial" pitchFamily="34" charset="-122"/>
                <a:cs typeface="Arial" pitchFamily="34" charset="-120"/>
              </a:rPr>
              <a:t>SECTION</a:t>
            </a:r>
            <a:endParaRPr lang="en-US" sz="1050" dirty="0"/>
          </a:p>
        </p:txBody>
      </p:sp>
      <p:sp>
        <p:nvSpPr>
          <p:cNvPr id="4" name="Text 2"/>
          <p:cNvSpPr txBox="1"/>
          <p:nvPr/>
        </p:nvSpPr>
        <p:spPr>
          <a:xfrm>
            <a:off x="3337560" y="2651760"/>
            <a:ext cx="6144768"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problem</a:t>
            </a:r>
            <a:endParaRPr lang="en-US" sz="3400" dirty="0"/>
          </a:p>
        </p:txBody>
      </p:sp>
      <p:sp>
        <p:nvSpPr>
          <p:cNvPr id="5" name="Text 3"/>
          <p:cNvSpPr txBox="1"/>
          <p:nvPr/>
        </p:nvSpPr>
        <p:spPr>
          <a:xfrm>
            <a:off x="3383280" y="3328416"/>
            <a:ext cx="6099048" cy="365760"/>
          </a:xfrm>
          <a:prstGeom prst="rect">
            <a:avLst/>
          </a:prstGeom>
          <a:noFill/>
          <a:ln/>
        </p:spPr>
        <p:txBody>
          <a:bodyPr wrap="square" lIns="0" tIns="0" rIns="0" bIns="0" rtlCol="0" anchor="ctr"/>
          <a:lstStyle/>
          <a:p>
            <a:pPr indent="0" marL="0">
              <a:lnSpc>
                <a:spcPts val="2000"/>
              </a:lnSpc>
              <a:buNone/>
            </a:pPr>
            <a:r>
              <a:rPr lang="en-US" sz="1400" dirty="0">
                <a:solidFill>
                  <a:srgbClr val="A6BCAF"/>
                </a:solidFill>
                <a:latin typeface="Arial" pitchFamily="34" charset="0"/>
                <a:ea typeface="Arial" pitchFamily="34" charset="-122"/>
                <a:cs typeface="Arial" pitchFamily="34" charset="-120"/>
              </a:rPr>
              <a:t>What is broken about grading produce by eye, and what the system has to do about it.</a:t>
            </a:r>
            <a:endParaRPr lang="en-US" sz="1400" dirty="0"/>
          </a:p>
        </p:txBody>
      </p:sp>
      <p:sp>
        <p:nvSpPr>
          <p:cNvPr id="6" name="Text 4"/>
          <p:cNvSpPr txBox="1"/>
          <p:nvPr/>
        </p:nvSpPr>
        <p:spPr>
          <a:xfrm>
            <a:off x="3383280"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Problem identification</a:t>
            </a:r>
            <a:endParaRPr lang="en-US" sz="1200" dirty="0"/>
          </a:p>
        </p:txBody>
      </p:sp>
      <p:sp>
        <p:nvSpPr>
          <p:cNvPr id="7" name="Text 5"/>
          <p:cNvSpPr txBox="1"/>
          <p:nvPr/>
        </p:nvSpPr>
        <p:spPr>
          <a:xfrm>
            <a:off x="5416296"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Problem statement</a:t>
            </a:r>
            <a:endParaRPr lang="en-US" sz="1200" dirty="0"/>
          </a:p>
        </p:txBody>
      </p:sp>
      <p:sp>
        <p:nvSpPr>
          <p:cNvPr id="8" name="Text 6"/>
          <p:cNvSpPr txBox="1"/>
          <p:nvPr/>
        </p:nvSpPr>
        <p:spPr>
          <a:xfrm>
            <a:off x="7449312"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Objectives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04</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02</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Problem identification</a:t>
            </a:r>
            <a:endParaRPr lang="en-US" sz="2700" dirty="0"/>
          </a:p>
        </p:txBody>
      </p:sp>
      <p:sp>
        <p:nvSpPr>
          <p:cNvPr id="6" name="Shape 4"/>
          <p:cNvSpPr/>
          <p:nvPr/>
        </p:nvSpPr>
        <p:spPr>
          <a:xfrm>
            <a:off x="594360" y="1572768"/>
            <a:ext cx="8887968" cy="1481328"/>
          </a:xfrm>
          <a:prstGeom prst="roundRect">
            <a:avLst>
              <a:gd name="adj" fmla="val 5556"/>
            </a:avLst>
          </a:prstGeom>
          <a:solidFill>
            <a:srgbClr val="EAF5EF"/>
          </a:solidFill>
          <a:ln w="12700">
            <a:solidFill>
              <a:srgbClr val="EAF5EF"/>
            </a:solidFill>
            <a:prstDash val="solid"/>
          </a:ln>
        </p:spPr>
      </p:sp>
      <p:sp>
        <p:nvSpPr>
          <p:cNvPr id="7" name="Shape 5"/>
          <p:cNvSpPr/>
          <p:nvPr/>
        </p:nvSpPr>
        <p:spPr>
          <a:xfrm>
            <a:off x="868680" y="1773936"/>
            <a:ext cx="420624" cy="420624"/>
          </a:xfrm>
          <a:prstGeom prst="ellipse">
            <a:avLst/>
          </a:prstGeom>
          <a:solidFill>
            <a:srgbClr val="0E5C3A"/>
          </a:solidFill>
          <a:ln w="12700">
            <a:solidFill>
              <a:srgbClr val="0E5C3A"/>
            </a:solidFill>
            <a:prstDash val="solid"/>
          </a:ln>
        </p:spPr>
      </p:sp>
      <p:pic>
        <p:nvPicPr>
          <p:cNvPr id="8" name="Image 0" descr="/home/user/Fresh-Vision/presentation/assets/icons/LuCircleAlert.png">    </p:cNvPr>
          <p:cNvPicPr>
            <a:picLocks noChangeAspect="1"/>
          </p:cNvPicPr>
          <p:nvPr/>
        </p:nvPicPr>
        <p:blipFill>
          <a:blip r:embed="rId1"/>
          <a:stretch>
            <a:fillRect/>
          </a:stretch>
        </p:blipFill>
        <p:spPr>
          <a:xfrm>
            <a:off x="982248" y="1887504"/>
            <a:ext cx="193487" cy="193487"/>
          </a:xfrm>
          <a:prstGeom prst="rect">
            <a:avLst/>
          </a:prstGeom>
        </p:spPr>
      </p:pic>
      <p:sp>
        <p:nvSpPr>
          <p:cNvPr id="9" name="Text 6"/>
          <p:cNvSpPr txBox="1"/>
          <p:nvPr/>
        </p:nvSpPr>
        <p:spPr>
          <a:xfrm>
            <a:off x="1435608" y="1737360"/>
            <a:ext cx="7754112" cy="1133856"/>
          </a:xfrm>
          <a:prstGeom prst="rect">
            <a:avLst/>
          </a:prstGeom>
          <a:noFill/>
          <a:ln/>
        </p:spPr>
        <p:txBody>
          <a:bodyPr wrap="square" lIns="0" tIns="0" rIns="0" bIns="0" rtlCol="0" anchor="ctr"/>
          <a:lstStyle/>
          <a:p>
            <a:pPr indent="0" marL="0">
              <a:lnSpc>
                <a:spcPts val="2200"/>
              </a:lnSpc>
              <a:buNone/>
            </a:pPr>
            <a:r>
              <a:rPr lang="en-US" sz="1400" dirty="0">
                <a:solidFill>
                  <a:srgbClr val="10201A"/>
                </a:solidFill>
                <a:latin typeface="Arial" pitchFamily="34" charset="0"/>
                <a:ea typeface="Arial" pitchFamily="34" charset="-122"/>
                <a:cs typeface="Arial" pitchFamily="34" charset="-120"/>
              </a:rPr>
              <a:t>Fruit and vegetable quality across retail stores, warehouses and the cold-chain is still judged by eye. Manual inspection is slow, subjective and inconsistent between graders, so spoiled produce reaches customers while sellable produce is thrown away. No cheap, objective tool grades produce from an ordinary photo.</a:t>
            </a:r>
            <a:endParaRPr lang="en-US" sz="1400" dirty="0"/>
          </a:p>
        </p:txBody>
      </p:sp>
      <p:sp>
        <p:nvSpPr>
          <p:cNvPr id="10" name="Shape 7"/>
          <p:cNvSpPr/>
          <p:nvPr/>
        </p:nvSpPr>
        <p:spPr>
          <a:xfrm>
            <a:off x="594360" y="3291840"/>
            <a:ext cx="2779776" cy="1828800"/>
          </a:xfrm>
          <a:prstGeom prst="roundRect">
            <a:avLst>
              <a:gd name="adj" fmla="val 450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1" name="Shape 8"/>
          <p:cNvSpPr/>
          <p:nvPr/>
        </p:nvSpPr>
        <p:spPr>
          <a:xfrm>
            <a:off x="850392" y="3529584"/>
            <a:ext cx="457200" cy="457200"/>
          </a:xfrm>
          <a:prstGeom prst="ellipse">
            <a:avLst/>
          </a:prstGeom>
          <a:solidFill>
            <a:srgbClr val="0E5C3A"/>
          </a:solidFill>
          <a:ln w="12700">
            <a:solidFill>
              <a:srgbClr val="0E5C3A"/>
            </a:solidFill>
            <a:prstDash val="solid"/>
          </a:ln>
        </p:spPr>
      </p:sp>
      <p:pic>
        <p:nvPicPr>
          <p:cNvPr id="12" name="Image 1" descr="/home/user/Fresh-Vision/presentation/assets/icons/LuUsers.png">    </p:cNvPr>
          <p:cNvPicPr>
            <a:picLocks noChangeAspect="1"/>
          </p:cNvPicPr>
          <p:nvPr/>
        </p:nvPicPr>
        <p:blipFill>
          <a:blip r:embed="rId2"/>
          <a:stretch>
            <a:fillRect/>
          </a:stretch>
        </p:blipFill>
        <p:spPr>
          <a:xfrm>
            <a:off x="973836" y="3653028"/>
            <a:ext cx="210312" cy="210312"/>
          </a:xfrm>
          <a:prstGeom prst="rect">
            <a:avLst/>
          </a:prstGeom>
        </p:spPr>
      </p:pic>
      <p:sp>
        <p:nvSpPr>
          <p:cNvPr id="13" name="Text 9"/>
          <p:cNvSpPr txBox="1"/>
          <p:nvPr/>
        </p:nvSpPr>
        <p:spPr>
          <a:xfrm>
            <a:off x="850392" y="4114800"/>
            <a:ext cx="2267712" cy="310896"/>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Subjective</a:t>
            </a:r>
            <a:endParaRPr lang="en-US" sz="1550" dirty="0"/>
          </a:p>
        </p:txBody>
      </p:sp>
      <p:sp>
        <p:nvSpPr>
          <p:cNvPr id="14" name="Text 10"/>
          <p:cNvSpPr txBox="1"/>
          <p:nvPr/>
        </p:nvSpPr>
        <p:spPr>
          <a:xfrm>
            <a:off x="850392" y="4462272"/>
            <a:ext cx="2267712" cy="566928"/>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Two graders disagree on the same crate — "slightly spoiled" has no shared definition.</a:t>
            </a:r>
            <a:endParaRPr lang="en-US" sz="1200" dirty="0"/>
          </a:p>
        </p:txBody>
      </p:sp>
      <p:sp>
        <p:nvSpPr>
          <p:cNvPr id="15" name="Shape 11"/>
          <p:cNvSpPr/>
          <p:nvPr/>
        </p:nvSpPr>
        <p:spPr>
          <a:xfrm>
            <a:off x="3648456" y="3291840"/>
            <a:ext cx="2779776" cy="1828800"/>
          </a:xfrm>
          <a:prstGeom prst="roundRect">
            <a:avLst>
              <a:gd name="adj" fmla="val 450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6" name="Shape 12"/>
          <p:cNvSpPr/>
          <p:nvPr/>
        </p:nvSpPr>
        <p:spPr>
          <a:xfrm>
            <a:off x="3904488" y="3529584"/>
            <a:ext cx="457200" cy="457200"/>
          </a:xfrm>
          <a:prstGeom prst="ellipse">
            <a:avLst/>
          </a:prstGeom>
          <a:solidFill>
            <a:srgbClr val="C9871B"/>
          </a:solidFill>
          <a:ln w="12700">
            <a:solidFill>
              <a:srgbClr val="C9871B"/>
            </a:solidFill>
            <a:prstDash val="solid"/>
          </a:ln>
        </p:spPr>
      </p:sp>
      <p:pic>
        <p:nvPicPr>
          <p:cNvPr id="17" name="Image 2" descr="/home/user/Fresh-Vision/presentation/assets/icons/LuScale.png">    </p:cNvPr>
          <p:cNvPicPr>
            <a:picLocks noChangeAspect="1"/>
          </p:cNvPicPr>
          <p:nvPr/>
        </p:nvPicPr>
        <p:blipFill>
          <a:blip r:embed="rId3"/>
          <a:stretch>
            <a:fillRect/>
          </a:stretch>
        </p:blipFill>
        <p:spPr>
          <a:xfrm>
            <a:off x="4027932" y="3653028"/>
            <a:ext cx="210312" cy="210312"/>
          </a:xfrm>
          <a:prstGeom prst="rect">
            <a:avLst/>
          </a:prstGeom>
        </p:spPr>
      </p:pic>
      <p:sp>
        <p:nvSpPr>
          <p:cNvPr id="18" name="Text 13"/>
          <p:cNvSpPr txBox="1"/>
          <p:nvPr/>
        </p:nvSpPr>
        <p:spPr>
          <a:xfrm>
            <a:off x="3904488" y="4114800"/>
            <a:ext cx="2267712" cy="310896"/>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Not scalable</a:t>
            </a:r>
            <a:endParaRPr lang="en-US" sz="1550" dirty="0"/>
          </a:p>
        </p:txBody>
      </p:sp>
      <p:sp>
        <p:nvSpPr>
          <p:cNvPr id="19" name="Text 14"/>
          <p:cNvSpPr txBox="1"/>
          <p:nvPr/>
        </p:nvSpPr>
        <p:spPr>
          <a:xfrm>
            <a:off x="3904488" y="4462272"/>
            <a:ext cx="2267712" cy="566928"/>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Every unit has to be picked up and looked at, which is impossible at warehouse volume.</a:t>
            </a:r>
            <a:endParaRPr lang="en-US" sz="1200" dirty="0"/>
          </a:p>
        </p:txBody>
      </p:sp>
      <p:sp>
        <p:nvSpPr>
          <p:cNvPr id="20" name="Shape 15"/>
          <p:cNvSpPr/>
          <p:nvPr/>
        </p:nvSpPr>
        <p:spPr>
          <a:xfrm>
            <a:off x="6702552" y="3291840"/>
            <a:ext cx="2779776" cy="1828800"/>
          </a:xfrm>
          <a:prstGeom prst="roundRect">
            <a:avLst>
              <a:gd name="adj" fmla="val 450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1" name="Shape 16"/>
          <p:cNvSpPr/>
          <p:nvPr/>
        </p:nvSpPr>
        <p:spPr>
          <a:xfrm>
            <a:off x="6958584" y="3529584"/>
            <a:ext cx="457200" cy="457200"/>
          </a:xfrm>
          <a:prstGeom prst="ellipse">
            <a:avLst/>
          </a:prstGeom>
          <a:solidFill>
            <a:srgbClr val="A8382A"/>
          </a:solidFill>
          <a:ln w="12700">
            <a:solidFill>
              <a:srgbClr val="A8382A"/>
            </a:solidFill>
            <a:prstDash val="solid"/>
          </a:ln>
        </p:spPr>
      </p:sp>
      <p:pic>
        <p:nvPicPr>
          <p:cNvPr id="22" name="Image 3" descr="/home/user/Fresh-Vision/presentation/assets/icons/LuToggleLeft.png">    </p:cNvPr>
          <p:cNvPicPr>
            <a:picLocks noChangeAspect="1"/>
          </p:cNvPicPr>
          <p:nvPr/>
        </p:nvPicPr>
        <p:blipFill>
          <a:blip r:embed="rId4"/>
          <a:stretch>
            <a:fillRect/>
          </a:stretch>
        </p:blipFill>
        <p:spPr>
          <a:xfrm>
            <a:off x="7082028" y="3653028"/>
            <a:ext cx="210312" cy="210312"/>
          </a:xfrm>
          <a:prstGeom prst="rect">
            <a:avLst/>
          </a:prstGeom>
        </p:spPr>
      </p:pic>
      <p:sp>
        <p:nvSpPr>
          <p:cNvPr id="23" name="Text 17"/>
          <p:cNvSpPr txBox="1"/>
          <p:nvPr/>
        </p:nvSpPr>
        <p:spPr>
          <a:xfrm>
            <a:off x="6958584" y="4114800"/>
            <a:ext cx="2267712" cy="310896"/>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Binary labels only</a:t>
            </a:r>
            <a:endParaRPr lang="en-US" sz="1550" dirty="0"/>
          </a:p>
        </p:txBody>
      </p:sp>
      <p:sp>
        <p:nvSpPr>
          <p:cNvPr id="24" name="Text 18"/>
          <p:cNvSpPr txBox="1"/>
          <p:nvPr/>
        </p:nvSpPr>
        <p:spPr>
          <a:xfrm>
            <a:off x="6958584" y="4462272"/>
            <a:ext cx="2267712" cy="566928"/>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Public fresh/rotten datasets record two states, so no shelf-life guidance is possible.</a:t>
            </a:r>
            <a:endParaRPr lang="en-US" sz="1200" dirty="0"/>
          </a:p>
        </p:txBody>
      </p:sp>
      <p:sp>
        <p:nvSpPr>
          <p:cNvPr id="25" name="Shape 19"/>
          <p:cNvSpPr/>
          <p:nvPr/>
        </p:nvSpPr>
        <p:spPr>
          <a:xfrm>
            <a:off x="594360" y="5358384"/>
            <a:ext cx="8887968" cy="1316736"/>
          </a:xfrm>
          <a:prstGeom prst="roundRect">
            <a:avLst>
              <a:gd name="adj" fmla="val 625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6" name="Text 20"/>
          <p:cNvSpPr txBox="1"/>
          <p:nvPr/>
        </p:nvSpPr>
        <p:spPr>
          <a:xfrm>
            <a:off x="868680" y="5486400"/>
            <a:ext cx="8339328" cy="274320"/>
          </a:xfrm>
          <a:prstGeom prst="rect">
            <a:avLst/>
          </a:prstGeom>
          <a:noFill/>
          <a:ln/>
        </p:spPr>
        <p:txBody>
          <a:bodyPr wrap="square" lIns="0" tIns="0" rIns="0" bIns="0" rtlCol="0" anchor="ctr"/>
          <a:lstStyle/>
          <a:p>
            <a:pPr indent="0" marL="0">
              <a:buNone/>
            </a:pPr>
            <a:r>
              <a:rPr lang="en-US" sz="1300" b="1" dirty="0">
                <a:solidFill>
                  <a:srgbClr val="10201A"/>
                </a:solidFill>
                <a:latin typeface="Arial" pitchFamily="34" charset="0"/>
                <a:ea typeface="Arial" pitchFamily="34" charset="-122"/>
                <a:cs typeface="Arial" pitchFamily="34" charset="-120"/>
              </a:rPr>
              <a:t>What a useful answer has to contain</a:t>
            </a:r>
            <a:endParaRPr lang="en-US" sz="1300" dirty="0"/>
          </a:p>
        </p:txBody>
      </p:sp>
      <p:sp>
        <p:nvSpPr>
          <p:cNvPr id="27" name="Shape 21"/>
          <p:cNvSpPr/>
          <p:nvPr/>
        </p:nvSpPr>
        <p:spPr>
          <a:xfrm>
            <a:off x="868680" y="5870448"/>
            <a:ext cx="1609344" cy="237744"/>
          </a:xfrm>
          <a:prstGeom prst="roundRect">
            <a:avLst>
              <a:gd name="adj" fmla="val 23077"/>
            </a:avLst>
          </a:prstGeom>
          <a:solidFill>
            <a:srgbClr val="0F7A4A"/>
          </a:solidFill>
          <a:ln w="12700">
            <a:solidFill>
              <a:srgbClr val="0F7A4A"/>
            </a:solidFill>
            <a:prstDash val="solid"/>
          </a:ln>
        </p:spPr>
      </p:sp>
      <p:sp>
        <p:nvSpPr>
          <p:cNvPr id="28" name="Text 22"/>
          <p:cNvSpPr txBox="1"/>
          <p:nvPr/>
        </p:nvSpPr>
        <p:spPr>
          <a:xfrm>
            <a:off x="868680" y="6163056"/>
            <a:ext cx="1609344" cy="237744"/>
          </a:xfrm>
          <a:prstGeom prst="rect">
            <a:avLst/>
          </a:prstGeom>
          <a:noFill/>
          <a:ln/>
        </p:spPr>
        <p:txBody>
          <a:bodyPr wrap="square" lIns="0" tIns="0" rIns="0" bIns="0" rtlCol="0" anchor="ctr"/>
          <a:lstStyle/>
          <a:p>
            <a:pPr algn="ctr" indent="0" marL="0">
              <a:buNone/>
            </a:pPr>
            <a:r>
              <a:rPr lang="en-US" sz="1000" b="1" dirty="0">
                <a:solidFill>
                  <a:srgbClr val="10201A"/>
                </a:solidFill>
                <a:latin typeface="Arial" pitchFamily="34" charset="0"/>
                <a:ea typeface="Arial" pitchFamily="34" charset="-122"/>
                <a:cs typeface="Arial" pitchFamily="34" charset="-120"/>
              </a:rPr>
              <a:t>Very fresh</a:t>
            </a:r>
            <a:endParaRPr lang="en-US" sz="1000" dirty="0"/>
          </a:p>
        </p:txBody>
      </p:sp>
      <p:sp>
        <p:nvSpPr>
          <p:cNvPr id="29" name="Text 23"/>
          <p:cNvSpPr txBox="1"/>
          <p:nvPr/>
        </p:nvSpPr>
        <p:spPr>
          <a:xfrm>
            <a:off x="868680" y="6382512"/>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5-7 days</a:t>
            </a:r>
            <a:endParaRPr lang="en-US" sz="950" dirty="0"/>
          </a:p>
        </p:txBody>
      </p:sp>
      <p:sp>
        <p:nvSpPr>
          <p:cNvPr id="30" name="Shape 24"/>
          <p:cNvSpPr/>
          <p:nvPr/>
        </p:nvSpPr>
        <p:spPr>
          <a:xfrm>
            <a:off x="2551176" y="5870448"/>
            <a:ext cx="1609344" cy="237744"/>
          </a:xfrm>
          <a:prstGeom prst="roundRect">
            <a:avLst>
              <a:gd name="adj" fmla="val 23077"/>
            </a:avLst>
          </a:prstGeom>
          <a:solidFill>
            <a:srgbClr val="3FA76B"/>
          </a:solidFill>
          <a:ln w="12700">
            <a:solidFill>
              <a:srgbClr val="3FA76B"/>
            </a:solidFill>
            <a:prstDash val="solid"/>
          </a:ln>
        </p:spPr>
      </p:sp>
      <p:sp>
        <p:nvSpPr>
          <p:cNvPr id="31" name="Text 25"/>
          <p:cNvSpPr txBox="1"/>
          <p:nvPr/>
        </p:nvSpPr>
        <p:spPr>
          <a:xfrm>
            <a:off x="2551176" y="6163056"/>
            <a:ext cx="1609344" cy="237744"/>
          </a:xfrm>
          <a:prstGeom prst="rect">
            <a:avLst/>
          </a:prstGeom>
          <a:noFill/>
          <a:ln/>
        </p:spPr>
        <p:txBody>
          <a:bodyPr wrap="square" lIns="0" tIns="0" rIns="0" bIns="0" rtlCol="0" anchor="ctr"/>
          <a:lstStyle/>
          <a:p>
            <a:pPr algn="ctr" indent="0" marL="0">
              <a:buNone/>
            </a:pPr>
            <a:r>
              <a:rPr lang="en-US" sz="1000" b="1" dirty="0">
                <a:solidFill>
                  <a:srgbClr val="10201A"/>
                </a:solidFill>
                <a:latin typeface="Arial" pitchFamily="34" charset="0"/>
                <a:ea typeface="Arial" pitchFamily="34" charset="-122"/>
                <a:cs typeface="Arial" pitchFamily="34" charset="-120"/>
              </a:rPr>
              <a:t>Fresh</a:t>
            </a:r>
            <a:endParaRPr lang="en-US" sz="1000" dirty="0"/>
          </a:p>
        </p:txBody>
      </p:sp>
      <p:sp>
        <p:nvSpPr>
          <p:cNvPr id="32" name="Text 26"/>
          <p:cNvSpPr txBox="1"/>
          <p:nvPr/>
        </p:nvSpPr>
        <p:spPr>
          <a:xfrm>
            <a:off x="2551176" y="6382512"/>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3-5 days</a:t>
            </a:r>
            <a:endParaRPr lang="en-US" sz="950" dirty="0"/>
          </a:p>
        </p:txBody>
      </p:sp>
      <p:sp>
        <p:nvSpPr>
          <p:cNvPr id="33" name="Shape 27"/>
          <p:cNvSpPr/>
          <p:nvPr/>
        </p:nvSpPr>
        <p:spPr>
          <a:xfrm>
            <a:off x="4233672" y="5870448"/>
            <a:ext cx="1609344" cy="237744"/>
          </a:xfrm>
          <a:prstGeom prst="roundRect">
            <a:avLst>
              <a:gd name="adj" fmla="val 23077"/>
            </a:avLst>
          </a:prstGeom>
          <a:solidFill>
            <a:srgbClr val="D9A227"/>
          </a:solidFill>
          <a:ln w="12700">
            <a:solidFill>
              <a:srgbClr val="D9A227"/>
            </a:solidFill>
            <a:prstDash val="solid"/>
          </a:ln>
        </p:spPr>
      </p:sp>
      <p:sp>
        <p:nvSpPr>
          <p:cNvPr id="34" name="Text 28"/>
          <p:cNvSpPr txBox="1"/>
          <p:nvPr/>
        </p:nvSpPr>
        <p:spPr>
          <a:xfrm>
            <a:off x="4233672" y="6163056"/>
            <a:ext cx="1609344" cy="237744"/>
          </a:xfrm>
          <a:prstGeom prst="rect">
            <a:avLst/>
          </a:prstGeom>
          <a:noFill/>
          <a:ln/>
        </p:spPr>
        <p:txBody>
          <a:bodyPr wrap="square" lIns="0" tIns="0" rIns="0" bIns="0" rtlCol="0" anchor="ctr"/>
          <a:lstStyle/>
          <a:p>
            <a:pPr algn="ctr" indent="0" marL="0">
              <a:buNone/>
            </a:pPr>
            <a:r>
              <a:rPr lang="en-US" sz="1000" b="1" dirty="0">
                <a:solidFill>
                  <a:srgbClr val="10201A"/>
                </a:solidFill>
                <a:latin typeface="Arial" pitchFamily="34" charset="0"/>
                <a:ea typeface="Arial" pitchFamily="34" charset="-122"/>
                <a:cs typeface="Arial" pitchFamily="34" charset="-120"/>
              </a:rPr>
              <a:t>Slightly rotten</a:t>
            </a:r>
            <a:endParaRPr lang="en-US" sz="1000" dirty="0"/>
          </a:p>
        </p:txBody>
      </p:sp>
      <p:sp>
        <p:nvSpPr>
          <p:cNvPr id="35" name="Text 29"/>
          <p:cNvSpPr txBox="1"/>
          <p:nvPr/>
        </p:nvSpPr>
        <p:spPr>
          <a:xfrm>
            <a:off x="4233672" y="6382512"/>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1-2 days</a:t>
            </a:r>
            <a:endParaRPr lang="en-US" sz="950" dirty="0"/>
          </a:p>
        </p:txBody>
      </p:sp>
      <p:sp>
        <p:nvSpPr>
          <p:cNvPr id="36" name="Shape 30"/>
          <p:cNvSpPr/>
          <p:nvPr/>
        </p:nvSpPr>
        <p:spPr>
          <a:xfrm>
            <a:off x="5916168" y="5870448"/>
            <a:ext cx="1609344" cy="237744"/>
          </a:xfrm>
          <a:prstGeom prst="roundRect">
            <a:avLst>
              <a:gd name="adj" fmla="val 23077"/>
            </a:avLst>
          </a:prstGeom>
          <a:solidFill>
            <a:srgbClr val="C4652A"/>
          </a:solidFill>
          <a:ln w="12700">
            <a:solidFill>
              <a:srgbClr val="C4652A"/>
            </a:solidFill>
            <a:prstDash val="solid"/>
          </a:ln>
        </p:spPr>
      </p:sp>
      <p:sp>
        <p:nvSpPr>
          <p:cNvPr id="37" name="Text 31"/>
          <p:cNvSpPr txBox="1"/>
          <p:nvPr/>
        </p:nvSpPr>
        <p:spPr>
          <a:xfrm>
            <a:off x="5916168" y="6163056"/>
            <a:ext cx="1609344" cy="237744"/>
          </a:xfrm>
          <a:prstGeom prst="rect">
            <a:avLst/>
          </a:prstGeom>
          <a:noFill/>
          <a:ln/>
        </p:spPr>
        <p:txBody>
          <a:bodyPr wrap="square" lIns="0" tIns="0" rIns="0" bIns="0" rtlCol="0" anchor="ctr"/>
          <a:lstStyle/>
          <a:p>
            <a:pPr algn="ctr" indent="0" marL="0">
              <a:buNone/>
            </a:pPr>
            <a:r>
              <a:rPr lang="en-US" sz="1000" b="1" dirty="0">
                <a:solidFill>
                  <a:srgbClr val="10201A"/>
                </a:solidFill>
                <a:latin typeface="Arial" pitchFamily="34" charset="0"/>
                <a:ea typeface="Arial" pitchFamily="34" charset="-122"/>
                <a:cs typeface="Arial" pitchFamily="34" charset="-120"/>
              </a:rPr>
              <a:t>Rotten</a:t>
            </a:r>
            <a:endParaRPr lang="en-US" sz="1000" dirty="0"/>
          </a:p>
        </p:txBody>
      </p:sp>
      <p:sp>
        <p:nvSpPr>
          <p:cNvPr id="38" name="Text 32"/>
          <p:cNvSpPr txBox="1"/>
          <p:nvPr/>
        </p:nvSpPr>
        <p:spPr>
          <a:xfrm>
            <a:off x="5916168" y="6382512"/>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Discard</a:t>
            </a:r>
            <a:endParaRPr lang="en-US" sz="950" dirty="0"/>
          </a:p>
        </p:txBody>
      </p:sp>
      <p:sp>
        <p:nvSpPr>
          <p:cNvPr id="39" name="Shape 33"/>
          <p:cNvSpPr/>
          <p:nvPr/>
        </p:nvSpPr>
        <p:spPr>
          <a:xfrm>
            <a:off x="7598664" y="5870448"/>
            <a:ext cx="1609344" cy="237744"/>
          </a:xfrm>
          <a:prstGeom prst="roundRect">
            <a:avLst>
              <a:gd name="adj" fmla="val 23077"/>
            </a:avLst>
          </a:prstGeom>
          <a:solidFill>
            <a:srgbClr val="8E2F22"/>
          </a:solidFill>
          <a:ln w="12700">
            <a:solidFill>
              <a:srgbClr val="8E2F22"/>
            </a:solidFill>
            <a:prstDash val="solid"/>
          </a:ln>
        </p:spPr>
      </p:sp>
      <p:sp>
        <p:nvSpPr>
          <p:cNvPr id="40" name="Text 34"/>
          <p:cNvSpPr txBox="1"/>
          <p:nvPr/>
        </p:nvSpPr>
        <p:spPr>
          <a:xfrm>
            <a:off x="7598664" y="6163056"/>
            <a:ext cx="1609344" cy="237744"/>
          </a:xfrm>
          <a:prstGeom prst="rect">
            <a:avLst/>
          </a:prstGeom>
          <a:noFill/>
          <a:ln/>
        </p:spPr>
        <p:txBody>
          <a:bodyPr wrap="square" lIns="0" tIns="0" rIns="0" bIns="0" rtlCol="0" anchor="ctr"/>
          <a:lstStyle/>
          <a:p>
            <a:pPr algn="ctr" indent="0" marL="0">
              <a:buNone/>
            </a:pPr>
            <a:r>
              <a:rPr lang="en-US" sz="1000" b="1" dirty="0">
                <a:solidFill>
                  <a:srgbClr val="10201A"/>
                </a:solidFill>
                <a:latin typeface="Arial" pitchFamily="34" charset="0"/>
                <a:ea typeface="Arial" pitchFamily="34" charset="-122"/>
                <a:cs typeface="Arial" pitchFamily="34" charset="-120"/>
              </a:rPr>
              <a:t>Very rotten</a:t>
            </a:r>
            <a:endParaRPr lang="en-US" sz="1000" dirty="0"/>
          </a:p>
        </p:txBody>
      </p:sp>
      <p:sp>
        <p:nvSpPr>
          <p:cNvPr id="41" name="Text 35"/>
          <p:cNvSpPr txBox="1"/>
          <p:nvPr/>
        </p:nvSpPr>
        <p:spPr>
          <a:xfrm>
            <a:off x="7598664" y="6382512"/>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Discard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05</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02</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Problem statement</a:t>
            </a:r>
            <a:endParaRPr lang="en-US" sz="2700" dirty="0"/>
          </a:p>
        </p:txBody>
      </p:sp>
      <p:sp>
        <p:nvSpPr>
          <p:cNvPr id="6" name="Shape 4"/>
          <p:cNvSpPr/>
          <p:nvPr/>
        </p:nvSpPr>
        <p:spPr>
          <a:xfrm>
            <a:off x="594360" y="1609344"/>
            <a:ext cx="8887968" cy="1737360"/>
          </a:xfrm>
          <a:prstGeom prst="roundRect">
            <a:avLst>
              <a:gd name="adj" fmla="val 4737"/>
            </a:avLst>
          </a:prstGeom>
          <a:solidFill>
            <a:srgbClr val="EAF5EF"/>
          </a:solidFill>
          <a:ln w="12700">
            <a:solidFill>
              <a:srgbClr val="EAF5EF"/>
            </a:solidFill>
            <a:prstDash val="solid"/>
          </a:ln>
        </p:spPr>
      </p:sp>
      <p:sp>
        <p:nvSpPr>
          <p:cNvPr id="7" name="Text 5"/>
          <p:cNvSpPr txBox="1"/>
          <p:nvPr/>
        </p:nvSpPr>
        <p:spPr>
          <a:xfrm>
            <a:off x="960120" y="1792224"/>
            <a:ext cx="8156448" cy="1417320"/>
          </a:xfrm>
          <a:prstGeom prst="rect">
            <a:avLst/>
          </a:prstGeom>
          <a:noFill/>
          <a:ln/>
        </p:spPr>
        <p:txBody>
          <a:bodyPr wrap="square" lIns="0" tIns="0" rIns="0" bIns="0" rtlCol="0" anchor="ctr"/>
          <a:lstStyle/>
          <a:p>
            <a:pPr indent="0" marL="0">
              <a:lnSpc>
                <a:spcPts val="2700"/>
              </a:lnSpc>
              <a:buNone/>
            </a:pPr>
            <a:r>
              <a:rPr lang="en-US" sz="1700" dirty="0">
                <a:solidFill>
                  <a:srgbClr val="10201A"/>
                </a:solidFill>
                <a:latin typeface="Arial" pitchFamily="34" charset="0"/>
                <a:ea typeface="Arial" pitchFamily="34" charset="-122"/>
                <a:cs typeface="Arial" pitchFamily="34" charset="-120"/>
              </a:rPr>
              <a:t>Design and deploy a system that, from a single ordinary photograph, verifies that the subject is actually produce, identifies which fruit or vegetable it is, and grades its decay on a five-level scale with a confidence score and an estimated shelf life — fast enough to run on commodity hardware inside a web browser.</a:t>
            </a:r>
            <a:endParaRPr lang="en-US" sz="1700" dirty="0"/>
          </a:p>
        </p:txBody>
      </p:sp>
      <p:sp>
        <p:nvSpPr>
          <p:cNvPr id="8" name="Shape 6"/>
          <p:cNvSpPr/>
          <p:nvPr/>
        </p:nvSpPr>
        <p:spPr>
          <a:xfrm>
            <a:off x="594360" y="3621024"/>
            <a:ext cx="2779776" cy="2121408"/>
          </a:xfrm>
          <a:prstGeom prst="roundRect">
            <a:avLst>
              <a:gd name="adj" fmla="val 3879"/>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9" name="Shape 7"/>
          <p:cNvSpPr/>
          <p:nvPr/>
        </p:nvSpPr>
        <p:spPr>
          <a:xfrm>
            <a:off x="1719072" y="3858768"/>
            <a:ext cx="530352" cy="530352"/>
          </a:xfrm>
          <a:prstGeom prst="ellipse">
            <a:avLst/>
          </a:prstGeom>
          <a:solidFill>
            <a:srgbClr val="0E5C3A"/>
          </a:solidFill>
          <a:ln w="12700">
            <a:solidFill>
              <a:srgbClr val="0E5C3A"/>
            </a:solidFill>
            <a:prstDash val="solid"/>
          </a:ln>
        </p:spPr>
      </p:sp>
      <p:pic>
        <p:nvPicPr>
          <p:cNvPr id="10" name="Image 0" descr="/home/user/Fresh-Vision/presentation/assets/icons/LuShieldCheck.png">    </p:cNvPr>
          <p:cNvPicPr>
            <a:picLocks noChangeAspect="1"/>
          </p:cNvPicPr>
          <p:nvPr/>
        </p:nvPicPr>
        <p:blipFill>
          <a:blip r:embed="rId1"/>
          <a:stretch>
            <a:fillRect/>
          </a:stretch>
        </p:blipFill>
        <p:spPr>
          <a:xfrm>
            <a:off x="1862267" y="4001963"/>
            <a:ext cx="243962" cy="243962"/>
          </a:xfrm>
          <a:prstGeom prst="rect">
            <a:avLst/>
          </a:prstGeom>
        </p:spPr>
      </p:pic>
      <p:sp>
        <p:nvSpPr>
          <p:cNvPr id="11" name="Text 8"/>
          <p:cNvSpPr txBox="1"/>
          <p:nvPr/>
        </p:nvSpPr>
        <p:spPr>
          <a:xfrm>
            <a:off x="777240" y="4517136"/>
            <a:ext cx="2414016" cy="274320"/>
          </a:xfrm>
          <a:prstGeom prst="rect">
            <a:avLst/>
          </a:prstGeom>
          <a:noFill/>
          <a:ln/>
        </p:spPr>
        <p:txBody>
          <a:bodyPr wrap="square" lIns="0" tIns="0" rIns="0" bIns="0" rtlCol="0" anchor="ctr"/>
          <a:lstStyle/>
          <a:p>
            <a:pPr algn="ctr" indent="0" marL="0">
              <a:buNone/>
            </a:pPr>
            <a:r>
              <a:rPr lang="en-US" sz="1100" b="1" spc="200" kern="0" dirty="0">
                <a:solidFill>
                  <a:srgbClr val="0E5C3A"/>
                </a:solidFill>
                <a:latin typeface="Arial" pitchFamily="34" charset="0"/>
                <a:ea typeface="Arial" pitchFamily="34" charset="-122"/>
                <a:cs typeface="Arial" pitchFamily="34" charset="-120"/>
              </a:rPr>
              <a:t>VERIFY</a:t>
            </a:r>
            <a:endParaRPr lang="en-US" sz="1100" dirty="0"/>
          </a:p>
        </p:txBody>
      </p:sp>
      <p:sp>
        <p:nvSpPr>
          <p:cNvPr id="12" name="Text 9"/>
          <p:cNvSpPr txBox="1"/>
          <p:nvPr/>
        </p:nvSpPr>
        <p:spPr>
          <a:xfrm>
            <a:off x="777240" y="4791456"/>
            <a:ext cx="2414016" cy="310896"/>
          </a:xfrm>
          <a:prstGeom prst="rect">
            <a:avLst/>
          </a:prstGeom>
          <a:noFill/>
          <a:ln/>
        </p:spPr>
        <p:txBody>
          <a:bodyPr wrap="square" lIns="0" tIns="0" rIns="0" bIns="0" rtlCol="0" anchor="ctr"/>
          <a:lstStyle/>
          <a:p>
            <a:pPr algn="ctr" indent="0" marL="0">
              <a:buNone/>
            </a:pPr>
            <a:r>
              <a:rPr lang="en-US" sz="1500" b="1" dirty="0">
                <a:solidFill>
                  <a:srgbClr val="10201A"/>
                </a:solidFill>
                <a:latin typeface="Arial" pitchFamily="34" charset="0"/>
                <a:ea typeface="Arial" pitchFamily="34" charset="-122"/>
                <a:cs typeface="Arial" pitchFamily="34" charset="-120"/>
              </a:rPr>
              <a:t>Is this produce at all?</a:t>
            </a:r>
            <a:endParaRPr lang="en-US" sz="1500" dirty="0"/>
          </a:p>
        </p:txBody>
      </p:sp>
      <p:sp>
        <p:nvSpPr>
          <p:cNvPr id="13" name="Text 10"/>
          <p:cNvSpPr txBox="1"/>
          <p:nvPr/>
        </p:nvSpPr>
        <p:spPr>
          <a:xfrm>
            <a:off x="813816" y="5138928"/>
            <a:ext cx="2340864" cy="548640"/>
          </a:xfrm>
          <a:prstGeom prst="rect">
            <a:avLst/>
          </a:prstGeom>
          <a:noFill/>
          <a:ln/>
        </p:spPr>
        <p:txBody>
          <a:bodyPr wrap="square" lIns="0" tIns="0" rIns="0" bIns="0" rtlCol="0" anchor="ctr"/>
          <a:lstStyle/>
          <a:p>
            <a:pPr algn="ctr" indent="0" marL="0">
              <a:lnSpc>
                <a:spcPts val="1600"/>
              </a:lnSpc>
              <a:buNone/>
            </a:pPr>
            <a:r>
              <a:rPr lang="en-US" sz="1150" dirty="0">
                <a:solidFill>
                  <a:srgbClr val="6A7B71"/>
                </a:solidFill>
                <a:latin typeface="Arial" pitchFamily="34" charset="0"/>
                <a:ea typeface="Arial" pitchFamily="34" charset="-122"/>
                <a:cs typeface="Arial" pitchFamily="34" charset="-120"/>
              </a:rPr>
              <a:t>Reject anything the models were never trained to grade.</a:t>
            </a:r>
            <a:endParaRPr lang="en-US" sz="1150" dirty="0"/>
          </a:p>
        </p:txBody>
      </p:sp>
      <p:sp>
        <p:nvSpPr>
          <p:cNvPr id="14" name="Shape 11"/>
          <p:cNvSpPr/>
          <p:nvPr/>
        </p:nvSpPr>
        <p:spPr>
          <a:xfrm>
            <a:off x="3648456" y="3621024"/>
            <a:ext cx="2779776" cy="2121408"/>
          </a:xfrm>
          <a:prstGeom prst="roundRect">
            <a:avLst>
              <a:gd name="adj" fmla="val 3879"/>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5" name="Shape 12"/>
          <p:cNvSpPr/>
          <p:nvPr/>
        </p:nvSpPr>
        <p:spPr>
          <a:xfrm>
            <a:off x="4773168" y="3858768"/>
            <a:ext cx="530352" cy="530352"/>
          </a:xfrm>
          <a:prstGeom prst="ellipse">
            <a:avLst/>
          </a:prstGeom>
          <a:solidFill>
            <a:srgbClr val="1C9A63"/>
          </a:solidFill>
          <a:ln w="12700">
            <a:solidFill>
              <a:srgbClr val="1C9A63"/>
            </a:solidFill>
            <a:prstDash val="solid"/>
          </a:ln>
        </p:spPr>
      </p:sp>
      <p:pic>
        <p:nvPicPr>
          <p:cNvPr id="16" name="Image 1" descr="/home/user/Fresh-Vision/presentation/assets/icons/LuScanEye.png">    </p:cNvPr>
          <p:cNvPicPr>
            <a:picLocks noChangeAspect="1"/>
          </p:cNvPicPr>
          <p:nvPr/>
        </p:nvPicPr>
        <p:blipFill>
          <a:blip r:embed="rId2"/>
          <a:stretch>
            <a:fillRect/>
          </a:stretch>
        </p:blipFill>
        <p:spPr>
          <a:xfrm>
            <a:off x="4916363" y="4001963"/>
            <a:ext cx="243962" cy="243962"/>
          </a:xfrm>
          <a:prstGeom prst="rect">
            <a:avLst/>
          </a:prstGeom>
        </p:spPr>
      </p:pic>
      <p:sp>
        <p:nvSpPr>
          <p:cNvPr id="17" name="Text 13"/>
          <p:cNvSpPr txBox="1"/>
          <p:nvPr/>
        </p:nvSpPr>
        <p:spPr>
          <a:xfrm>
            <a:off x="3831336" y="4517136"/>
            <a:ext cx="2414016" cy="274320"/>
          </a:xfrm>
          <a:prstGeom prst="rect">
            <a:avLst/>
          </a:prstGeom>
          <a:noFill/>
          <a:ln/>
        </p:spPr>
        <p:txBody>
          <a:bodyPr wrap="square" lIns="0" tIns="0" rIns="0" bIns="0" rtlCol="0" anchor="ctr"/>
          <a:lstStyle/>
          <a:p>
            <a:pPr algn="ctr" indent="0" marL="0">
              <a:buNone/>
            </a:pPr>
            <a:r>
              <a:rPr lang="en-US" sz="1100" b="1" spc="200" kern="0" dirty="0">
                <a:solidFill>
                  <a:srgbClr val="1C9A63"/>
                </a:solidFill>
                <a:latin typeface="Arial" pitchFamily="34" charset="0"/>
                <a:ea typeface="Arial" pitchFamily="34" charset="-122"/>
                <a:cs typeface="Arial" pitchFamily="34" charset="-120"/>
              </a:rPr>
              <a:t>IDENTIFY</a:t>
            </a:r>
            <a:endParaRPr lang="en-US" sz="1100" dirty="0"/>
          </a:p>
        </p:txBody>
      </p:sp>
      <p:sp>
        <p:nvSpPr>
          <p:cNvPr id="18" name="Text 14"/>
          <p:cNvSpPr txBox="1"/>
          <p:nvPr/>
        </p:nvSpPr>
        <p:spPr>
          <a:xfrm>
            <a:off x="3831336" y="4791456"/>
            <a:ext cx="2414016" cy="310896"/>
          </a:xfrm>
          <a:prstGeom prst="rect">
            <a:avLst/>
          </a:prstGeom>
          <a:noFill/>
          <a:ln/>
        </p:spPr>
        <p:txBody>
          <a:bodyPr wrap="square" lIns="0" tIns="0" rIns="0" bIns="0" rtlCol="0" anchor="ctr"/>
          <a:lstStyle/>
          <a:p>
            <a:pPr algn="ctr" indent="0" marL="0">
              <a:buNone/>
            </a:pPr>
            <a:r>
              <a:rPr lang="en-US" sz="1500" b="1" dirty="0">
                <a:solidFill>
                  <a:srgbClr val="10201A"/>
                </a:solidFill>
                <a:latin typeface="Arial" pitchFamily="34" charset="0"/>
                <a:ea typeface="Arial" pitchFamily="34" charset="-122"/>
                <a:cs typeface="Arial" pitchFamily="34" charset="-120"/>
              </a:rPr>
              <a:t>Which fruit or vegetable?</a:t>
            </a:r>
            <a:endParaRPr lang="en-US" sz="1500" dirty="0"/>
          </a:p>
        </p:txBody>
      </p:sp>
      <p:sp>
        <p:nvSpPr>
          <p:cNvPr id="19" name="Text 15"/>
          <p:cNvSpPr txBox="1"/>
          <p:nvPr/>
        </p:nvSpPr>
        <p:spPr>
          <a:xfrm>
            <a:off x="3867912" y="5138928"/>
            <a:ext cx="2340864" cy="548640"/>
          </a:xfrm>
          <a:prstGeom prst="rect">
            <a:avLst/>
          </a:prstGeom>
          <a:noFill/>
          <a:ln/>
        </p:spPr>
        <p:txBody>
          <a:bodyPr wrap="square" lIns="0" tIns="0" rIns="0" bIns="0" rtlCol="0" anchor="ctr"/>
          <a:lstStyle/>
          <a:p>
            <a:pPr algn="ctr" indent="0" marL="0">
              <a:lnSpc>
                <a:spcPts val="1600"/>
              </a:lnSpc>
              <a:buNone/>
            </a:pPr>
            <a:r>
              <a:rPr lang="en-US" sz="1150" dirty="0">
                <a:solidFill>
                  <a:srgbClr val="6A7B71"/>
                </a:solidFill>
                <a:latin typeface="Arial" pitchFamily="34" charset="0"/>
                <a:ea typeface="Arial" pitchFamily="34" charset="-122"/>
                <a:cs typeface="Arial" pitchFamily="34" charset="-120"/>
              </a:rPr>
              <a:t>14 classes, reported with the top-3 confidence scores.</a:t>
            </a:r>
            <a:endParaRPr lang="en-US" sz="1150" dirty="0"/>
          </a:p>
        </p:txBody>
      </p:sp>
      <p:sp>
        <p:nvSpPr>
          <p:cNvPr id="20" name="Shape 16"/>
          <p:cNvSpPr/>
          <p:nvPr/>
        </p:nvSpPr>
        <p:spPr>
          <a:xfrm>
            <a:off x="6702552" y="3621024"/>
            <a:ext cx="2779776" cy="2121408"/>
          </a:xfrm>
          <a:prstGeom prst="roundRect">
            <a:avLst>
              <a:gd name="adj" fmla="val 3879"/>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1" name="Shape 17"/>
          <p:cNvSpPr/>
          <p:nvPr/>
        </p:nvSpPr>
        <p:spPr>
          <a:xfrm>
            <a:off x="7827264" y="3858768"/>
            <a:ext cx="530352" cy="530352"/>
          </a:xfrm>
          <a:prstGeom prst="ellipse">
            <a:avLst/>
          </a:prstGeom>
          <a:solidFill>
            <a:srgbClr val="C9871B"/>
          </a:solidFill>
          <a:ln w="12700">
            <a:solidFill>
              <a:srgbClr val="C9871B"/>
            </a:solidFill>
            <a:prstDash val="solid"/>
          </a:ln>
        </p:spPr>
      </p:sp>
      <p:pic>
        <p:nvPicPr>
          <p:cNvPr id="22" name="Image 2" descr="/home/user/Fresh-Vision/presentation/assets/icons/LuGauge.png">    </p:cNvPr>
          <p:cNvPicPr>
            <a:picLocks noChangeAspect="1"/>
          </p:cNvPicPr>
          <p:nvPr/>
        </p:nvPicPr>
        <p:blipFill>
          <a:blip r:embed="rId3"/>
          <a:stretch>
            <a:fillRect/>
          </a:stretch>
        </p:blipFill>
        <p:spPr>
          <a:xfrm>
            <a:off x="7970459" y="4001963"/>
            <a:ext cx="243962" cy="243962"/>
          </a:xfrm>
          <a:prstGeom prst="rect">
            <a:avLst/>
          </a:prstGeom>
        </p:spPr>
      </p:pic>
      <p:sp>
        <p:nvSpPr>
          <p:cNvPr id="23" name="Text 18"/>
          <p:cNvSpPr txBox="1"/>
          <p:nvPr/>
        </p:nvSpPr>
        <p:spPr>
          <a:xfrm>
            <a:off x="6885432" y="4517136"/>
            <a:ext cx="2414016" cy="274320"/>
          </a:xfrm>
          <a:prstGeom prst="rect">
            <a:avLst/>
          </a:prstGeom>
          <a:noFill/>
          <a:ln/>
        </p:spPr>
        <p:txBody>
          <a:bodyPr wrap="square" lIns="0" tIns="0" rIns="0" bIns="0" rtlCol="0" anchor="ctr"/>
          <a:lstStyle/>
          <a:p>
            <a:pPr algn="ctr" indent="0" marL="0">
              <a:buNone/>
            </a:pPr>
            <a:r>
              <a:rPr lang="en-US" sz="1100" b="1" spc="200" kern="0" dirty="0">
                <a:solidFill>
                  <a:srgbClr val="C9871B"/>
                </a:solidFill>
                <a:latin typeface="Arial" pitchFamily="34" charset="0"/>
                <a:ea typeface="Arial" pitchFamily="34" charset="-122"/>
                <a:cs typeface="Arial" pitchFamily="34" charset="-120"/>
              </a:rPr>
              <a:t>GRADE</a:t>
            </a:r>
            <a:endParaRPr lang="en-US" sz="1100" dirty="0"/>
          </a:p>
        </p:txBody>
      </p:sp>
      <p:sp>
        <p:nvSpPr>
          <p:cNvPr id="24" name="Text 19"/>
          <p:cNvSpPr txBox="1"/>
          <p:nvPr/>
        </p:nvSpPr>
        <p:spPr>
          <a:xfrm>
            <a:off x="6885432" y="4791456"/>
            <a:ext cx="2414016" cy="310896"/>
          </a:xfrm>
          <a:prstGeom prst="rect">
            <a:avLst/>
          </a:prstGeom>
          <a:noFill/>
          <a:ln/>
        </p:spPr>
        <p:txBody>
          <a:bodyPr wrap="square" lIns="0" tIns="0" rIns="0" bIns="0" rtlCol="0" anchor="ctr"/>
          <a:lstStyle/>
          <a:p>
            <a:pPr algn="ctr" indent="0" marL="0">
              <a:buNone/>
            </a:pPr>
            <a:r>
              <a:rPr lang="en-US" sz="1500" b="1" dirty="0">
                <a:solidFill>
                  <a:srgbClr val="10201A"/>
                </a:solidFill>
                <a:latin typeface="Arial" pitchFamily="34" charset="0"/>
                <a:ea typeface="Arial" pitchFamily="34" charset="-122"/>
                <a:cs typeface="Arial" pitchFamily="34" charset="-120"/>
              </a:rPr>
              <a:t>How far gone is it?</a:t>
            </a:r>
            <a:endParaRPr lang="en-US" sz="1500" dirty="0"/>
          </a:p>
        </p:txBody>
      </p:sp>
      <p:sp>
        <p:nvSpPr>
          <p:cNvPr id="25" name="Text 20"/>
          <p:cNvSpPr txBox="1"/>
          <p:nvPr/>
        </p:nvSpPr>
        <p:spPr>
          <a:xfrm>
            <a:off x="6922008" y="5138928"/>
            <a:ext cx="2340864" cy="548640"/>
          </a:xfrm>
          <a:prstGeom prst="rect">
            <a:avLst/>
          </a:prstGeom>
          <a:noFill/>
          <a:ln/>
        </p:spPr>
        <p:txBody>
          <a:bodyPr wrap="square" lIns="0" tIns="0" rIns="0" bIns="0" rtlCol="0" anchor="ctr"/>
          <a:lstStyle/>
          <a:p>
            <a:pPr algn="ctr" indent="0" marL="0">
              <a:lnSpc>
                <a:spcPts val="1600"/>
              </a:lnSpc>
              <a:buNone/>
            </a:pPr>
            <a:r>
              <a:rPr lang="en-US" sz="1150" dirty="0">
                <a:solidFill>
                  <a:srgbClr val="6A7B71"/>
                </a:solidFill>
                <a:latin typeface="Arial" pitchFamily="34" charset="0"/>
                <a:ea typeface="Arial" pitchFamily="34" charset="-122"/>
                <a:cs typeface="Arial" pitchFamily="34" charset="-120"/>
              </a:rPr>
              <a:t>Five decay levels, a confidence figure and a shelf-life estimate.</a:t>
            </a:r>
            <a:endParaRPr lang="en-US" sz="1150" dirty="0"/>
          </a:p>
        </p:txBody>
      </p:sp>
      <p:sp>
        <p:nvSpPr>
          <p:cNvPr id="26" name="Shape 21"/>
          <p:cNvSpPr/>
          <p:nvPr/>
        </p:nvSpPr>
        <p:spPr>
          <a:xfrm>
            <a:off x="594360" y="5980176"/>
            <a:ext cx="8887968" cy="731520"/>
          </a:xfrm>
          <a:prstGeom prst="roundRect">
            <a:avLst>
              <a:gd name="adj" fmla="val 1125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7" name="Shape 22"/>
          <p:cNvSpPr/>
          <p:nvPr/>
        </p:nvSpPr>
        <p:spPr>
          <a:xfrm>
            <a:off x="832104" y="6126480"/>
            <a:ext cx="420624" cy="420624"/>
          </a:xfrm>
          <a:prstGeom prst="ellipse">
            <a:avLst/>
          </a:prstGeom>
          <a:solidFill>
            <a:srgbClr val="0E5C3A"/>
          </a:solidFill>
          <a:ln w="12700">
            <a:solidFill>
              <a:srgbClr val="0E5C3A"/>
            </a:solidFill>
            <a:prstDash val="solid"/>
          </a:ln>
        </p:spPr>
      </p:sp>
      <p:pic>
        <p:nvPicPr>
          <p:cNvPr id="28" name="Image 3" descr="/home/user/Fresh-Vision/presentation/assets/icons/LuEye.png">    </p:cNvPr>
          <p:cNvPicPr>
            <a:picLocks noChangeAspect="1"/>
          </p:cNvPicPr>
          <p:nvPr/>
        </p:nvPicPr>
        <p:blipFill>
          <a:blip r:embed="rId4"/>
          <a:stretch>
            <a:fillRect/>
          </a:stretch>
        </p:blipFill>
        <p:spPr>
          <a:xfrm>
            <a:off x="945672" y="6240048"/>
            <a:ext cx="193487" cy="193487"/>
          </a:xfrm>
          <a:prstGeom prst="rect">
            <a:avLst/>
          </a:prstGeom>
        </p:spPr>
      </p:pic>
      <p:sp>
        <p:nvSpPr>
          <p:cNvPr id="29" name="Text 23"/>
          <p:cNvSpPr txBox="1"/>
          <p:nvPr/>
        </p:nvSpPr>
        <p:spPr>
          <a:xfrm>
            <a:off x="1380744" y="5980176"/>
            <a:ext cx="7827264" cy="731520"/>
          </a:xfrm>
          <a:prstGeom prst="rect">
            <a:avLst/>
          </a:prstGeom>
          <a:noFill/>
          <a:ln/>
        </p:spPr>
        <p:txBody>
          <a:bodyPr wrap="square" lIns="0" tIns="0" rIns="0" bIns="0" rtlCol="0" anchor="ctr"/>
          <a:lstStyle/>
          <a:p>
            <a:pPr indent="0" marL="0">
              <a:lnSpc>
                <a:spcPts val="1800"/>
              </a:lnSpc>
              <a:buNone/>
            </a:pPr>
            <a:r>
              <a:rPr lang="en-US" sz="1250" b="1" dirty="0">
                <a:solidFill>
                  <a:srgbClr val="0E5C3A"/>
                </a:solidFill>
                <a:latin typeface="Arial" pitchFamily="34" charset="0"/>
                <a:ea typeface="Arial" pitchFamily="34" charset="-122"/>
                <a:cs typeface="Arial" pitchFamily="34" charset="-120"/>
              </a:rPr>
              <a:t>Deliverable:  </a:t>
            </a:r>
            <a:pPr indent="0" marL="0">
              <a:lnSpc>
                <a:spcPts val="1800"/>
              </a:lnSpc>
              <a:buNone/>
            </a:pPr>
            <a:r>
              <a:rPr lang="en-US" sz="1250" dirty="0">
                <a:solidFill>
                  <a:srgbClr val="3C4C43"/>
                </a:solidFill>
                <a:latin typeface="Arial" pitchFamily="34" charset="0"/>
                <a:ea typeface="Arial" pitchFamily="34" charset="-122"/>
                <a:cs typeface="Arial" pitchFamily="34" charset="-120"/>
              </a:rPr>
              <a:t>a browser-accessible tool whose verdict can be audited — every confidence score the pipeline used is shown, not just the final label.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06</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02</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Objectives of the work</a:t>
            </a:r>
            <a:endParaRPr lang="en-US" sz="2700" dirty="0"/>
          </a:p>
        </p:txBody>
      </p:sp>
      <p:sp>
        <p:nvSpPr>
          <p:cNvPr id="6" name="Shape 4"/>
          <p:cNvSpPr/>
          <p:nvPr/>
        </p:nvSpPr>
        <p:spPr>
          <a:xfrm>
            <a:off x="594360" y="1572768"/>
            <a:ext cx="4261104" cy="1554480"/>
          </a:xfrm>
          <a:prstGeom prst="roundRect">
            <a:avLst>
              <a:gd name="adj" fmla="val 529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7" name="Shape 5"/>
          <p:cNvSpPr/>
          <p:nvPr/>
        </p:nvSpPr>
        <p:spPr>
          <a:xfrm>
            <a:off x="868680" y="1847088"/>
            <a:ext cx="493776" cy="493776"/>
          </a:xfrm>
          <a:prstGeom prst="ellipse">
            <a:avLst/>
          </a:prstGeom>
          <a:solidFill>
            <a:srgbClr val="0E5C3A"/>
          </a:solidFill>
          <a:ln w="12700">
            <a:solidFill>
              <a:srgbClr val="0E5C3A"/>
            </a:solidFill>
            <a:prstDash val="solid"/>
          </a:ln>
        </p:spPr>
      </p:sp>
      <p:pic>
        <p:nvPicPr>
          <p:cNvPr id="8" name="Image 0" descr="/home/user/Fresh-Vision/presentation/assets/icons/LuScanEye.png">    </p:cNvPr>
          <p:cNvPicPr>
            <a:picLocks noChangeAspect="1"/>
          </p:cNvPicPr>
          <p:nvPr/>
        </p:nvPicPr>
        <p:blipFill>
          <a:blip r:embed="rId1"/>
          <a:stretch>
            <a:fillRect/>
          </a:stretch>
        </p:blipFill>
        <p:spPr>
          <a:xfrm>
            <a:off x="1002000" y="1980408"/>
            <a:ext cx="227137" cy="227137"/>
          </a:xfrm>
          <a:prstGeom prst="rect">
            <a:avLst/>
          </a:prstGeom>
        </p:spPr>
      </p:pic>
      <p:sp>
        <p:nvSpPr>
          <p:cNvPr id="9" name="Text 6"/>
          <p:cNvSpPr txBox="1"/>
          <p:nvPr/>
        </p:nvSpPr>
        <p:spPr>
          <a:xfrm>
            <a:off x="4069080" y="1810512"/>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01</a:t>
            </a:r>
            <a:endParaRPr lang="en-US" sz="1200" dirty="0"/>
          </a:p>
        </p:txBody>
      </p:sp>
      <p:sp>
        <p:nvSpPr>
          <p:cNvPr id="10" name="Text 7"/>
          <p:cNvSpPr txBox="1"/>
          <p:nvPr/>
        </p:nvSpPr>
        <p:spPr>
          <a:xfrm>
            <a:off x="1490472" y="1883664"/>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Identify produce</a:t>
            </a:r>
            <a:endParaRPr lang="en-US" sz="1600" dirty="0"/>
          </a:p>
        </p:txBody>
      </p:sp>
      <p:sp>
        <p:nvSpPr>
          <p:cNvPr id="11" name="Text 8"/>
          <p:cNvSpPr txBox="1"/>
          <p:nvPr/>
        </p:nvSpPr>
        <p:spPr>
          <a:xfrm>
            <a:off x="886968" y="2450592"/>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Classify a photo into one of 14 fruit and vegetable categories by transfer learning.</a:t>
            </a:r>
            <a:endParaRPr lang="en-US" sz="1250" dirty="0"/>
          </a:p>
        </p:txBody>
      </p:sp>
      <p:sp>
        <p:nvSpPr>
          <p:cNvPr id="12" name="Shape 9"/>
          <p:cNvSpPr/>
          <p:nvPr/>
        </p:nvSpPr>
        <p:spPr>
          <a:xfrm>
            <a:off x="5221224" y="1572768"/>
            <a:ext cx="4261104" cy="1554480"/>
          </a:xfrm>
          <a:prstGeom prst="roundRect">
            <a:avLst>
              <a:gd name="adj" fmla="val 529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3" name="Shape 10"/>
          <p:cNvSpPr/>
          <p:nvPr/>
        </p:nvSpPr>
        <p:spPr>
          <a:xfrm>
            <a:off x="5495544" y="1847088"/>
            <a:ext cx="493776" cy="493776"/>
          </a:xfrm>
          <a:prstGeom prst="ellipse">
            <a:avLst/>
          </a:prstGeom>
          <a:solidFill>
            <a:srgbClr val="1C9A63"/>
          </a:solidFill>
          <a:ln w="12700">
            <a:solidFill>
              <a:srgbClr val="1C9A63"/>
            </a:solidFill>
            <a:prstDash val="solid"/>
          </a:ln>
        </p:spPr>
      </p:sp>
      <p:pic>
        <p:nvPicPr>
          <p:cNvPr id="14" name="Image 1" descr="/home/user/Fresh-Vision/presentation/assets/icons/LuGauge.png">    </p:cNvPr>
          <p:cNvPicPr>
            <a:picLocks noChangeAspect="1"/>
          </p:cNvPicPr>
          <p:nvPr/>
        </p:nvPicPr>
        <p:blipFill>
          <a:blip r:embed="rId2"/>
          <a:stretch>
            <a:fillRect/>
          </a:stretch>
        </p:blipFill>
        <p:spPr>
          <a:xfrm>
            <a:off x="5628864" y="1980408"/>
            <a:ext cx="227137" cy="227137"/>
          </a:xfrm>
          <a:prstGeom prst="rect">
            <a:avLst/>
          </a:prstGeom>
        </p:spPr>
      </p:pic>
      <p:sp>
        <p:nvSpPr>
          <p:cNvPr id="15" name="Text 11"/>
          <p:cNvSpPr txBox="1"/>
          <p:nvPr/>
        </p:nvSpPr>
        <p:spPr>
          <a:xfrm>
            <a:off x="8695944" y="1810512"/>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02</a:t>
            </a:r>
            <a:endParaRPr lang="en-US" sz="1200" dirty="0"/>
          </a:p>
        </p:txBody>
      </p:sp>
      <p:sp>
        <p:nvSpPr>
          <p:cNvPr id="16" name="Text 12"/>
          <p:cNvSpPr txBox="1"/>
          <p:nvPr/>
        </p:nvSpPr>
        <p:spPr>
          <a:xfrm>
            <a:off x="6117336" y="1883664"/>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Grade freshness</a:t>
            </a:r>
            <a:endParaRPr lang="en-US" sz="1600" dirty="0"/>
          </a:p>
        </p:txBody>
      </p:sp>
      <p:sp>
        <p:nvSpPr>
          <p:cNvPr id="17" name="Text 13"/>
          <p:cNvSpPr txBox="1"/>
          <p:nvPr/>
        </p:nvSpPr>
        <p:spPr>
          <a:xfrm>
            <a:off x="5513832" y="2450592"/>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Predict five decay levels: very fresh, fresh, slightly rotten, rotten, very rotten.</a:t>
            </a:r>
            <a:endParaRPr lang="en-US" sz="1250" dirty="0"/>
          </a:p>
        </p:txBody>
      </p:sp>
      <p:sp>
        <p:nvSpPr>
          <p:cNvPr id="18" name="Shape 14"/>
          <p:cNvSpPr/>
          <p:nvPr/>
        </p:nvSpPr>
        <p:spPr>
          <a:xfrm>
            <a:off x="594360" y="3328416"/>
            <a:ext cx="4261104" cy="1554480"/>
          </a:xfrm>
          <a:prstGeom prst="roundRect">
            <a:avLst>
              <a:gd name="adj" fmla="val 5294"/>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9" name="Shape 15"/>
          <p:cNvSpPr/>
          <p:nvPr/>
        </p:nvSpPr>
        <p:spPr>
          <a:xfrm>
            <a:off x="868680" y="3602736"/>
            <a:ext cx="493776" cy="493776"/>
          </a:xfrm>
          <a:prstGeom prst="ellipse">
            <a:avLst/>
          </a:prstGeom>
          <a:solidFill>
            <a:srgbClr val="C9871B"/>
          </a:solidFill>
          <a:ln w="12700">
            <a:solidFill>
              <a:srgbClr val="C9871B"/>
            </a:solidFill>
            <a:prstDash val="solid"/>
          </a:ln>
        </p:spPr>
      </p:sp>
      <p:pic>
        <p:nvPicPr>
          <p:cNvPr id="20" name="Image 2" descr="/home/user/Fresh-Vision/presentation/assets/icons/LuTags.png">    </p:cNvPr>
          <p:cNvPicPr>
            <a:picLocks noChangeAspect="1"/>
          </p:cNvPicPr>
          <p:nvPr/>
        </p:nvPicPr>
        <p:blipFill>
          <a:blip r:embed="rId3"/>
          <a:stretch>
            <a:fillRect/>
          </a:stretch>
        </p:blipFill>
        <p:spPr>
          <a:xfrm>
            <a:off x="1002000" y="3736056"/>
            <a:ext cx="227137" cy="227137"/>
          </a:xfrm>
          <a:prstGeom prst="rect">
            <a:avLst/>
          </a:prstGeom>
        </p:spPr>
      </p:pic>
      <p:sp>
        <p:nvSpPr>
          <p:cNvPr id="21" name="Text 16"/>
          <p:cNvSpPr txBox="1"/>
          <p:nvPr/>
        </p:nvSpPr>
        <p:spPr>
          <a:xfrm>
            <a:off x="4069080" y="3566160"/>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03</a:t>
            </a:r>
            <a:endParaRPr lang="en-US" sz="1200" dirty="0"/>
          </a:p>
        </p:txBody>
      </p:sp>
      <p:sp>
        <p:nvSpPr>
          <p:cNvPr id="22" name="Text 17"/>
          <p:cNvSpPr txBox="1"/>
          <p:nvPr/>
        </p:nvSpPr>
        <p:spPr>
          <a:xfrm>
            <a:off x="1490472" y="3639312"/>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Create fine labels</a:t>
            </a:r>
            <a:endParaRPr lang="en-US" sz="1600" dirty="0"/>
          </a:p>
        </p:txBody>
      </p:sp>
      <p:sp>
        <p:nvSpPr>
          <p:cNvPr id="23" name="Text 18"/>
          <p:cNvSpPr txBox="1"/>
          <p:nvPr/>
        </p:nvSpPr>
        <p:spPr>
          <a:xfrm>
            <a:off x="886968" y="4206240"/>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Derive those five levels from binary fresh/rotten data, with no manual annotation.</a:t>
            </a:r>
            <a:endParaRPr lang="en-US" sz="1250" dirty="0"/>
          </a:p>
        </p:txBody>
      </p:sp>
      <p:sp>
        <p:nvSpPr>
          <p:cNvPr id="24" name="Shape 19"/>
          <p:cNvSpPr/>
          <p:nvPr/>
        </p:nvSpPr>
        <p:spPr>
          <a:xfrm>
            <a:off x="5221224" y="3328416"/>
            <a:ext cx="4261104" cy="1554480"/>
          </a:xfrm>
          <a:prstGeom prst="roundRect">
            <a:avLst>
              <a:gd name="adj" fmla="val 5294"/>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5" name="Shape 20"/>
          <p:cNvSpPr/>
          <p:nvPr/>
        </p:nvSpPr>
        <p:spPr>
          <a:xfrm>
            <a:off x="5495544" y="3602736"/>
            <a:ext cx="493776" cy="493776"/>
          </a:xfrm>
          <a:prstGeom prst="ellipse">
            <a:avLst/>
          </a:prstGeom>
          <a:solidFill>
            <a:srgbClr val="0E5C3A"/>
          </a:solidFill>
          <a:ln w="12700">
            <a:solidFill>
              <a:srgbClr val="0E5C3A"/>
            </a:solidFill>
            <a:prstDash val="solid"/>
          </a:ln>
        </p:spPr>
      </p:sp>
      <p:pic>
        <p:nvPicPr>
          <p:cNvPr id="26" name="Image 3" descr="/home/user/Fresh-Vision/presentation/assets/icons/LuShieldCheck.png">    </p:cNvPr>
          <p:cNvPicPr>
            <a:picLocks noChangeAspect="1"/>
          </p:cNvPicPr>
          <p:nvPr/>
        </p:nvPicPr>
        <p:blipFill>
          <a:blip r:embed="rId4"/>
          <a:stretch>
            <a:fillRect/>
          </a:stretch>
        </p:blipFill>
        <p:spPr>
          <a:xfrm>
            <a:off x="5628864" y="3736056"/>
            <a:ext cx="227137" cy="227137"/>
          </a:xfrm>
          <a:prstGeom prst="rect">
            <a:avLst/>
          </a:prstGeom>
        </p:spPr>
      </p:pic>
      <p:sp>
        <p:nvSpPr>
          <p:cNvPr id="27" name="Text 21"/>
          <p:cNvSpPr txBox="1"/>
          <p:nvPr/>
        </p:nvSpPr>
        <p:spPr>
          <a:xfrm>
            <a:off x="8695944" y="3566160"/>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04</a:t>
            </a:r>
            <a:endParaRPr lang="en-US" sz="1200" dirty="0"/>
          </a:p>
        </p:txBody>
      </p:sp>
      <p:sp>
        <p:nvSpPr>
          <p:cNvPr id="28" name="Text 22"/>
          <p:cNvSpPr txBox="1"/>
          <p:nvPr/>
        </p:nvSpPr>
        <p:spPr>
          <a:xfrm>
            <a:off x="6117336" y="3639312"/>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Reject bad input</a:t>
            </a:r>
            <a:endParaRPr lang="en-US" sz="1600" dirty="0"/>
          </a:p>
        </p:txBody>
      </p:sp>
      <p:sp>
        <p:nvSpPr>
          <p:cNvPr id="29" name="Text 23"/>
          <p:cNvSpPr txBox="1"/>
          <p:nvPr/>
        </p:nvSpPr>
        <p:spPr>
          <a:xfrm>
            <a:off x="5513832" y="4206240"/>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Use an ImageNet gatekeeper so non-produce photos are refused, not misclassified.</a:t>
            </a:r>
            <a:endParaRPr lang="en-US" sz="1250" dirty="0"/>
          </a:p>
        </p:txBody>
      </p:sp>
      <p:sp>
        <p:nvSpPr>
          <p:cNvPr id="30" name="Shape 24"/>
          <p:cNvSpPr/>
          <p:nvPr/>
        </p:nvSpPr>
        <p:spPr>
          <a:xfrm>
            <a:off x="594360" y="5084064"/>
            <a:ext cx="4261104" cy="1554480"/>
          </a:xfrm>
          <a:prstGeom prst="roundRect">
            <a:avLst>
              <a:gd name="adj" fmla="val 529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1" name="Shape 25"/>
          <p:cNvSpPr/>
          <p:nvPr/>
        </p:nvSpPr>
        <p:spPr>
          <a:xfrm>
            <a:off x="868680" y="5358384"/>
            <a:ext cx="493776" cy="493776"/>
          </a:xfrm>
          <a:prstGeom prst="ellipse">
            <a:avLst/>
          </a:prstGeom>
          <a:solidFill>
            <a:srgbClr val="1C9A63"/>
          </a:solidFill>
          <a:ln w="12700">
            <a:solidFill>
              <a:srgbClr val="1C9A63"/>
            </a:solidFill>
            <a:prstDash val="solid"/>
          </a:ln>
        </p:spPr>
      </p:sp>
      <p:pic>
        <p:nvPicPr>
          <p:cNvPr id="32" name="Image 4" descr="/home/user/Fresh-Vision/presentation/assets/icons/LuEye.png">    </p:cNvPr>
          <p:cNvPicPr>
            <a:picLocks noChangeAspect="1"/>
          </p:cNvPicPr>
          <p:nvPr/>
        </p:nvPicPr>
        <p:blipFill>
          <a:blip r:embed="rId5"/>
          <a:stretch>
            <a:fillRect/>
          </a:stretch>
        </p:blipFill>
        <p:spPr>
          <a:xfrm>
            <a:off x="1002000" y="5491704"/>
            <a:ext cx="227137" cy="227137"/>
          </a:xfrm>
          <a:prstGeom prst="rect">
            <a:avLst/>
          </a:prstGeom>
        </p:spPr>
      </p:pic>
      <p:sp>
        <p:nvSpPr>
          <p:cNvPr id="33" name="Text 26"/>
          <p:cNvSpPr txBox="1"/>
          <p:nvPr/>
        </p:nvSpPr>
        <p:spPr>
          <a:xfrm>
            <a:off x="4069080" y="5321808"/>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05</a:t>
            </a:r>
            <a:endParaRPr lang="en-US" sz="1200" dirty="0"/>
          </a:p>
        </p:txBody>
      </p:sp>
      <p:sp>
        <p:nvSpPr>
          <p:cNvPr id="34" name="Text 27"/>
          <p:cNvSpPr txBox="1"/>
          <p:nvPr/>
        </p:nvSpPr>
        <p:spPr>
          <a:xfrm>
            <a:off x="1490472" y="5394960"/>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Stay explainable</a:t>
            </a:r>
            <a:endParaRPr lang="en-US" sz="1600" dirty="0"/>
          </a:p>
        </p:txBody>
      </p:sp>
      <p:sp>
        <p:nvSpPr>
          <p:cNvPr id="35" name="Text 28"/>
          <p:cNvSpPr txBox="1"/>
          <p:nvPr/>
        </p:nvSpPr>
        <p:spPr>
          <a:xfrm>
            <a:off x="886968" y="5961888"/>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Surface top-3 identity scores, the full freshness distribution, shelf life and latency.</a:t>
            </a:r>
            <a:endParaRPr lang="en-US" sz="1250" dirty="0"/>
          </a:p>
        </p:txBody>
      </p:sp>
      <p:sp>
        <p:nvSpPr>
          <p:cNvPr id="36" name="Shape 29"/>
          <p:cNvSpPr/>
          <p:nvPr/>
        </p:nvSpPr>
        <p:spPr>
          <a:xfrm>
            <a:off x="5221224" y="5084064"/>
            <a:ext cx="4261104" cy="1554480"/>
          </a:xfrm>
          <a:prstGeom prst="roundRect">
            <a:avLst>
              <a:gd name="adj" fmla="val 529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7" name="Shape 30"/>
          <p:cNvSpPr/>
          <p:nvPr/>
        </p:nvSpPr>
        <p:spPr>
          <a:xfrm>
            <a:off x="5495544" y="5358384"/>
            <a:ext cx="493776" cy="493776"/>
          </a:xfrm>
          <a:prstGeom prst="ellipse">
            <a:avLst/>
          </a:prstGeom>
          <a:solidFill>
            <a:srgbClr val="C9871B"/>
          </a:solidFill>
          <a:ln w="12700">
            <a:solidFill>
              <a:srgbClr val="C9871B"/>
            </a:solidFill>
            <a:prstDash val="solid"/>
          </a:ln>
        </p:spPr>
      </p:sp>
      <p:pic>
        <p:nvPicPr>
          <p:cNvPr id="38" name="Image 5" descr="/home/user/Fresh-Vision/presentation/assets/icons/LuServer.png">    </p:cNvPr>
          <p:cNvPicPr>
            <a:picLocks noChangeAspect="1"/>
          </p:cNvPicPr>
          <p:nvPr/>
        </p:nvPicPr>
        <p:blipFill>
          <a:blip r:embed="rId6"/>
          <a:stretch>
            <a:fillRect/>
          </a:stretch>
        </p:blipFill>
        <p:spPr>
          <a:xfrm>
            <a:off x="5628864" y="5491704"/>
            <a:ext cx="227137" cy="227137"/>
          </a:xfrm>
          <a:prstGeom prst="rect">
            <a:avLst/>
          </a:prstGeom>
        </p:spPr>
      </p:pic>
      <p:sp>
        <p:nvSpPr>
          <p:cNvPr id="39" name="Text 31"/>
          <p:cNvSpPr txBox="1"/>
          <p:nvPr/>
        </p:nvSpPr>
        <p:spPr>
          <a:xfrm>
            <a:off x="8695944" y="5321808"/>
            <a:ext cx="548640" cy="274320"/>
          </a:xfrm>
          <a:prstGeom prst="rect">
            <a:avLst/>
          </a:prstGeom>
          <a:noFill/>
          <a:ln/>
        </p:spPr>
        <p:txBody>
          <a:bodyPr wrap="square" lIns="0" tIns="0" rIns="0" bIns="0" rtlCol="0" anchor="ctr"/>
          <a:lstStyle/>
          <a:p>
            <a:pPr algn="r" indent="0" marL="0">
              <a:buNone/>
            </a:pPr>
            <a:r>
              <a:rPr lang="en-US" sz="1200" b="1" dirty="0">
                <a:solidFill>
                  <a:srgbClr val="DCE7E1"/>
                </a:solidFill>
                <a:latin typeface="Arial" pitchFamily="34" charset="0"/>
                <a:ea typeface="Arial" pitchFamily="34" charset="-122"/>
                <a:cs typeface="Arial" pitchFamily="34" charset="-120"/>
              </a:rPr>
              <a:t>06</a:t>
            </a:r>
            <a:endParaRPr lang="en-US" sz="1200" dirty="0"/>
          </a:p>
        </p:txBody>
      </p:sp>
      <p:sp>
        <p:nvSpPr>
          <p:cNvPr id="40" name="Text 32"/>
          <p:cNvSpPr txBox="1"/>
          <p:nvPr/>
        </p:nvSpPr>
        <p:spPr>
          <a:xfrm>
            <a:off x="6117336" y="5394960"/>
            <a:ext cx="2523744" cy="329184"/>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Deploy end-to-end</a:t>
            </a:r>
            <a:endParaRPr lang="en-US" sz="1600" dirty="0"/>
          </a:p>
        </p:txBody>
      </p:sp>
      <p:sp>
        <p:nvSpPr>
          <p:cNvPr id="41" name="Text 33"/>
          <p:cNvSpPr txBox="1"/>
          <p:nvPr/>
        </p:nvSpPr>
        <p:spPr>
          <a:xfrm>
            <a:off x="5513832" y="5961888"/>
            <a:ext cx="3675888" cy="566928"/>
          </a:xfrm>
          <a:prstGeom prst="rect">
            <a:avLst/>
          </a:prstGeom>
          <a:noFill/>
          <a:ln/>
        </p:spPr>
        <p:txBody>
          <a:bodyPr wrap="square" lIns="0" tIns="0" rIns="0" bIns="0" rtlCol="0" anchor="ctr"/>
          <a:lstStyle/>
          <a:p>
            <a:pPr indent="0" marL="0">
              <a:lnSpc>
                <a:spcPts val="1700"/>
              </a:lnSpc>
              <a:buNone/>
            </a:pPr>
            <a:r>
              <a:rPr lang="en-US" sz="1250" dirty="0">
                <a:solidFill>
                  <a:srgbClr val="6A7B71"/>
                </a:solidFill>
                <a:latin typeface="Arial" pitchFamily="34" charset="0"/>
                <a:ea typeface="Arial" pitchFamily="34" charset="-122"/>
                <a:cs typeface="Arial" pitchFamily="34" charset="-120"/>
              </a:rPr>
              <a:t>Serve the pipeline as a REST API behind a responsive single-page web application.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2103120"/>
            <a:ext cx="2743200" cy="1554480"/>
          </a:xfrm>
          <a:prstGeom prst="rect">
            <a:avLst/>
          </a:prstGeom>
          <a:noFill/>
          <a:ln/>
        </p:spPr>
        <p:txBody>
          <a:bodyPr wrap="square" lIns="0" tIns="0" rIns="0" bIns="0" rtlCol="0" anchor="ctr"/>
          <a:lstStyle/>
          <a:p>
            <a:pPr indent="0" marL="0">
              <a:buNone/>
            </a:pPr>
            <a:r>
              <a:rPr lang="en-US" sz="10800" b="1" dirty="0">
                <a:solidFill>
                  <a:srgbClr val="27604A"/>
                </a:solidFill>
                <a:latin typeface="Arial" pitchFamily="34" charset="0"/>
                <a:ea typeface="Arial" pitchFamily="34" charset="-122"/>
                <a:cs typeface="Arial" pitchFamily="34" charset="-120"/>
              </a:rPr>
              <a:t>03</a:t>
            </a:r>
            <a:endParaRPr lang="en-US" sz="10800" dirty="0"/>
          </a:p>
        </p:txBody>
      </p:sp>
      <p:sp>
        <p:nvSpPr>
          <p:cNvPr id="3" name="Text 1"/>
          <p:cNvSpPr txBox="1"/>
          <p:nvPr/>
        </p:nvSpPr>
        <p:spPr>
          <a:xfrm>
            <a:off x="667512" y="3675888"/>
            <a:ext cx="2743200" cy="274320"/>
          </a:xfrm>
          <a:prstGeom prst="rect">
            <a:avLst/>
          </a:prstGeom>
          <a:noFill/>
          <a:ln/>
        </p:spPr>
        <p:txBody>
          <a:bodyPr wrap="square" lIns="0" tIns="0" rIns="0" bIns="0" rtlCol="0" anchor="ctr"/>
          <a:lstStyle/>
          <a:p>
            <a:pPr indent="0" marL="0">
              <a:buNone/>
            </a:pPr>
            <a:r>
              <a:rPr lang="en-US" sz="1050" b="1" spc="240" kern="0" dirty="0">
                <a:solidFill>
                  <a:srgbClr val="7FD1A6"/>
                </a:solidFill>
                <a:latin typeface="Arial" pitchFamily="34" charset="0"/>
                <a:ea typeface="Arial" pitchFamily="34" charset="-122"/>
                <a:cs typeface="Arial" pitchFamily="34" charset="-120"/>
              </a:rPr>
              <a:t>SECTION</a:t>
            </a:r>
            <a:endParaRPr lang="en-US" sz="1050" dirty="0"/>
          </a:p>
        </p:txBody>
      </p:sp>
      <p:sp>
        <p:nvSpPr>
          <p:cNvPr id="4" name="Text 2"/>
          <p:cNvSpPr txBox="1"/>
          <p:nvPr/>
        </p:nvSpPr>
        <p:spPr>
          <a:xfrm>
            <a:off x="3337560" y="2651760"/>
            <a:ext cx="6144768"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Methodology</a:t>
            </a:r>
            <a:endParaRPr lang="en-US" sz="3400" dirty="0"/>
          </a:p>
        </p:txBody>
      </p:sp>
      <p:sp>
        <p:nvSpPr>
          <p:cNvPr id="5" name="Text 3"/>
          <p:cNvSpPr txBox="1"/>
          <p:nvPr/>
        </p:nvSpPr>
        <p:spPr>
          <a:xfrm>
            <a:off x="3383280" y="3328416"/>
            <a:ext cx="6099048" cy="365760"/>
          </a:xfrm>
          <a:prstGeom prst="rect">
            <a:avLst/>
          </a:prstGeom>
          <a:noFill/>
          <a:ln/>
        </p:spPr>
        <p:txBody>
          <a:bodyPr wrap="square" lIns="0" tIns="0" rIns="0" bIns="0" rtlCol="0" anchor="ctr"/>
          <a:lstStyle/>
          <a:p>
            <a:pPr indent="0" marL="0">
              <a:lnSpc>
                <a:spcPts val="2000"/>
              </a:lnSpc>
              <a:buNone/>
            </a:pPr>
            <a:r>
              <a:rPr lang="en-US" sz="1400" dirty="0">
                <a:solidFill>
                  <a:srgbClr val="A6BCAF"/>
                </a:solidFill>
                <a:latin typeface="Arial" pitchFamily="34" charset="0"/>
                <a:ea typeface="Arial" pitchFamily="34" charset="-122"/>
                <a:cs typeface="Arial" pitchFamily="34" charset="-120"/>
              </a:rPr>
              <a:t>How the data, the labels, the models and the deployment were built.</a:t>
            </a:r>
            <a:endParaRPr lang="en-US" sz="1400" dirty="0"/>
          </a:p>
        </p:txBody>
      </p:sp>
      <p:sp>
        <p:nvSpPr>
          <p:cNvPr id="6" name="Text 4"/>
          <p:cNvSpPr txBox="1"/>
          <p:nvPr/>
        </p:nvSpPr>
        <p:spPr>
          <a:xfrm>
            <a:off x="3383280" y="4114800"/>
            <a:ext cx="1341882"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Architecture</a:t>
            </a:r>
            <a:endParaRPr lang="en-US" sz="1200" dirty="0"/>
          </a:p>
        </p:txBody>
      </p:sp>
      <p:sp>
        <p:nvSpPr>
          <p:cNvPr id="7" name="Text 5"/>
          <p:cNvSpPr txBox="1"/>
          <p:nvPr/>
        </p:nvSpPr>
        <p:spPr>
          <a:xfrm>
            <a:off x="4908042" y="4114800"/>
            <a:ext cx="1341882"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Labelling</a:t>
            </a:r>
            <a:endParaRPr lang="en-US" sz="1200" dirty="0"/>
          </a:p>
        </p:txBody>
      </p:sp>
      <p:sp>
        <p:nvSpPr>
          <p:cNvPr id="8" name="Text 6"/>
          <p:cNvSpPr txBox="1"/>
          <p:nvPr/>
        </p:nvSpPr>
        <p:spPr>
          <a:xfrm>
            <a:off x="6432804" y="4114800"/>
            <a:ext cx="1341882"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Training</a:t>
            </a:r>
            <a:endParaRPr lang="en-US" sz="1200" dirty="0"/>
          </a:p>
        </p:txBody>
      </p:sp>
      <p:sp>
        <p:nvSpPr>
          <p:cNvPr id="9" name="Text 7"/>
          <p:cNvSpPr txBox="1"/>
          <p:nvPr/>
        </p:nvSpPr>
        <p:spPr>
          <a:xfrm>
            <a:off x="7957566" y="4114800"/>
            <a:ext cx="1341882"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Coverage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07</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03</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System architecture</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One image in, three models, one auditable verdict</a:t>
            </a:r>
            <a:endParaRPr lang="en-US" sz="1250" dirty="0"/>
          </a:p>
        </p:txBody>
      </p:sp>
      <p:sp>
        <p:nvSpPr>
          <p:cNvPr id="7" name="Shape 5"/>
          <p:cNvSpPr/>
          <p:nvPr/>
        </p:nvSpPr>
        <p:spPr>
          <a:xfrm>
            <a:off x="914400" y="1627632"/>
            <a:ext cx="3108960" cy="896112"/>
          </a:xfrm>
          <a:prstGeom prst="roundRect">
            <a:avLst>
              <a:gd name="adj" fmla="val 9184"/>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8" name="Shape 6"/>
          <p:cNvSpPr/>
          <p:nvPr/>
        </p:nvSpPr>
        <p:spPr>
          <a:xfrm>
            <a:off x="1097280" y="1810512"/>
            <a:ext cx="384048" cy="384048"/>
          </a:xfrm>
          <a:prstGeom prst="ellipse">
            <a:avLst/>
          </a:prstGeom>
          <a:solidFill>
            <a:srgbClr val="0E5C3A"/>
          </a:solidFill>
          <a:ln w="12700">
            <a:solidFill>
              <a:srgbClr val="0E5C3A"/>
            </a:solidFill>
            <a:prstDash val="solid"/>
          </a:ln>
        </p:spPr>
      </p:sp>
      <p:pic>
        <p:nvPicPr>
          <p:cNvPr id="9" name="Image 0" descr="/home/user/Fresh-Vision/presentation/assets/icons/LuImage.png">    </p:cNvPr>
          <p:cNvPicPr>
            <a:picLocks noChangeAspect="1"/>
          </p:cNvPicPr>
          <p:nvPr/>
        </p:nvPicPr>
        <p:blipFill>
          <a:blip r:embed="rId1"/>
          <a:stretch>
            <a:fillRect/>
          </a:stretch>
        </p:blipFill>
        <p:spPr>
          <a:xfrm>
            <a:off x="1200973" y="1914205"/>
            <a:ext cx="176662" cy="176662"/>
          </a:xfrm>
          <a:prstGeom prst="rect">
            <a:avLst/>
          </a:prstGeom>
        </p:spPr>
      </p:pic>
      <p:sp>
        <p:nvSpPr>
          <p:cNvPr id="10" name="Text 7"/>
          <p:cNvSpPr txBox="1"/>
          <p:nvPr/>
        </p:nvSpPr>
        <p:spPr>
          <a:xfrm>
            <a:off x="1572768" y="1737360"/>
            <a:ext cx="2286000" cy="694944"/>
          </a:xfrm>
          <a:prstGeom prst="rect">
            <a:avLst/>
          </a:prstGeom>
          <a:noFill/>
          <a:ln/>
        </p:spPr>
        <p:txBody>
          <a:bodyPr wrap="square" lIns="0" tIns="0" rIns="0" bIns="0" rtlCol="0" anchor="ctr"/>
          <a:lstStyle/>
          <a:p>
            <a:pPr indent="0" marL="0">
              <a:lnSpc>
                <a:spcPts val="1600"/>
              </a:lnSpc>
              <a:buNone/>
            </a:pPr>
            <a:r>
              <a:rPr lang="en-US" sz="1350" b="1" dirty="0">
                <a:solidFill>
                  <a:srgbClr val="10201A"/>
                </a:solidFill>
                <a:latin typeface="Arial" pitchFamily="34" charset="0"/>
                <a:ea typeface="Arial" pitchFamily="34" charset="-122"/>
                <a:cs typeface="Arial" pitchFamily="34" charset="-120"/>
              </a:rPr>
              <a:t>Input image</a:t>
            </a:r>
            <a:endParaRPr lang="en-US" sz="1350" dirty="0"/>
          </a:p>
          <a:p>
            <a:pPr indent="0" marL="0">
              <a:lnSpc>
                <a:spcPts val="1600"/>
              </a:lnSpc>
              <a:buNone/>
            </a:pPr>
            <a:r>
              <a:rPr lang="en-US" sz="1100" dirty="0">
                <a:solidFill>
                  <a:srgbClr val="6A7B71"/>
                </a:solidFill>
                <a:latin typeface="Arial" pitchFamily="34" charset="0"/>
                <a:ea typeface="Arial" pitchFamily="34" charset="-122"/>
                <a:cs typeface="Arial" pitchFamily="34" charset="-120"/>
              </a:rPr>
              <a:t>JPG / PNG / WEBP · max 10 MB</a:t>
            </a:r>
            <a:endParaRPr lang="en-US" sz="1350" dirty="0"/>
          </a:p>
        </p:txBody>
      </p:sp>
      <p:sp>
        <p:nvSpPr>
          <p:cNvPr id="11" name="Shape 8"/>
          <p:cNvSpPr/>
          <p:nvPr/>
        </p:nvSpPr>
        <p:spPr>
          <a:xfrm>
            <a:off x="4480560" y="1627632"/>
            <a:ext cx="3108960" cy="896112"/>
          </a:xfrm>
          <a:prstGeom prst="roundRect">
            <a:avLst>
              <a:gd name="adj" fmla="val 9184"/>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2" name="Shape 9"/>
          <p:cNvSpPr/>
          <p:nvPr/>
        </p:nvSpPr>
        <p:spPr>
          <a:xfrm>
            <a:off x="4663440" y="1810512"/>
            <a:ext cx="384048" cy="384048"/>
          </a:xfrm>
          <a:prstGeom prst="ellipse">
            <a:avLst/>
          </a:prstGeom>
          <a:solidFill>
            <a:srgbClr val="0E5C3A"/>
          </a:solidFill>
          <a:ln w="12700">
            <a:solidFill>
              <a:srgbClr val="0E5C3A"/>
            </a:solidFill>
            <a:prstDash val="solid"/>
          </a:ln>
        </p:spPr>
      </p:sp>
      <p:pic>
        <p:nvPicPr>
          <p:cNvPr id="13" name="Image 1" descr="/home/user/Fresh-Vision/presentation/assets/icons/LuFilter.png">    </p:cNvPr>
          <p:cNvPicPr>
            <a:picLocks noChangeAspect="1"/>
          </p:cNvPicPr>
          <p:nvPr/>
        </p:nvPicPr>
        <p:blipFill>
          <a:blip r:embed="rId2"/>
          <a:stretch>
            <a:fillRect/>
          </a:stretch>
        </p:blipFill>
        <p:spPr>
          <a:xfrm>
            <a:off x="4767133" y="1914205"/>
            <a:ext cx="176662" cy="176662"/>
          </a:xfrm>
          <a:prstGeom prst="rect">
            <a:avLst/>
          </a:prstGeom>
        </p:spPr>
      </p:pic>
      <p:sp>
        <p:nvSpPr>
          <p:cNvPr id="14" name="Text 10"/>
          <p:cNvSpPr txBox="1"/>
          <p:nvPr/>
        </p:nvSpPr>
        <p:spPr>
          <a:xfrm>
            <a:off x="5138928" y="1737360"/>
            <a:ext cx="2286000" cy="694944"/>
          </a:xfrm>
          <a:prstGeom prst="rect">
            <a:avLst/>
          </a:prstGeom>
          <a:noFill/>
          <a:ln/>
        </p:spPr>
        <p:txBody>
          <a:bodyPr wrap="square" lIns="0" tIns="0" rIns="0" bIns="0" rtlCol="0" anchor="ctr"/>
          <a:lstStyle/>
          <a:p>
            <a:pPr indent="0" marL="0">
              <a:lnSpc>
                <a:spcPts val="1600"/>
              </a:lnSpc>
              <a:buNone/>
            </a:pPr>
            <a:r>
              <a:rPr lang="en-US" sz="1350" b="1" dirty="0">
                <a:solidFill>
                  <a:srgbClr val="10201A"/>
                </a:solidFill>
                <a:latin typeface="Arial" pitchFamily="34" charset="0"/>
                <a:ea typeface="Arial" pitchFamily="34" charset="-122"/>
                <a:cs typeface="Arial" pitchFamily="34" charset="-120"/>
              </a:rPr>
              <a:t>Preprocess</a:t>
            </a:r>
            <a:endParaRPr lang="en-US" sz="1350" dirty="0"/>
          </a:p>
          <a:p>
            <a:pPr indent="0" marL="0">
              <a:lnSpc>
                <a:spcPts val="1600"/>
              </a:lnSpc>
              <a:buNone/>
            </a:pPr>
            <a:r>
              <a:rPr lang="en-US" sz="1100" dirty="0">
                <a:solidFill>
                  <a:srgbClr val="6A7B71"/>
                </a:solidFill>
                <a:latin typeface="Arial" pitchFamily="34" charset="0"/>
                <a:ea typeface="Arial" pitchFamily="34" charset="-122"/>
                <a:cs typeface="Arial" pitchFamily="34" charset="-120"/>
              </a:rPr>
              <a:t>Resize 224x224 · MobileNetV2 norm</a:t>
            </a:r>
            <a:endParaRPr lang="en-US" sz="1350" dirty="0"/>
          </a:p>
        </p:txBody>
      </p:sp>
      <p:sp>
        <p:nvSpPr>
          <p:cNvPr id="15" name="Shape 11"/>
          <p:cNvSpPr/>
          <p:nvPr/>
        </p:nvSpPr>
        <p:spPr>
          <a:xfrm>
            <a:off x="4114800" y="1947672"/>
            <a:ext cx="274320" cy="256032"/>
          </a:xfrm>
          <a:prstGeom prst="rightArrow">
            <a:avLst/>
          </a:prstGeom>
          <a:solidFill>
            <a:srgbClr val="1C9A63"/>
          </a:solidFill>
          <a:ln w="12700">
            <a:solidFill>
              <a:srgbClr val="1C9A63"/>
            </a:solidFill>
            <a:prstDash val="solid"/>
          </a:ln>
        </p:spPr>
      </p:sp>
      <p:sp>
        <p:nvSpPr>
          <p:cNvPr id="16" name="Shape 12"/>
          <p:cNvSpPr/>
          <p:nvPr/>
        </p:nvSpPr>
        <p:spPr>
          <a:xfrm>
            <a:off x="5897880" y="2596896"/>
            <a:ext cx="274320" cy="274320"/>
          </a:xfrm>
          <a:prstGeom prst="downArrow">
            <a:avLst/>
          </a:prstGeom>
          <a:solidFill>
            <a:srgbClr val="1C9A63"/>
          </a:solidFill>
          <a:ln w="12700">
            <a:solidFill>
              <a:srgbClr val="1C9A63"/>
            </a:solidFill>
            <a:prstDash val="solid"/>
          </a:ln>
        </p:spPr>
      </p:sp>
      <p:sp>
        <p:nvSpPr>
          <p:cNvPr id="17" name="Shape 13"/>
          <p:cNvSpPr/>
          <p:nvPr/>
        </p:nvSpPr>
        <p:spPr>
          <a:xfrm>
            <a:off x="594360" y="3054096"/>
            <a:ext cx="2779776" cy="2487168"/>
          </a:xfrm>
          <a:prstGeom prst="roundRect">
            <a:avLst>
              <a:gd name="adj" fmla="val 3309"/>
            </a:avLst>
          </a:prstGeom>
          <a:solidFill>
            <a:srgbClr val="FFFFFF"/>
          </a:solidFill>
          <a:ln w="15875">
            <a:solidFill>
              <a:srgbClr val="0E5C3A"/>
            </a:solidFill>
            <a:prstDash val="solid"/>
          </a:ln>
          <a:effectLst>
            <a:outerShdw sx="100000" sy="100000" kx="0" ky="0" algn="bl" rotWithShape="0" blurRad="127000" dist="25400" dir="5400000">
              <a:srgbClr val="0A1F16">
                <a:alpha val="10000"/>
              </a:srgbClr>
            </a:outerShdw>
          </a:effectLst>
        </p:spPr>
      </p:sp>
      <p:sp>
        <p:nvSpPr>
          <p:cNvPr id="18" name="Shape 14"/>
          <p:cNvSpPr/>
          <p:nvPr/>
        </p:nvSpPr>
        <p:spPr>
          <a:xfrm>
            <a:off x="832104" y="3291840"/>
            <a:ext cx="457200" cy="457200"/>
          </a:xfrm>
          <a:prstGeom prst="ellipse">
            <a:avLst/>
          </a:prstGeom>
          <a:solidFill>
            <a:srgbClr val="0E5C3A"/>
          </a:solidFill>
          <a:ln w="12700">
            <a:solidFill>
              <a:srgbClr val="0E5C3A"/>
            </a:solidFill>
            <a:prstDash val="solid"/>
          </a:ln>
        </p:spPr>
      </p:sp>
      <p:pic>
        <p:nvPicPr>
          <p:cNvPr id="19" name="Image 2" descr="/home/user/Fresh-Vision/presentation/assets/icons/LuShieldCheck.png">    </p:cNvPr>
          <p:cNvPicPr>
            <a:picLocks noChangeAspect="1"/>
          </p:cNvPicPr>
          <p:nvPr/>
        </p:nvPicPr>
        <p:blipFill>
          <a:blip r:embed="rId3"/>
          <a:stretch>
            <a:fillRect/>
          </a:stretch>
        </p:blipFill>
        <p:spPr>
          <a:xfrm>
            <a:off x="955548" y="3415284"/>
            <a:ext cx="210312" cy="210312"/>
          </a:xfrm>
          <a:prstGeom prst="rect">
            <a:avLst/>
          </a:prstGeom>
        </p:spPr>
      </p:pic>
      <p:sp>
        <p:nvSpPr>
          <p:cNvPr id="20" name="Text 15"/>
          <p:cNvSpPr txBox="1"/>
          <p:nvPr/>
        </p:nvSpPr>
        <p:spPr>
          <a:xfrm>
            <a:off x="1417320" y="3364992"/>
            <a:ext cx="1773936" cy="310896"/>
          </a:xfrm>
          <a:prstGeom prst="rect">
            <a:avLst/>
          </a:prstGeom>
          <a:noFill/>
          <a:ln/>
        </p:spPr>
        <p:txBody>
          <a:bodyPr wrap="square" lIns="0" tIns="0" rIns="0" bIns="0" rtlCol="0" anchor="ctr"/>
          <a:lstStyle/>
          <a:p>
            <a:pPr indent="0" marL="0">
              <a:buNone/>
            </a:pPr>
            <a:r>
              <a:rPr lang="en-US" sz="950" b="1" spc="160" kern="0" dirty="0">
                <a:solidFill>
                  <a:srgbClr val="0E5C3A"/>
                </a:solidFill>
                <a:latin typeface="Arial" pitchFamily="34" charset="0"/>
                <a:ea typeface="Arial" pitchFamily="34" charset="-122"/>
                <a:cs typeface="Arial" pitchFamily="34" charset="-120"/>
              </a:rPr>
              <a:t>MODEL 1</a:t>
            </a:r>
            <a:endParaRPr lang="en-US" sz="950" dirty="0"/>
          </a:p>
        </p:txBody>
      </p:sp>
      <p:sp>
        <p:nvSpPr>
          <p:cNvPr id="21" name="Text 16"/>
          <p:cNvSpPr txBox="1"/>
          <p:nvPr/>
        </p:nvSpPr>
        <p:spPr>
          <a:xfrm>
            <a:off x="850392" y="3840480"/>
            <a:ext cx="2267712" cy="310896"/>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Gatekeeper</a:t>
            </a:r>
            <a:endParaRPr lang="en-US" sz="1500" dirty="0"/>
          </a:p>
        </p:txBody>
      </p:sp>
      <p:sp>
        <p:nvSpPr>
          <p:cNvPr id="22" name="Text 17"/>
          <p:cNvSpPr txBox="1"/>
          <p:nvPr/>
        </p:nvSpPr>
        <p:spPr>
          <a:xfrm>
            <a:off x="850392" y="4206240"/>
            <a:ext cx="2267712" cy="96012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Pretrained MobileNetV2 (ImageNet). Scans its top-5 labels for food keywords and rejects non-produce photos.</a:t>
            </a:r>
            <a:endParaRPr lang="en-US" sz="1200" dirty="0"/>
          </a:p>
        </p:txBody>
      </p:sp>
      <p:sp>
        <p:nvSpPr>
          <p:cNvPr id="23" name="Text 18"/>
          <p:cNvSpPr txBox="1"/>
          <p:nvPr/>
        </p:nvSpPr>
        <p:spPr>
          <a:xfrm>
            <a:off x="850392" y="5193792"/>
            <a:ext cx="2267712" cy="274320"/>
          </a:xfrm>
          <a:prstGeom prst="rect">
            <a:avLst/>
          </a:prstGeom>
          <a:noFill/>
          <a:ln/>
        </p:spPr>
        <p:txBody>
          <a:bodyPr wrap="square" lIns="0" tIns="0" rIns="0" bIns="0" rtlCol="0" anchor="ctr"/>
          <a:lstStyle/>
          <a:p>
            <a:pPr indent="0" marL="0">
              <a:buNone/>
            </a:pPr>
            <a:r>
              <a:rPr lang="en-US" sz="1050" b="1" dirty="0">
                <a:solidFill>
                  <a:srgbClr val="0E5C3A"/>
                </a:solidFill>
                <a:latin typeface="Arial" pitchFamily="34" charset="0"/>
                <a:ea typeface="Arial" pitchFamily="34" charset="-122"/>
                <a:cs typeface="Arial" pitchFamily="34" charset="-120"/>
              </a:rPr>
              <a:t>Off-the-shelf · no training</a:t>
            </a:r>
            <a:endParaRPr lang="en-US" sz="1050" dirty="0"/>
          </a:p>
        </p:txBody>
      </p:sp>
      <p:sp>
        <p:nvSpPr>
          <p:cNvPr id="24" name="Shape 19"/>
          <p:cNvSpPr/>
          <p:nvPr/>
        </p:nvSpPr>
        <p:spPr>
          <a:xfrm>
            <a:off x="3648456" y="3054096"/>
            <a:ext cx="2779776" cy="2487168"/>
          </a:xfrm>
          <a:prstGeom prst="roundRect">
            <a:avLst>
              <a:gd name="adj" fmla="val 3309"/>
            </a:avLst>
          </a:prstGeom>
          <a:solidFill>
            <a:srgbClr val="FFFFFF"/>
          </a:solidFill>
          <a:ln w="15875">
            <a:solidFill>
              <a:srgbClr val="1C9A63"/>
            </a:solidFill>
            <a:prstDash val="solid"/>
          </a:ln>
          <a:effectLst>
            <a:outerShdw sx="100000" sy="100000" kx="0" ky="0" algn="bl" rotWithShape="0" blurRad="127000" dist="25400" dir="5400000">
              <a:srgbClr val="0A1F16">
                <a:alpha val="10000"/>
              </a:srgbClr>
            </a:outerShdw>
          </a:effectLst>
        </p:spPr>
      </p:sp>
      <p:sp>
        <p:nvSpPr>
          <p:cNvPr id="25" name="Shape 20"/>
          <p:cNvSpPr/>
          <p:nvPr/>
        </p:nvSpPr>
        <p:spPr>
          <a:xfrm>
            <a:off x="3886200" y="3291840"/>
            <a:ext cx="457200" cy="457200"/>
          </a:xfrm>
          <a:prstGeom prst="ellipse">
            <a:avLst/>
          </a:prstGeom>
          <a:solidFill>
            <a:srgbClr val="1C9A63"/>
          </a:solidFill>
          <a:ln w="12700">
            <a:solidFill>
              <a:srgbClr val="1C9A63"/>
            </a:solidFill>
            <a:prstDash val="solid"/>
          </a:ln>
        </p:spPr>
      </p:sp>
      <p:pic>
        <p:nvPicPr>
          <p:cNvPr id="26" name="Image 3" descr="/home/user/Fresh-Vision/presentation/assets/icons/LuScanEye.png">    </p:cNvPr>
          <p:cNvPicPr>
            <a:picLocks noChangeAspect="1"/>
          </p:cNvPicPr>
          <p:nvPr/>
        </p:nvPicPr>
        <p:blipFill>
          <a:blip r:embed="rId4"/>
          <a:stretch>
            <a:fillRect/>
          </a:stretch>
        </p:blipFill>
        <p:spPr>
          <a:xfrm>
            <a:off x="4009644" y="3415284"/>
            <a:ext cx="210312" cy="210312"/>
          </a:xfrm>
          <a:prstGeom prst="rect">
            <a:avLst/>
          </a:prstGeom>
        </p:spPr>
      </p:pic>
      <p:sp>
        <p:nvSpPr>
          <p:cNvPr id="27" name="Text 21"/>
          <p:cNvSpPr txBox="1"/>
          <p:nvPr/>
        </p:nvSpPr>
        <p:spPr>
          <a:xfrm>
            <a:off x="4471416" y="3364992"/>
            <a:ext cx="1773936" cy="310896"/>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MODEL 2</a:t>
            </a:r>
            <a:endParaRPr lang="en-US" sz="950" dirty="0"/>
          </a:p>
        </p:txBody>
      </p:sp>
      <p:sp>
        <p:nvSpPr>
          <p:cNvPr id="28" name="Text 22"/>
          <p:cNvSpPr txBox="1"/>
          <p:nvPr/>
        </p:nvSpPr>
        <p:spPr>
          <a:xfrm>
            <a:off x="3904488" y="3840480"/>
            <a:ext cx="2267712" cy="310896"/>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Produce identifier</a:t>
            </a:r>
            <a:endParaRPr lang="en-US" sz="1500" dirty="0"/>
          </a:p>
        </p:txBody>
      </p:sp>
      <p:sp>
        <p:nvSpPr>
          <p:cNvPr id="29" name="Text 23"/>
          <p:cNvSpPr txBox="1"/>
          <p:nvPr/>
        </p:nvSpPr>
        <p:spPr>
          <a:xfrm>
            <a:off x="3904488" y="4206240"/>
            <a:ext cx="2267712" cy="96012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MobileNetV2 backbone plus a custom head, trained on the unified dataset. Reports a top-3 breakdown.</a:t>
            </a:r>
            <a:endParaRPr lang="en-US" sz="1200" dirty="0"/>
          </a:p>
        </p:txBody>
      </p:sp>
      <p:sp>
        <p:nvSpPr>
          <p:cNvPr id="30" name="Text 24"/>
          <p:cNvSpPr txBox="1"/>
          <p:nvPr/>
        </p:nvSpPr>
        <p:spPr>
          <a:xfrm>
            <a:off x="3904488" y="5193792"/>
            <a:ext cx="2267712" cy="274320"/>
          </a:xfrm>
          <a:prstGeom prst="rect">
            <a:avLst/>
          </a:prstGeom>
          <a:noFill/>
          <a:ln/>
        </p:spPr>
        <p:txBody>
          <a:bodyPr wrap="square" lIns="0" tIns="0" rIns="0" bIns="0" rtlCol="0" anchor="ctr"/>
          <a:lstStyle/>
          <a:p>
            <a:pPr indent="0" marL="0">
              <a:buNone/>
            </a:pPr>
            <a:r>
              <a:rPr lang="en-US" sz="1050" b="1" dirty="0">
                <a:solidFill>
                  <a:srgbClr val="1C9A63"/>
                </a:solidFill>
                <a:latin typeface="Arial" pitchFamily="34" charset="0"/>
                <a:ea typeface="Arial" pitchFamily="34" charset="-122"/>
                <a:cs typeface="Arial" pitchFamily="34" charset="-120"/>
              </a:rPr>
              <a:t>Dense(14, softmax)</a:t>
            </a:r>
            <a:endParaRPr lang="en-US" sz="1050" dirty="0"/>
          </a:p>
        </p:txBody>
      </p:sp>
      <p:sp>
        <p:nvSpPr>
          <p:cNvPr id="31" name="Shape 25"/>
          <p:cNvSpPr/>
          <p:nvPr/>
        </p:nvSpPr>
        <p:spPr>
          <a:xfrm>
            <a:off x="6702552" y="3054096"/>
            <a:ext cx="2779776" cy="2487168"/>
          </a:xfrm>
          <a:prstGeom prst="roundRect">
            <a:avLst>
              <a:gd name="adj" fmla="val 3309"/>
            </a:avLst>
          </a:prstGeom>
          <a:solidFill>
            <a:srgbClr val="FFFFFF"/>
          </a:solidFill>
          <a:ln w="15875">
            <a:solidFill>
              <a:srgbClr val="C9871B"/>
            </a:solidFill>
            <a:prstDash val="solid"/>
          </a:ln>
          <a:effectLst>
            <a:outerShdw sx="100000" sy="100000" kx="0" ky="0" algn="bl" rotWithShape="0" blurRad="127000" dist="25400" dir="5400000">
              <a:srgbClr val="0A1F16">
                <a:alpha val="10000"/>
              </a:srgbClr>
            </a:outerShdw>
          </a:effectLst>
        </p:spPr>
      </p:sp>
      <p:sp>
        <p:nvSpPr>
          <p:cNvPr id="32" name="Shape 26"/>
          <p:cNvSpPr/>
          <p:nvPr/>
        </p:nvSpPr>
        <p:spPr>
          <a:xfrm>
            <a:off x="6940296" y="3291840"/>
            <a:ext cx="457200" cy="457200"/>
          </a:xfrm>
          <a:prstGeom prst="ellipse">
            <a:avLst/>
          </a:prstGeom>
          <a:solidFill>
            <a:srgbClr val="C9871B"/>
          </a:solidFill>
          <a:ln w="12700">
            <a:solidFill>
              <a:srgbClr val="C9871B"/>
            </a:solidFill>
            <a:prstDash val="solid"/>
          </a:ln>
        </p:spPr>
      </p:sp>
      <p:pic>
        <p:nvPicPr>
          <p:cNvPr id="33" name="Image 4" descr="/home/user/Fresh-Vision/presentation/assets/icons/LuGauge.png">    </p:cNvPr>
          <p:cNvPicPr>
            <a:picLocks noChangeAspect="1"/>
          </p:cNvPicPr>
          <p:nvPr/>
        </p:nvPicPr>
        <p:blipFill>
          <a:blip r:embed="rId5"/>
          <a:stretch>
            <a:fillRect/>
          </a:stretch>
        </p:blipFill>
        <p:spPr>
          <a:xfrm>
            <a:off x="7063740" y="3415284"/>
            <a:ext cx="210312" cy="210312"/>
          </a:xfrm>
          <a:prstGeom prst="rect">
            <a:avLst/>
          </a:prstGeom>
        </p:spPr>
      </p:pic>
      <p:sp>
        <p:nvSpPr>
          <p:cNvPr id="34" name="Text 27"/>
          <p:cNvSpPr txBox="1"/>
          <p:nvPr/>
        </p:nvSpPr>
        <p:spPr>
          <a:xfrm>
            <a:off x="7525512" y="3364992"/>
            <a:ext cx="1773936" cy="310896"/>
          </a:xfrm>
          <a:prstGeom prst="rect">
            <a:avLst/>
          </a:prstGeom>
          <a:noFill/>
          <a:ln/>
        </p:spPr>
        <p:txBody>
          <a:bodyPr wrap="square" lIns="0" tIns="0" rIns="0" bIns="0" rtlCol="0" anchor="ctr"/>
          <a:lstStyle/>
          <a:p>
            <a:pPr indent="0" marL="0">
              <a:buNone/>
            </a:pPr>
            <a:r>
              <a:rPr lang="en-US" sz="950" b="1" spc="160" kern="0" dirty="0">
                <a:solidFill>
                  <a:srgbClr val="C9871B"/>
                </a:solidFill>
                <a:latin typeface="Arial" pitchFamily="34" charset="0"/>
                <a:ea typeface="Arial" pitchFamily="34" charset="-122"/>
                <a:cs typeface="Arial" pitchFamily="34" charset="-120"/>
              </a:rPr>
              <a:t>MODEL 3</a:t>
            </a:r>
            <a:endParaRPr lang="en-US" sz="950" dirty="0"/>
          </a:p>
        </p:txBody>
      </p:sp>
      <p:sp>
        <p:nvSpPr>
          <p:cNvPr id="35" name="Text 28"/>
          <p:cNvSpPr txBox="1"/>
          <p:nvPr/>
        </p:nvSpPr>
        <p:spPr>
          <a:xfrm>
            <a:off x="6958584" y="3840480"/>
            <a:ext cx="2267712" cy="310896"/>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Freshness classifier</a:t>
            </a:r>
            <a:endParaRPr lang="en-US" sz="1500" dirty="0"/>
          </a:p>
        </p:txBody>
      </p:sp>
      <p:sp>
        <p:nvSpPr>
          <p:cNvPr id="36" name="Text 29"/>
          <p:cNvSpPr txBox="1"/>
          <p:nvPr/>
        </p:nvSpPr>
        <p:spPr>
          <a:xfrm>
            <a:off x="6958584" y="4206240"/>
            <a:ext cx="2267712" cy="96012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The same backbone trained on pseudo-labelled data, then calibrated at inference time.</a:t>
            </a:r>
            <a:endParaRPr lang="en-US" sz="1200" dirty="0"/>
          </a:p>
        </p:txBody>
      </p:sp>
      <p:sp>
        <p:nvSpPr>
          <p:cNvPr id="37" name="Text 30"/>
          <p:cNvSpPr txBox="1"/>
          <p:nvPr/>
        </p:nvSpPr>
        <p:spPr>
          <a:xfrm>
            <a:off x="6958584" y="5193792"/>
            <a:ext cx="2267712" cy="274320"/>
          </a:xfrm>
          <a:prstGeom prst="rect">
            <a:avLst/>
          </a:prstGeom>
          <a:noFill/>
          <a:ln/>
        </p:spPr>
        <p:txBody>
          <a:bodyPr wrap="square" lIns="0" tIns="0" rIns="0" bIns="0" rtlCol="0" anchor="ctr"/>
          <a:lstStyle/>
          <a:p>
            <a:pPr indent="0" marL="0">
              <a:buNone/>
            </a:pPr>
            <a:r>
              <a:rPr lang="en-US" sz="1050" b="1" dirty="0">
                <a:solidFill>
                  <a:srgbClr val="C9871B"/>
                </a:solidFill>
                <a:latin typeface="Arial" pitchFamily="34" charset="0"/>
                <a:ea typeface="Arial" pitchFamily="34" charset="-122"/>
                <a:cs typeface="Arial" pitchFamily="34" charset="-120"/>
              </a:rPr>
              <a:t>Dense(5, softmax)</a:t>
            </a:r>
            <a:endParaRPr lang="en-US" sz="1050" dirty="0"/>
          </a:p>
        </p:txBody>
      </p:sp>
      <p:sp>
        <p:nvSpPr>
          <p:cNvPr id="38" name="Shape 31"/>
          <p:cNvSpPr/>
          <p:nvPr/>
        </p:nvSpPr>
        <p:spPr>
          <a:xfrm>
            <a:off x="594360" y="5760720"/>
            <a:ext cx="4306824" cy="1060704"/>
          </a:xfrm>
          <a:prstGeom prst="roundRect">
            <a:avLst>
              <a:gd name="adj" fmla="val 7759"/>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9" name="Text 32"/>
          <p:cNvSpPr txBox="1"/>
          <p:nvPr/>
        </p:nvSpPr>
        <p:spPr>
          <a:xfrm>
            <a:off x="850392" y="5870448"/>
            <a:ext cx="3794760" cy="237744"/>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Two guard rails before any verdict</a:t>
            </a:r>
            <a:endParaRPr lang="en-US" sz="1250" dirty="0"/>
          </a:p>
        </p:txBody>
      </p:sp>
      <p:sp>
        <p:nvSpPr>
          <p:cNvPr id="40" name="Text 33"/>
          <p:cNvSpPr txBox="1"/>
          <p:nvPr/>
        </p:nvSpPr>
        <p:spPr>
          <a:xfrm>
            <a:off x="850392" y="6144768"/>
            <a:ext cx="3794760" cy="566928"/>
          </a:xfrm>
          <a:prstGeom prst="rect">
            <a:avLst/>
          </a:prstGeom>
          <a:noFill/>
          <a:ln/>
        </p:spPr>
        <p:txBody>
          <a:bodyPr wrap="square" lIns="0" tIns="0" rIns="0" bIns="0" rtlCol="0" anchor="ctr"/>
          <a:lstStyle/>
          <a:p>
            <a:pPr marL="342900" indent="-342900">
              <a:lnSpc>
                <a:spcPts val="1500"/>
              </a:lnSpc>
              <a:spcAft>
                <a:spcPts val="200"/>
              </a:spcAft>
              <a:buSzPct val="100000"/>
              <a:buChar char="•"/>
            </a:pPr>
            <a:r>
              <a:rPr lang="en-US" sz="1100" dirty="0">
                <a:solidFill>
                  <a:srgbClr val="3C4C43"/>
                </a:solidFill>
                <a:latin typeface="Arial" pitchFamily="34" charset="0"/>
                <a:ea typeface="Arial" pitchFamily="34" charset="-122"/>
                <a:cs typeface="Arial" pitchFamily="34" charset="-120"/>
              </a:rPr>
              <a:t>Not produce → rejected, with the gatekeeper's label</a:t>
            </a:r>
            <a:endParaRPr lang="en-US" sz="1100" dirty="0"/>
          </a:p>
          <a:p>
            <a:pPr marL="342900" indent="-342900">
              <a:lnSpc>
                <a:spcPts val="1500"/>
              </a:lnSpc>
              <a:spcAft>
                <a:spcPts val="200"/>
              </a:spcAft>
              <a:buSzPct val="100000"/>
              <a:buChar char="•"/>
            </a:pPr>
            <a:r>
              <a:rPr lang="en-US" sz="1100" dirty="0">
                <a:solidFill>
                  <a:srgbClr val="3C4C43"/>
                </a:solidFill>
                <a:latin typeface="Arial" pitchFamily="34" charset="0"/>
                <a:ea typeface="Arial" pitchFamily="34" charset="-122"/>
                <a:cs typeface="Arial" pitchFamily="34" charset="-120"/>
              </a:rPr>
              <a:t>Identification under 65% → reported as uncertain</a:t>
            </a:r>
            <a:endParaRPr lang="en-US" sz="1100" dirty="0"/>
          </a:p>
        </p:txBody>
      </p:sp>
      <p:sp>
        <p:nvSpPr>
          <p:cNvPr id="41" name="Shape 34"/>
          <p:cNvSpPr/>
          <p:nvPr/>
        </p:nvSpPr>
        <p:spPr>
          <a:xfrm>
            <a:off x="5175504" y="5760720"/>
            <a:ext cx="4306824" cy="1060704"/>
          </a:xfrm>
          <a:prstGeom prst="roundRect">
            <a:avLst>
              <a:gd name="adj" fmla="val 7759"/>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42" name="Shape 35"/>
          <p:cNvSpPr/>
          <p:nvPr/>
        </p:nvSpPr>
        <p:spPr>
          <a:xfrm>
            <a:off x="5394960" y="5888736"/>
            <a:ext cx="384048" cy="384048"/>
          </a:xfrm>
          <a:prstGeom prst="ellipse">
            <a:avLst/>
          </a:prstGeom>
          <a:solidFill>
            <a:srgbClr val="1C9A63"/>
          </a:solidFill>
          <a:ln w="12700">
            <a:solidFill>
              <a:srgbClr val="1C9A63"/>
            </a:solidFill>
            <a:prstDash val="solid"/>
          </a:ln>
        </p:spPr>
      </p:sp>
      <p:pic>
        <p:nvPicPr>
          <p:cNvPr id="43" name="Image 5" descr="/home/user/Fresh-Vision/presentation/assets/icons/LuCircleCheck.png">    </p:cNvPr>
          <p:cNvPicPr>
            <a:picLocks noChangeAspect="1"/>
          </p:cNvPicPr>
          <p:nvPr/>
        </p:nvPicPr>
        <p:blipFill>
          <a:blip r:embed="rId6"/>
          <a:stretch>
            <a:fillRect/>
          </a:stretch>
        </p:blipFill>
        <p:spPr>
          <a:xfrm>
            <a:off x="5498653" y="5992429"/>
            <a:ext cx="176662" cy="176662"/>
          </a:xfrm>
          <a:prstGeom prst="rect">
            <a:avLst/>
          </a:prstGeom>
        </p:spPr>
      </p:pic>
      <p:sp>
        <p:nvSpPr>
          <p:cNvPr id="44" name="Text 36"/>
          <p:cNvSpPr txBox="1"/>
          <p:nvPr/>
        </p:nvSpPr>
        <p:spPr>
          <a:xfrm>
            <a:off x="5870448" y="5888736"/>
            <a:ext cx="3118104" cy="384048"/>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Verdict</a:t>
            </a:r>
            <a:endParaRPr lang="en-US" sz="1250" dirty="0"/>
          </a:p>
        </p:txBody>
      </p:sp>
      <p:sp>
        <p:nvSpPr>
          <p:cNvPr id="45" name="Text 37"/>
          <p:cNvSpPr txBox="1"/>
          <p:nvPr/>
        </p:nvSpPr>
        <p:spPr>
          <a:xfrm>
            <a:off x="5394960" y="6309360"/>
            <a:ext cx="3538728" cy="438912"/>
          </a:xfrm>
          <a:prstGeom prst="rect">
            <a:avLst/>
          </a:prstGeom>
          <a:noFill/>
          <a:ln/>
        </p:spPr>
        <p:txBody>
          <a:bodyPr wrap="square" lIns="0" tIns="0" rIns="0" bIns="0" rtlCol="0" anchor="ctr"/>
          <a:lstStyle/>
          <a:p>
            <a:pPr indent="0" marL="0">
              <a:lnSpc>
                <a:spcPts val="1500"/>
              </a:lnSpc>
              <a:buNone/>
            </a:pPr>
            <a:r>
              <a:rPr lang="en-US" sz="1100" dirty="0">
                <a:solidFill>
                  <a:srgbClr val="6A7B71"/>
                </a:solidFill>
                <a:latin typeface="Arial" pitchFamily="34" charset="0"/>
                <a:ea typeface="Arial" pitchFamily="34" charset="-122"/>
                <a:cs typeface="Arial" pitchFamily="34" charset="-120"/>
              </a:rPr>
              <a:t>produce label + confidence · freshness level + full distribution · estimated shelf life · latency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08</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03</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Data &amp; pseudo-labelling</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Turning two labels into five without any manual annotation</a:t>
            </a:r>
            <a:endParaRPr lang="en-US" sz="1250" dirty="0"/>
          </a:p>
        </p:txBody>
      </p:sp>
      <p:sp>
        <p:nvSpPr>
          <p:cNvPr id="7" name="Shape 5"/>
          <p:cNvSpPr/>
          <p:nvPr/>
        </p:nvSpPr>
        <p:spPr>
          <a:xfrm>
            <a:off x="594360" y="1627632"/>
            <a:ext cx="4261104" cy="1883664"/>
          </a:xfrm>
          <a:prstGeom prst="roundRect">
            <a:avLst>
              <a:gd name="adj" fmla="val 4369"/>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8" name="Shape 6"/>
          <p:cNvSpPr/>
          <p:nvPr/>
        </p:nvSpPr>
        <p:spPr>
          <a:xfrm>
            <a:off x="850392" y="1810512"/>
            <a:ext cx="420624" cy="420624"/>
          </a:xfrm>
          <a:prstGeom prst="ellipse">
            <a:avLst/>
          </a:prstGeom>
          <a:solidFill>
            <a:srgbClr val="0E5C3A"/>
          </a:solidFill>
          <a:ln w="12700">
            <a:solidFill>
              <a:srgbClr val="0E5C3A"/>
            </a:solidFill>
            <a:prstDash val="solid"/>
          </a:ln>
        </p:spPr>
      </p:sp>
      <p:pic>
        <p:nvPicPr>
          <p:cNvPr id="9" name="Image 0" descr="/home/user/Fresh-Vision/presentation/assets/icons/LuDatabase.png">    </p:cNvPr>
          <p:cNvPicPr>
            <a:picLocks noChangeAspect="1"/>
          </p:cNvPicPr>
          <p:nvPr/>
        </p:nvPicPr>
        <p:blipFill>
          <a:blip r:embed="rId1"/>
          <a:stretch>
            <a:fillRect/>
          </a:stretch>
        </p:blipFill>
        <p:spPr>
          <a:xfrm>
            <a:off x="963960" y="1924080"/>
            <a:ext cx="193487" cy="193487"/>
          </a:xfrm>
          <a:prstGeom prst="rect">
            <a:avLst/>
          </a:prstGeom>
        </p:spPr>
      </p:pic>
      <p:sp>
        <p:nvSpPr>
          <p:cNvPr id="10" name="Text 7"/>
          <p:cNvSpPr txBox="1"/>
          <p:nvPr/>
        </p:nvSpPr>
        <p:spPr>
          <a:xfrm>
            <a:off x="1380744" y="1810512"/>
            <a:ext cx="3255264" cy="420624"/>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The dataset</a:t>
            </a:r>
            <a:endParaRPr lang="en-US" sz="1550" dirty="0"/>
          </a:p>
        </p:txBody>
      </p:sp>
      <p:sp>
        <p:nvSpPr>
          <p:cNvPr id="11" name="Text 8"/>
          <p:cNvSpPr txBox="1"/>
          <p:nvPr/>
        </p:nvSpPr>
        <p:spPr>
          <a:xfrm>
            <a:off x="868680" y="2359152"/>
            <a:ext cx="3712464" cy="109728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4C43"/>
                </a:solidFill>
                <a:latin typeface="Arial" pitchFamily="34" charset="0"/>
                <a:ea typeface="Arial" pitchFamily="34" charset="-122"/>
                <a:cs typeface="Arial" pitchFamily="34" charset="-120"/>
              </a:rPr>
              <a:t>14 produce classes, each holding fresh and rotten folders</a:t>
            </a:r>
            <a:endParaRPr lang="en-US" sz="1200" dirty="0"/>
          </a:p>
          <a:p>
            <a:pPr marL="342900" indent="-342900">
              <a:lnSpc>
                <a:spcPts val="1700"/>
              </a:lnSpc>
              <a:spcAft>
                <a:spcPts val="600"/>
              </a:spcAft>
              <a:buSzPct val="100000"/>
              <a:buChar char="•"/>
            </a:pPr>
            <a:r>
              <a:rPr lang="en-US" sz="1200" dirty="0">
                <a:solidFill>
                  <a:srgbClr val="3C4C43"/>
                </a:solidFill>
                <a:latin typeface="Arial" pitchFamily="34" charset="0"/>
                <a:ea typeface="Arial" pitchFamily="34" charset="-122"/>
                <a:cs typeface="Arial" pitchFamily="34" charset="-120"/>
              </a:rPr>
              <a:t>80 / 20 stratified train-validation split</a:t>
            </a:r>
            <a:endParaRPr lang="en-US" sz="1200" dirty="0"/>
          </a:p>
          <a:p>
            <a:pPr marL="342900" indent="-342900">
              <a:lnSpc>
                <a:spcPts val="1700"/>
              </a:lnSpc>
              <a:spcAft>
                <a:spcPts val="600"/>
              </a:spcAft>
              <a:buSzPct val="100000"/>
              <a:buChar char="•"/>
            </a:pPr>
            <a:r>
              <a:rPr lang="en-US" sz="1200" dirty="0">
                <a:solidFill>
                  <a:srgbClr val="3C4C43"/>
                </a:solidFill>
                <a:latin typeface="Arial" pitchFamily="34" charset="0"/>
                <a:ea typeface="Arial" pitchFamily="34" charset="-122"/>
                <a:cs typeface="Arial" pitchFamily="34" charset="-120"/>
              </a:rPr>
              <a:t>Generators feed 224x224 batches of 32 images</a:t>
            </a:r>
            <a:endParaRPr lang="en-US" sz="1200" dirty="0"/>
          </a:p>
        </p:txBody>
      </p:sp>
      <p:sp>
        <p:nvSpPr>
          <p:cNvPr id="12" name="Shape 9"/>
          <p:cNvSpPr/>
          <p:nvPr/>
        </p:nvSpPr>
        <p:spPr>
          <a:xfrm>
            <a:off x="5221224" y="1627632"/>
            <a:ext cx="4261104" cy="1883664"/>
          </a:xfrm>
          <a:prstGeom prst="roundRect">
            <a:avLst>
              <a:gd name="adj" fmla="val 4369"/>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3" name="Shape 10"/>
          <p:cNvSpPr/>
          <p:nvPr/>
        </p:nvSpPr>
        <p:spPr>
          <a:xfrm>
            <a:off x="5477256" y="1810512"/>
            <a:ext cx="420624" cy="420624"/>
          </a:xfrm>
          <a:prstGeom prst="ellipse">
            <a:avLst/>
          </a:prstGeom>
          <a:solidFill>
            <a:srgbClr val="C9871B"/>
          </a:solidFill>
          <a:ln w="12700">
            <a:solidFill>
              <a:srgbClr val="C9871B"/>
            </a:solidFill>
            <a:prstDash val="solid"/>
          </a:ln>
        </p:spPr>
      </p:sp>
      <p:pic>
        <p:nvPicPr>
          <p:cNvPr id="14" name="Image 1" descr="/home/user/Fresh-Vision/presentation/assets/icons/LuCircleAlert.png">    </p:cNvPr>
          <p:cNvPicPr>
            <a:picLocks noChangeAspect="1"/>
          </p:cNvPicPr>
          <p:nvPr/>
        </p:nvPicPr>
        <p:blipFill>
          <a:blip r:embed="rId2"/>
          <a:stretch>
            <a:fillRect/>
          </a:stretch>
        </p:blipFill>
        <p:spPr>
          <a:xfrm>
            <a:off x="5590824" y="1924080"/>
            <a:ext cx="193487" cy="193487"/>
          </a:xfrm>
          <a:prstGeom prst="rect">
            <a:avLst/>
          </a:prstGeom>
        </p:spPr>
      </p:pic>
      <p:sp>
        <p:nvSpPr>
          <p:cNvPr id="15" name="Text 11"/>
          <p:cNvSpPr txBox="1"/>
          <p:nvPr/>
        </p:nvSpPr>
        <p:spPr>
          <a:xfrm>
            <a:off x="6007608" y="1810512"/>
            <a:ext cx="3255264" cy="420624"/>
          </a:xfrm>
          <a:prstGeom prst="rect">
            <a:avLst/>
          </a:prstGeom>
          <a:noFill/>
          <a:ln/>
        </p:spPr>
        <p:txBody>
          <a:bodyPr wrap="square" lIns="0" tIns="0" rIns="0" bIns="0" rtlCol="0" anchor="ctr"/>
          <a:lstStyle/>
          <a:p>
            <a:pPr indent="0" marL="0">
              <a:buNone/>
            </a:pPr>
            <a:r>
              <a:rPr lang="en-US" sz="1550" b="1" dirty="0">
                <a:solidFill>
                  <a:srgbClr val="10201A"/>
                </a:solidFill>
                <a:latin typeface="Arial" pitchFamily="34" charset="0"/>
                <a:ea typeface="Arial" pitchFamily="34" charset="-122"/>
                <a:cs typeface="Arial" pitchFamily="34" charset="-120"/>
              </a:rPr>
              <a:t>The gap</a:t>
            </a:r>
            <a:endParaRPr lang="en-US" sz="1550" dirty="0"/>
          </a:p>
        </p:txBody>
      </p:sp>
      <p:sp>
        <p:nvSpPr>
          <p:cNvPr id="16" name="Text 12"/>
          <p:cNvSpPr txBox="1"/>
          <p:nvPr/>
        </p:nvSpPr>
        <p:spPr>
          <a:xfrm>
            <a:off x="5495544" y="2359152"/>
            <a:ext cx="3346704" cy="105156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Five decay levels were needed, but the source data carries only two. Hand-labelling thousands of images into five levels was not feasible in the project window, so the labels were generated automatically from image colour.</a:t>
            </a:r>
            <a:endParaRPr lang="en-US" sz="1200" dirty="0"/>
          </a:p>
        </p:txBody>
      </p:sp>
      <p:sp>
        <p:nvSpPr>
          <p:cNvPr id="17" name="Text 13"/>
          <p:cNvSpPr txBox="1"/>
          <p:nvPr/>
        </p:nvSpPr>
        <p:spPr>
          <a:xfrm>
            <a:off x="594360" y="3712464"/>
            <a:ext cx="8887968" cy="256032"/>
          </a:xfrm>
          <a:prstGeom prst="rect">
            <a:avLst/>
          </a:prstGeom>
          <a:noFill/>
          <a:ln/>
        </p:spPr>
        <p:txBody>
          <a:bodyPr wrap="square" lIns="0" tIns="0" rIns="0" bIns="0" rtlCol="0" anchor="ctr"/>
          <a:lstStyle/>
          <a:p>
            <a:pPr indent="0" marL="0">
              <a:buNone/>
            </a:pPr>
            <a:r>
              <a:rPr lang="en-US" sz="1050" b="1" spc="200" kern="0" dirty="0">
                <a:solidFill>
                  <a:srgbClr val="1C9A63"/>
                </a:solidFill>
                <a:latin typeface="Arial" pitchFamily="34" charset="0"/>
                <a:ea typeface="Arial" pitchFamily="34" charset="-122"/>
                <a:cs typeface="Arial" pitchFamily="34" charset="-120"/>
              </a:rPr>
              <a:t>HSV DECAY-SCORING PIPELINE</a:t>
            </a:r>
            <a:endParaRPr lang="en-US" sz="1050" dirty="0"/>
          </a:p>
        </p:txBody>
      </p:sp>
      <p:sp>
        <p:nvSpPr>
          <p:cNvPr id="18" name="Shape 14"/>
          <p:cNvSpPr/>
          <p:nvPr/>
        </p:nvSpPr>
        <p:spPr>
          <a:xfrm>
            <a:off x="594360" y="4078224"/>
            <a:ext cx="1616659" cy="1792224"/>
          </a:xfrm>
          <a:prstGeom prst="roundRect">
            <a:avLst>
              <a:gd name="adj" fmla="val 509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9" name="Shape 15"/>
          <p:cNvSpPr/>
          <p:nvPr/>
        </p:nvSpPr>
        <p:spPr>
          <a:xfrm>
            <a:off x="1174090" y="4261104"/>
            <a:ext cx="457200" cy="457200"/>
          </a:xfrm>
          <a:prstGeom prst="ellipse">
            <a:avLst/>
          </a:prstGeom>
          <a:solidFill>
            <a:srgbClr val="0E5C3A"/>
          </a:solidFill>
          <a:ln w="12700">
            <a:solidFill>
              <a:srgbClr val="0E5C3A"/>
            </a:solidFill>
            <a:prstDash val="solid"/>
          </a:ln>
        </p:spPr>
      </p:sp>
      <p:pic>
        <p:nvPicPr>
          <p:cNvPr id="20" name="Image 2" descr="/home/user/Fresh-Vision/presentation/assets/icons/LuImage.png">    </p:cNvPr>
          <p:cNvPicPr>
            <a:picLocks noChangeAspect="1"/>
          </p:cNvPicPr>
          <p:nvPr/>
        </p:nvPicPr>
        <p:blipFill>
          <a:blip r:embed="rId3"/>
          <a:stretch>
            <a:fillRect/>
          </a:stretch>
        </p:blipFill>
        <p:spPr>
          <a:xfrm>
            <a:off x="1297534" y="4384548"/>
            <a:ext cx="210312" cy="210312"/>
          </a:xfrm>
          <a:prstGeom prst="rect">
            <a:avLst/>
          </a:prstGeom>
        </p:spPr>
      </p:pic>
      <p:sp>
        <p:nvSpPr>
          <p:cNvPr id="21" name="Text 16"/>
          <p:cNvSpPr txBox="1"/>
          <p:nvPr/>
        </p:nvSpPr>
        <p:spPr>
          <a:xfrm>
            <a:off x="594360" y="4791456"/>
            <a:ext cx="1616659" cy="219456"/>
          </a:xfrm>
          <a:prstGeom prst="rect">
            <a:avLst/>
          </a:prstGeom>
          <a:noFill/>
          <a:ln/>
        </p:spPr>
        <p:txBody>
          <a:bodyPr wrap="square" lIns="0" tIns="0" rIns="0" bIns="0" rtlCol="0" anchor="ctr"/>
          <a:lstStyle/>
          <a:p>
            <a:pPr algn="ctr" indent="0" marL="0">
              <a:buNone/>
            </a:pPr>
            <a:r>
              <a:rPr lang="en-US" sz="1000" b="1" spc="120" kern="0" dirty="0">
                <a:solidFill>
                  <a:srgbClr val="1C9A63"/>
                </a:solidFill>
                <a:latin typeface="Arial" pitchFamily="34" charset="0"/>
                <a:ea typeface="Arial" pitchFamily="34" charset="-122"/>
                <a:cs typeface="Arial" pitchFamily="34" charset="-120"/>
              </a:rPr>
              <a:t>01</a:t>
            </a:r>
            <a:endParaRPr lang="en-US" sz="1000" dirty="0"/>
          </a:p>
        </p:txBody>
      </p:sp>
      <p:sp>
        <p:nvSpPr>
          <p:cNvPr id="22" name="Text 17"/>
          <p:cNvSpPr txBox="1"/>
          <p:nvPr/>
        </p:nvSpPr>
        <p:spPr>
          <a:xfrm>
            <a:off x="685800" y="5010912"/>
            <a:ext cx="1433779" cy="365760"/>
          </a:xfrm>
          <a:prstGeom prst="rect">
            <a:avLst/>
          </a:prstGeom>
          <a:noFill/>
          <a:ln/>
        </p:spPr>
        <p:txBody>
          <a:bodyPr wrap="square" lIns="0" tIns="0" rIns="0" bIns="0" rtlCol="0" anchor="t"/>
          <a:lstStyle/>
          <a:p>
            <a:pPr algn="ctr" indent="0" marL="0">
              <a:buNone/>
            </a:pPr>
            <a:r>
              <a:rPr lang="en-US" sz="1250" b="1" dirty="0">
                <a:solidFill>
                  <a:srgbClr val="10201A"/>
                </a:solidFill>
                <a:latin typeface="Arial" pitchFamily="34" charset="0"/>
                <a:ea typeface="Arial" pitchFamily="34" charset="-122"/>
                <a:cs typeface="Arial" pitchFamily="34" charset="-120"/>
              </a:rPr>
              <a:t>RGB → HSV</a:t>
            </a:r>
            <a:endParaRPr lang="en-US" sz="1250" dirty="0"/>
          </a:p>
        </p:txBody>
      </p:sp>
      <p:sp>
        <p:nvSpPr>
          <p:cNvPr id="23" name="Text 18"/>
          <p:cNvSpPr txBox="1"/>
          <p:nvPr/>
        </p:nvSpPr>
        <p:spPr>
          <a:xfrm>
            <a:off x="704088" y="5376672"/>
            <a:ext cx="1397203" cy="438912"/>
          </a:xfrm>
          <a:prstGeom prst="rect">
            <a:avLst/>
          </a:prstGeom>
          <a:noFill/>
          <a:ln/>
        </p:spPr>
        <p:txBody>
          <a:bodyPr wrap="square" lIns="0" tIns="0" rIns="0" bIns="0" rtlCol="0" anchor="ctr"/>
          <a:lstStyle/>
          <a:p>
            <a:pPr algn="ctr" indent="0" marL="0">
              <a:lnSpc>
                <a:spcPts val="1400"/>
              </a:lnSpc>
              <a:buNone/>
            </a:pPr>
            <a:r>
              <a:rPr lang="en-US" sz="1050" dirty="0">
                <a:solidFill>
                  <a:srgbClr val="6A7B71"/>
                </a:solidFill>
                <a:latin typeface="Arial" pitchFamily="34" charset="0"/>
                <a:ea typeface="Arial" pitchFamily="34" charset="-122"/>
                <a:cs typeface="Arial" pitchFamily="34" charset="-120"/>
              </a:rPr>
              <a:t>Hue stays stable when the lighting changes.</a:t>
            </a:r>
            <a:endParaRPr lang="en-US" sz="1050" dirty="0"/>
          </a:p>
        </p:txBody>
      </p:sp>
      <p:sp>
        <p:nvSpPr>
          <p:cNvPr id="24" name="Shape 19"/>
          <p:cNvSpPr/>
          <p:nvPr/>
        </p:nvSpPr>
        <p:spPr>
          <a:xfrm>
            <a:off x="2238451" y="4882896"/>
            <a:ext cx="146304" cy="182880"/>
          </a:xfrm>
          <a:prstGeom prst="rightArrow">
            <a:avLst/>
          </a:prstGeom>
          <a:solidFill>
            <a:srgbClr val="1C9A63"/>
          </a:solidFill>
          <a:ln w="12700">
            <a:solidFill>
              <a:srgbClr val="1C9A63"/>
            </a:solidFill>
            <a:prstDash val="solid"/>
          </a:ln>
        </p:spPr>
      </p:sp>
      <p:sp>
        <p:nvSpPr>
          <p:cNvPr id="25" name="Shape 20"/>
          <p:cNvSpPr/>
          <p:nvPr/>
        </p:nvSpPr>
        <p:spPr>
          <a:xfrm>
            <a:off x="2412187" y="4078224"/>
            <a:ext cx="1616659" cy="1792224"/>
          </a:xfrm>
          <a:prstGeom prst="roundRect">
            <a:avLst>
              <a:gd name="adj" fmla="val 509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6" name="Shape 21"/>
          <p:cNvSpPr/>
          <p:nvPr/>
        </p:nvSpPr>
        <p:spPr>
          <a:xfrm>
            <a:off x="2991917" y="4261104"/>
            <a:ext cx="457200" cy="457200"/>
          </a:xfrm>
          <a:prstGeom prst="ellipse">
            <a:avLst/>
          </a:prstGeom>
          <a:solidFill>
            <a:srgbClr val="0E5C3A"/>
          </a:solidFill>
          <a:ln w="12700">
            <a:solidFill>
              <a:srgbClr val="0E5C3A"/>
            </a:solidFill>
            <a:prstDash val="solid"/>
          </a:ln>
        </p:spPr>
      </p:sp>
      <p:pic>
        <p:nvPicPr>
          <p:cNvPr id="27" name="Image 3" descr="/home/user/Fresh-Vision/presentation/assets/icons/LuFilter.png">    </p:cNvPr>
          <p:cNvPicPr>
            <a:picLocks noChangeAspect="1"/>
          </p:cNvPicPr>
          <p:nvPr/>
        </p:nvPicPr>
        <p:blipFill>
          <a:blip r:embed="rId4"/>
          <a:stretch>
            <a:fillRect/>
          </a:stretch>
        </p:blipFill>
        <p:spPr>
          <a:xfrm>
            <a:off x="3115361" y="4384548"/>
            <a:ext cx="210312" cy="210312"/>
          </a:xfrm>
          <a:prstGeom prst="rect">
            <a:avLst/>
          </a:prstGeom>
        </p:spPr>
      </p:pic>
      <p:sp>
        <p:nvSpPr>
          <p:cNvPr id="28" name="Text 22"/>
          <p:cNvSpPr txBox="1"/>
          <p:nvPr/>
        </p:nvSpPr>
        <p:spPr>
          <a:xfrm>
            <a:off x="2412187" y="4791456"/>
            <a:ext cx="1616659" cy="219456"/>
          </a:xfrm>
          <a:prstGeom prst="rect">
            <a:avLst/>
          </a:prstGeom>
          <a:noFill/>
          <a:ln/>
        </p:spPr>
        <p:txBody>
          <a:bodyPr wrap="square" lIns="0" tIns="0" rIns="0" bIns="0" rtlCol="0" anchor="ctr"/>
          <a:lstStyle/>
          <a:p>
            <a:pPr algn="ctr" indent="0" marL="0">
              <a:buNone/>
            </a:pPr>
            <a:r>
              <a:rPr lang="en-US" sz="1000" b="1" spc="120" kern="0" dirty="0">
                <a:solidFill>
                  <a:srgbClr val="1C9A63"/>
                </a:solidFill>
                <a:latin typeface="Arial" pitchFamily="34" charset="0"/>
                <a:ea typeface="Arial" pitchFamily="34" charset="-122"/>
                <a:cs typeface="Arial" pitchFamily="34" charset="-120"/>
              </a:rPr>
              <a:t>02</a:t>
            </a:r>
            <a:endParaRPr lang="en-US" sz="1000" dirty="0"/>
          </a:p>
        </p:txBody>
      </p:sp>
      <p:sp>
        <p:nvSpPr>
          <p:cNvPr id="29" name="Text 23"/>
          <p:cNvSpPr txBox="1"/>
          <p:nvPr/>
        </p:nvSpPr>
        <p:spPr>
          <a:xfrm>
            <a:off x="2503627" y="5010912"/>
            <a:ext cx="1433779" cy="365760"/>
          </a:xfrm>
          <a:prstGeom prst="rect">
            <a:avLst/>
          </a:prstGeom>
          <a:noFill/>
          <a:ln/>
        </p:spPr>
        <p:txBody>
          <a:bodyPr wrap="square" lIns="0" tIns="0" rIns="0" bIns="0" rtlCol="0" anchor="t"/>
          <a:lstStyle/>
          <a:p>
            <a:pPr algn="ctr" indent="0" marL="0">
              <a:buNone/>
            </a:pPr>
            <a:r>
              <a:rPr lang="en-US" sz="1250" b="1" dirty="0">
                <a:solidFill>
                  <a:srgbClr val="10201A"/>
                </a:solidFill>
                <a:latin typeface="Arial" pitchFamily="34" charset="0"/>
                <a:ea typeface="Arial" pitchFamily="34" charset="-122"/>
                <a:cs typeface="Arial" pitchFamily="34" charset="-120"/>
              </a:rPr>
              <a:t>Foreground mask</a:t>
            </a:r>
            <a:endParaRPr lang="en-US" sz="1250" dirty="0"/>
          </a:p>
        </p:txBody>
      </p:sp>
      <p:sp>
        <p:nvSpPr>
          <p:cNvPr id="30" name="Text 24"/>
          <p:cNvSpPr txBox="1"/>
          <p:nvPr/>
        </p:nvSpPr>
        <p:spPr>
          <a:xfrm>
            <a:off x="2521915" y="5376672"/>
            <a:ext cx="1397203" cy="438912"/>
          </a:xfrm>
          <a:prstGeom prst="rect">
            <a:avLst/>
          </a:prstGeom>
          <a:noFill/>
          <a:ln/>
        </p:spPr>
        <p:txBody>
          <a:bodyPr wrap="square" lIns="0" tIns="0" rIns="0" bIns="0" rtlCol="0" anchor="ctr"/>
          <a:lstStyle/>
          <a:p>
            <a:pPr algn="ctr" indent="0" marL="0">
              <a:lnSpc>
                <a:spcPts val="1400"/>
              </a:lnSpc>
              <a:buNone/>
            </a:pPr>
            <a:r>
              <a:rPr lang="en-US" sz="1050" dirty="0">
                <a:solidFill>
                  <a:srgbClr val="6A7B71"/>
                </a:solidFill>
                <a:latin typeface="Arial" pitchFamily="34" charset="0"/>
                <a:ea typeface="Arial" pitchFamily="34" charset="-122"/>
                <a:cs typeface="Arial" pitchFamily="34" charset="-120"/>
              </a:rPr>
              <a:t>Saturation separates fruit from background.</a:t>
            </a:r>
            <a:endParaRPr lang="en-US" sz="1050" dirty="0"/>
          </a:p>
        </p:txBody>
      </p:sp>
      <p:sp>
        <p:nvSpPr>
          <p:cNvPr id="31" name="Shape 25"/>
          <p:cNvSpPr/>
          <p:nvPr/>
        </p:nvSpPr>
        <p:spPr>
          <a:xfrm>
            <a:off x="4056278" y="4882896"/>
            <a:ext cx="146304" cy="182880"/>
          </a:xfrm>
          <a:prstGeom prst="rightArrow">
            <a:avLst/>
          </a:prstGeom>
          <a:solidFill>
            <a:srgbClr val="1C9A63"/>
          </a:solidFill>
          <a:ln w="12700">
            <a:solidFill>
              <a:srgbClr val="1C9A63"/>
            </a:solidFill>
            <a:prstDash val="solid"/>
          </a:ln>
        </p:spPr>
      </p:sp>
      <p:sp>
        <p:nvSpPr>
          <p:cNvPr id="32" name="Shape 26"/>
          <p:cNvSpPr/>
          <p:nvPr/>
        </p:nvSpPr>
        <p:spPr>
          <a:xfrm>
            <a:off x="4230014" y="4078224"/>
            <a:ext cx="1616659" cy="1792224"/>
          </a:xfrm>
          <a:prstGeom prst="roundRect">
            <a:avLst>
              <a:gd name="adj" fmla="val 509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3" name="Shape 27"/>
          <p:cNvSpPr/>
          <p:nvPr/>
        </p:nvSpPr>
        <p:spPr>
          <a:xfrm>
            <a:off x="4809744" y="4261104"/>
            <a:ext cx="457200" cy="457200"/>
          </a:xfrm>
          <a:prstGeom prst="ellipse">
            <a:avLst/>
          </a:prstGeom>
          <a:solidFill>
            <a:srgbClr val="0E5C3A"/>
          </a:solidFill>
          <a:ln w="12700">
            <a:solidFill>
              <a:srgbClr val="0E5C3A"/>
            </a:solidFill>
            <a:prstDash val="solid"/>
          </a:ln>
        </p:spPr>
      </p:sp>
      <p:pic>
        <p:nvPicPr>
          <p:cNvPr id="34" name="Image 4" descr="/home/user/Fresh-Vision/presentation/assets/icons/LuThermometerSun.png">    </p:cNvPr>
          <p:cNvPicPr>
            <a:picLocks noChangeAspect="1"/>
          </p:cNvPicPr>
          <p:nvPr/>
        </p:nvPicPr>
        <p:blipFill>
          <a:blip r:embed="rId5"/>
          <a:stretch>
            <a:fillRect/>
          </a:stretch>
        </p:blipFill>
        <p:spPr>
          <a:xfrm>
            <a:off x="4933188" y="4384548"/>
            <a:ext cx="210312" cy="210312"/>
          </a:xfrm>
          <a:prstGeom prst="rect">
            <a:avLst/>
          </a:prstGeom>
        </p:spPr>
      </p:pic>
      <p:sp>
        <p:nvSpPr>
          <p:cNvPr id="35" name="Text 28"/>
          <p:cNvSpPr txBox="1"/>
          <p:nvPr/>
        </p:nvSpPr>
        <p:spPr>
          <a:xfrm>
            <a:off x="4230014" y="4791456"/>
            <a:ext cx="1616659" cy="219456"/>
          </a:xfrm>
          <a:prstGeom prst="rect">
            <a:avLst/>
          </a:prstGeom>
          <a:noFill/>
          <a:ln/>
        </p:spPr>
        <p:txBody>
          <a:bodyPr wrap="square" lIns="0" tIns="0" rIns="0" bIns="0" rtlCol="0" anchor="ctr"/>
          <a:lstStyle/>
          <a:p>
            <a:pPr algn="ctr" indent="0" marL="0">
              <a:buNone/>
            </a:pPr>
            <a:r>
              <a:rPr lang="en-US" sz="1000" b="1" spc="120" kern="0" dirty="0">
                <a:solidFill>
                  <a:srgbClr val="1C9A63"/>
                </a:solidFill>
                <a:latin typeface="Arial" pitchFamily="34" charset="0"/>
                <a:ea typeface="Arial" pitchFamily="34" charset="-122"/>
                <a:cs typeface="Arial" pitchFamily="34" charset="-120"/>
              </a:rPr>
              <a:t>03</a:t>
            </a:r>
            <a:endParaRPr lang="en-US" sz="1000" dirty="0"/>
          </a:p>
        </p:txBody>
      </p:sp>
      <p:sp>
        <p:nvSpPr>
          <p:cNvPr id="36" name="Text 29"/>
          <p:cNvSpPr txBox="1"/>
          <p:nvPr/>
        </p:nvSpPr>
        <p:spPr>
          <a:xfrm>
            <a:off x="4321454" y="5010912"/>
            <a:ext cx="1433779" cy="365760"/>
          </a:xfrm>
          <a:prstGeom prst="rect">
            <a:avLst/>
          </a:prstGeom>
          <a:noFill/>
          <a:ln/>
        </p:spPr>
        <p:txBody>
          <a:bodyPr wrap="square" lIns="0" tIns="0" rIns="0" bIns="0" rtlCol="0" anchor="t"/>
          <a:lstStyle/>
          <a:p>
            <a:pPr algn="ctr" indent="0" marL="0">
              <a:buNone/>
            </a:pPr>
            <a:r>
              <a:rPr lang="en-US" sz="1250" b="1" dirty="0">
                <a:solidFill>
                  <a:srgbClr val="10201A"/>
                </a:solidFill>
                <a:latin typeface="Arial" pitchFamily="34" charset="0"/>
                <a:ea typeface="Arial" pitchFamily="34" charset="-122"/>
                <a:cs typeface="Arial" pitchFamily="34" charset="-120"/>
              </a:rPr>
              <a:t>Decay mask</a:t>
            </a:r>
            <a:endParaRPr lang="en-US" sz="1250" dirty="0"/>
          </a:p>
        </p:txBody>
      </p:sp>
      <p:sp>
        <p:nvSpPr>
          <p:cNvPr id="37" name="Text 30"/>
          <p:cNvSpPr txBox="1"/>
          <p:nvPr/>
        </p:nvSpPr>
        <p:spPr>
          <a:xfrm>
            <a:off x="4339742" y="5376672"/>
            <a:ext cx="1397203" cy="438912"/>
          </a:xfrm>
          <a:prstGeom prst="rect">
            <a:avLst/>
          </a:prstGeom>
          <a:noFill/>
          <a:ln/>
        </p:spPr>
        <p:txBody>
          <a:bodyPr wrap="square" lIns="0" tIns="0" rIns="0" bIns="0" rtlCol="0" anchor="ctr"/>
          <a:lstStyle/>
          <a:p>
            <a:pPr algn="ctr" indent="0" marL="0">
              <a:lnSpc>
                <a:spcPts val="1400"/>
              </a:lnSpc>
              <a:buNone/>
            </a:pPr>
            <a:r>
              <a:rPr lang="en-US" sz="1050" dirty="0">
                <a:solidFill>
                  <a:srgbClr val="6A7B71"/>
                </a:solidFill>
                <a:latin typeface="Arial" pitchFamily="34" charset="0"/>
                <a:ea typeface="Arial" pitchFamily="34" charset="-122"/>
                <a:cs typeface="Arial" pitchFamily="34" charset="-120"/>
              </a:rPr>
              <a:t>Brown pixels found inside the fruit region.</a:t>
            </a:r>
            <a:endParaRPr lang="en-US" sz="1050" dirty="0"/>
          </a:p>
        </p:txBody>
      </p:sp>
      <p:sp>
        <p:nvSpPr>
          <p:cNvPr id="38" name="Shape 31"/>
          <p:cNvSpPr/>
          <p:nvPr/>
        </p:nvSpPr>
        <p:spPr>
          <a:xfrm>
            <a:off x="5874106" y="4882896"/>
            <a:ext cx="146304" cy="182880"/>
          </a:xfrm>
          <a:prstGeom prst="rightArrow">
            <a:avLst/>
          </a:prstGeom>
          <a:solidFill>
            <a:srgbClr val="1C9A63"/>
          </a:solidFill>
          <a:ln w="12700">
            <a:solidFill>
              <a:srgbClr val="1C9A63"/>
            </a:solidFill>
            <a:prstDash val="solid"/>
          </a:ln>
        </p:spPr>
      </p:sp>
      <p:sp>
        <p:nvSpPr>
          <p:cNvPr id="39" name="Shape 32"/>
          <p:cNvSpPr/>
          <p:nvPr/>
        </p:nvSpPr>
        <p:spPr>
          <a:xfrm>
            <a:off x="6047842" y="4078224"/>
            <a:ext cx="1616659" cy="1792224"/>
          </a:xfrm>
          <a:prstGeom prst="roundRect">
            <a:avLst>
              <a:gd name="adj" fmla="val 509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40" name="Shape 33"/>
          <p:cNvSpPr/>
          <p:nvPr/>
        </p:nvSpPr>
        <p:spPr>
          <a:xfrm>
            <a:off x="6627571" y="4261104"/>
            <a:ext cx="457200" cy="457200"/>
          </a:xfrm>
          <a:prstGeom prst="ellipse">
            <a:avLst/>
          </a:prstGeom>
          <a:solidFill>
            <a:srgbClr val="0E5C3A"/>
          </a:solidFill>
          <a:ln w="12700">
            <a:solidFill>
              <a:srgbClr val="0E5C3A"/>
            </a:solidFill>
            <a:prstDash val="solid"/>
          </a:ln>
        </p:spPr>
      </p:sp>
      <p:pic>
        <p:nvPicPr>
          <p:cNvPr id="41" name="Image 5" descr="/home/user/Fresh-Vision/presentation/assets/icons/LuFlaskConical.png">    </p:cNvPr>
          <p:cNvPicPr>
            <a:picLocks noChangeAspect="1"/>
          </p:cNvPicPr>
          <p:nvPr/>
        </p:nvPicPr>
        <p:blipFill>
          <a:blip r:embed="rId6"/>
          <a:stretch>
            <a:fillRect/>
          </a:stretch>
        </p:blipFill>
        <p:spPr>
          <a:xfrm>
            <a:off x="6751015" y="4384548"/>
            <a:ext cx="210312" cy="210312"/>
          </a:xfrm>
          <a:prstGeom prst="rect">
            <a:avLst/>
          </a:prstGeom>
        </p:spPr>
      </p:pic>
      <p:sp>
        <p:nvSpPr>
          <p:cNvPr id="42" name="Text 34"/>
          <p:cNvSpPr txBox="1"/>
          <p:nvPr/>
        </p:nvSpPr>
        <p:spPr>
          <a:xfrm>
            <a:off x="6047842" y="4791456"/>
            <a:ext cx="1616659" cy="219456"/>
          </a:xfrm>
          <a:prstGeom prst="rect">
            <a:avLst/>
          </a:prstGeom>
          <a:noFill/>
          <a:ln/>
        </p:spPr>
        <p:txBody>
          <a:bodyPr wrap="square" lIns="0" tIns="0" rIns="0" bIns="0" rtlCol="0" anchor="ctr"/>
          <a:lstStyle/>
          <a:p>
            <a:pPr algn="ctr" indent="0" marL="0">
              <a:buNone/>
            </a:pPr>
            <a:r>
              <a:rPr lang="en-US" sz="1000" b="1" spc="120" kern="0" dirty="0">
                <a:solidFill>
                  <a:srgbClr val="1C9A63"/>
                </a:solidFill>
                <a:latin typeface="Arial" pitchFamily="34" charset="0"/>
                <a:ea typeface="Arial" pitchFamily="34" charset="-122"/>
                <a:cs typeface="Arial" pitchFamily="34" charset="-120"/>
              </a:rPr>
              <a:t>04</a:t>
            </a:r>
            <a:endParaRPr lang="en-US" sz="1000" dirty="0"/>
          </a:p>
        </p:txBody>
      </p:sp>
      <p:sp>
        <p:nvSpPr>
          <p:cNvPr id="43" name="Text 35"/>
          <p:cNvSpPr txBox="1"/>
          <p:nvPr/>
        </p:nvSpPr>
        <p:spPr>
          <a:xfrm>
            <a:off x="6139282" y="5010912"/>
            <a:ext cx="1433779" cy="365760"/>
          </a:xfrm>
          <a:prstGeom prst="rect">
            <a:avLst/>
          </a:prstGeom>
          <a:noFill/>
          <a:ln/>
        </p:spPr>
        <p:txBody>
          <a:bodyPr wrap="square" lIns="0" tIns="0" rIns="0" bIns="0" rtlCol="0" anchor="t"/>
          <a:lstStyle/>
          <a:p>
            <a:pPr algn="ctr" indent="0" marL="0">
              <a:buNone/>
            </a:pPr>
            <a:r>
              <a:rPr lang="en-US" sz="1250" b="1" dirty="0">
                <a:solidFill>
                  <a:srgbClr val="10201A"/>
                </a:solidFill>
                <a:latin typeface="Arial" pitchFamily="34" charset="0"/>
                <a:ea typeface="Arial" pitchFamily="34" charset="-122"/>
                <a:cs typeface="Arial" pitchFamily="34" charset="-120"/>
              </a:rPr>
              <a:t>Decay score</a:t>
            </a:r>
            <a:endParaRPr lang="en-US" sz="1250" dirty="0"/>
          </a:p>
        </p:txBody>
      </p:sp>
      <p:sp>
        <p:nvSpPr>
          <p:cNvPr id="44" name="Text 36"/>
          <p:cNvSpPr txBox="1"/>
          <p:nvPr/>
        </p:nvSpPr>
        <p:spPr>
          <a:xfrm>
            <a:off x="6157570" y="5376672"/>
            <a:ext cx="1397203" cy="438912"/>
          </a:xfrm>
          <a:prstGeom prst="rect">
            <a:avLst/>
          </a:prstGeom>
          <a:noFill/>
          <a:ln/>
        </p:spPr>
        <p:txBody>
          <a:bodyPr wrap="square" lIns="0" tIns="0" rIns="0" bIns="0" rtlCol="0" anchor="ctr"/>
          <a:lstStyle/>
          <a:p>
            <a:pPr algn="ctr" indent="0" marL="0">
              <a:lnSpc>
                <a:spcPts val="1400"/>
              </a:lnSpc>
              <a:buNone/>
            </a:pPr>
            <a:r>
              <a:rPr lang="en-US" sz="1050" dirty="0">
                <a:solidFill>
                  <a:srgbClr val="6A7B71"/>
                </a:solidFill>
                <a:latin typeface="Arial" pitchFamily="34" charset="0"/>
                <a:ea typeface="Arial" pitchFamily="34" charset="-122"/>
                <a:cs typeface="Arial" pitchFamily="34" charset="-120"/>
              </a:rPr>
              <a:t>decayed px / fruit px × 100</a:t>
            </a:r>
            <a:endParaRPr lang="en-US" sz="1050" dirty="0"/>
          </a:p>
        </p:txBody>
      </p:sp>
      <p:sp>
        <p:nvSpPr>
          <p:cNvPr id="45" name="Shape 37"/>
          <p:cNvSpPr/>
          <p:nvPr/>
        </p:nvSpPr>
        <p:spPr>
          <a:xfrm>
            <a:off x="7691933" y="4882896"/>
            <a:ext cx="146304" cy="182880"/>
          </a:xfrm>
          <a:prstGeom prst="rightArrow">
            <a:avLst/>
          </a:prstGeom>
          <a:solidFill>
            <a:srgbClr val="1C9A63"/>
          </a:solidFill>
          <a:ln w="12700">
            <a:solidFill>
              <a:srgbClr val="1C9A63"/>
            </a:solidFill>
            <a:prstDash val="solid"/>
          </a:ln>
        </p:spPr>
      </p:sp>
      <p:sp>
        <p:nvSpPr>
          <p:cNvPr id="46" name="Shape 38"/>
          <p:cNvSpPr/>
          <p:nvPr/>
        </p:nvSpPr>
        <p:spPr>
          <a:xfrm>
            <a:off x="7865669" y="4078224"/>
            <a:ext cx="1616659" cy="1792224"/>
          </a:xfrm>
          <a:prstGeom prst="roundRect">
            <a:avLst>
              <a:gd name="adj" fmla="val 5090"/>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47" name="Shape 39"/>
          <p:cNvSpPr/>
          <p:nvPr/>
        </p:nvSpPr>
        <p:spPr>
          <a:xfrm>
            <a:off x="8445398" y="4261104"/>
            <a:ext cx="457200" cy="457200"/>
          </a:xfrm>
          <a:prstGeom prst="ellipse">
            <a:avLst/>
          </a:prstGeom>
          <a:solidFill>
            <a:srgbClr val="1C9A63"/>
          </a:solidFill>
          <a:ln w="12700">
            <a:solidFill>
              <a:srgbClr val="1C9A63"/>
            </a:solidFill>
            <a:prstDash val="solid"/>
          </a:ln>
        </p:spPr>
      </p:sp>
      <p:pic>
        <p:nvPicPr>
          <p:cNvPr id="48" name="Image 6" descr="/home/user/Fresh-Vision/presentation/assets/icons/LuLayers.png">    </p:cNvPr>
          <p:cNvPicPr>
            <a:picLocks noChangeAspect="1"/>
          </p:cNvPicPr>
          <p:nvPr/>
        </p:nvPicPr>
        <p:blipFill>
          <a:blip r:embed="rId7"/>
          <a:stretch>
            <a:fillRect/>
          </a:stretch>
        </p:blipFill>
        <p:spPr>
          <a:xfrm>
            <a:off x="8568842" y="4384548"/>
            <a:ext cx="210312" cy="210312"/>
          </a:xfrm>
          <a:prstGeom prst="rect">
            <a:avLst/>
          </a:prstGeom>
        </p:spPr>
      </p:pic>
      <p:sp>
        <p:nvSpPr>
          <p:cNvPr id="49" name="Text 40"/>
          <p:cNvSpPr txBox="1"/>
          <p:nvPr/>
        </p:nvSpPr>
        <p:spPr>
          <a:xfrm>
            <a:off x="7865669" y="4791456"/>
            <a:ext cx="1616659" cy="219456"/>
          </a:xfrm>
          <a:prstGeom prst="rect">
            <a:avLst/>
          </a:prstGeom>
          <a:noFill/>
          <a:ln/>
        </p:spPr>
        <p:txBody>
          <a:bodyPr wrap="square" lIns="0" tIns="0" rIns="0" bIns="0" rtlCol="0" anchor="ctr"/>
          <a:lstStyle/>
          <a:p>
            <a:pPr algn="ctr" indent="0" marL="0">
              <a:buNone/>
            </a:pPr>
            <a:r>
              <a:rPr lang="en-US" sz="1000" b="1" spc="120" kern="0" dirty="0">
                <a:solidFill>
                  <a:srgbClr val="1C9A63"/>
                </a:solidFill>
                <a:latin typeface="Arial" pitchFamily="34" charset="0"/>
                <a:ea typeface="Arial" pitchFamily="34" charset="-122"/>
                <a:cs typeface="Arial" pitchFamily="34" charset="-120"/>
              </a:rPr>
              <a:t>05</a:t>
            </a:r>
            <a:endParaRPr lang="en-US" sz="1000" dirty="0"/>
          </a:p>
        </p:txBody>
      </p:sp>
      <p:sp>
        <p:nvSpPr>
          <p:cNvPr id="50" name="Text 41"/>
          <p:cNvSpPr txBox="1"/>
          <p:nvPr/>
        </p:nvSpPr>
        <p:spPr>
          <a:xfrm>
            <a:off x="7957109" y="5010912"/>
            <a:ext cx="1433779" cy="365760"/>
          </a:xfrm>
          <a:prstGeom prst="rect">
            <a:avLst/>
          </a:prstGeom>
          <a:noFill/>
          <a:ln/>
        </p:spPr>
        <p:txBody>
          <a:bodyPr wrap="square" lIns="0" tIns="0" rIns="0" bIns="0" rtlCol="0" anchor="t"/>
          <a:lstStyle/>
          <a:p>
            <a:pPr algn="ctr" indent="0" marL="0">
              <a:buNone/>
            </a:pPr>
            <a:r>
              <a:rPr lang="en-US" sz="1250" b="1" dirty="0">
                <a:solidFill>
                  <a:srgbClr val="10201A"/>
                </a:solidFill>
                <a:latin typeface="Arial" pitchFamily="34" charset="0"/>
                <a:ea typeface="Arial" pitchFamily="34" charset="-122"/>
                <a:cs typeface="Arial" pitchFamily="34" charset="-120"/>
              </a:rPr>
              <a:t>Per-fruit buckets</a:t>
            </a:r>
            <a:endParaRPr lang="en-US" sz="1250" dirty="0"/>
          </a:p>
        </p:txBody>
      </p:sp>
      <p:sp>
        <p:nvSpPr>
          <p:cNvPr id="51" name="Text 42"/>
          <p:cNvSpPr txBox="1"/>
          <p:nvPr/>
        </p:nvSpPr>
        <p:spPr>
          <a:xfrm>
            <a:off x="7975397" y="5376672"/>
            <a:ext cx="1397203" cy="438912"/>
          </a:xfrm>
          <a:prstGeom prst="rect">
            <a:avLst/>
          </a:prstGeom>
          <a:noFill/>
          <a:ln/>
        </p:spPr>
        <p:txBody>
          <a:bodyPr wrap="square" lIns="0" tIns="0" rIns="0" bIns="0" rtlCol="0" anchor="ctr"/>
          <a:lstStyle/>
          <a:p>
            <a:pPr algn="ctr" indent="0" marL="0">
              <a:lnSpc>
                <a:spcPts val="1400"/>
              </a:lnSpc>
              <a:buNone/>
            </a:pPr>
            <a:r>
              <a:rPr lang="en-US" sz="1050" dirty="0">
                <a:solidFill>
                  <a:srgbClr val="6A7B71"/>
                </a:solidFill>
                <a:latin typeface="Arial" pitchFamily="34" charset="0"/>
                <a:ea typeface="Arial" pitchFamily="34" charset="-122"/>
                <a:cs typeface="Arial" pitchFamily="34" charset="-120"/>
              </a:rPr>
              <a:t>Sorted per class, split into 5 groups.</a:t>
            </a:r>
            <a:endParaRPr lang="en-US" sz="1050" dirty="0"/>
          </a:p>
        </p:txBody>
      </p:sp>
      <p:sp>
        <p:nvSpPr>
          <p:cNvPr id="52" name="Shape 43"/>
          <p:cNvSpPr/>
          <p:nvPr/>
        </p:nvSpPr>
        <p:spPr>
          <a:xfrm>
            <a:off x="594360" y="6053328"/>
            <a:ext cx="8887968" cy="694944"/>
          </a:xfrm>
          <a:prstGeom prst="roundRect">
            <a:avLst>
              <a:gd name="adj" fmla="val 11842"/>
            </a:avLst>
          </a:prstGeom>
          <a:solidFill>
            <a:srgbClr val="EAF5EF"/>
          </a:solidFill>
          <a:ln w="12700">
            <a:solidFill>
              <a:srgbClr val="EAF5EF"/>
            </a:solidFill>
            <a:prstDash val="solid"/>
          </a:ln>
        </p:spPr>
      </p:sp>
      <p:sp>
        <p:nvSpPr>
          <p:cNvPr id="53" name="Text 44"/>
          <p:cNvSpPr txBox="1"/>
          <p:nvPr/>
        </p:nvSpPr>
        <p:spPr>
          <a:xfrm>
            <a:off x="868680" y="6053328"/>
            <a:ext cx="8339328" cy="694944"/>
          </a:xfrm>
          <a:prstGeom prst="rect">
            <a:avLst/>
          </a:prstGeom>
          <a:noFill/>
          <a:ln/>
        </p:spPr>
        <p:txBody>
          <a:bodyPr wrap="square" lIns="0" tIns="0" rIns="0" bIns="0" rtlCol="0" anchor="ctr"/>
          <a:lstStyle/>
          <a:p>
            <a:pPr indent="0" marL="0">
              <a:lnSpc>
                <a:spcPts val="1700"/>
              </a:lnSpc>
              <a:buNone/>
            </a:pPr>
            <a:r>
              <a:rPr lang="en-US" sz="1200" b="1" dirty="0">
                <a:solidFill>
                  <a:srgbClr val="0E5C3A"/>
                </a:solidFill>
                <a:latin typeface="Arial" pitchFamily="34" charset="0"/>
                <a:ea typeface="Arial" pitchFamily="34" charset="-122"/>
                <a:cs typeface="Arial" pitchFamily="34" charset="-120"/>
              </a:rPr>
              <a:t>Why per-fruit buckets:  </a:t>
            </a:r>
            <a:pPr indent="0" marL="0">
              <a:lnSpc>
                <a:spcPts val="1700"/>
              </a:lnSpc>
              <a:buNone/>
            </a:pPr>
            <a:r>
              <a:rPr lang="en-US" sz="1200" dirty="0">
                <a:solidFill>
                  <a:srgbClr val="3C4C43"/>
                </a:solidFill>
                <a:latin typeface="Arial" pitchFamily="34" charset="0"/>
                <a:ea typeface="Arial" pitchFamily="34" charset="-122"/>
                <a:cs typeface="Arial" pitchFamily="34" charset="-120"/>
              </a:rPr>
              <a:t>a rotten apple and a rotten banana brown at different rates, so one global threshold mislabels whole classes. Each class is bucketed against its own score distribution.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09</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03</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Transfer learning</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MobileNetV2 backbone, custom head, two-phase training</a:t>
            </a:r>
            <a:endParaRPr lang="en-US" sz="1250" dirty="0"/>
          </a:p>
        </p:txBody>
      </p:sp>
      <p:sp>
        <p:nvSpPr>
          <p:cNvPr id="7" name="Shape 5"/>
          <p:cNvSpPr/>
          <p:nvPr/>
        </p:nvSpPr>
        <p:spPr>
          <a:xfrm>
            <a:off x="594360" y="1627632"/>
            <a:ext cx="3886200" cy="5084064"/>
          </a:xfrm>
          <a:prstGeom prst="roundRect">
            <a:avLst>
              <a:gd name="adj" fmla="val 2118"/>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8" name="Text 6"/>
          <p:cNvSpPr txBox="1"/>
          <p:nvPr/>
        </p:nvSpPr>
        <p:spPr>
          <a:xfrm>
            <a:off x="832104" y="1792224"/>
            <a:ext cx="3410712" cy="237744"/>
          </a:xfrm>
          <a:prstGeom prst="rect">
            <a:avLst/>
          </a:prstGeom>
          <a:noFill/>
          <a:ln/>
        </p:spPr>
        <p:txBody>
          <a:bodyPr wrap="square" lIns="0" tIns="0" rIns="0" bIns="0" rtlCol="0" anchor="ctr"/>
          <a:lstStyle/>
          <a:p>
            <a:pPr indent="0" marL="0">
              <a:buNone/>
            </a:pPr>
            <a:r>
              <a:rPr lang="en-US" sz="1000" b="1" spc="180" kern="0" dirty="0">
                <a:solidFill>
                  <a:srgbClr val="1C9A63"/>
                </a:solidFill>
                <a:latin typeface="Arial" pitchFamily="34" charset="0"/>
                <a:ea typeface="Arial" pitchFamily="34" charset="-122"/>
                <a:cs typeface="Arial" pitchFamily="34" charset="-120"/>
              </a:rPr>
              <a:t>NETWORK ARCHITECTURE</a:t>
            </a:r>
            <a:endParaRPr lang="en-US" sz="1000" dirty="0"/>
          </a:p>
        </p:txBody>
      </p:sp>
      <p:sp>
        <p:nvSpPr>
          <p:cNvPr id="9" name="Shape 7"/>
          <p:cNvSpPr/>
          <p:nvPr/>
        </p:nvSpPr>
        <p:spPr>
          <a:xfrm>
            <a:off x="832104" y="2139696"/>
            <a:ext cx="3410712" cy="749808"/>
          </a:xfrm>
          <a:prstGeom prst="roundRect">
            <a:avLst>
              <a:gd name="adj" fmla="val 10976"/>
            </a:avLst>
          </a:prstGeom>
          <a:solidFill>
            <a:srgbClr val="FFFFFF"/>
          </a:solidFill>
          <a:ln w="12700">
            <a:solidFill>
              <a:srgbClr val="DCE7E1"/>
            </a:solidFill>
            <a:prstDash val="solid"/>
          </a:ln>
          <a:effectLst>
            <a:outerShdw sx="100000" sy="100000" kx="0" ky="0" algn="bl" rotWithShape="0" blurRad="76200" dist="25400" dir="5400000">
              <a:srgbClr val="0A1F16">
                <a:alpha val="7000"/>
              </a:srgbClr>
            </a:outerShdw>
          </a:effectLst>
        </p:spPr>
      </p:sp>
      <p:sp>
        <p:nvSpPr>
          <p:cNvPr id="10" name="Text 8"/>
          <p:cNvSpPr txBox="1"/>
          <p:nvPr/>
        </p:nvSpPr>
        <p:spPr>
          <a:xfrm>
            <a:off x="996696" y="2231136"/>
            <a:ext cx="3081528" cy="256032"/>
          </a:xfrm>
          <a:prstGeom prst="rect">
            <a:avLst/>
          </a:prstGeom>
          <a:noFill/>
          <a:ln/>
        </p:spPr>
        <p:txBody>
          <a:bodyPr wrap="square" lIns="0" tIns="0" rIns="0" bIns="0" rtlCol="0" anchor="ctr"/>
          <a:lstStyle/>
          <a:p>
            <a:pPr indent="0" marL="0">
              <a:buNone/>
            </a:pPr>
            <a:r>
              <a:rPr lang="en-US" sz="1250" b="1" dirty="0">
                <a:solidFill>
                  <a:srgbClr val="0E5C3A"/>
                </a:solidFill>
                <a:latin typeface="Arial" pitchFamily="34" charset="0"/>
                <a:ea typeface="Arial" pitchFamily="34" charset="-122"/>
                <a:cs typeface="Arial" pitchFamily="34" charset="-120"/>
              </a:rPr>
              <a:t>MobileNetV2 backbone</a:t>
            </a:r>
            <a:endParaRPr lang="en-US" sz="1250" dirty="0"/>
          </a:p>
        </p:txBody>
      </p:sp>
      <p:sp>
        <p:nvSpPr>
          <p:cNvPr id="11" name="Text 9"/>
          <p:cNvSpPr txBox="1"/>
          <p:nvPr/>
        </p:nvSpPr>
        <p:spPr>
          <a:xfrm>
            <a:off x="996696" y="2487168"/>
            <a:ext cx="3081528" cy="365760"/>
          </a:xfrm>
          <a:prstGeom prst="rect">
            <a:avLst/>
          </a:prstGeom>
          <a:noFill/>
          <a:ln/>
        </p:spPr>
        <p:txBody>
          <a:bodyPr wrap="square" lIns="0" tIns="0" rIns="0" bIns="0" rtlCol="0" anchor="ctr"/>
          <a:lstStyle/>
          <a:p>
            <a:pPr indent="0" marL="0">
              <a:lnSpc>
                <a:spcPts val="1400"/>
              </a:lnSpc>
              <a:buNone/>
            </a:pPr>
            <a:r>
              <a:rPr lang="en-US" sz="1050" dirty="0">
                <a:solidFill>
                  <a:srgbClr val="6A7B71"/>
                </a:solidFill>
                <a:latin typeface="Arial" pitchFamily="34" charset="0"/>
                <a:ea typeface="Arial" pitchFamily="34" charset="-122"/>
                <a:cs typeface="Arial" pitchFamily="34" charset="-120"/>
              </a:rPr>
              <a:t>224x224x3 · ~2.2 M params · depthwise-separable convs, inverted residuals</a:t>
            </a:r>
            <a:endParaRPr lang="en-US" sz="1050" dirty="0"/>
          </a:p>
        </p:txBody>
      </p:sp>
      <p:sp>
        <p:nvSpPr>
          <p:cNvPr id="12" name="Shape 10"/>
          <p:cNvSpPr/>
          <p:nvPr/>
        </p:nvSpPr>
        <p:spPr>
          <a:xfrm>
            <a:off x="2446020" y="2916936"/>
            <a:ext cx="182880" cy="118872"/>
          </a:xfrm>
          <a:prstGeom prst="downArrow">
            <a:avLst/>
          </a:prstGeom>
          <a:solidFill>
            <a:srgbClr val="1C9A63"/>
          </a:solidFill>
          <a:ln w="12700">
            <a:solidFill>
              <a:srgbClr val="1C9A63"/>
            </a:solidFill>
            <a:prstDash val="solid"/>
          </a:ln>
        </p:spPr>
      </p:sp>
      <p:sp>
        <p:nvSpPr>
          <p:cNvPr id="13" name="Shape 11"/>
          <p:cNvSpPr/>
          <p:nvPr/>
        </p:nvSpPr>
        <p:spPr>
          <a:xfrm>
            <a:off x="832104" y="3054096"/>
            <a:ext cx="3410712" cy="749808"/>
          </a:xfrm>
          <a:prstGeom prst="roundRect">
            <a:avLst>
              <a:gd name="adj" fmla="val 10976"/>
            </a:avLst>
          </a:prstGeom>
          <a:solidFill>
            <a:srgbClr val="FFFFFF"/>
          </a:solidFill>
          <a:ln w="12700">
            <a:solidFill>
              <a:srgbClr val="DCE7E1"/>
            </a:solidFill>
            <a:prstDash val="solid"/>
          </a:ln>
          <a:effectLst>
            <a:outerShdw sx="100000" sy="100000" kx="0" ky="0" algn="bl" rotWithShape="0" blurRad="76200" dist="25400" dir="5400000">
              <a:srgbClr val="0A1F16">
                <a:alpha val="7000"/>
              </a:srgbClr>
            </a:outerShdw>
          </a:effectLst>
        </p:spPr>
      </p:sp>
      <p:sp>
        <p:nvSpPr>
          <p:cNvPr id="14" name="Text 12"/>
          <p:cNvSpPr txBox="1"/>
          <p:nvPr/>
        </p:nvSpPr>
        <p:spPr>
          <a:xfrm>
            <a:off x="996696" y="3145536"/>
            <a:ext cx="3081528" cy="256032"/>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GlobalAveragePooling2D</a:t>
            </a:r>
            <a:endParaRPr lang="en-US" sz="1250" dirty="0"/>
          </a:p>
        </p:txBody>
      </p:sp>
      <p:sp>
        <p:nvSpPr>
          <p:cNvPr id="15" name="Text 13"/>
          <p:cNvSpPr txBox="1"/>
          <p:nvPr/>
        </p:nvSpPr>
        <p:spPr>
          <a:xfrm>
            <a:off x="996696" y="3401568"/>
            <a:ext cx="3081528" cy="365760"/>
          </a:xfrm>
          <a:prstGeom prst="rect">
            <a:avLst/>
          </a:prstGeom>
          <a:noFill/>
          <a:ln/>
        </p:spPr>
        <p:txBody>
          <a:bodyPr wrap="square" lIns="0" tIns="0" rIns="0" bIns="0" rtlCol="0" anchor="ctr"/>
          <a:lstStyle/>
          <a:p>
            <a:pPr indent="0" marL="0">
              <a:lnSpc>
                <a:spcPts val="1400"/>
              </a:lnSpc>
              <a:buNone/>
            </a:pPr>
            <a:r>
              <a:rPr lang="en-US" sz="1050" dirty="0">
                <a:solidFill>
                  <a:srgbClr val="6A7B71"/>
                </a:solidFill>
                <a:latin typeface="Arial" pitchFamily="34" charset="0"/>
                <a:ea typeface="Arial" pitchFamily="34" charset="-122"/>
                <a:cs typeface="Arial" pitchFamily="34" charset="-120"/>
              </a:rPr>
              <a:t>7x7x1280 feature map → 1280-vector</a:t>
            </a:r>
            <a:endParaRPr lang="en-US" sz="1050" dirty="0"/>
          </a:p>
        </p:txBody>
      </p:sp>
      <p:sp>
        <p:nvSpPr>
          <p:cNvPr id="16" name="Shape 14"/>
          <p:cNvSpPr/>
          <p:nvPr/>
        </p:nvSpPr>
        <p:spPr>
          <a:xfrm>
            <a:off x="2446020" y="3831336"/>
            <a:ext cx="182880" cy="118872"/>
          </a:xfrm>
          <a:prstGeom prst="downArrow">
            <a:avLst/>
          </a:prstGeom>
          <a:solidFill>
            <a:srgbClr val="1C9A63"/>
          </a:solidFill>
          <a:ln w="12700">
            <a:solidFill>
              <a:srgbClr val="1C9A63"/>
            </a:solidFill>
            <a:prstDash val="solid"/>
          </a:ln>
        </p:spPr>
      </p:sp>
      <p:sp>
        <p:nvSpPr>
          <p:cNvPr id="17" name="Shape 15"/>
          <p:cNvSpPr/>
          <p:nvPr/>
        </p:nvSpPr>
        <p:spPr>
          <a:xfrm>
            <a:off x="832104" y="3968496"/>
            <a:ext cx="3410712" cy="749808"/>
          </a:xfrm>
          <a:prstGeom prst="roundRect">
            <a:avLst>
              <a:gd name="adj" fmla="val 10976"/>
            </a:avLst>
          </a:prstGeom>
          <a:solidFill>
            <a:srgbClr val="FFFFFF"/>
          </a:solidFill>
          <a:ln w="12700">
            <a:solidFill>
              <a:srgbClr val="DCE7E1"/>
            </a:solidFill>
            <a:prstDash val="solid"/>
          </a:ln>
          <a:effectLst>
            <a:outerShdw sx="100000" sy="100000" kx="0" ky="0" algn="bl" rotWithShape="0" blurRad="76200" dist="25400" dir="5400000">
              <a:srgbClr val="0A1F16">
                <a:alpha val="7000"/>
              </a:srgbClr>
            </a:outerShdw>
          </a:effectLst>
        </p:spPr>
      </p:sp>
      <p:sp>
        <p:nvSpPr>
          <p:cNvPr id="18" name="Text 16"/>
          <p:cNvSpPr txBox="1"/>
          <p:nvPr/>
        </p:nvSpPr>
        <p:spPr>
          <a:xfrm>
            <a:off x="996696" y="4059936"/>
            <a:ext cx="3081528" cy="256032"/>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Dense(128, ReLU)</a:t>
            </a:r>
            <a:endParaRPr lang="en-US" sz="1250" dirty="0"/>
          </a:p>
        </p:txBody>
      </p:sp>
      <p:sp>
        <p:nvSpPr>
          <p:cNvPr id="19" name="Text 17"/>
          <p:cNvSpPr txBox="1"/>
          <p:nvPr/>
        </p:nvSpPr>
        <p:spPr>
          <a:xfrm>
            <a:off x="996696" y="4315968"/>
            <a:ext cx="3081528" cy="365760"/>
          </a:xfrm>
          <a:prstGeom prst="rect">
            <a:avLst/>
          </a:prstGeom>
          <a:noFill/>
          <a:ln/>
        </p:spPr>
        <p:txBody>
          <a:bodyPr wrap="square" lIns="0" tIns="0" rIns="0" bIns="0" rtlCol="0" anchor="ctr"/>
          <a:lstStyle/>
          <a:p>
            <a:pPr indent="0" marL="0">
              <a:lnSpc>
                <a:spcPts val="1400"/>
              </a:lnSpc>
              <a:buNone/>
            </a:pPr>
            <a:r>
              <a:rPr lang="en-US" sz="1050" dirty="0">
                <a:solidFill>
                  <a:srgbClr val="6A7B71"/>
                </a:solidFill>
                <a:latin typeface="Arial" pitchFamily="34" charset="0"/>
                <a:ea typeface="Arial" pitchFamily="34" charset="-122"/>
                <a:cs typeface="Arial" pitchFamily="34" charset="-120"/>
              </a:rPr>
              <a:t>Task-specific representation</a:t>
            </a:r>
            <a:endParaRPr lang="en-US" sz="1050" dirty="0"/>
          </a:p>
        </p:txBody>
      </p:sp>
      <p:sp>
        <p:nvSpPr>
          <p:cNvPr id="20" name="Shape 18"/>
          <p:cNvSpPr/>
          <p:nvPr/>
        </p:nvSpPr>
        <p:spPr>
          <a:xfrm>
            <a:off x="2446020" y="4745736"/>
            <a:ext cx="182880" cy="118872"/>
          </a:xfrm>
          <a:prstGeom prst="downArrow">
            <a:avLst/>
          </a:prstGeom>
          <a:solidFill>
            <a:srgbClr val="1C9A63"/>
          </a:solidFill>
          <a:ln w="12700">
            <a:solidFill>
              <a:srgbClr val="1C9A63"/>
            </a:solidFill>
            <a:prstDash val="solid"/>
          </a:ln>
        </p:spPr>
      </p:sp>
      <p:sp>
        <p:nvSpPr>
          <p:cNvPr id="21" name="Shape 19"/>
          <p:cNvSpPr/>
          <p:nvPr/>
        </p:nvSpPr>
        <p:spPr>
          <a:xfrm>
            <a:off x="832104" y="4882896"/>
            <a:ext cx="3410712" cy="749808"/>
          </a:xfrm>
          <a:prstGeom prst="roundRect">
            <a:avLst>
              <a:gd name="adj" fmla="val 10976"/>
            </a:avLst>
          </a:prstGeom>
          <a:solidFill>
            <a:srgbClr val="FFFFFF"/>
          </a:solidFill>
          <a:ln w="12700">
            <a:solidFill>
              <a:srgbClr val="DCE7E1"/>
            </a:solidFill>
            <a:prstDash val="solid"/>
          </a:ln>
          <a:effectLst>
            <a:outerShdw sx="100000" sy="100000" kx="0" ky="0" algn="bl" rotWithShape="0" blurRad="76200" dist="25400" dir="5400000">
              <a:srgbClr val="0A1F16">
                <a:alpha val="7000"/>
              </a:srgbClr>
            </a:outerShdw>
          </a:effectLst>
        </p:spPr>
      </p:sp>
      <p:sp>
        <p:nvSpPr>
          <p:cNvPr id="22" name="Text 20"/>
          <p:cNvSpPr txBox="1"/>
          <p:nvPr/>
        </p:nvSpPr>
        <p:spPr>
          <a:xfrm>
            <a:off x="996696" y="4974336"/>
            <a:ext cx="3081528" cy="256032"/>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Dropout(0.3)</a:t>
            </a:r>
            <a:endParaRPr lang="en-US" sz="1250" dirty="0"/>
          </a:p>
        </p:txBody>
      </p:sp>
      <p:sp>
        <p:nvSpPr>
          <p:cNvPr id="23" name="Text 21"/>
          <p:cNvSpPr txBox="1"/>
          <p:nvPr/>
        </p:nvSpPr>
        <p:spPr>
          <a:xfrm>
            <a:off x="996696" y="5230368"/>
            <a:ext cx="3081528" cy="365760"/>
          </a:xfrm>
          <a:prstGeom prst="rect">
            <a:avLst/>
          </a:prstGeom>
          <a:noFill/>
          <a:ln/>
        </p:spPr>
        <p:txBody>
          <a:bodyPr wrap="square" lIns="0" tIns="0" rIns="0" bIns="0" rtlCol="0" anchor="ctr"/>
          <a:lstStyle/>
          <a:p>
            <a:pPr indent="0" marL="0">
              <a:lnSpc>
                <a:spcPts val="1400"/>
              </a:lnSpc>
              <a:buNone/>
            </a:pPr>
            <a:r>
              <a:rPr lang="en-US" sz="1050" dirty="0">
                <a:solidFill>
                  <a:srgbClr val="6A7B71"/>
                </a:solidFill>
                <a:latin typeface="Arial" pitchFamily="34" charset="0"/>
                <a:ea typeface="Arial" pitchFamily="34" charset="-122"/>
                <a:cs typeface="Arial" pitchFamily="34" charset="-120"/>
              </a:rPr>
              <a:t>Regularisation against overfitting</a:t>
            </a:r>
            <a:endParaRPr lang="en-US" sz="1050" dirty="0"/>
          </a:p>
        </p:txBody>
      </p:sp>
      <p:sp>
        <p:nvSpPr>
          <p:cNvPr id="24" name="Shape 22"/>
          <p:cNvSpPr/>
          <p:nvPr/>
        </p:nvSpPr>
        <p:spPr>
          <a:xfrm>
            <a:off x="2446020" y="5660136"/>
            <a:ext cx="182880" cy="118872"/>
          </a:xfrm>
          <a:prstGeom prst="downArrow">
            <a:avLst/>
          </a:prstGeom>
          <a:solidFill>
            <a:srgbClr val="1C9A63"/>
          </a:solidFill>
          <a:ln w="12700">
            <a:solidFill>
              <a:srgbClr val="1C9A63"/>
            </a:solidFill>
            <a:prstDash val="solid"/>
          </a:ln>
        </p:spPr>
      </p:sp>
      <p:sp>
        <p:nvSpPr>
          <p:cNvPr id="25" name="Shape 23"/>
          <p:cNvSpPr/>
          <p:nvPr/>
        </p:nvSpPr>
        <p:spPr>
          <a:xfrm>
            <a:off x="832104" y="5797296"/>
            <a:ext cx="3410712" cy="749808"/>
          </a:xfrm>
          <a:prstGeom prst="roundRect">
            <a:avLst>
              <a:gd name="adj" fmla="val 10976"/>
            </a:avLst>
          </a:prstGeom>
          <a:solidFill>
            <a:srgbClr val="FFFFFF"/>
          </a:solidFill>
          <a:ln w="12700">
            <a:solidFill>
              <a:srgbClr val="DCE7E1"/>
            </a:solidFill>
            <a:prstDash val="solid"/>
          </a:ln>
          <a:effectLst>
            <a:outerShdw sx="100000" sy="100000" kx="0" ky="0" algn="bl" rotWithShape="0" blurRad="76200" dist="25400" dir="5400000">
              <a:srgbClr val="0A1F16">
                <a:alpha val="7000"/>
              </a:srgbClr>
            </a:outerShdw>
          </a:effectLst>
        </p:spPr>
      </p:sp>
      <p:sp>
        <p:nvSpPr>
          <p:cNvPr id="26" name="Text 24"/>
          <p:cNvSpPr txBox="1"/>
          <p:nvPr/>
        </p:nvSpPr>
        <p:spPr>
          <a:xfrm>
            <a:off x="996696" y="5888736"/>
            <a:ext cx="3081528" cy="256032"/>
          </a:xfrm>
          <a:prstGeom prst="rect">
            <a:avLst/>
          </a:prstGeom>
          <a:noFill/>
          <a:ln/>
        </p:spPr>
        <p:txBody>
          <a:bodyPr wrap="square" lIns="0" tIns="0" rIns="0" bIns="0" rtlCol="0" anchor="ctr"/>
          <a:lstStyle/>
          <a:p>
            <a:pPr indent="0" marL="0">
              <a:buNone/>
            </a:pPr>
            <a:r>
              <a:rPr lang="en-US" sz="1250" b="1" dirty="0">
                <a:solidFill>
                  <a:srgbClr val="10201A"/>
                </a:solidFill>
                <a:latin typeface="Arial" pitchFamily="34" charset="0"/>
                <a:ea typeface="Arial" pitchFamily="34" charset="-122"/>
                <a:cs typeface="Arial" pitchFamily="34" charset="-120"/>
              </a:rPr>
              <a:t>Dense(N, Softmax)</a:t>
            </a:r>
            <a:endParaRPr lang="en-US" sz="1250" dirty="0"/>
          </a:p>
        </p:txBody>
      </p:sp>
      <p:sp>
        <p:nvSpPr>
          <p:cNvPr id="27" name="Text 25"/>
          <p:cNvSpPr txBox="1"/>
          <p:nvPr/>
        </p:nvSpPr>
        <p:spPr>
          <a:xfrm>
            <a:off x="996696" y="6144768"/>
            <a:ext cx="3081528" cy="365760"/>
          </a:xfrm>
          <a:prstGeom prst="rect">
            <a:avLst/>
          </a:prstGeom>
          <a:noFill/>
          <a:ln/>
        </p:spPr>
        <p:txBody>
          <a:bodyPr wrap="square" lIns="0" tIns="0" rIns="0" bIns="0" rtlCol="0" anchor="ctr"/>
          <a:lstStyle/>
          <a:p>
            <a:pPr indent="0" marL="0">
              <a:lnSpc>
                <a:spcPts val="1400"/>
              </a:lnSpc>
              <a:buNone/>
            </a:pPr>
            <a:r>
              <a:rPr lang="en-US" sz="1050" dirty="0">
                <a:solidFill>
                  <a:srgbClr val="6A7B71"/>
                </a:solidFill>
                <a:latin typeface="Arial" pitchFamily="34" charset="0"/>
                <a:ea typeface="Arial" pitchFamily="34" charset="-122"/>
                <a:cs typeface="Arial" pitchFamily="34" charset="-120"/>
              </a:rPr>
              <a:t>N = 14 (identifier) or 5 (freshness)</a:t>
            </a:r>
            <a:endParaRPr lang="en-US" sz="1050" dirty="0"/>
          </a:p>
        </p:txBody>
      </p:sp>
      <p:sp>
        <p:nvSpPr>
          <p:cNvPr id="28" name="Shape 26"/>
          <p:cNvSpPr/>
          <p:nvPr/>
        </p:nvSpPr>
        <p:spPr>
          <a:xfrm>
            <a:off x="4846320" y="1627632"/>
            <a:ext cx="4636008" cy="1773936"/>
          </a:xfrm>
          <a:prstGeom prst="roundRect">
            <a:avLst>
              <a:gd name="adj" fmla="val 4639"/>
            </a:avLst>
          </a:prstGeom>
          <a:solidFill>
            <a:srgbClr val="FFFFFF"/>
          </a:solidFill>
          <a:ln w="15875">
            <a:solidFill>
              <a:srgbClr val="0E5C3A"/>
            </a:solidFill>
            <a:prstDash val="solid"/>
          </a:ln>
          <a:effectLst>
            <a:outerShdw sx="100000" sy="100000" kx="0" ky="0" algn="bl" rotWithShape="0" blurRad="127000" dist="25400" dir="5400000">
              <a:srgbClr val="0A1F16">
                <a:alpha val="10000"/>
              </a:srgbClr>
            </a:outerShdw>
          </a:effectLst>
        </p:spPr>
      </p:sp>
      <p:sp>
        <p:nvSpPr>
          <p:cNvPr id="29" name="Shape 27"/>
          <p:cNvSpPr/>
          <p:nvPr/>
        </p:nvSpPr>
        <p:spPr>
          <a:xfrm>
            <a:off x="5102352" y="1865376"/>
            <a:ext cx="457200" cy="457200"/>
          </a:xfrm>
          <a:prstGeom prst="ellipse">
            <a:avLst/>
          </a:prstGeom>
          <a:solidFill>
            <a:srgbClr val="0E5C3A"/>
          </a:solidFill>
          <a:ln w="12700">
            <a:solidFill>
              <a:srgbClr val="0E5C3A"/>
            </a:solidFill>
            <a:prstDash val="solid"/>
          </a:ln>
        </p:spPr>
      </p:sp>
      <p:pic>
        <p:nvPicPr>
          <p:cNvPr id="30" name="Image 0" descr="/home/user/Fresh-Vision/presentation/assets/icons/LuLayers.png">    </p:cNvPr>
          <p:cNvPicPr>
            <a:picLocks noChangeAspect="1"/>
          </p:cNvPicPr>
          <p:nvPr/>
        </p:nvPicPr>
        <p:blipFill>
          <a:blip r:embed="rId1"/>
          <a:stretch>
            <a:fillRect/>
          </a:stretch>
        </p:blipFill>
        <p:spPr>
          <a:xfrm>
            <a:off x="5225796" y="1988820"/>
            <a:ext cx="210312" cy="210312"/>
          </a:xfrm>
          <a:prstGeom prst="rect">
            <a:avLst/>
          </a:prstGeom>
        </p:spPr>
      </p:pic>
      <p:sp>
        <p:nvSpPr>
          <p:cNvPr id="31" name="Text 28"/>
          <p:cNvSpPr txBox="1"/>
          <p:nvPr/>
        </p:nvSpPr>
        <p:spPr>
          <a:xfrm>
            <a:off x="5687568" y="1865376"/>
            <a:ext cx="2350008" cy="201168"/>
          </a:xfrm>
          <a:prstGeom prst="rect">
            <a:avLst/>
          </a:prstGeom>
          <a:noFill/>
          <a:ln/>
        </p:spPr>
        <p:txBody>
          <a:bodyPr wrap="square" lIns="0" tIns="0" rIns="0" bIns="0" rtlCol="0" anchor="ctr"/>
          <a:lstStyle/>
          <a:p>
            <a:pPr indent="0" marL="0">
              <a:buNone/>
            </a:pPr>
            <a:r>
              <a:rPr lang="en-US" sz="950" b="1" spc="160" kern="0" dirty="0">
                <a:solidFill>
                  <a:srgbClr val="0E5C3A"/>
                </a:solidFill>
                <a:latin typeface="Arial" pitchFamily="34" charset="0"/>
                <a:ea typeface="Arial" pitchFamily="34" charset="-122"/>
                <a:cs typeface="Arial" pitchFamily="34" charset="-120"/>
              </a:rPr>
              <a:t>PHASE 1</a:t>
            </a:r>
            <a:endParaRPr lang="en-US" sz="950" dirty="0"/>
          </a:p>
        </p:txBody>
      </p:sp>
      <p:sp>
        <p:nvSpPr>
          <p:cNvPr id="32" name="Text 29"/>
          <p:cNvSpPr txBox="1"/>
          <p:nvPr/>
        </p:nvSpPr>
        <p:spPr>
          <a:xfrm>
            <a:off x="5687568" y="2048256"/>
            <a:ext cx="2350008" cy="292608"/>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Feature extraction</a:t>
            </a:r>
            <a:endParaRPr lang="en-US" sz="1600" dirty="0"/>
          </a:p>
        </p:txBody>
      </p:sp>
      <p:sp>
        <p:nvSpPr>
          <p:cNvPr id="33" name="Text 30"/>
          <p:cNvSpPr txBox="1"/>
          <p:nvPr/>
        </p:nvSpPr>
        <p:spPr>
          <a:xfrm>
            <a:off x="7790688" y="1847088"/>
            <a:ext cx="1463040" cy="402336"/>
          </a:xfrm>
          <a:prstGeom prst="rect">
            <a:avLst/>
          </a:prstGeom>
          <a:noFill/>
          <a:ln/>
        </p:spPr>
        <p:txBody>
          <a:bodyPr wrap="square" lIns="0" tIns="0" rIns="0" bIns="0" rtlCol="0" anchor="ctr"/>
          <a:lstStyle/>
          <a:p>
            <a:pPr algn="r" indent="0" marL="0">
              <a:buNone/>
            </a:pPr>
            <a:r>
              <a:rPr lang="en-US" sz="2400" b="1" dirty="0">
                <a:solidFill>
                  <a:srgbClr val="0E5C3A"/>
                </a:solidFill>
                <a:latin typeface="Arial" pitchFamily="34" charset="0"/>
                <a:ea typeface="Arial" pitchFamily="34" charset="-122"/>
                <a:cs typeface="Arial" pitchFamily="34" charset="-120"/>
              </a:rPr>
              <a:t>77.8%</a:t>
            </a:r>
            <a:endParaRPr lang="en-US" sz="2400" dirty="0"/>
          </a:p>
        </p:txBody>
      </p:sp>
      <p:sp>
        <p:nvSpPr>
          <p:cNvPr id="34" name="Text 31"/>
          <p:cNvSpPr txBox="1"/>
          <p:nvPr/>
        </p:nvSpPr>
        <p:spPr>
          <a:xfrm>
            <a:off x="7790688" y="2249424"/>
            <a:ext cx="1463040" cy="201168"/>
          </a:xfrm>
          <a:prstGeom prst="rect">
            <a:avLst/>
          </a:prstGeom>
          <a:noFill/>
          <a:ln/>
        </p:spPr>
        <p:txBody>
          <a:bodyPr wrap="square" lIns="0" tIns="0" rIns="0" bIns="0" rtlCol="0" anchor="ctr"/>
          <a:lstStyle/>
          <a:p>
            <a:pPr algn="r" indent="0" marL="0">
              <a:buNone/>
            </a:pPr>
            <a:r>
              <a:rPr lang="en-US" sz="950" dirty="0">
                <a:solidFill>
                  <a:srgbClr val="6A7B71"/>
                </a:solidFill>
                <a:latin typeface="Arial" pitchFamily="34" charset="0"/>
                <a:ea typeface="Arial" pitchFamily="34" charset="-122"/>
                <a:cs typeface="Arial" pitchFamily="34" charset="-120"/>
              </a:rPr>
              <a:t>validation accuracy</a:t>
            </a:r>
            <a:endParaRPr lang="en-US" sz="950" dirty="0"/>
          </a:p>
        </p:txBody>
      </p:sp>
      <p:sp>
        <p:nvSpPr>
          <p:cNvPr id="35" name="Text 32"/>
          <p:cNvSpPr txBox="1"/>
          <p:nvPr/>
        </p:nvSpPr>
        <p:spPr>
          <a:xfrm>
            <a:off x="5120640" y="2596896"/>
            <a:ext cx="4087368" cy="694944"/>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150" dirty="0">
                <a:solidFill>
                  <a:srgbClr val="3C4C43"/>
                </a:solidFill>
                <a:latin typeface="Arial" pitchFamily="34" charset="0"/>
                <a:ea typeface="Arial" pitchFamily="34" charset="-122"/>
                <a:cs typeface="Arial" pitchFamily="34" charset="-120"/>
              </a:rPr>
              <a:t>Entire backbone frozen — only the new head trains</a:t>
            </a:r>
            <a:endParaRPr lang="en-US" sz="1150" dirty="0"/>
          </a:p>
          <a:p>
            <a:pPr marL="342900" indent="-342900">
              <a:lnSpc>
                <a:spcPts val="1600"/>
              </a:lnSpc>
              <a:spcAft>
                <a:spcPts val="400"/>
              </a:spcAft>
              <a:buSzPct val="100000"/>
              <a:buChar char="•"/>
            </a:pPr>
            <a:r>
              <a:rPr lang="en-US" sz="1150" dirty="0">
                <a:solidFill>
                  <a:srgbClr val="3C4C43"/>
                </a:solidFill>
                <a:latin typeface="Arial" pitchFamily="34" charset="0"/>
                <a:ea typeface="Arial" pitchFamily="34" charset="-122"/>
                <a:cs typeface="Arial" pitchFamily="34" charset="-120"/>
              </a:rPr>
              <a:t>Adam, categorical cross-entropy, 5 epochs</a:t>
            </a:r>
            <a:endParaRPr lang="en-US" sz="1150" dirty="0"/>
          </a:p>
        </p:txBody>
      </p:sp>
      <p:sp>
        <p:nvSpPr>
          <p:cNvPr id="36" name="Shape 33"/>
          <p:cNvSpPr/>
          <p:nvPr/>
        </p:nvSpPr>
        <p:spPr>
          <a:xfrm>
            <a:off x="4846320" y="3584448"/>
            <a:ext cx="4636008" cy="1773936"/>
          </a:xfrm>
          <a:prstGeom prst="roundRect">
            <a:avLst>
              <a:gd name="adj" fmla="val 4639"/>
            </a:avLst>
          </a:prstGeom>
          <a:solidFill>
            <a:srgbClr val="FFFFFF"/>
          </a:solidFill>
          <a:ln w="15875">
            <a:solidFill>
              <a:srgbClr val="1C9A63"/>
            </a:solidFill>
            <a:prstDash val="solid"/>
          </a:ln>
          <a:effectLst>
            <a:outerShdw sx="100000" sy="100000" kx="0" ky="0" algn="bl" rotWithShape="0" blurRad="127000" dist="25400" dir="5400000">
              <a:srgbClr val="0A1F16">
                <a:alpha val="10000"/>
              </a:srgbClr>
            </a:outerShdw>
          </a:effectLst>
        </p:spPr>
      </p:sp>
      <p:sp>
        <p:nvSpPr>
          <p:cNvPr id="37" name="Shape 34"/>
          <p:cNvSpPr/>
          <p:nvPr/>
        </p:nvSpPr>
        <p:spPr>
          <a:xfrm>
            <a:off x="5102352" y="3822192"/>
            <a:ext cx="457200" cy="457200"/>
          </a:xfrm>
          <a:prstGeom prst="ellipse">
            <a:avLst/>
          </a:prstGeom>
          <a:solidFill>
            <a:srgbClr val="1C9A63"/>
          </a:solidFill>
          <a:ln w="12700">
            <a:solidFill>
              <a:srgbClr val="1C9A63"/>
            </a:solidFill>
            <a:prstDash val="solid"/>
          </a:ln>
        </p:spPr>
      </p:sp>
      <p:pic>
        <p:nvPicPr>
          <p:cNvPr id="38" name="Image 1" descr="/home/user/Fresh-Vision/presentation/assets/icons/LuSlidersHorizontal.png">    </p:cNvPr>
          <p:cNvPicPr>
            <a:picLocks noChangeAspect="1"/>
          </p:cNvPicPr>
          <p:nvPr/>
        </p:nvPicPr>
        <p:blipFill>
          <a:blip r:embed="rId2"/>
          <a:stretch>
            <a:fillRect/>
          </a:stretch>
        </p:blipFill>
        <p:spPr>
          <a:xfrm>
            <a:off x="5225796" y="3945636"/>
            <a:ext cx="210312" cy="210312"/>
          </a:xfrm>
          <a:prstGeom prst="rect">
            <a:avLst/>
          </a:prstGeom>
        </p:spPr>
      </p:pic>
      <p:sp>
        <p:nvSpPr>
          <p:cNvPr id="39" name="Text 35"/>
          <p:cNvSpPr txBox="1"/>
          <p:nvPr/>
        </p:nvSpPr>
        <p:spPr>
          <a:xfrm>
            <a:off x="5687568" y="3822192"/>
            <a:ext cx="2350008" cy="201168"/>
          </a:xfrm>
          <a:prstGeom prst="rect">
            <a:avLst/>
          </a:prstGeom>
          <a:noFill/>
          <a:ln/>
        </p:spPr>
        <p:txBody>
          <a:bodyPr wrap="square" lIns="0" tIns="0" rIns="0" bIns="0" rtlCol="0" anchor="ctr"/>
          <a:lstStyle/>
          <a:p>
            <a:pPr indent="0" marL="0">
              <a:buNone/>
            </a:pPr>
            <a:r>
              <a:rPr lang="en-US" sz="950" b="1" spc="160" kern="0" dirty="0">
                <a:solidFill>
                  <a:srgbClr val="1C9A63"/>
                </a:solidFill>
                <a:latin typeface="Arial" pitchFamily="34" charset="0"/>
                <a:ea typeface="Arial" pitchFamily="34" charset="-122"/>
                <a:cs typeface="Arial" pitchFamily="34" charset="-120"/>
              </a:rPr>
              <a:t>PHASE 2</a:t>
            </a:r>
            <a:endParaRPr lang="en-US" sz="950" dirty="0"/>
          </a:p>
        </p:txBody>
      </p:sp>
      <p:sp>
        <p:nvSpPr>
          <p:cNvPr id="40" name="Text 36"/>
          <p:cNvSpPr txBox="1"/>
          <p:nvPr/>
        </p:nvSpPr>
        <p:spPr>
          <a:xfrm>
            <a:off x="5687568" y="4005072"/>
            <a:ext cx="2350008" cy="292608"/>
          </a:xfrm>
          <a:prstGeom prst="rect">
            <a:avLst/>
          </a:prstGeom>
          <a:noFill/>
          <a:ln/>
        </p:spPr>
        <p:txBody>
          <a:bodyPr wrap="square" lIns="0" tIns="0" rIns="0" bIns="0" rtlCol="0" anchor="ctr"/>
          <a:lstStyle/>
          <a:p>
            <a:pPr indent="0" marL="0">
              <a:buNone/>
            </a:pPr>
            <a:r>
              <a:rPr lang="en-US" sz="1600" b="1" dirty="0">
                <a:solidFill>
                  <a:srgbClr val="10201A"/>
                </a:solidFill>
                <a:latin typeface="Arial" pitchFamily="34" charset="0"/>
                <a:ea typeface="Arial" pitchFamily="34" charset="-122"/>
                <a:cs typeface="Arial" pitchFamily="34" charset="-120"/>
              </a:rPr>
              <a:t>Fine-tuning</a:t>
            </a:r>
            <a:endParaRPr lang="en-US" sz="1600" dirty="0"/>
          </a:p>
        </p:txBody>
      </p:sp>
      <p:sp>
        <p:nvSpPr>
          <p:cNvPr id="41" name="Text 37"/>
          <p:cNvSpPr txBox="1"/>
          <p:nvPr/>
        </p:nvSpPr>
        <p:spPr>
          <a:xfrm>
            <a:off x="7790688" y="3803904"/>
            <a:ext cx="1463040" cy="402336"/>
          </a:xfrm>
          <a:prstGeom prst="rect">
            <a:avLst/>
          </a:prstGeom>
          <a:noFill/>
          <a:ln/>
        </p:spPr>
        <p:txBody>
          <a:bodyPr wrap="square" lIns="0" tIns="0" rIns="0" bIns="0" rtlCol="0" anchor="ctr"/>
          <a:lstStyle/>
          <a:p>
            <a:pPr algn="r" indent="0" marL="0">
              <a:buNone/>
            </a:pPr>
            <a:r>
              <a:rPr lang="en-US" sz="2400" b="1" dirty="0">
                <a:solidFill>
                  <a:srgbClr val="1C9A63"/>
                </a:solidFill>
                <a:latin typeface="Arial" pitchFamily="34" charset="0"/>
                <a:ea typeface="Arial" pitchFamily="34" charset="-122"/>
                <a:cs typeface="Arial" pitchFamily="34" charset="-120"/>
              </a:rPr>
              <a:t>80.4%</a:t>
            </a:r>
            <a:endParaRPr lang="en-US" sz="2400" dirty="0"/>
          </a:p>
        </p:txBody>
      </p:sp>
      <p:sp>
        <p:nvSpPr>
          <p:cNvPr id="42" name="Text 38"/>
          <p:cNvSpPr txBox="1"/>
          <p:nvPr/>
        </p:nvSpPr>
        <p:spPr>
          <a:xfrm>
            <a:off x="7790688" y="4206240"/>
            <a:ext cx="1463040" cy="201168"/>
          </a:xfrm>
          <a:prstGeom prst="rect">
            <a:avLst/>
          </a:prstGeom>
          <a:noFill/>
          <a:ln/>
        </p:spPr>
        <p:txBody>
          <a:bodyPr wrap="square" lIns="0" tIns="0" rIns="0" bIns="0" rtlCol="0" anchor="ctr"/>
          <a:lstStyle/>
          <a:p>
            <a:pPr algn="r" indent="0" marL="0">
              <a:buNone/>
            </a:pPr>
            <a:r>
              <a:rPr lang="en-US" sz="950" dirty="0">
                <a:solidFill>
                  <a:srgbClr val="6A7B71"/>
                </a:solidFill>
                <a:latin typeface="Arial" pitchFamily="34" charset="0"/>
                <a:ea typeface="Arial" pitchFamily="34" charset="-122"/>
                <a:cs typeface="Arial" pitchFamily="34" charset="-120"/>
              </a:rPr>
              <a:t>validation accuracy</a:t>
            </a:r>
            <a:endParaRPr lang="en-US" sz="950" dirty="0"/>
          </a:p>
        </p:txBody>
      </p:sp>
      <p:sp>
        <p:nvSpPr>
          <p:cNvPr id="43" name="Text 39"/>
          <p:cNvSpPr txBox="1"/>
          <p:nvPr/>
        </p:nvSpPr>
        <p:spPr>
          <a:xfrm>
            <a:off x="5120640" y="4553712"/>
            <a:ext cx="4087368" cy="694944"/>
          </a:xfrm>
          <a:prstGeom prst="rect">
            <a:avLst/>
          </a:prstGeom>
          <a:noFill/>
          <a:ln/>
        </p:spPr>
        <p:txBody>
          <a:bodyPr wrap="square" lIns="0" tIns="0" rIns="0" bIns="0" rtlCol="0" anchor="ctr"/>
          <a:lstStyle/>
          <a:p>
            <a:pPr marL="342900" indent="-342900">
              <a:lnSpc>
                <a:spcPts val="1600"/>
              </a:lnSpc>
              <a:spcAft>
                <a:spcPts val="400"/>
              </a:spcAft>
              <a:buSzPct val="100000"/>
              <a:buChar char="•"/>
            </a:pPr>
            <a:r>
              <a:rPr lang="en-US" sz="1150" dirty="0">
                <a:solidFill>
                  <a:srgbClr val="3C4C43"/>
                </a:solidFill>
                <a:latin typeface="Arial" pitchFamily="34" charset="0"/>
                <a:ea typeface="Arial" pitchFamily="34" charset="-122"/>
                <a:cs typeface="Arial" pitchFamily="34" charset="-120"/>
              </a:rPr>
              <a:t>Last 30 backbone layers unfrozen</a:t>
            </a:r>
            <a:endParaRPr lang="en-US" sz="1150" dirty="0"/>
          </a:p>
          <a:p>
            <a:pPr marL="342900" indent="-342900">
              <a:lnSpc>
                <a:spcPts val="1600"/>
              </a:lnSpc>
              <a:spcAft>
                <a:spcPts val="400"/>
              </a:spcAft>
              <a:buSzPct val="100000"/>
              <a:buChar char="•"/>
            </a:pPr>
            <a:r>
              <a:rPr lang="en-US" sz="1150" dirty="0">
                <a:solidFill>
                  <a:srgbClr val="3C4C43"/>
                </a:solidFill>
                <a:latin typeface="Arial" pitchFamily="34" charset="0"/>
                <a:ea typeface="Arial" pitchFamily="34" charset="-122"/>
                <a:cs typeface="Arial" pitchFamily="34" charset="-120"/>
              </a:rPr>
              <a:t>Learning rate dropped to 1e-5, 5 further epochs</a:t>
            </a:r>
            <a:endParaRPr lang="en-US" sz="1150" dirty="0"/>
          </a:p>
        </p:txBody>
      </p:sp>
      <p:sp>
        <p:nvSpPr>
          <p:cNvPr id="44" name="Shape 40"/>
          <p:cNvSpPr/>
          <p:nvPr/>
        </p:nvSpPr>
        <p:spPr>
          <a:xfrm>
            <a:off x="4846320" y="5541264"/>
            <a:ext cx="4636008" cy="1170432"/>
          </a:xfrm>
          <a:prstGeom prst="roundRect">
            <a:avLst>
              <a:gd name="adj" fmla="val 7031"/>
            </a:avLst>
          </a:prstGeom>
          <a:solidFill>
            <a:srgbClr val="EAF5EF"/>
          </a:solidFill>
          <a:ln w="12700">
            <a:solidFill>
              <a:srgbClr val="EAF5EF"/>
            </a:solidFill>
            <a:prstDash val="solid"/>
          </a:ln>
        </p:spPr>
      </p:sp>
      <p:sp>
        <p:nvSpPr>
          <p:cNvPr id="45" name="Text 41"/>
          <p:cNvSpPr txBox="1"/>
          <p:nvPr/>
        </p:nvSpPr>
        <p:spPr>
          <a:xfrm>
            <a:off x="5102352" y="5650992"/>
            <a:ext cx="4123944" cy="969264"/>
          </a:xfrm>
          <a:prstGeom prst="rect">
            <a:avLst/>
          </a:prstGeom>
          <a:noFill/>
          <a:ln/>
        </p:spPr>
        <p:txBody>
          <a:bodyPr wrap="square" lIns="0" tIns="0" rIns="0" bIns="0" rtlCol="0" anchor="ctr"/>
          <a:lstStyle/>
          <a:p>
            <a:pPr indent="0" marL="0">
              <a:lnSpc>
                <a:spcPts val="1700"/>
              </a:lnSpc>
              <a:buNone/>
            </a:pPr>
            <a:r>
              <a:rPr lang="en-US" sz="1200" b="1" dirty="0">
                <a:solidFill>
                  <a:srgbClr val="0E5C3A"/>
                </a:solidFill>
                <a:latin typeface="Arial" pitchFamily="34" charset="0"/>
                <a:ea typeface="Arial" pitchFamily="34" charset="-122"/>
                <a:cs typeface="Arial" pitchFamily="34" charset="-120"/>
              </a:rPr>
              <a:t>Why this order:  </a:t>
            </a:r>
            <a:pPr indent="0" marL="0">
              <a:lnSpc>
                <a:spcPts val="1700"/>
              </a:lnSpc>
              <a:buNone/>
            </a:pPr>
            <a:r>
              <a:rPr lang="en-US" sz="1200" dirty="0">
                <a:solidFill>
                  <a:srgbClr val="3C4C43"/>
                </a:solidFill>
                <a:latin typeface="Arial" pitchFamily="34" charset="0"/>
                <a:ea typeface="Arial" pitchFamily="34" charset="-122"/>
                <a:cs typeface="Arial" pitchFamily="34" charset="-120"/>
              </a:rPr>
              <a:t>training everything at once sends large random gradients through the pretrained weights and destroys them. Early layers already encode generic edges and textures; only the later, task-specific layers are worth adapting.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10</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03</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What the models recognise</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14 produce classes graded on a five-level decay scale</a:t>
            </a:r>
            <a:endParaRPr lang="en-US" sz="1250" dirty="0"/>
          </a:p>
        </p:txBody>
      </p:sp>
      <p:sp>
        <p:nvSpPr>
          <p:cNvPr id="7" name="Shape 5"/>
          <p:cNvSpPr/>
          <p:nvPr/>
        </p:nvSpPr>
        <p:spPr>
          <a:xfrm>
            <a:off x="594360" y="1700784"/>
            <a:ext cx="1128631" cy="548640"/>
          </a:xfrm>
          <a:prstGeom prst="roundRect">
            <a:avLst>
              <a:gd name="adj" fmla="val 16667"/>
            </a:avLst>
          </a:prstGeom>
          <a:solidFill>
            <a:srgbClr val="EAF5EF"/>
          </a:solidFill>
          <a:ln w="12700">
            <a:solidFill>
              <a:srgbClr val="DCE7E1"/>
            </a:solidFill>
            <a:prstDash val="solid"/>
          </a:ln>
        </p:spPr>
      </p:sp>
      <p:sp>
        <p:nvSpPr>
          <p:cNvPr id="8" name="Text 6"/>
          <p:cNvSpPr txBox="1"/>
          <p:nvPr/>
        </p:nvSpPr>
        <p:spPr>
          <a:xfrm>
            <a:off x="594360"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Apple</a:t>
            </a:r>
            <a:endParaRPr lang="en-US" sz="1250" dirty="0"/>
          </a:p>
        </p:txBody>
      </p:sp>
      <p:sp>
        <p:nvSpPr>
          <p:cNvPr id="9" name="Shape 7"/>
          <p:cNvSpPr/>
          <p:nvPr/>
        </p:nvSpPr>
        <p:spPr>
          <a:xfrm>
            <a:off x="1887583" y="1700784"/>
            <a:ext cx="1128631" cy="548640"/>
          </a:xfrm>
          <a:prstGeom prst="roundRect">
            <a:avLst>
              <a:gd name="adj" fmla="val 16667"/>
            </a:avLst>
          </a:prstGeom>
          <a:solidFill>
            <a:srgbClr val="EAF5EF"/>
          </a:solidFill>
          <a:ln w="12700">
            <a:solidFill>
              <a:srgbClr val="DCE7E1"/>
            </a:solidFill>
            <a:prstDash val="solid"/>
          </a:ln>
        </p:spPr>
      </p:sp>
      <p:sp>
        <p:nvSpPr>
          <p:cNvPr id="10" name="Text 8"/>
          <p:cNvSpPr txBox="1"/>
          <p:nvPr/>
        </p:nvSpPr>
        <p:spPr>
          <a:xfrm>
            <a:off x="1887583"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Banana</a:t>
            </a:r>
            <a:endParaRPr lang="en-US" sz="1250" dirty="0"/>
          </a:p>
        </p:txBody>
      </p:sp>
      <p:sp>
        <p:nvSpPr>
          <p:cNvPr id="11" name="Shape 9"/>
          <p:cNvSpPr/>
          <p:nvPr/>
        </p:nvSpPr>
        <p:spPr>
          <a:xfrm>
            <a:off x="3180806" y="1700784"/>
            <a:ext cx="1128631" cy="548640"/>
          </a:xfrm>
          <a:prstGeom prst="roundRect">
            <a:avLst>
              <a:gd name="adj" fmla="val 16667"/>
            </a:avLst>
          </a:prstGeom>
          <a:solidFill>
            <a:srgbClr val="EAF5EF"/>
          </a:solidFill>
          <a:ln w="12700">
            <a:solidFill>
              <a:srgbClr val="DCE7E1"/>
            </a:solidFill>
            <a:prstDash val="solid"/>
          </a:ln>
        </p:spPr>
      </p:sp>
      <p:sp>
        <p:nvSpPr>
          <p:cNvPr id="12" name="Text 10"/>
          <p:cNvSpPr txBox="1"/>
          <p:nvPr/>
        </p:nvSpPr>
        <p:spPr>
          <a:xfrm>
            <a:off x="3180806"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Bellpepper</a:t>
            </a:r>
            <a:endParaRPr lang="en-US" sz="1250" dirty="0"/>
          </a:p>
        </p:txBody>
      </p:sp>
      <p:sp>
        <p:nvSpPr>
          <p:cNvPr id="13" name="Shape 11"/>
          <p:cNvSpPr/>
          <p:nvPr/>
        </p:nvSpPr>
        <p:spPr>
          <a:xfrm>
            <a:off x="4474029" y="1700784"/>
            <a:ext cx="1128631" cy="548640"/>
          </a:xfrm>
          <a:prstGeom prst="roundRect">
            <a:avLst>
              <a:gd name="adj" fmla="val 16667"/>
            </a:avLst>
          </a:prstGeom>
          <a:solidFill>
            <a:srgbClr val="EAF5EF"/>
          </a:solidFill>
          <a:ln w="12700">
            <a:solidFill>
              <a:srgbClr val="DCE7E1"/>
            </a:solidFill>
            <a:prstDash val="solid"/>
          </a:ln>
        </p:spPr>
      </p:sp>
      <p:sp>
        <p:nvSpPr>
          <p:cNvPr id="14" name="Text 12"/>
          <p:cNvSpPr txBox="1"/>
          <p:nvPr/>
        </p:nvSpPr>
        <p:spPr>
          <a:xfrm>
            <a:off x="4474029"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Carrot</a:t>
            </a:r>
            <a:endParaRPr lang="en-US" sz="1250" dirty="0"/>
          </a:p>
        </p:txBody>
      </p:sp>
      <p:sp>
        <p:nvSpPr>
          <p:cNvPr id="15" name="Shape 13"/>
          <p:cNvSpPr/>
          <p:nvPr/>
        </p:nvSpPr>
        <p:spPr>
          <a:xfrm>
            <a:off x="5767251" y="1700784"/>
            <a:ext cx="1128631" cy="548640"/>
          </a:xfrm>
          <a:prstGeom prst="roundRect">
            <a:avLst>
              <a:gd name="adj" fmla="val 16667"/>
            </a:avLst>
          </a:prstGeom>
          <a:solidFill>
            <a:srgbClr val="EAF5EF"/>
          </a:solidFill>
          <a:ln w="12700">
            <a:solidFill>
              <a:srgbClr val="DCE7E1"/>
            </a:solidFill>
            <a:prstDash val="solid"/>
          </a:ln>
        </p:spPr>
      </p:sp>
      <p:sp>
        <p:nvSpPr>
          <p:cNvPr id="16" name="Text 14"/>
          <p:cNvSpPr txBox="1"/>
          <p:nvPr/>
        </p:nvSpPr>
        <p:spPr>
          <a:xfrm>
            <a:off x="5767251"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Cucumber</a:t>
            </a:r>
            <a:endParaRPr lang="en-US" sz="1250" dirty="0"/>
          </a:p>
        </p:txBody>
      </p:sp>
      <p:sp>
        <p:nvSpPr>
          <p:cNvPr id="17" name="Shape 15"/>
          <p:cNvSpPr/>
          <p:nvPr/>
        </p:nvSpPr>
        <p:spPr>
          <a:xfrm>
            <a:off x="7060474" y="1700784"/>
            <a:ext cx="1128631" cy="548640"/>
          </a:xfrm>
          <a:prstGeom prst="roundRect">
            <a:avLst>
              <a:gd name="adj" fmla="val 16667"/>
            </a:avLst>
          </a:prstGeom>
          <a:solidFill>
            <a:srgbClr val="EAF5EF"/>
          </a:solidFill>
          <a:ln w="12700">
            <a:solidFill>
              <a:srgbClr val="DCE7E1"/>
            </a:solidFill>
            <a:prstDash val="solid"/>
          </a:ln>
        </p:spPr>
      </p:sp>
      <p:sp>
        <p:nvSpPr>
          <p:cNvPr id="18" name="Text 16"/>
          <p:cNvSpPr txBox="1"/>
          <p:nvPr/>
        </p:nvSpPr>
        <p:spPr>
          <a:xfrm>
            <a:off x="7060474"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Grape</a:t>
            </a:r>
            <a:endParaRPr lang="en-US" sz="1250" dirty="0"/>
          </a:p>
        </p:txBody>
      </p:sp>
      <p:sp>
        <p:nvSpPr>
          <p:cNvPr id="19" name="Shape 17"/>
          <p:cNvSpPr/>
          <p:nvPr/>
        </p:nvSpPr>
        <p:spPr>
          <a:xfrm>
            <a:off x="8353697" y="1700784"/>
            <a:ext cx="1128631" cy="548640"/>
          </a:xfrm>
          <a:prstGeom prst="roundRect">
            <a:avLst>
              <a:gd name="adj" fmla="val 16667"/>
            </a:avLst>
          </a:prstGeom>
          <a:solidFill>
            <a:srgbClr val="EAF5EF"/>
          </a:solidFill>
          <a:ln w="12700">
            <a:solidFill>
              <a:srgbClr val="DCE7E1"/>
            </a:solidFill>
            <a:prstDash val="solid"/>
          </a:ln>
        </p:spPr>
      </p:sp>
      <p:sp>
        <p:nvSpPr>
          <p:cNvPr id="20" name="Text 18"/>
          <p:cNvSpPr txBox="1"/>
          <p:nvPr/>
        </p:nvSpPr>
        <p:spPr>
          <a:xfrm>
            <a:off x="8353697" y="1700784"/>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Guava</a:t>
            </a:r>
            <a:endParaRPr lang="en-US" sz="1250" dirty="0"/>
          </a:p>
        </p:txBody>
      </p:sp>
      <p:sp>
        <p:nvSpPr>
          <p:cNvPr id="21" name="Shape 19"/>
          <p:cNvSpPr/>
          <p:nvPr/>
        </p:nvSpPr>
        <p:spPr>
          <a:xfrm>
            <a:off x="594360" y="2414016"/>
            <a:ext cx="1128631" cy="548640"/>
          </a:xfrm>
          <a:prstGeom prst="roundRect">
            <a:avLst>
              <a:gd name="adj" fmla="val 16667"/>
            </a:avLst>
          </a:prstGeom>
          <a:solidFill>
            <a:srgbClr val="F4FAF6"/>
          </a:solidFill>
          <a:ln w="12700">
            <a:solidFill>
              <a:srgbClr val="DCE7E1"/>
            </a:solidFill>
            <a:prstDash val="solid"/>
          </a:ln>
        </p:spPr>
      </p:sp>
      <p:sp>
        <p:nvSpPr>
          <p:cNvPr id="22" name="Text 20"/>
          <p:cNvSpPr txBox="1"/>
          <p:nvPr/>
        </p:nvSpPr>
        <p:spPr>
          <a:xfrm>
            <a:off x="594360"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Jujube</a:t>
            </a:r>
            <a:endParaRPr lang="en-US" sz="1250" dirty="0"/>
          </a:p>
        </p:txBody>
      </p:sp>
      <p:sp>
        <p:nvSpPr>
          <p:cNvPr id="23" name="Shape 21"/>
          <p:cNvSpPr/>
          <p:nvPr/>
        </p:nvSpPr>
        <p:spPr>
          <a:xfrm>
            <a:off x="1887583" y="2414016"/>
            <a:ext cx="1128631" cy="548640"/>
          </a:xfrm>
          <a:prstGeom prst="roundRect">
            <a:avLst>
              <a:gd name="adj" fmla="val 16667"/>
            </a:avLst>
          </a:prstGeom>
          <a:solidFill>
            <a:srgbClr val="F4FAF6"/>
          </a:solidFill>
          <a:ln w="12700">
            <a:solidFill>
              <a:srgbClr val="DCE7E1"/>
            </a:solidFill>
            <a:prstDash val="solid"/>
          </a:ln>
        </p:spPr>
      </p:sp>
      <p:sp>
        <p:nvSpPr>
          <p:cNvPr id="24" name="Text 22"/>
          <p:cNvSpPr txBox="1"/>
          <p:nvPr/>
        </p:nvSpPr>
        <p:spPr>
          <a:xfrm>
            <a:off x="1887583"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Mango</a:t>
            </a:r>
            <a:endParaRPr lang="en-US" sz="1250" dirty="0"/>
          </a:p>
        </p:txBody>
      </p:sp>
      <p:sp>
        <p:nvSpPr>
          <p:cNvPr id="25" name="Shape 23"/>
          <p:cNvSpPr/>
          <p:nvPr/>
        </p:nvSpPr>
        <p:spPr>
          <a:xfrm>
            <a:off x="3180806" y="2414016"/>
            <a:ext cx="1128631" cy="548640"/>
          </a:xfrm>
          <a:prstGeom prst="roundRect">
            <a:avLst>
              <a:gd name="adj" fmla="val 16667"/>
            </a:avLst>
          </a:prstGeom>
          <a:solidFill>
            <a:srgbClr val="F4FAF6"/>
          </a:solidFill>
          <a:ln w="12700">
            <a:solidFill>
              <a:srgbClr val="DCE7E1"/>
            </a:solidFill>
            <a:prstDash val="solid"/>
          </a:ln>
        </p:spPr>
      </p:sp>
      <p:sp>
        <p:nvSpPr>
          <p:cNvPr id="26" name="Text 24"/>
          <p:cNvSpPr txBox="1"/>
          <p:nvPr/>
        </p:nvSpPr>
        <p:spPr>
          <a:xfrm>
            <a:off x="3180806"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Orange</a:t>
            </a:r>
            <a:endParaRPr lang="en-US" sz="1250" dirty="0"/>
          </a:p>
        </p:txBody>
      </p:sp>
      <p:sp>
        <p:nvSpPr>
          <p:cNvPr id="27" name="Shape 25"/>
          <p:cNvSpPr/>
          <p:nvPr/>
        </p:nvSpPr>
        <p:spPr>
          <a:xfrm>
            <a:off x="4474029" y="2414016"/>
            <a:ext cx="1128631" cy="548640"/>
          </a:xfrm>
          <a:prstGeom prst="roundRect">
            <a:avLst>
              <a:gd name="adj" fmla="val 16667"/>
            </a:avLst>
          </a:prstGeom>
          <a:solidFill>
            <a:srgbClr val="F4FAF6"/>
          </a:solidFill>
          <a:ln w="12700">
            <a:solidFill>
              <a:srgbClr val="DCE7E1"/>
            </a:solidFill>
            <a:prstDash val="solid"/>
          </a:ln>
        </p:spPr>
      </p:sp>
      <p:sp>
        <p:nvSpPr>
          <p:cNvPr id="28" name="Text 26"/>
          <p:cNvSpPr txBox="1"/>
          <p:nvPr/>
        </p:nvSpPr>
        <p:spPr>
          <a:xfrm>
            <a:off x="4474029"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Pomegranate</a:t>
            </a:r>
            <a:endParaRPr lang="en-US" sz="1250" dirty="0"/>
          </a:p>
        </p:txBody>
      </p:sp>
      <p:sp>
        <p:nvSpPr>
          <p:cNvPr id="29" name="Shape 27"/>
          <p:cNvSpPr/>
          <p:nvPr/>
        </p:nvSpPr>
        <p:spPr>
          <a:xfrm>
            <a:off x="5767251" y="2414016"/>
            <a:ext cx="1128631" cy="548640"/>
          </a:xfrm>
          <a:prstGeom prst="roundRect">
            <a:avLst>
              <a:gd name="adj" fmla="val 16667"/>
            </a:avLst>
          </a:prstGeom>
          <a:solidFill>
            <a:srgbClr val="F4FAF6"/>
          </a:solidFill>
          <a:ln w="12700">
            <a:solidFill>
              <a:srgbClr val="DCE7E1"/>
            </a:solidFill>
            <a:prstDash val="solid"/>
          </a:ln>
        </p:spPr>
      </p:sp>
      <p:sp>
        <p:nvSpPr>
          <p:cNvPr id="30" name="Text 28"/>
          <p:cNvSpPr txBox="1"/>
          <p:nvPr/>
        </p:nvSpPr>
        <p:spPr>
          <a:xfrm>
            <a:off x="5767251"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Potato</a:t>
            </a:r>
            <a:endParaRPr lang="en-US" sz="1250" dirty="0"/>
          </a:p>
        </p:txBody>
      </p:sp>
      <p:sp>
        <p:nvSpPr>
          <p:cNvPr id="31" name="Shape 29"/>
          <p:cNvSpPr/>
          <p:nvPr/>
        </p:nvSpPr>
        <p:spPr>
          <a:xfrm>
            <a:off x="7060474" y="2414016"/>
            <a:ext cx="1128631" cy="548640"/>
          </a:xfrm>
          <a:prstGeom prst="roundRect">
            <a:avLst>
              <a:gd name="adj" fmla="val 16667"/>
            </a:avLst>
          </a:prstGeom>
          <a:solidFill>
            <a:srgbClr val="F4FAF6"/>
          </a:solidFill>
          <a:ln w="12700">
            <a:solidFill>
              <a:srgbClr val="DCE7E1"/>
            </a:solidFill>
            <a:prstDash val="solid"/>
          </a:ln>
        </p:spPr>
      </p:sp>
      <p:sp>
        <p:nvSpPr>
          <p:cNvPr id="32" name="Text 30"/>
          <p:cNvSpPr txBox="1"/>
          <p:nvPr/>
        </p:nvSpPr>
        <p:spPr>
          <a:xfrm>
            <a:off x="7060474"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Strawberry</a:t>
            </a:r>
            <a:endParaRPr lang="en-US" sz="1250" dirty="0"/>
          </a:p>
        </p:txBody>
      </p:sp>
      <p:sp>
        <p:nvSpPr>
          <p:cNvPr id="33" name="Shape 31"/>
          <p:cNvSpPr/>
          <p:nvPr/>
        </p:nvSpPr>
        <p:spPr>
          <a:xfrm>
            <a:off x="8353697" y="2414016"/>
            <a:ext cx="1128631" cy="548640"/>
          </a:xfrm>
          <a:prstGeom prst="roundRect">
            <a:avLst>
              <a:gd name="adj" fmla="val 16667"/>
            </a:avLst>
          </a:prstGeom>
          <a:solidFill>
            <a:srgbClr val="F4FAF6"/>
          </a:solidFill>
          <a:ln w="12700">
            <a:solidFill>
              <a:srgbClr val="DCE7E1"/>
            </a:solidFill>
            <a:prstDash val="solid"/>
          </a:ln>
        </p:spPr>
      </p:sp>
      <p:sp>
        <p:nvSpPr>
          <p:cNvPr id="34" name="Text 32"/>
          <p:cNvSpPr txBox="1"/>
          <p:nvPr/>
        </p:nvSpPr>
        <p:spPr>
          <a:xfrm>
            <a:off x="8353697" y="2414016"/>
            <a:ext cx="1128631" cy="548640"/>
          </a:xfrm>
          <a:prstGeom prst="rect">
            <a:avLst/>
          </a:prstGeom>
          <a:noFill/>
          <a:ln/>
        </p:spPr>
        <p:txBody>
          <a:bodyPr wrap="square" lIns="0" tIns="0" rIns="0" bIns="0" rtlCol="0" anchor="ctr"/>
          <a:lstStyle/>
          <a:p>
            <a:pPr algn="ctr" indent="0" marL="0">
              <a:buNone/>
            </a:pPr>
            <a:r>
              <a:rPr lang="en-US" sz="1250" b="1" dirty="0">
                <a:solidFill>
                  <a:srgbClr val="0E5C3A"/>
                </a:solidFill>
                <a:latin typeface="Arial" pitchFamily="34" charset="0"/>
                <a:ea typeface="Arial" pitchFamily="34" charset="-122"/>
                <a:cs typeface="Arial" pitchFamily="34" charset="-120"/>
              </a:rPr>
              <a:t>Tomato</a:t>
            </a:r>
            <a:endParaRPr lang="en-US" sz="1250" dirty="0"/>
          </a:p>
        </p:txBody>
      </p:sp>
      <p:sp>
        <p:nvSpPr>
          <p:cNvPr id="35" name="Shape 33"/>
          <p:cNvSpPr/>
          <p:nvPr/>
        </p:nvSpPr>
        <p:spPr>
          <a:xfrm>
            <a:off x="594360" y="3200400"/>
            <a:ext cx="8887968" cy="1609344"/>
          </a:xfrm>
          <a:prstGeom prst="roundRect">
            <a:avLst>
              <a:gd name="adj" fmla="val 5114"/>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6" name="Text 34"/>
          <p:cNvSpPr txBox="1"/>
          <p:nvPr/>
        </p:nvSpPr>
        <p:spPr>
          <a:xfrm>
            <a:off x="868680" y="3364992"/>
            <a:ext cx="8339328" cy="237744"/>
          </a:xfrm>
          <a:prstGeom prst="rect">
            <a:avLst/>
          </a:prstGeom>
          <a:noFill/>
          <a:ln/>
        </p:spPr>
        <p:txBody>
          <a:bodyPr wrap="square" lIns="0" tIns="0" rIns="0" bIns="0" rtlCol="0" anchor="ctr"/>
          <a:lstStyle/>
          <a:p>
            <a:pPr indent="0" marL="0">
              <a:buNone/>
            </a:pPr>
            <a:r>
              <a:rPr lang="en-US" sz="1000" b="1" spc="180" kern="0" dirty="0">
                <a:solidFill>
                  <a:srgbClr val="1C9A63"/>
                </a:solidFill>
                <a:latin typeface="Arial" pitchFamily="34" charset="0"/>
                <a:ea typeface="Arial" pitchFamily="34" charset="-122"/>
                <a:cs typeface="Arial" pitchFamily="34" charset="-120"/>
              </a:rPr>
              <a:t>FRESHNESS SCALE AND THE ADVICE IT CARRIES</a:t>
            </a:r>
            <a:endParaRPr lang="en-US" sz="1000" dirty="0"/>
          </a:p>
        </p:txBody>
      </p:sp>
      <p:sp>
        <p:nvSpPr>
          <p:cNvPr id="37" name="Shape 35"/>
          <p:cNvSpPr/>
          <p:nvPr/>
        </p:nvSpPr>
        <p:spPr>
          <a:xfrm>
            <a:off x="868680" y="3712464"/>
            <a:ext cx="1609344" cy="274320"/>
          </a:xfrm>
          <a:prstGeom prst="roundRect">
            <a:avLst>
              <a:gd name="adj" fmla="val 20000"/>
            </a:avLst>
          </a:prstGeom>
          <a:solidFill>
            <a:srgbClr val="0F7A4A"/>
          </a:solidFill>
          <a:ln w="12700">
            <a:solidFill>
              <a:srgbClr val="0F7A4A"/>
            </a:solidFill>
            <a:prstDash val="solid"/>
          </a:ln>
        </p:spPr>
      </p:sp>
      <p:sp>
        <p:nvSpPr>
          <p:cNvPr id="38" name="Text 36"/>
          <p:cNvSpPr txBox="1"/>
          <p:nvPr/>
        </p:nvSpPr>
        <p:spPr>
          <a:xfrm>
            <a:off x="868680" y="4041648"/>
            <a:ext cx="1609344" cy="237744"/>
          </a:xfrm>
          <a:prstGeom prst="rect">
            <a:avLst/>
          </a:prstGeom>
          <a:noFill/>
          <a:ln/>
        </p:spPr>
        <p:txBody>
          <a:bodyPr wrap="square" lIns="0" tIns="0" rIns="0" bIns="0" rtlCol="0" anchor="ctr"/>
          <a:lstStyle/>
          <a:p>
            <a:pPr algn="ctr" indent="0" marL="0">
              <a:buNone/>
            </a:pPr>
            <a:r>
              <a:rPr lang="en-US" sz="1100" b="1" dirty="0">
                <a:solidFill>
                  <a:srgbClr val="10201A"/>
                </a:solidFill>
                <a:latin typeface="Arial" pitchFamily="34" charset="0"/>
                <a:ea typeface="Arial" pitchFamily="34" charset="-122"/>
                <a:cs typeface="Arial" pitchFamily="34" charset="-120"/>
              </a:rPr>
              <a:t>Very fresh</a:t>
            </a:r>
            <a:endParaRPr lang="en-US" sz="1100" dirty="0"/>
          </a:p>
        </p:txBody>
      </p:sp>
      <p:sp>
        <p:nvSpPr>
          <p:cNvPr id="39" name="Text 37"/>
          <p:cNvSpPr txBox="1"/>
          <p:nvPr/>
        </p:nvSpPr>
        <p:spPr>
          <a:xfrm>
            <a:off x="868680" y="4261104"/>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5-7 days</a:t>
            </a:r>
            <a:endParaRPr lang="en-US" sz="950" dirty="0"/>
          </a:p>
        </p:txBody>
      </p:sp>
      <p:sp>
        <p:nvSpPr>
          <p:cNvPr id="40" name="Shape 38"/>
          <p:cNvSpPr/>
          <p:nvPr/>
        </p:nvSpPr>
        <p:spPr>
          <a:xfrm>
            <a:off x="2551176" y="3712464"/>
            <a:ext cx="1609344" cy="274320"/>
          </a:xfrm>
          <a:prstGeom prst="roundRect">
            <a:avLst>
              <a:gd name="adj" fmla="val 20000"/>
            </a:avLst>
          </a:prstGeom>
          <a:solidFill>
            <a:srgbClr val="3FA76B"/>
          </a:solidFill>
          <a:ln w="12700">
            <a:solidFill>
              <a:srgbClr val="3FA76B"/>
            </a:solidFill>
            <a:prstDash val="solid"/>
          </a:ln>
        </p:spPr>
      </p:sp>
      <p:sp>
        <p:nvSpPr>
          <p:cNvPr id="41" name="Text 39"/>
          <p:cNvSpPr txBox="1"/>
          <p:nvPr/>
        </p:nvSpPr>
        <p:spPr>
          <a:xfrm>
            <a:off x="2551176" y="4041648"/>
            <a:ext cx="1609344" cy="237744"/>
          </a:xfrm>
          <a:prstGeom prst="rect">
            <a:avLst/>
          </a:prstGeom>
          <a:noFill/>
          <a:ln/>
        </p:spPr>
        <p:txBody>
          <a:bodyPr wrap="square" lIns="0" tIns="0" rIns="0" bIns="0" rtlCol="0" anchor="ctr"/>
          <a:lstStyle/>
          <a:p>
            <a:pPr algn="ctr" indent="0" marL="0">
              <a:buNone/>
            </a:pPr>
            <a:r>
              <a:rPr lang="en-US" sz="1100" b="1" dirty="0">
                <a:solidFill>
                  <a:srgbClr val="10201A"/>
                </a:solidFill>
                <a:latin typeface="Arial" pitchFamily="34" charset="0"/>
                <a:ea typeface="Arial" pitchFamily="34" charset="-122"/>
                <a:cs typeface="Arial" pitchFamily="34" charset="-120"/>
              </a:rPr>
              <a:t>Fresh</a:t>
            </a:r>
            <a:endParaRPr lang="en-US" sz="1100" dirty="0"/>
          </a:p>
        </p:txBody>
      </p:sp>
      <p:sp>
        <p:nvSpPr>
          <p:cNvPr id="42" name="Text 40"/>
          <p:cNvSpPr txBox="1"/>
          <p:nvPr/>
        </p:nvSpPr>
        <p:spPr>
          <a:xfrm>
            <a:off x="2551176" y="4261104"/>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3-5 days</a:t>
            </a:r>
            <a:endParaRPr lang="en-US" sz="950" dirty="0"/>
          </a:p>
        </p:txBody>
      </p:sp>
      <p:sp>
        <p:nvSpPr>
          <p:cNvPr id="43" name="Shape 41"/>
          <p:cNvSpPr/>
          <p:nvPr/>
        </p:nvSpPr>
        <p:spPr>
          <a:xfrm>
            <a:off x="4233672" y="3712464"/>
            <a:ext cx="1609344" cy="274320"/>
          </a:xfrm>
          <a:prstGeom prst="roundRect">
            <a:avLst>
              <a:gd name="adj" fmla="val 20000"/>
            </a:avLst>
          </a:prstGeom>
          <a:solidFill>
            <a:srgbClr val="D9A227"/>
          </a:solidFill>
          <a:ln w="12700">
            <a:solidFill>
              <a:srgbClr val="D9A227"/>
            </a:solidFill>
            <a:prstDash val="solid"/>
          </a:ln>
        </p:spPr>
      </p:sp>
      <p:sp>
        <p:nvSpPr>
          <p:cNvPr id="44" name="Text 42"/>
          <p:cNvSpPr txBox="1"/>
          <p:nvPr/>
        </p:nvSpPr>
        <p:spPr>
          <a:xfrm>
            <a:off x="4233672" y="4041648"/>
            <a:ext cx="1609344" cy="237744"/>
          </a:xfrm>
          <a:prstGeom prst="rect">
            <a:avLst/>
          </a:prstGeom>
          <a:noFill/>
          <a:ln/>
        </p:spPr>
        <p:txBody>
          <a:bodyPr wrap="square" lIns="0" tIns="0" rIns="0" bIns="0" rtlCol="0" anchor="ctr"/>
          <a:lstStyle/>
          <a:p>
            <a:pPr algn="ctr" indent="0" marL="0">
              <a:buNone/>
            </a:pPr>
            <a:r>
              <a:rPr lang="en-US" sz="1100" b="1" dirty="0">
                <a:solidFill>
                  <a:srgbClr val="10201A"/>
                </a:solidFill>
                <a:latin typeface="Arial" pitchFamily="34" charset="0"/>
                <a:ea typeface="Arial" pitchFamily="34" charset="-122"/>
                <a:cs typeface="Arial" pitchFamily="34" charset="-120"/>
              </a:rPr>
              <a:t>Slightly rotten</a:t>
            </a:r>
            <a:endParaRPr lang="en-US" sz="1100" dirty="0"/>
          </a:p>
        </p:txBody>
      </p:sp>
      <p:sp>
        <p:nvSpPr>
          <p:cNvPr id="45" name="Text 43"/>
          <p:cNvSpPr txBox="1"/>
          <p:nvPr/>
        </p:nvSpPr>
        <p:spPr>
          <a:xfrm>
            <a:off x="4233672" y="4261104"/>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1-2 days</a:t>
            </a:r>
            <a:endParaRPr lang="en-US" sz="950" dirty="0"/>
          </a:p>
        </p:txBody>
      </p:sp>
      <p:sp>
        <p:nvSpPr>
          <p:cNvPr id="46" name="Shape 44"/>
          <p:cNvSpPr/>
          <p:nvPr/>
        </p:nvSpPr>
        <p:spPr>
          <a:xfrm>
            <a:off x="5916168" y="3712464"/>
            <a:ext cx="1609344" cy="274320"/>
          </a:xfrm>
          <a:prstGeom prst="roundRect">
            <a:avLst>
              <a:gd name="adj" fmla="val 20000"/>
            </a:avLst>
          </a:prstGeom>
          <a:solidFill>
            <a:srgbClr val="C4652A"/>
          </a:solidFill>
          <a:ln w="12700">
            <a:solidFill>
              <a:srgbClr val="C4652A"/>
            </a:solidFill>
            <a:prstDash val="solid"/>
          </a:ln>
        </p:spPr>
      </p:sp>
      <p:sp>
        <p:nvSpPr>
          <p:cNvPr id="47" name="Text 45"/>
          <p:cNvSpPr txBox="1"/>
          <p:nvPr/>
        </p:nvSpPr>
        <p:spPr>
          <a:xfrm>
            <a:off x="5916168" y="4041648"/>
            <a:ext cx="1609344" cy="237744"/>
          </a:xfrm>
          <a:prstGeom prst="rect">
            <a:avLst/>
          </a:prstGeom>
          <a:noFill/>
          <a:ln/>
        </p:spPr>
        <p:txBody>
          <a:bodyPr wrap="square" lIns="0" tIns="0" rIns="0" bIns="0" rtlCol="0" anchor="ctr"/>
          <a:lstStyle/>
          <a:p>
            <a:pPr algn="ctr" indent="0" marL="0">
              <a:buNone/>
            </a:pPr>
            <a:r>
              <a:rPr lang="en-US" sz="1100" b="1" dirty="0">
                <a:solidFill>
                  <a:srgbClr val="10201A"/>
                </a:solidFill>
                <a:latin typeface="Arial" pitchFamily="34" charset="0"/>
                <a:ea typeface="Arial" pitchFamily="34" charset="-122"/>
                <a:cs typeface="Arial" pitchFamily="34" charset="-120"/>
              </a:rPr>
              <a:t>Rotten</a:t>
            </a:r>
            <a:endParaRPr lang="en-US" sz="1100" dirty="0"/>
          </a:p>
        </p:txBody>
      </p:sp>
      <p:sp>
        <p:nvSpPr>
          <p:cNvPr id="48" name="Text 46"/>
          <p:cNvSpPr txBox="1"/>
          <p:nvPr/>
        </p:nvSpPr>
        <p:spPr>
          <a:xfrm>
            <a:off x="5916168" y="4261104"/>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Discard</a:t>
            </a:r>
            <a:endParaRPr lang="en-US" sz="950" dirty="0"/>
          </a:p>
        </p:txBody>
      </p:sp>
      <p:sp>
        <p:nvSpPr>
          <p:cNvPr id="49" name="Shape 47"/>
          <p:cNvSpPr/>
          <p:nvPr/>
        </p:nvSpPr>
        <p:spPr>
          <a:xfrm>
            <a:off x="7598664" y="3712464"/>
            <a:ext cx="1609344" cy="274320"/>
          </a:xfrm>
          <a:prstGeom prst="roundRect">
            <a:avLst>
              <a:gd name="adj" fmla="val 20000"/>
            </a:avLst>
          </a:prstGeom>
          <a:solidFill>
            <a:srgbClr val="8E2F22"/>
          </a:solidFill>
          <a:ln w="12700">
            <a:solidFill>
              <a:srgbClr val="8E2F22"/>
            </a:solidFill>
            <a:prstDash val="solid"/>
          </a:ln>
        </p:spPr>
      </p:sp>
      <p:sp>
        <p:nvSpPr>
          <p:cNvPr id="50" name="Text 48"/>
          <p:cNvSpPr txBox="1"/>
          <p:nvPr/>
        </p:nvSpPr>
        <p:spPr>
          <a:xfrm>
            <a:off x="7598664" y="4041648"/>
            <a:ext cx="1609344" cy="237744"/>
          </a:xfrm>
          <a:prstGeom prst="rect">
            <a:avLst/>
          </a:prstGeom>
          <a:noFill/>
          <a:ln/>
        </p:spPr>
        <p:txBody>
          <a:bodyPr wrap="square" lIns="0" tIns="0" rIns="0" bIns="0" rtlCol="0" anchor="ctr"/>
          <a:lstStyle/>
          <a:p>
            <a:pPr algn="ctr" indent="0" marL="0">
              <a:buNone/>
            </a:pPr>
            <a:r>
              <a:rPr lang="en-US" sz="1100" b="1" dirty="0">
                <a:solidFill>
                  <a:srgbClr val="10201A"/>
                </a:solidFill>
                <a:latin typeface="Arial" pitchFamily="34" charset="0"/>
                <a:ea typeface="Arial" pitchFamily="34" charset="-122"/>
                <a:cs typeface="Arial" pitchFamily="34" charset="-120"/>
              </a:rPr>
              <a:t>Very rotten</a:t>
            </a:r>
            <a:endParaRPr lang="en-US" sz="1100" dirty="0"/>
          </a:p>
        </p:txBody>
      </p:sp>
      <p:sp>
        <p:nvSpPr>
          <p:cNvPr id="51" name="Text 49"/>
          <p:cNvSpPr txBox="1"/>
          <p:nvPr/>
        </p:nvSpPr>
        <p:spPr>
          <a:xfrm>
            <a:off x="7598664" y="4261104"/>
            <a:ext cx="1609344" cy="219456"/>
          </a:xfrm>
          <a:prstGeom prst="rect">
            <a:avLst/>
          </a:prstGeom>
          <a:noFill/>
          <a:ln/>
        </p:spPr>
        <p:txBody>
          <a:bodyPr wrap="square" lIns="0" tIns="0" rIns="0" bIns="0" rtlCol="0" anchor="ctr"/>
          <a:lstStyle/>
          <a:p>
            <a:pPr algn="ctr" indent="0" marL="0">
              <a:buNone/>
            </a:pPr>
            <a:r>
              <a:rPr lang="en-US" sz="950" dirty="0">
                <a:solidFill>
                  <a:srgbClr val="6A7B71"/>
                </a:solidFill>
                <a:latin typeface="Arial" pitchFamily="34" charset="0"/>
                <a:ea typeface="Arial" pitchFamily="34" charset="-122"/>
                <a:cs typeface="Arial" pitchFamily="34" charset="-120"/>
              </a:rPr>
              <a:t>Discard</a:t>
            </a:r>
            <a:endParaRPr lang="en-US" sz="950" dirty="0"/>
          </a:p>
        </p:txBody>
      </p:sp>
      <p:sp>
        <p:nvSpPr>
          <p:cNvPr id="52" name="Shape 50"/>
          <p:cNvSpPr/>
          <p:nvPr/>
        </p:nvSpPr>
        <p:spPr>
          <a:xfrm>
            <a:off x="594360" y="5029200"/>
            <a:ext cx="4306824" cy="1682496"/>
          </a:xfrm>
          <a:prstGeom prst="roundRect">
            <a:avLst>
              <a:gd name="adj" fmla="val 4891"/>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53" name="Shape 51"/>
          <p:cNvSpPr/>
          <p:nvPr/>
        </p:nvSpPr>
        <p:spPr>
          <a:xfrm>
            <a:off x="850392" y="5248656"/>
            <a:ext cx="457200" cy="457200"/>
          </a:xfrm>
          <a:prstGeom prst="ellipse">
            <a:avLst/>
          </a:prstGeom>
          <a:solidFill>
            <a:srgbClr val="0E5C3A"/>
          </a:solidFill>
          <a:ln w="12700">
            <a:solidFill>
              <a:srgbClr val="0E5C3A"/>
            </a:solidFill>
            <a:prstDash val="solid"/>
          </a:ln>
        </p:spPr>
      </p:sp>
      <p:pic>
        <p:nvPicPr>
          <p:cNvPr id="54" name="Image 0" descr="/home/user/Fresh-Vision/presentation/assets/icons/LuShieldCheck.png">    </p:cNvPr>
          <p:cNvPicPr>
            <a:picLocks noChangeAspect="1"/>
          </p:cNvPicPr>
          <p:nvPr/>
        </p:nvPicPr>
        <p:blipFill>
          <a:blip r:embed="rId1"/>
          <a:stretch>
            <a:fillRect/>
          </a:stretch>
        </p:blipFill>
        <p:spPr>
          <a:xfrm>
            <a:off x="973836" y="5372100"/>
            <a:ext cx="210312" cy="210312"/>
          </a:xfrm>
          <a:prstGeom prst="rect">
            <a:avLst/>
          </a:prstGeom>
        </p:spPr>
      </p:pic>
      <p:sp>
        <p:nvSpPr>
          <p:cNvPr id="55" name="Text 52"/>
          <p:cNvSpPr txBox="1"/>
          <p:nvPr/>
        </p:nvSpPr>
        <p:spPr>
          <a:xfrm>
            <a:off x="1417320" y="5248656"/>
            <a:ext cx="3264408" cy="457200"/>
          </a:xfrm>
          <a:prstGeom prst="rect">
            <a:avLst/>
          </a:prstGeom>
          <a:noFill/>
          <a:ln/>
        </p:spPr>
        <p:txBody>
          <a:bodyPr wrap="square" lIns="0" tIns="0" rIns="0" bIns="0" rtlCol="0" anchor="ctr"/>
          <a:lstStyle/>
          <a:p>
            <a:pPr indent="0" marL="0">
              <a:buNone/>
            </a:pPr>
            <a:r>
              <a:rPr lang="en-US" sz="1450" b="1" dirty="0">
                <a:solidFill>
                  <a:srgbClr val="10201A"/>
                </a:solidFill>
                <a:latin typeface="Arial" pitchFamily="34" charset="0"/>
                <a:ea typeface="Arial" pitchFamily="34" charset="-122"/>
                <a:cs typeface="Arial" pitchFamily="34" charset="-120"/>
              </a:rPr>
              <a:t>Anything else is refused</a:t>
            </a:r>
            <a:endParaRPr lang="en-US" sz="1450" dirty="0"/>
          </a:p>
        </p:txBody>
      </p:sp>
      <p:sp>
        <p:nvSpPr>
          <p:cNvPr id="56" name="Text 53"/>
          <p:cNvSpPr txBox="1"/>
          <p:nvPr/>
        </p:nvSpPr>
        <p:spPr>
          <a:xfrm>
            <a:off x="868680" y="5815584"/>
            <a:ext cx="3758184" cy="77724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The ImageNet gatekeeper checks its top-5 labels for food keywords, so a photo of a car or a face is rejected rather than forced into one of the 14 classes.</a:t>
            </a:r>
            <a:endParaRPr lang="en-US" sz="1200" dirty="0"/>
          </a:p>
        </p:txBody>
      </p:sp>
      <p:sp>
        <p:nvSpPr>
          <p:cNvPr id="57" name="Shape 54"/>
          <p:cNvSpPr/>
          <p:nvPr/>
        </p:nvSpPr>
        <p:spPr>
          <a:xfrm>
            <a:off x="5175504" y="5029200"/>
            <a:ext cx="4306824" cy="1682496"/>
          </a:xfrm>
          <a:prstGeom prst="roundRect">
            <a:avLst>
              <a:gd name="adj" fmla="val 4891"/>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58" name="Shape 55"/>
          <p:cNvSpPr/>
          <p:nvPr/>
        </p:nvSpPr>
        <p:spPr>
          <a:xfrm>
            <a:off x="5431536" y="5248656"/>
            <a:ext cx="457200" cy="457200"/>
          </a:xfrm>
          <a:prstGeom prst="ellipse">
            <a:avLst/>
          </a:prstGeom>
          <a:solidFill>
            <a:srgbClr val="C9871B"/>
          </a:solidFill>
          <a:ln w="12700">
            <a:solidFill>
              <a:srgbClr val="C9871B"/>
            </a:solidFill>
            <a:prstDash val="solid"/>
          </a:ln>
        </p:spPr>
      </p:sp>
      <p:pic>
        <p:nvPicPr>
          <p:cNvPr id="59" name="Image 1" descr="/home/user/Fresh-Vision/presentation/assets/icons/LuCircleAlert.png">    </p:cNvPr>
          <p:cNvPicPr>
            <a:picLocks noChangeAspect="1"/>
          </p:cNvPicPr>
          <p:nvPr/>
        </p:nvPicPr>
        <p:blipFill>
          <a:blip r:embed="rId2"/>
          <a:stretch>
            <a:fillRect/>
          </a:stretch>
        </p:blipFill>
        <p:spPr>
          <a:xfrm>
            <a:off x="5554980" y="5372100"/>
            <a:ext cx="210312" cy="210312"/>
          </a:xfrm>
          <a:prstGeom prst="rect">
            <a:avLst/>
          </a:prstGeom>
        </p:spPr>
      </p:pic>
      <p:sp>
        <p:nvSpPr>
          <p:cNvPr id="60" name="Text 56"/>
          <p:cNvSpPr txBox="1"/>
          <p:nvPr/>
        </p:nvSpPr>
        <p:spPr>
          <a:xfrm>
            <a:off x="5998464" y="5248656"/>
            <a:ext cx="3264408" cy="457200"/>
          </a:xfrm>
          <a:prstGeom prst="rect">
            <a:avLst/>
          </a:prstGeom>
          <a:noFill/>
          <a:ln/>
        </p:spPr>
        <p:txBody>
          <a:bodyPr wrap="square" lIns="0" tIns="0" rIns="0" bIns="0" rtlCol="0" anchor="ctr"/>
          <a:lstStyle/>
          <a:p>
            <a:pPr indent="0" marL="0">
              <a:buNone/>
            </a:pPr>
            <a:r>
              <a:rPr lang="en-US" sz="1450" b="1" dirty="0">
                <a:solidFill>
                  <a:srgbClr val="10201A"/>
                </a:solidFill>
                <a:latin typeface="Arial" pitchFamily="34" charset="0"/>
                <a:ea typeface="Arial" pitchFamily="34" charset="-122"/>
                <a:cs typeface="Arial" pitchFamily="34" charset="-120"/>
              </a:rPr>
              <a:t>Low confidence is admitted</a:t>
            </a:r>
            <a:endParaRPr lang="en-US" sz="1450" dirty="0"/>
          </a:p>
        </p:txBody>
      </p:sp>
      <p:sp>
        <p:nvSpPr>
          <p:cNvPr id="61" name="Text 57"/>
          <p:cNvSpPr txBox="1"/>
          <p:nvPr/>
        </p:nvSpPr>
        <p:spPr>
          <a:xfrm>
            <a:off x="5449824" y="5815584"/>
            <a:ext cx="3758184" cy="777240"/>
          </a:xfrm>
          <a:prstGeom prst="rect">
            <a:avLst/>
          </a:prstGeom>
          <a:noFill/>
          <a:ln/>
        </p:spPr>
        <p:txBody>
          <a:bodyPr wrap="square" lIns="0" tIns="0" rIns="0" bIns="0" rtlCol="0" anchor="ctr"/>
          <a:lstStyle/>
          <a:p>
            <a:pPr indent="0" marL="0">
              <a:lnSpc>
                <a:spcPts val="1700"/>
              </a:lnSpc>
              <a:buNone/>
            </a:pPr>
            <a:r>
              <a:rPr lang="en-US" sz="1200" dirty="0">
                <a:solidFill>
                  <a:srgbClr val="6A7B71"/>
                </a:solidFill>
                <a:latin typeface="Arial" pitchFamily="34" charset="0"/>
                <a:ea typeface="Arial" pitchFamily="34" charset="-122"/>
                <a:cs typeface="Arial" pitchFamily="34" charset="-120"/>
              </a:rPr>
              <a:t>Below 65% identification confidence the app returns "unclear image" and asks for a better photo instead of guessing.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2103120"/>
            <a:ext cx="2743200" cy="1554480"/>
          </a:xfrm>
          <a:prstGeom prst="rect">
            <a:avLst/>
          </a:prstGeom>
          <a:noFill/>
          <a:ln/>
        </p:spPr>
        <p:txBody>
          <a:bodyPr wrap="square" lIns="0" tIns="0" rIns="0" bIns="0" rtlCol="0" anchor="ctr"/>
          <a:lstStyle/>
          <a:p>
            <a:pPr indent="0" marL="0">
              <a:buNone/>
            </a:pPr>
            <a:r>
              <a:rPr lang="en-US" sz="10800" b="1" dirty="0">
                <a:solidFill>
                  <a:srgbClr val="27604A"/>
                </a:solidFill>
                <a:latin typeface="Arial" pitchFamily="34" charset="0"/>
                <a:ea typeface="Arial" pitchFamily="34" charset="-122"/>
                <a:cs typeface="Arial" pitchFamily="34" charset="-120"/>
              </a:rPr>
              <a:t>04</a:t>
            </a:r>
            <a:endParaRPr lang="en-US" sz="10800" dirty="0"/>
          </a:p>
        </p:txBody>
      </p:sp>
      <p:sp>
        <p:nvSpPr>
          <p:cNvPr id="3" name="Text 1"/>
          <p:cNvSpPr txBox="1"/>
          <p:nvPr/>
        </p:nvSpPr>
        <p:spPr>
          <a:xfrm>
            <a:off x="667512" y="3675888"/>
            <a:ext cx="2743200" cy="274320"/>
          </a:xfrm>
          <a:prstGeom prst="rect">
            <a:avLst/>
          </a:prstGeom>
          <a:noFill/>
          <a:ln/>
        </p:spPr>
        <p:txBody>
          <a:bodyPr wrap="square" lIns="0" tIns="0" rIns="0" bIns="0" rtlCol="0" anchor="ctr"/>
          <a:lstStyle/>
          <a:p>
            <a:pPr indent="0" marL="0">
              <a:buNone/>
            </a:pPr>
            <a:r>
              <a:rPr lang="en-US" sz="1050" b="1" spc="240" kern="0" dirty="0">
                <a:solidFill>
                  <a:srgbClr val="7FD1A6"/>
                </a:solidFill>
                <a:latin typeface="Arial" pitchFamily="34" charset="0"/>
                <a:ea typeface="Arial" pitchFamily="34" charset="-122"/>
                <a:cs typeface="Arial" pitchFamily="34" charset="-120"/>
              </a:rPr>
              <a:t>SECTION</a:t>
            </a:r>
            <a:endParaRPr lang="en-US" sz="1050" dirty="0"/>
          </a:p>
        </p:txBody>
      </p:sp>
      <p:sp>
        <p:nvSpPr>
          <p:cNvPr id="4" name="Text 2"/>
          <p:cNvSpPr txBox="1"/>
          <p:nvPr/>
        </p:nvSpPr>
        <p:spPr>
          <a:xfrm>
            <a:off x="3337560" y="2651760"/>
            <a:ext cx="6144768"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Results &amp; discussion</a:t>
            </a:r>
            <a:endParaRPr lang="en-US" sz="3400" dirty="0"/>
          </a:p>
        </p:txBody>
      </p:sp>
      <p:sp>
        <p:nvSpPr>
          <p:cNvPr id="5" name="Text 3"/>
          <p:cNvSpPr txBox="1"/>
          <p:nvPr/>
        </p:nvSpPr>
        <p:spPr>
          <a:xfrm>
            <a:off x="3383280" y="3328416"/>
            <a:ext cx="6099048" cy="365760"/>
          </a:xfrm>
          <a:prstGeom prst="rect">
            <a:avLst/>
          </a:prstGeom>
          <a:noFill/>
          <a:ln/>
        </p:spPr>
        <p:txBody>
          <a:bodyPr wrap="square" lIns="0" tIns="0" rIns="0" bIns="0" rtlCol="0" anchor="ctr"/>
          <a:lstStyle/>
          <a:p>
            <a:pPr indent="0" marL="0">
              <a:lnSpc>
                <a:spcPts val="2000"/>
              </a:lnSpc>
              <a:buNone/>
            </a:pPr>
            <a:r>
              <a:rPr lang="en-US" sz="1400" dirty="0">
                <a:solidFill>
                  <a:srgbClr val="A6BCAF"/>
                </a:solidFill>
                <a:latin typeface="Arial" pitchFamily="34" charset="0"/>
                <a:ea typeface="Arial" pitchFamily="34" charset="-122"/>
                <a:cs typeface="Arial" pitchFamily="34" charset="-120"/>
              </a:rPr>
              <a:t>What the trained pipeline achieves, and what the finished application looks like.</a:t>
            </a:r>
            <a:endParaRPr lang="en-US" sz="1400" dirty="0"/>
          </a:p>
        </p:txBody>
      </p:sp>
      <p:sp>
        <p:nvSpPr>
          <p:cNvPr id="6" name="Text 4"/>
          <p:cNvSpPr txBox="1"/>
          <p:nvPr/>
        </p:nvSpPr>
        <p:spPr>
          <a:xfrm>
            <a:off x="3383280"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Accuracy &amp; calibration</a:t>
            </a:r>
            <a:endParaRPr lang="en-US" sz="1200" dirty="0"/>
          </a:p>
        </p:txBody>
      </p:sp>
      <p:sp>
        <p:nvSpPr>
          <p:cNvPr id="7" name="Text 5"/>
          <p:cNvSpPr txBox="1"/>
          <p:nvPr/>
        </p:nvSpPr>
        <p:spPr>
          <a:xfrm>
            <a:off x="5416296"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The deployed app</a:t>
            </a:r>
            <a:endParaRPr lang="en-US" sz="1200" dirty="0"/>
          </a:p>
        </p:txBody>
      </p:sp>
      <p:sp>
        <p:nvSpPr>
          <p:cNvPr id="8" name="Text 6"/>
          <p:cNvSpPr txBox="1"/>
          <p:nvPr/>
        </p:nvSpPr>
        <p:spPr>
          <a:xfrm>
            <a:off x="7449312" y="4114800"/>
            <a:ext cx="1850136" cy="365760"/>
          </a:xfrm>
          <a:prstGeom prst="rect">
            <a:avLst/>
          </a:prstGeom>
          <a:noFill/>
          <a:ln/>
        </p:spPr>
        <p:txBody>
          <a:bodyPr wrap="square" lIns="0" tIns="0" rIns="0" bIns="0" rtlCol="0" anchor="ctr"/>
          <a:lstStyle/>
          <a:p>
            <a:pPr indent="0" marL="0">
              <a:buNone/>
            </a:pPr>
            <a:r>
              <a:rPr lang="en-US" sz="1200" dirty="0">
                <a:solidFill>
                  <a:srgbClr val="7FD1A6"/>
                </a:solidFill>
                <a:latin typeface="Arial" pitchFamily="34" charset="0"/>
                <a:ea typeface="Arial" pitchFamily="34" charset="-122"/>
                <a:cs typeface="Arial" pitchFamily="34" charset="-120"/>
              </a:rPr>
              <a:t>—  </a:t>
            </a:r>
            <a:pPr indent="0" marL="0">
              <a:buNone/>
            </a:pPr>
            <a:r>
              <a:rPr lang="en-US" sz="1200" dirty="0">
                <a:solidFill>
                  <a:srgbClr val="FFFFFF"/>
                </a:solidFill>
                <a:latin typeface="Arial" pitchFamily="34" charset="0"/>
                <a:ea typeface="Arial" pitchFamily="34" charset="-122"/>
                <a:cs typeface="Arial" pitchFamily="34" charset="-120"/>
              </a:rPr>
              <a:t>Conclusion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11</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04</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Results &amp; discussion</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Freshness classifier accuracy and inference-time calibration</a:t>
            </a:r>
            <a:endParaRPr lang="en-US" sz="1250" dirty="0"/>
          </a:p>
        </p:txBody>
      </p:sp>
      <p:sp>
        <p:nvSpPr>
          <p:cNvPr id="7" name="Shape 5"/>
          <p:cNvSpPr/>
          <p:nvPr/>
        </p:nvSpPr>
        <p:spPr>
          <a:xfrm>
            <a:off x="594360" y="1609344"/>
            <a:ext cx="2057400" cy="1207008"/>
          </a:xfrm>
          <a:prstGeom prst="roundRect">
            <a:avLst>
              <a:gd name="adj" fmla="val 6818"/>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8" name="Shape 6"/>
          <p:cNvSpPr/>
          <p:nvPr/>
        </p:nvSpPr>
        <p:spPr>
          <a:xfrm>
            <a:off x="777240" y="1773936"/>
            <a:ext cx="365760" cy="365760"/>
          </a:xfrm>
          <a:prstGeom prst="ellipse">
            <a:avLst/>
          </a:prstGeom>
          <a:solidFill>
            <a:srgbClr val="1C9A63"/>
          </a:solidFill>
          <a:ln w="12700">
            <a:solidFill>
              <a:srgbClr val="1C9A63"/>
            </a:solidFill>
            <a:prstDash val="solid"/>
          </a:ln>
        </p:spPr>
      </p:sp>
      <p:pic>
        <p:nvPicPr>
          <p:cNvPr id="9" name="Image 0" descr="/home/user/Fresh-Vision/presentation/assets/icons/LuGauge.png">    </p:cNvPr>
          <p:cNvPicPr>
            <a:picLocks noChangeAspect="1"/>
          </p:cNvPicPr>
          <p:nvPr/>
        </p:nvPicPr>
        <p:blipFill>
          <a:blip r:embed="rId1"/>
          <a:stretch>
            <a:fillRect/>
          </a:stretch>
        </p:blipFill>
        <p:spPr>
          <a:xfrm>
            <a:off x="875995" y="1872691"/>
            <a:ext cx="168250" cy="168250"/>
          </a:xfrm>
          <a:prstGeom prst="rect">
            <a:avLst/>
          </a:prstGeom>
        </p:spPr>
      </p:pic>
      <p:sp>
        <p:nvSpPr>
          <p:cNvPr id="10" name="Text 7"/>
          <p:cNvSpPr txBox="1"/>
          <p:nvPr/>
        </p:nvSpPr>
        <p:spPr>
          <a:xfrm>
            <a:off x="1216152" y="1737360"/>
            <a:ext cx="1252728" cy="457200"/>
          </a:xfrm>
          <a:prstGeom prst="rect">
            <a:avLst/>
          </a:prstGeom>
          <a:noFill/>
          <a:ln/>
        </p:spPr>
        <p:txBody>
          <a:bodyPr wrap="square" lIns="0" tIns="0" rIns="0" bIns="0" rtlCol="0" anchor="ctr"/>
          <a:lstStyle/>
          <a:p>
            <a:pPr indent="0" marL="0">
              <a:buNone/>
            </a:pPr>
            <a:r>
              <a:rPr lang="en-US" sz="2600" b="1" dirty="0">
                <a:solidFill>
                  <a:srgbClr val="1C9A63"/>
                </a:solidFill>
                <a:latin typeface="Arial" pitchFamily="34" charset="0"/>
                <a:ea typeface="Arial" pitchFamily="34" charset="-122"/>
                <a:cs typeface="Arial" pitchFamily="34" charset="-120"/>
              </a:rPr>
              <a:t>80.4%</a:t>
            </a:r>
            <a:endParaRPr lang="en-US" sz="2600" dirty="0"/>
          </a:p>
        </p:txBody>
      </p:sp>
      <p:sp>
        <p:nvSpPr>
          <p:cNvPr id="11" name="Text 8"/>
          <p:cNvSpPr txBox="1"/>
          <p:nvPr/>
        </p:nvSpPr>
        <p:spPr>
          <a:xfrm>
            <a:off x="777240" y="2267712"/>
            <a:ext cx="1691640" cy="384048"/>
          </a:xfrm>
          <a:prstGeom prst="rect">
            <a:avLst/>
          </a:prstGeom>
          <a:noFill/>
          <a:ln/>
        </p:spPr>
        <p:txBody>
          <a:bodyPr wrap="square" lIns="0" tIns="0" rIns="0" bIns="0" rtlCol="0" anchor="ctr"/>
          <a:lstStyle/>
          <a:p>
            <a:pPr indent="0" marL="0">
              <a:lnSpc>
                <a:spcPts val="1400"/>
              </a:lnSpc>
              <a:buNone/>
            </a:pPr>
            <a:r>
              <a:rPr lang="en-US" sz="1100" dirty="0">
                <a:solidFill>
                  <a:srgbClr val="6A7B71"/>
                </a:solidFill>
                <a:latin typeface="Arial" pitchFamily="34" charset="0"/>
                <a:ea typeface="Arial" pitchFamily="34" charset="-122"/>
                <a:cs typeface="Arial" pitchFamily="34" charset="-120"/>
              </a:rPr>
              <a:t>Freshness validation accuracy</a:t>
            </a:r>
            <a:endParaRPr lang="en-US" sz="1100" dirty="0"/>
          </a:p>
        </p:txBody>
      </p:sp>
      <p:sp>
        <p:nvSpPr>
          <p:cNvPr id="12" name="Shape 9"/>
          <p:cNvSpPr/>
          <p:nvPr/>
        </p:nvSpPr>
        <p:spPr>
          <a:xfrm>
            <a:off x="2871216" y="1609344"/>
            <a:ext cx="2057400" cy="1207008"/>
          </a:xfrm>
          <a:prstGeom prst="roundRect">
            <a:avLst>
              <a:gd name="adj" fmla="val 6818"/>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3" name="Shape 10"/>
          <p:cNvSpPr/>
          <p:nvPr/>
        </p:nvSpPr>
        <p:spPr>
          <a:xfrm>
            <a:off x="3054096" y="1773936"/>
            <a:ext cx="365760" cy="365760"/>
          </a:xfrm>
          <a:prstGeom prst="ellipse">
            <a:avLst/>
          </a:prstGeom>
          <a:solidFill>
            <a:srgbClr val="0E5C3A"/>
          </a:solidFill>
          <a:ln w="12700">
            <a:solidFill>
              <a:srgbClr val="0E5C3A"/>
            </a:solidFill>
            <a:prstDash val="solid"/>
          </a:ln>
        </p:spPr>
      </p:sp>
      <p:pic>
        <p:nvPicPr>
          <p:cNvPr id="14" name="Image 1" descr="/home/user/Fresh-Vision/presentation/assets/icons/LuChartColumn.png">    </p:cNvPr>
          <p:cNvPicPr>
            <a:picLocks noChangeAspect="1"/>
          </p:cNvPicPr>
          <p:nvPr/>
        </p:nvPicPr>
        <p:blipFill>
          <a:blip r:embed="rId2"/>
          <a:stretch>
            <a:fillRect/>
          </a:stretch>
        </p:blipFill>
        <p:spPr>
          <a:xfrm>
            <a:off x="3152851" y="1872691"/>
            <a:ext cx="168250" cy="168250"/>
          </a:xfrm>
          <a:prstGeom prst="rect">
            <a:avLst/>
          </a:prstGeom>
        </p:spPr>
      </p:pic>
      <p:sp>
        <p:nvSpPr>
          <p:cNvPr id="15" name="Text 11"/>
          <p:cNvSpPr txBox="1"/>
          <p:nvPr/>
        </p:nvSpPr>
        <p:spPr>
          <a:xfrm>
            <a:off x="3493008" y="1737360"/>
            <a:ext cx="1252728" cy="457200"/>
          </a:xfrm>
          <a:prstGeom prst="rect">
            <a:avLst/>
          </a:prstGeom>
          <a:noFill/>
          <a:ln/>
        </p:spPr>
        <p:txBody>
          <a:bodyPr wrap="square" lIns="0" tIns="0" rIns="0" bIns="0" rtlCol="0" anchor="ctr"/>
          <a:lstStyle/>
          <a:p>
            <a:pPr indent="0" marL="0">
              <a:buNone/>
            </a:pPr>
            <a:r>
              <a:rPr lang="en-US" sz="2600" b="1" dirty="0">
                <a:solidFill>
                  <a:srgbClr val="0E5C3A"/>
                </a:solidFill>
                <a:latin typeface="Arial" pitchFamily="34" charset="0"/>
                <a:ea typeface="Arial" pitchFamily="34" charset="-122"/>
                <a:cs typeface="Arial" pitchFamily="34" charset="-120"/>
              </a:rPr>
              <a:t>+2.6 pts</a:t>
            </a:r>
            <a:endParaRPr lang="en-US" sz="2600" dirty="0"/>
          </a:p>
        </p:txBody>
      </p:sp>
      <p:sp>
        <p:nvSpPr>
          <p:cNvPr id="16" name="Text 12"/>
          <p:cNvSpPr txBox="1"/>
          <p:nvPr/>
        </p:nvSpPr>
        <p:spPr>
          <a:xfrm>
            <a:off x="3054096" y="2267712"/>
            <a:ext cx="1691640" cy="384048"/>
          </a:xfrm>
          <a:prstGeom prst="rect">
            <a:avLst/>
          </a:prstGeom>
          <a:noFill/>
          <a:ln/>
        </p:spPr>
        <p:txBody>
          <a:bodyPr wrap="square" lIns="0" tIns="0" rIns="0" bIns="0" rtlCol="0" anchor="ctr"/>
          <a:lstStyle/>
          <a:p>
            <a:pPr indent="0" marL="0">
              <a:lnSpc>
                <a:spcPts val="1400"/>
              </a:lnSpc>
              <a:buNone/>
            </a:pPr>
            <a:r>
              <a:rPr lang="en-US" sz="1100" dirty="0">
                <a:solidFill>
                  <a:srgbClr val="6A7B71"/>
                </a:solidFill>
                <a:latin typeface="Arial" pitchFamily="34" charset="0"/>
                <a:ea typeface="Arial" pitchFamily="34" charset="-122"/>
                <a:cs typeface="Arial" pitchFamily="34" charset="-120"/>
              </a:rPr>
              <a:t>Gained by fine-tuning</a:t>
            </a:r>
            <a:endParaRPr lang="en-US" sz="1100" dirty="0"/>
          </a:p>
        </p:txBody>
      </p:sp>
      <p:sp>
        <p:nvSpPr>
          <p:cNvPr id="17" name="Shape 13"/>
          <p:cNvSpPr/>
          <p:nvPr/>
        </p:nvSpPr>
        <p:spPr>
          <a:xfrm>
            <a:off x="5148072" y="1609344"/>
            <a:ext cx="2057400" cy="1207008"/>
          </a:xfrm>
          <a:prstGeom prst="roundRect">
            <a:avLst>
              <a:gd name="adj" fmla="val 6818"/>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8" name="Shape 14"/>
          <p:cNvSpPr/>
          <p:nvPr/>
        </p:nvSpPr>
        <p:spPr>
          <a:xfrm>
            <a:off x="5330952" y="1773936"/>
            <a:ext cx="365760" cy="365760"/>
          </a:xfrm>
          <a:prstGeom prst="ellipse">
            <a:avLst/>
          </a:prstGeom>
          <a:solidFill>
            <a:srgbClr val="C9871B"/>
          </a:solidFill>
          <a:ln w="12700">
            <a:solidFill>
              <a:srgbClr val="C9871B"/>
            </a:solidFill>
            <a:prstDash val="solid"/>
          </a:ln>
        </p:spPr>
      </p:sp>
      <p:pic>
        <p:nvPicPr>
          <p:cNvPr id="19" name="Image 2" descr="/home/user/Fresh-Vision/presentation/assets/icons/LuBoxes.png">    </p:cNvPr>
          <p:cNvPicPr>
            <a:picLocks noChangeAspect="1"/>
          </p:cNvPicPr>
          <p:nvPr/>
        </p:nvPicPr>
        <p:blipFill>
          <a:blip r:embed="rId3"/>
          <a:stretch>
            <a:fillRect/>
          </a:stretch>
        </p:blipFill>
        <p:spPr>
          <a:xfrm>
            <a:off x="5429707" y="1872691"/>
            <a:ext cx="168250" cy="168250"/>
          </a:xfrm>
          <a:prstGeom prst="rect">
            <a:avLst/>
          </a:prstGeom>
        </p:spPr>
      </p:pic>
      <p:sp>
        <p:nvSpPr>
          <p:cNvPr id="20" name="Text 15"/>
          <p:cNvSpPr txBox="1"/>
          <p:nvPr/>
        </p:nvSpPr>
        <p:spPr>
          <a:xfrm>
            <a:off x="5769864" y="1737360"/>
            <a:ext cx="1252728" cy="457200"/>
          </a:xfrm>
          <a:prstGeom prst="rect">
            <a:avLst/>
          </a:prstGeom>
          <a:noFill/>
          <a:ln/>
        </p:spPr>
        <p:txBody>
          <a:bodyPr wrap="square" lIns="0" tIns="0" rIns="0" bIns="0" rtlCol="0" anchor="ctr"/>
          <a:lstStyle/>
          <a:p>
            <a:pPr indent="0" marL="0">
              <a:buNone/>
            </a:pPr>
            <a:r>
              <a:rPr lang="en-US" sz="2600" b="1" dirty="0">
                <a:solidFill>
                  <a:srgbClr val="C9871B"/>
                </a:solidFill>
                <a:latin typeface="Arial" pitchFamily="34" charset="0"/>
                <a:ea typeface="Arial" pitchFamily="34" charset="-122"/>
                <a:cs typeface="Arial" pitchFamily="34" charset="-120"/>
              </a:rPr>
              <a:t>14</a:t>
            </a:r>
            <a:endParaRPr lang="en-US" sz="2600" dirty="0"/>
          </a:p>
        </p:txBody>
      </p:sp>
      <p:sp>
        <p:nvSpPr>
          <p:cNvPr id="21" name="Text 16"/>
          <p:cNvSpPr txBox="1"/>
          <p:nvPr/>
        </p:nvSpPr>
        <p:spPr>
          <a:xfrm>
            <a:off x="5330952" y="2267712"/>
            <a:ext cx="1691640" cy="384048"/>
          </a:xfrm>
          <a:prstGeom prst="rect">
            <a:avLst/>
          </a:prstGeom>
          <a:noFill/>
          <a:ln/>
        </p:spPr>
        <p:txBody>
          <a:bodyPr wrap="square" lIns="0" tIns="0" rIns="0" bIns="0" rtlCol="0" anchor="ctr"/>
          <a:lstStyle/>
          <a:p>
            <a:pPr indent="0" marL="0">
              <a:lnSpc>
                <a:spcPts val="1400"/>
              </a:lnSpc>
              <a:buNone/>
            </a:pPr>
            <a:r>
              <a:rPr lang="en-US" sz="1100" dirty="0">
                <a:solidFill>
                  <a:srgbClr val="6A7B71"/>
                </a:solidFill>
                <a:latin typeface="Arial" pitchFamily="34" charset="0"/>
                <a:ea typeface="Arial" pitchFamily="34" charset="-122"/>
                <a:cs typeface="Arial" pitchFamily="34" charset="-120"/>
              </a:rPr>
              <a:t>Produce classes covered</a:t>
            </a:r>
            <a:endParaRPr lang="en-US" sz="1100" dirty="0"/>
          </a:p>
        </p:txBody>
      </p:sp>
      <p:sp>
        <p:nvSpPr>
          <p:cNvPr id="22" name="Shape 17"/>
          <p:cNvSpPr/>
          <p:nvPr/>
        </p:nvSpPr>
        <p:spPr>
          <a:xfrm>
            <a:off x="7424928" y="1609344"/>
            <a:ext cx="2057400" cy="1207008"/>
          </a:xfrm>
          <a:prstGeom prst="roundRect">
            <a:avLst>
              <a:gd name="adj" fmla="val 6818"/>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3" name="Shape 18"/>
          <p:cNvSpPr/>
          <p:nvPr/>
        </p:nvSpPr>
        <p:spPr>
          <a:xfrm>
            <a:off x="7607808" y="1773936"/>
            <a:ext cx="365760" cy="365760"/>
          </a:xfrm>
          <a:prstGeom prst="ellipse">
            <a:avLst/>
          </a:prstGeom>
          <a:solidFill>
            <a:srgbClr val="0E5C3A"/>
          </a:solidFill>
          <a:ln w="12700">
            <a:solidFill>
              <a:srgbClr val="0E5C3A"/>
            </a:solidFill>
            <a:prstDash val="solid"/>
          </a:ln>
        </p:spPr>
      </p:sp>
      <p:pic>
        <p:nvPicPr>
          <p:cNvPr id="24" name="Image 3" descr="/home/user/Fresh-Vision/presentation/assets/icons/LuTimer.png">    </p:cNvPr>
          <p:cNvPicPr>
            <a:picLocks noChangeAspect="1"/>
          </p:cNvPicPr>
          <p:nvPr/>
        </p:nvPicPr>
        <p:blipFill>
          <a:blip r:embed="rId4"/>
          <a:stretch>
            <a:fillRect/>
          </a:stretch>
        </p:blipFill>
        <p:spPr>
          <a:xfrm>
            <a:off x="7706563" y="1872691"/>
            <a:ext cx="168250" cy="168250"/>
          </a:xfrm>
          <a:prstGeom prst="rect">
            <a:avLst/>
          </a:prstGeom>
        </p:spPr>
      </p:pic>
      <p:sp>
        <p:nvSpPr>
          <p:cNvPr id="25" name="Text 19"/>
          <p:cNvSpPr txBox="1"/>
          <p:nvPr/>
        </p:nvSpPr>
        <p:spPr>
          <a:xfrm>
            <a:off x="8046720" y="1737360"/>
            <a:ext cx="1252728" cy="457200"/>
          </a:xfrm>
          <a:prstGeom prst="rect">
            <a:avLst/>
          </a:prstGeom>
          <a:noFill/>
          <a:ln/>
        </p:spPr>
        <p:txBody>
          <a:bodyPr wrap="square" lIns="0" tIns="0" rIns="0" bIns="0" rtlCol="0" anchor="ctr"/>
          <a:lstStyle/>
          <a:p>
            <a:pPr indent="0" marL="0">
              <a:buNone/>
            </a:pPr>
            <a:r>
              <a:rPr lang="en-US" sz="2600" b="1" dirty="0">
                <a:solidFill>
                  <a:srgbClr val="0E5C3A"/>
                </a:solidFill>
                <a:latin typeface="Arial" pitchFamily="34" charset="0"/>
                <a:ea typeface="Arial" pitchFamily="34" charset="-122"/>
                <a:cs typeface="Arial" pitchFamily="34" charset="-120"/>
              </a:rPr>
              <a:t>&lt; 1 s</a:t>
            </a:r>
            <a:endParaRPr lang="en-US" sz="2600" dirty="0"/>
          </a:p>
        </p:txBody>
      </p:sp>
      <p:sp>
        <p:nvSpPr>
          <p:cNvPr id="26" name="Text 20"/>
          <p:cNvSpPr txBox="1"/>
          <p:nvPr/>
        </p:nvSpPr>
        <p:spPr>
          <a:xfrm>
            <a:off x="7607808" y="2267712"/>
            <a:ext cx="1691640" cy="384048"/>
          </a:xfrm>
          <a:prstGeom prst="rect">
            <a:avLst/>
          </a:prstGeom>
          <a:noFill/>
          <a:ln/>
        </p:spPr>
        <p:txBody>
          <a:bodyPr wrap="square" lIns="0" tIns="0" rIns="0" bIns="0" rtlCol="0" anchor="ctr"/>
          <a:lstStyle/>
          <a:p>
            <a:pPr indent="0" marL="0">
              <a:lnSpc>
                <a:spcPts val="1400"/>
              </a:lnSpc>
              <a:buNone/>
            </a:pPr>
            <a:r>
              <a:rPr lang="en-US" sz="1100" dirty="0">
                <a:solidFill>
                  <a:srgbClr val="6A7B71"/>
                </a:solidFill>
                <a:latin typeface="Arial" pitchFamily="34" charset="0"/>
                <a:ea typeface="Arial" pitchFamily="34" charset="-122"/>
                <a:cs typeface="Arial" pitchFamily="34" charset="-120"/>
              </a:rPr>
              <a:t>Typical inference latency</a:t>
            </a:r>
            <a:endParaRPr lang="en-US" sz="1100" dirty="0"/>
          </a:p>
        </p:txBody>
      </p:sp>
      <p:sp>
        <p:nvSpPr>
          <p:cNvPr id="27" name="Shape 21"/>
          <p:cNvSpPr/>
          <p:nvPr/>
        </p:nvSpPr>
        <p:spPr>
          <a:xfrm>
            <a:off x="594360" y="2999232"/>
            <a:ext cx="4306824" cy="2962656"/>
          </a:xfrm>
          <a:prstGeom prst="roundRect">
            <a:avLst>
              <a:gd name="adj" fmla="val 2778"/>
            </a:avLst>
          </a:prstGeom>
          <a:solidFill>
            <a:srgbClr val="F4FAF6"/>
          </a:solidFill>
          <a:ln w="12700">
            <a:solidFill>
              <a:srgbClr val="DCE7E1"/>
            </a:solidFill>
            <a:prstDash val="solid"/>
          </a:ln>
        </p:spPr>
      </p:sp>
      <p:graphicFrame>
        <p:nvGraphicFramePr>
          <p:cNvPr id="28" name="Chart 0" descr=""/>
          <p:cNvGraphicFramePr/>
          <p:nvPr/>
        </p:nvGraphicFramePr>
        <p:xfrm>
          <a:off x="685800" y="3090672"/>
          <a:ext cx="4123944" cy="2779776"/>
        </p:xfrm>
        <a:graphic xmlns:a="http://schemas.openxmlformats.org/drawingml/2006/main">
          <a:graphicData uri="http://schemas.openxmlformats.org/drawingml/2006/chart">
            <c:chart xmlns:c="http://schemas.openxmlformats.org/drawingml/2006/chart" r:id="rId5"/>
          </a:graphicData>
        </a:graphic>
      </p:graphicFrame>
      <p:sp>
        <p:nvSpPr>
          <p:cNvPr id="29" name="Shape 22"/>
          <p:cNvSpPr/>
          <p:nvPr/>
        </p:nvSpPr>
        <p:spPr>
          <a:xfrm>
            <a:off x="5175504" y="2999232"/>
            <a:ext cx="4306824" cy="2962656"/>
          </a:xfrm>
          <a:prstGeom prst="roundRect">
            <a:avLst>
              <a:gd name="adj" fmla="val 2778"/>
            </a:avLst>
          </a:prstGeom>
          <a:solidFill>
            <a:srgbClr val="F4FAF6"/>
          </a:solidFill>
          <a:ln w="12700">
            <a:solidFill>
              <a:srgbClr val="DCE7E1"/>
            </a:solidFill>
            <a:prstDash val="solid"/>
          </a:ln>
        </p:spPr>
      </p:sp>
      <p:graphicFrame>
        <p:nvGraphicFramePr>
          <p:cNvPr id="30" name="Chart 1" descr=""/>
          <p:cNvGraphicFramePr/>
          <p:nvPr/>
        </p:nvGraphicFramePr>
        <p:xfrm>
          <a:off x="5266944" y="3090672"/>
          <a:ext cx="4123944" cy="2779776"/>
        </p:xfrm>
        <a:graphic xmlns:a="http://schemas.openxmlformats.org/drawingml/2006/main">
          <a:graphicData uri="http://schemas.openxmlformats.org/drawingml/2006/chart">
            <c:chart xmlns:c="http://schemas.openxmlformats.org/drawingml/2006/chart" r:id="rId6"/>
          </a:graphicData>
        </a:graphic>
      </p:graphicFrame>
      <p:sp>
        <p:nvSpPr>
          <p:cNvPr id="31" name="Text 23"/>
          <p:cNvSpPr txBox="1"/>
          <p:nvPr/>
        </p:nvSpPr>
        <p:spPr>
          <a:xfrm>
            <a:off x="594360" y="6089904"/>
            <a:ext cx="8887968" cy="640080"/>
          </a:xfrm>
          <a:prstGeom prst="rect">
            <a:avLst/>
          </a:prstGeom>
          <a:noFill/>
          <a:ln/>
        </p:spPr>
        <p:txBody>
          <a:bodyPr wrap="square" lIns="0" tIns="0" rIns="0" bIns="0" rtlCol="0" anchor="ctr"/>
          <a:lstStyle/>
          <a:p>
            <a:pPr indent="0" marL="0">
              <a:lnSpc>
                <a:spcPts val="1800"/>
              </a:lnSpc>
              <a:buNone/>
            </a:pPr>
            <a:r>
              <a:rPr lang="en-US" sz="1200" dirty="0">
                <a:solidFill>
                  <a:srgbClr val="6A7B71"/>
                </a:solidFill>
                <a:latin typeface="Arial" pitchFamily="34" charset="0"/>
                <a:ea typeface="Arial" pitchFamily="34" charset="-122"/>
                <a:cs typeface="Arial" pitchFamily="34" charset="-120"/>
              </a:rPr>
              <a:t>The raw freshness head over-predicted "slightly rotten" and almost never fired "very rotten". Rather than retrain, the probability vector is reweighted at inference and renormalised — a practical fix that visibly improved the verdicts.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12</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SECTION 04</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The deployed application</a:t>
            </a:r>
            <a:endParaRPr lang="en-US" sz="2700" dirty="0"/>
          </a:p>
        </p:txBody>
      </p:sp>
      <p:sp>
        <p:nvSpPr>
          <p:cNvPr id="6" name="Text 4"/>
          <p:cNvSpPr txBox="1"/>
          <p:nvPr/>
        </p:nvSpPr>
        <p:spPr>
          <a:xfrm>
            <a:off x="594360" y="1188720"/>
            <a:ext cx="8887968" cy="256032"/>
          </a:xfrm>
          <a:prstGeom prst="rect">
            <a:avLst/>
          </a:prstGeom>
          <a:noFill/>
          <a:ln/>
        </p:spPr>
        <p:txBody>
          <a:bodyPr wrap="square" lIns="0" tIns="0" rIns="0" bIns="0" rtlCol="0" anchor="ctr"/>
          <a:lstStyle/>
          <a:p>
            <a:pPr indent="0" marL="0">
              <a:buNone/>
            </a:pPr>
            <a:r>
              <a:rPr lang="en-US" sz="1250" dirty="0">
                <a:solidFill>
                  <a:srgbClr val="6A7B71"/>
                </a:solidFill>
                <a:latin typeface="Arial" pitchFamily="34" charset="0"/>
                <a:ea typeface="Arial" pitchFamily="34" charset="-122"/>
                <a:cs typeface="Arial" pitchFamily="34" charset="-120"/>
              </a:rPr>
              <a:t>FastAPI JSON service behind a React single-page interface</a:t>
            </a:r>
            <a:endParaRPr lang="en-US" sz="1250" dirty="0"/>
          </a:p>
        </p:txBody>
      </p:sp>
      <p:pic>
        <p:nvPicPr>
          <p:cNvPr id="7" name="Image 0" descr="/home/user/Fresh-Vision/presentation/assets/ui_hero.png">    </p:cNvPr>
          <p:cNvPicPr>
            <a:picLocks noChangeAspect="1"/>
          </p:cNvPicPr>
          <p:nvPr/>
        </p:nvPicPr>
        <p:blipFill>
          <a:blip r:embed="rId1"/>
          <a:stretch>
            <a:fillRect/>
          </a:stretch>
        </p:blipFill>
        <p:spPr>
          <a:xfrm>
            <a:off x="594360" y="1609344"/>
            <a:ext cx="4846320" cy="3028950"/>
          </a:xfrm>
          <a:prstGeom prst="rect">
            <a:avLst/>
          </a:prstGeom>
        </p:spPr>
      </p:pic>
      <p:sp>
        <p:nvSpPr>
          <p:cNvPr id="8" name="Text 5"/>
          <p:cNvSpPr txBox="1"/>
          <p:nvPr/>
        </p:nvSpPr>
        <p:spPr>
          <a:xfrm>
            <a:off x="594360" y="4663440"/>
            <a:ext cx="4846320" cy="237744"/>
          </a:xfrm>
          <a:prstGeom prst="rect">
            <a:avLst/>
          </a:prstGeom>
          <a:noFill/>
          <a:ln/>
        </p:spPr>
        <p:txBody>
          <a:bodyPr wrap="square" lIns="0" tIns="0" rIns="0" bIns="0" rtlCol="0" anchor="ctr"/>
          <a:lstStyle/>
          <a:p>
            <a:pPr indent="0" marL="0">
              <a:buNone/>
            </a:pPr>
            <a:r>
              <a:rPr lang="en-US" sz="1050" i="1" dirty="0">
                <a:solidFill>
                  <a:srgbClr val="6A7B71"/>
                </a:solidFill>
                <a:latin typeface="Arial" pitchFamily="34" charset="0"/>
                <a:ea typeface="Arial" pitchFamily="34" charset="-122"/>
                <a:cs typeface="Arial" pitchFamily="34" charset="-120"/>
              </a:rPr>
              <a:t>Landing view — model status, headline and coverage stats</a:t>
            </a:r>
            <a:endParaRPr lang="en-US" sz="1050" dirty="0"/>
          </a:p>
        </p:txBody>
      </p:sp>
      <p:pic>
        <p:nvPicPr>
          <p:cNvPr id="9" name="Image 1" descr="/home/user/Fresh-Vision/presentation/assets/shot_upload.png">    </p:cNvPr>
          <p:cNvPicPr>
            <a:picLocks noChangeAspect="1"/>
          </p:cNvPicPr>
          <p:nvPr/>
        </p:nvPicPr>
        <p:blipFill>
          <a:blip r:embed="rId2"/>
          <a:stretch>
            <a:fillRect/>
          </a:stretch>
        </p:blipFill>
        <p:spPr>
          <a:xfrm>
            <a:off x="594360" y="4956048"/>
            <a:ext cx="4023360" cy="1659636"/>
          </a:xfrm>
          <a:prstGeom prst="rect">
            <a:avLst/>
          </a:prstGeom>
        </p:spPr>
      </p:pic>
      <p:sp>
        <p:nvSpPr>
          <p:cNvPr id="10" name="Text 6"/>
          <p:cNvSpPr txBox="1"/>
          <p:nvPr/>
        </p:nvSpPr>
        <p:spPr>
          <a:xfrm>
            <a:off x="594360" y="6638544"/>
            <a:ext cx="4846320" cy="237744"/>
          </a:xfrm>
          <a:prstGeom prst="rect">
            <a:avLst/>
          </a:prstGeom>
          <a:noFill/>
          <a:ln/>
        </p:spPr>
        <p:txBody>
          <a:bodyPr wrap="square" lIns="0" tIns="0" rIns="0" bIns="0" rtlCol="0" anchor="ctr"/>
          <a:lstStyle/>
          <a:p>
            <a:pPr indent="0" marL="0">
              <a:buNone/>
            </a:pPr>
            <a:r>
              <a:rPr lang="en-US" sz="1050" i="1" dirty="0">
                <a:solidFill>
                  <a:srgbClr val="6A7B71"/>
                </a:solidFill>
                <a:latin typeface="Arial" pitchFamily="34" charset="0"/>
                <a:ea typeface="Arial" pitchFamily="34" charset="-122"/>
                <a:cs typeface="Arial" pitchFamily="34" charset="-120"/>
              </a:rPr>
              <a:t>Analysis view — drag-and-drop upload beside the verdict panel</a:t>
            </a:r>
            <a:endParaRPr lang="en-US" sz="1050" dirty="0"/>
          </a:p>
        </p:txBody>
      </p:sp>
      <p:sp>
        <p:nvSpPr>
          <p:cNvPr id="11" name="Shape 7"/>
          <p:cNvSpPr/>
          <p:nvPr/>
        </p:nvSpPr>
        <p:spPr>
          <a:xfrm>
            <a:off x="5824728" y="1609344"/>
            <a:ext cx="3657600" cy="2286000"/>
          </a:xfrm>
          <a:prstGeom prst="roundRect">
            <a:avLst>
              <a:gd name="adj" fmla="val 3600"/>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2" name="Shape 8"/>
          <p:cNvSpPr/>
          <p:nvPr/>
        </p:nvSpPr>
        <p:spPr>
          <a:xfrm>
            <a:off x="6062472" y="1792224"/>
            <a:ext cx="402336" cy="402336"/>
          </a:xfrm>
          <a:prstGeom prst="ellipse">
            <a:avLst/>
          </a:prstGeom>
          <a:solidFill>
            <a:srgbClr val="0E5C3A"/>
          </a:solidFill>
          <a:ln w="12700">
            <a:solidFill>
              <a:srgbClr val="0E5C3A"/>
            </a:solidFill>
            <a:prstDash val="solid"/>
          </a:ln>
        </p:spPr>
      </p:sp>
      <p:pic>
        <p:nvPicPr>
          <p:cNvPr id="13" name="Image 2" descr="/home/user/Fresh-Vision/presentation/assets/icons/LuServer.png">    </p:cNvPr>
          <p:cNvPicPr>
            <a:picLocks noChangeAspect="1"/>
          </p:cNvPicPr>
          <p:nvPr/>
        </p:nvPicPr>
        <p:blipFill>
          <a:blip r:embed="rId3"/>
          <a:stretch>
            <a:fillRect/>
          </a:stretch>
        </p:blipFill>
        <p:spPr>
          <a:xfrm>
            <a:off x="6171103" y="1900855"/>
            <a:ext cx="185075" cy="185075"/>
          </a:xfrm>
          <a:prstGeom prst="rect">
            <a:avLst/>
          </a:prstGeom>
        </p:spPr>
      </p:pic>
      <p:sp>
        <p:nvSpPr>
          <p:cNvPr id="14" name="Text 9"/>
          <p:cNvSpPr txBox="1"/>
          <p:nvPr/>
        </p:nvSpPr>
        <p:spPr>
          <a:xfrm>
            <a:off x="6592824" y="1792224"/>
            <a:ext cx="2651760" cy="402336"/>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REST API</a:t>
            </a:r>
            <a:endParaRPr lang="en-US" sz="1500" dirty="0"/>
          </a:p>
        </p:txBody>
      </p:sp>
      <p:sp>
        <p:nvSpPr>
          <p:cNvPr id="15" name="Text 10"/>
          <p:cNvSpPr txBox="1"/>
          <p:nvPr/>
        </p:nvSpPr>
        <p:spPr>
          <a:xfrm>
            <a:off x="6080760" y="2322576"/>
            <a:ext cx="3145536" cy="1463040"/>
          </a:xfrm>
          <a:prstGeom prst="rect">
            <a:avLst/>
          </a:prstGeom>
          <a:noFill/>
          <a:ln/>
        </p:spPr>
        <p:txBody>
          <a:bodyPr wrap="square" lIns="0" tIns="0" rIns="0" bIns="0" rtlCol="0" anchor="ctr"/>
          <a:lstStyle/>
          <a:p>
            <a:pPr indent="0" marL="0">
              <a:lnSpc>
                <a:spcPts val="1600"/>
              </a:lnSpc>
              <a:buNone/>
            </a:pPr>
            <a:r>
              <a:rPr lang="en-US" sz="1150" b="1" dirty="0">
                <a:solidFill>
                  <a:srgbClr val="0E5C3A"/>
                </a:solidFill>
                <a:latin typeface="Arial" pitchFamily="34" charset="0"/>
                <a:ea typeface="Arial" pitchFamily="34" charset="-122"/>
                <a:cs typeface="Arial" pitchFamily="34" charset="-120"/>
              </a:rPr>
              <a:t>GET /api/health</a:t>
            </a:r>
            <a:endParaRPr lang="en-US" sz="1150" dirty="0"/>
          </a:p>
          <a:p>
            <a:pPr indent="0" marL="0">
              <a:lnSpc>
                <a:spcPts val="1600"/>
              </a:lnSpc>
              <a:buNone/>
            </a:pPr>
            <a:r>
              <a:rPr lang="en-US" sz="1050" dirty="0">
                <a:solidFill>
                  <a:srgbClr val="6A7B71"/>
                </a:solidFill>
                <a:latin typeface="Arial" pitchFamily="34" charset="0"/>
                <a:ea typeface="Arial" pitchFamily="34" charset="-122"/>
                <a:cs typeface="Arial" pitchFamily="34" charset="-120"/>
              </a:rPr>
              <a:t>Model load status (503 if a model is missing)</a:t>
            </a:r>
            <a:endParaRPr lang="en-US" sz="1150" dirty="0"/>
          </a:p>
          <a:p>
            <a:pPr indent="0" marL="0">
              <a:lnSpc>
                <a:spcPts val="1600"/>
              </a:lnSpc>
              <a:buNone/>
            </a:pPr>
            <a:r>
              <a:rPr lang="en-US" sz="1150" b="1" dirty="0">
                <a:solidFill>
                  <a:srgbClr val="0E5C3A"/>
                </a:solidFill>
                <a:latin typeface="Arial" pitchFamily="34" charset="0"/>
                <a:ea typeface="Arial" pitchFamily="34" charset="-122"/>
                <a:cs typeface="Arial" pitchFamily="34" charset="-120"/>
              </a:rPr>
              <a:t>GET /api/classes</a:t>
            </a:r>
            <a:endParaRPr lang="en-US" sz="1150" dirty="0"/>
          </a:p>
          <a:p>
            <a:pPr indent="0" marL="0">
              <a:lnSpc>
                <a:spcPts val="1600"/>
              </a:lnSpc>
              <a:buNone/>
            </a:pPr>
            <a:r>
              <a:rPr lang="en-US" sz="1050" dirty="0">
                <a:solidFill>
                  <a:srgbClr val="6A7B71"/>
                </a:solidFill>
                <a:latin typeface="Arial" pitchFamily="34" charset="0"/>
                <a:ea typeface="Arial" pitchFamily="34" charset="-122"/>
                <a:cs typeface="Arial" pitchFamily="34" charset="-120"/>
              </a:rPr>
              <a:t>Produce and freshness label lists</a:t>
            </a:r>
            <a:endParaRPr lang="en-US" sz="1150" dirty="0"/>
          </a:p>
          <a:p>
            <a:pPr indent="0" marL="0">
              <a:lnSpc>
                <a:spcPts val="1600"/>
              </a:lnSpc>
              <a:buNone/>
            </a:pPr>
            <a:r>
              <a:rPr lang="en-US" sz="1150" b="1" dirty="0">
                <a:solidFill>
                  <a:srgbClr val="0E5C3A"/>
                </a:solidFill>
                <a:latin typeface="Arial" pitchFamily="34" charset="0"/>
                <a:ea typeface="Arial" pitchFamily="34" charset="-122"/>
                <a:cs typeface="Arial" pitchFamily="34" charset="-120"/>
              </a:rPr>
              <a:t>POST /api/predict</a:t>
            </a:r>
            <a:endParaRPr lang="en-US" sz="1150" dirty="0"/>
          </a:p>
          <a:p>
            <a:pPr indent="0" marL="0">
              <a:lnSpc>
                <a:spcPts val="1600"/>
              </a:lnSpc>
              <a:buNone/>
            </a:pPr>
            <a:r>
              <a:rPr lang="en-US" sz="1050" dirty="0">
                <a:solidFill>
                  <a:srgbClr val="6A7B71"/>
                </a:solidFill>
                <a:latin typeface="Arial" pitchFamily="34" charset="0"/>
                <a:ea typeface="Arial" pitchFamily="34" charset="-122"/>
                <a:cs typeface="Arial" pitchFamily="34" charset="-120"/>
              </a:rPr>
              <a:t>Image upload → the full analysis JSON</a:t>
            </a:r>
            <a:endParaRPr lang="en-US" sz="1150" dirty="0"/>
          </a:p>
        </p:txBody>
      </p:sp>
      <p:sp>
        <p:nvSpPr>
          <p:cNvPr id="16" name="Shape 11"/>
          <p:cNvSpPr/>
          <p:nvPr/>
        </p:nvSpPr>
        <p:spPr>
          <a:xfrm>
            <a:off x="5824728" y="4078224"/>
            <a:ext cx="3657600" cy="2633472"/>
          </a:xfrm>
          <a:prstGeom prst="roundRect">
            <a:avLst>
              <a:gd name="adj" fmla="val 3125"/>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7" name="Shape 12"/>
          <p:cNvSpPr/>
          <p:nvPr/>
        </p:nvSpPr>
        <p:spPr>
          <a:xfrm>
            <a:off x="6062472" y="4261104"/>
            <a:ext cx="402336" cy="402336"/>
          </a:xfrm>
          <a:prstGeom prst="ellipse">
            <a:avLst/>
          </a:prstGeom>
          <a:solidFill>
            <a:srgbClr val="1C9A63"/>
          </a:solidFill>
          <a:ln w="12700">
            <a:solidFill>
              <a:srgbClr val="1C9A63"/>
            </a:solidFill>
            <a:prstDash val="solid"/>
          </a:ln>
        </p:spPr>
      </p:sp>
      <p:pic>
        <p:nvPicPr>
          <p:cNvPr id="18" name="Image 3" descr="/home/user/Fresh-Vision/presentation/assets/icons/LuEye.png">    </p:cNvPr>
          <p:cNvPicPr>
            <a:picLocks noChangeAspect="1"/>
          </p:cNvPicPr>
          <p:nvPr/>
        </p:nvPicPr>
        <p:blipFill>
          <a:blip r:embed="rId4"/>
          <a:stretch>
            <a:fillRect/>
          </a:stretch>
        </p:blipFill>
        <p:spPr>
          <a:xfrm>
            <a:off x="6171103" y="4369735"/>
            <a:ext cx="185075" cy="185075"/>
          </a:xfrm>
          <a:prstGeom prst="rect">
            <a:avLst/>
          </a:prstGeom>
        </p:spPr>
      </p:pic>
      <p:sp>
        <p:nvSpPr>
          <p:cNvPr id="19" name="Text 13"/>
          <p:cNvSpPr txBox="1"/>
          <p:nvPr/>
        </p:nvSpPr>
        <p:spPr>
          <a:xfrm>
            <a:off x="6592824" y="4261104"/>
            <a:ext cx="2651760" cy="402336"/>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What the user sees</a:t>
            </a:r>
            <a:endParaRPr lang="en-US" sz="1500" dirty="0"/>
          </a:p>
        </p:txBody>
      </p:sp>
      <p:sp>
        <p:nvSpPr>
          <p:cNvPr id="20" name="Text 14"/>
          <p:cNvSpPr txBox="1"/>
          <p:nvPr/>
        </p:nvSpPr>
        <p:spPr>
          <a:xfrm>
            <a:off x="6080760" y="4791456"/>
            <a:ext cx="3145536" cy="182880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Headline verdict, e.g. "Fresh Tomato"</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Produce and freshness confidence</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Top-3 identification scores</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The full 5-level freshness distribution</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Estimated shelf life</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The gatekeeper's own ImageNet label</a:t>
            </a:r>
            <a:endParaRPr lang="en-US" sz="1150" dirty="0"/>
          </a:p>
          <a:p>
            <a:pPr marL="342900" indent="-342900">
              <a:lnSpc>
                <a:spcPts val="1600"/>
              </a:lnSpc>
              <a:spcAft>
                <a:spcPts val="500"/>
              </a:spcAft>
              <a:buSzPct val="100000"/>
              <a:buChar char="•"/>
            </a:pPr>
            <a:r>
              <a:rPr lang="en-US" sz="1150" dirty="0">
                <a:solidFill>
                  <a:srgbClr val="3C4C43"/>
                </a:solidFill>
                <a:latin typeface="Arial" pitchFamily="34" charset="0"/>
                <a:ea typeface="Arial" pitchFamily="34" charset="-122"/>
                <a:cs typeface="Arial" pitchFamily="34" charset="-120"/>
              </a:rPr>
              <a:t>Inference latency in milliseconds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 y="566928"/>
            <a:ext cx="8887968" cy="274320"/>
          </a:xfrm>
          <a:prstGeom prst="rect">
            <a:avLst/>
          </a:prstGeom>
          <a:noFill/>
          <a:ln/>
        </p:spPr>
        <p:txBody>
          <a:bodyPr wrap="square" lIns="0" tIns="0" rIns="0" bIns="0" rtlCol="0" anchor="ctr"/>
          <a:lstStyle/>
          <a:p>
            <a:pPr indent="0" marL="0">
              <a:buNone/>
            </a:pPr>
            <a:r>
              <a:rPr lang="en-US" sz="1050" b="1" spc="240" kern="0" dirty="0">
                <a:solidFill>
                  <a:srgbClr val="7FD1A6"/>
                </a:solidFill>
                <a:latin typeface="Arial" pitchFamily="34" charset="0"/>
                <a:ea typeface="Arial" pitchFamily="34" charset="-122"/>
                <a:cs typeface="Arial" pitchFamily="34" charset="-120"/>
              </a:rPr>
              <a:t>CONCLUSION</a:t>
            </a:r>
            <a:endParaRPr lang="en-US" sz="1050" dirty="0"/>
          </a:p>
        </p:txBody>
      </p:sp>
      <p:sp>
        <p:nvSpPr>
          <p:cNvPr id="3" name="Text 1"/>
          <p:cNvSpPr txBox="1"/>
          <p:nvPr/>
        </p:nvSpPr>
        <p:spPr>
          <a:xfrm>
            <a:off x="594360" y="859536"/>
            <a:ext cx="8887968" cy="45720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An end-to-end produce quality analyser</a:t>
            </a:r>
            <a:endParaRPr lang="en-US" sz="2700" dirty="0"/>
          </a:p>
        </p:txBody>
      </p:sp>
      <p:sp>
        <p:nvSpPr>
          <p:cNvPr id="4" name="Text 2"/>
          <p:cNvSpPr txBox="1"/>
          <p:nvPr/>
        </p:nvSpPr>
        <p:spPr>
          <a:xfrm>
            <a:off x="594360" y="1389888"/>
            <a:ext cx="8522208" cy="548640"/>
          </a:xfrm>
          <a:prstGeom prst="rect">
            <a:avLst/>
          </a:prstGeom>
          <a:noFill/>
          <a:ln/>
        </p:spPr>
        <p:txBody>
          <a:bodyPr wrap="square" lIns="0" tIns="0" rIns="0" bIns="0" rtlCol="0" anchor="ctr"/>
          <a:lstStyle/>
          <a:p>
            <a:pPr indent="0" marL="0">
              <a:lnSpc>
                <a:spcPts val="2000"/>
              </a:lnSpc>
              <a:buNone/>
            </a:pPr>
            <a:r>
              <a:rPr lang="en-US" sz="1350" dirty="0">
                <a:solidFill>
                  <a:srgbClr val="A6BCAF"/>
                </a:solidFill>
                <a:latin typeface="Arial" pitchFamily="34" charset="0"/>
                <a:ea typeface="Arial" pitchFamily="34" charset="-122"/>
                <a:cs typeface="Arial" pitchFamily="34" charset="-120"/>
              </a:rPr>
              <a:t>Three cooperating MobileNetV2 models turn one photograph into an identified item, a five-level freshness grade, a confidence breakdown and a shelf-life estimate — in under a second on commodity hardware.</a:t>
            </a:r>
            <a:endParaRPr lang="en-US" sz="1350" dirty="0"/>
          </a:p>
        </p:txBody>
      </p:sp>
      <p:sp>
        <p:nvSpPr>
          <p:cNvPr id="5" name="Shape 3"/>
          <p:cNvSpPr/>
          <p:nvPr/>
        </p:nvSpPr>
        <p:spPr>
          <a:xfrm>
            <a:off x="594360" y="2157984"/>
            <a:ext cx="4261104" cy="3566160"/>
          </a:xfrm>
          <a:prstGeom prst="roundRect">
            <a:avLst>
              <a:gd name="adj" fmla="val 2308"/>
            </a:avLst>
          </a:prstGeom>
          <a:solidFill>
            <a:srgbClr val="16281F"/>
          </a:solidFill>
          <a:ln w="12700">
            <a:solidFill>
              <a:srgbClr val="2C4638"/>
            </a:solidFill>
            <a:prstDash val="solid"/>
          </a:ln>
        </p:spPr>
      </p:sp>
      <p:sp>
        <p:nvSpPr>
          <p:cNvPr id="6" name="Shape 4"/>
          <p:cNvSpPr/>
          <p:nvPr/>
        </p:nvSpPr>
        <p:spPr>
          <a:xfrm>
            <a:off x="868680" y="2377440"/>
            <a:ext cx="457200" cy="457200"/>
          </a:xfrm>
          <a:prstGeom prst="ellipse">
            <a:avLst/>
          </a:prstGeom>
          <a:solidFill>
            <a:srgbClr val="1C9A63"/>
          </a:solidFill>
          <a:ln w="12700">
            <a:solidFill>
              <a:srgbClr val="1C9A63"/>
            </a:solidFill>
            <a:prstDash val="solid"/>
          </a:ln>
        </p:spPr>
      </p:sp>
      <p:pic>
        <p:nvPicPr>
          <p:cNvPr id="7" name="Image 0" descr="/home/user/Fresh-Vision/presentation/assets/icons/LuCircleCheck.png">    </p:cNvPr>
          <p:cNvPicPr>
            <a:picLocks noChangeAspect="1"/>
          </p:cNvPicPr>
          <p:nvPr/>
        </p:nvPicPr>
        <p:blipFill>
          <a:blip r:embed="rId2"/>
          <a:stretch>
            <a:fillRect/>
          </a:stretch>
        </p:blipFill>
        <p:spPr>
          <a:xfrm>
            <a:off x="992124" y="2500884"/>
            <a:ext cx="210312" cy="210312"/>
          </a:xfrm>
          <a:prstGeom prst="rect">
            <a:avLst/>
          </a:prstGeom>
        </p:spPr>
      </p:pic>
      <p:sp>
        <p:nvSpPr>
          <p:cNvPr id="8" name="Text 5"/>
          <p:cNvSpPr txBox="1"/>
          <p:nvPr/>
        </p:nvSpPr>
        <p:spPr>
          <a:xfrm>
            <a:off x="1453896" y="2377440"/>
            <a:ext cx="3163824"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worked</a:t>
            </a:r>
            <a:endParaRPr lang="en-US" sz="1600" dirty="0"/>
          </a:p>
        </p:txBody>
      </p:sp>
      <p:sp>
        <p:nvSpPr>
          <p:cNvPr id="9" name="Text 6"/>
          <p:cNvSpPr txBox="1"/>
          <p:nvPr/>
        </p:nvSpPr>
        <p:spPr>
          <a:xfrm>
            <a:off x="886968" y="3054096"/>
            <a:ext cx="3675888" cy="2560320"/>
          </a:xfrm>
          <a:prstGeom prst="rect">
            <a:avLst/>
          </a:prstGeom>
          <a:noFill/>
          <a:ln/>
        </p:spPr>
        <p:txBody>
          <a:bodyPr wrap="square" lIns="0" tIns="0" rIns="0" bIns="0" rtlCol="0" anchor="ctr"/>
          <a:lstStyle/>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Transfer learning reached 80.4% validation accuracy on a small dataset</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HSV pseudo-labelling produced five levels with zero manual annotation</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The gatekeeper stops confident nonsense on out-of-distribution photos</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One-port deployment: the API serves the built React UI directly</a:t>
            </a:r>
            <a:endParaRPr lang="en-US" sz="1200" dirty="0"/>
          </a:p>
        </p:txBody>
      </p:sp>
      <p:sp>
        <p:nvSpPr>
          <p:cNvPr id="10" name="Shape 7"/>
          <p:cNvSpPr/>
          <p:nvPr/>
        </p:nvSpPr>
        <p:spPr>
          <a:xfrm>
            <a:off x="5221224" y="2157984"/>
            <a:ext cx="4261104" cy="3566160"/>
          </a:xfrm>
          <a:prstGeom prst="roundRect">
            <a:avLst>
              <a:gd name="adj" fmla="val 2308"/>
            </a:avLst>
          </a:prstGeom>
          <a:solidFill>
            <a:srgbClr val="16281F"/>
          </a:solidFill>
          <a:ln w="12700">
            <a:solidFill>
              <a:srgbClr val="2C4638"/>
            </a:solidFill>
            <a:prstDash val="solid"/>
          </a:ln>
        </p:spPr>
      </p:sp>
      <p:sp>
        <p:nvSpPr>
          <p:cNvPr id="11" name="Shape 8"/>
          <p:cNvSpPr/>
          <p:nvPr/>
        </p:nvSpPr>
        <p:spPr>
          <a:xfrm>
            <a:off x="5495544" y="2377440"/>
            <a:ext cx="457200" cy="457200"/>
          </a:xfrm>
          <a:prstGeom prst="ellipse">
            <a:avLst/>
          </a:prstGeom>
          <a:solidFill>
            <a:srgbClr val="C9871B"/>
          </a:solidFill>
          <a:ln w="12700">
            <a:solidFill>
              <a:srgbClr val="C9871B"/>
            </a:solidFill>
            <a:prstDash val="solid"/>
          </a:ln>
        </p:spPr>
      </p:sp>
      <p:pic>
        <p:nvPicPr>
          <p:cNvPr id="12" name="Image 1" descr="/home/user/Fresh-Vision/presentation/assets/icons/LuTriangleAlert.png">    </p:cNvPr>
          <p:cNvPicPr>
            <a:picLocks noChangeAspect="1"/>
          </p:cNvPicPr>
          <p:nvPr/>
        </p:nvPicPr>
        <p:blipFill>
          <a:blip r:embed="rId3"/>
          <a:stretch>
            <a:fillRect/>
          </a:stretch>
        </p:blipFill>
        <p:spPr>
          <a:xfrm>
            <a:off x="5618988" y="2500884"/>
            <a:ext cx="210312" cy="210312"/>
          </a:xfrm>
          <a:prstGeom prst="rect">
            <a:avLst/>
          </a:prstGeom>
        </p:spPr>
      </p:pic>
      <p:sp>
        <p:nvSpPr>
          <p:cNvPr id="13" name="Text 9"/>
          <p:cNvSpPr txBox="1"/>
          <p:nvPr/>
        </p:nvSpPr>
        <p:spPr>
          <a:xfrm>
            <a:off x="6080760" y="2377440"/>
            <a:ext cx="3163824"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Limitations &amp; next steps</a:t>
            </a:r>
            <a:endParaRPr lang="en-US" sz="1600" dirty="0"/>
          </a:p>
        </p:txBody>
      </p:sp>
      <p:sp>
        <p:nvSpPr>
          <p:cNvPr id="14" name="Text 10"/>
          <p:cNvSpPr txBox="1"/>
          <p:nvPr/>
        </p:nvSpPr>
        <p:spPr>
          <a:xfrm>
            <a:off x="5513832" y="3054096"/>
            <a:ext cx="3675888" cy="2560320"/>
          </a:xfrm>
          <a:prstGeom prst="rect">
            <a:avLst/>
          </a:prstGeom>
          <a:noFill/>
          <a:ln/>
        </p:spPr>
        <p:txBody>
          <a:bodyPr wrap="square" lIns="0" tIns="0" rIns="0" bIns="0" rtlCol="0" anchor="ctr"/>
          <a:lstStyle/>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Pseudo-labels are heuristic, not ground truth — accuracy is bounded by them</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Calibration multipliers are hand-tuned; class weights on retraining are the proper fix</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The keyword gatekeeper could be replaced by a trained binary produce detector</a:t>
            </a:r>
            <a:endParaRPr lang="en-US" sz="1200" dirty="0"/>
          </a:p>
          <a:p>
            <a:pPr marL="342900" indent="-342900">
              <a:lnSpc>
                <a:spcPts val="1800"/>
              </a:lnSpc>
              <a:spcAft>
                <a:spcPts val="1300"/>
              </a:spcAft>
              <a:buSzPct val="100000"/>
              <a:buChar char="•"/>
            </a:pPr>
            <a:r>
              <a:rPr lang="en-US" sz="1200" dirty="0">
                <a:solidFill>
                  <a:srgbClr val="A6BCAF"/>
                </a:solidFill>
                <a:latin typeface="Arial" pitchFamily="34" charset="0"/>
                <a:ea typeface="Arial" pitchFamily="34" charset="-122"/>
                <a:cs typeface="Arial" pitchFamily="34" charset="-120"/>
              </a:rPr>
              <a:t>Data augmentation and per-class metrics are the next accuracy levers</a:t>
            </a:r>
            <a:endParaRPr lang="en-US" sz="1200" dirty="0"/>
          </a:p>
        </p:txBody>
      </p:sp>
      <p:sp>
        <p:nvSpPr>
          <p:cNvPr id="15" name="Shape 11"/>
          <p:cNvSpPr/>
          <p:nvPr/>
        </p:nvSpPr>
        <p:spPr>
          <a:xfrm>
            <a:off x="594360" y="5943600"/>
            <a:ext cx="8887968" cy="841248"/>
          </a:xfrm>
          <a:prstGeom prst="roundRect">
            <a:avLst>
              <a:gd name="adj" fmla="val 9783"/>
            </a:avLst>
          </a:prstGeom>
          <a:solidFill>
            <a:srgbClr val="16281F"/>
          </a:solidFill>
          <a:ln w="12700">
            <a:solidFill>
              <a:srgbClr val="2C4638"/>
            </a:solidFill>
            <a:prstDash val="solid"/>
          </a:ln>
        </p:spPr>
      </p:sp>
      <p:sp>
        <p:nvSpPr>
          <p:cNvPr id="16" name="Shape 12"/>
          <p:cNvSpPr/>
          <p:nvPr/>
        </p:nvSpPr>
        <p:spPr>
          <a:xfrm>
            <a:off x="850392" y="6135624"/>
            <a:ext cx="457200" cy="457200"/>
          </a:xfrm>
          <a:prstGeom prst="ellipse">
            <a:avLst/>
          </a:prstGeom>
          <a:solidFill>
            <a:srgbClr val="0E5C3A"/>
          </a:solidFill>
          <a:ln w="12700">
            <a:solidFill>
              <a:srgbClr val="0E5C3A"/>
            </a:solidFill>
            <a:prstDash val="solid"/>
          </a:ln>
        </p:spPr>
      </p:sp>
      <p:pic>
        <p:nvPicPr>
          <p:cNvPr id="17" name="Image 2" descr="/home/user/Fresh-Vision/presentation/assets/icons/LuPackageSearch.png">    </p:cNvPr>
          <p:cNvPicPr>
            <a:picLocks noChangeAspect="1"/>
          </p:cNvPicPr>
          <p:nvPr/>
        </p:nvPicPr>
        <p:blipFill>
          <a:blip r:embed="rId4"/>
          <a:stretch>
            <a:fillRect/>
          </a:stretch>
        </p:blipFill>
        <p:spPr>
          <a:xfrm>
            <a:off x="973836" y="6259068"/>
            <a:ext cx="210312" cy="210312"/>
          </a:xfrm>
          <a:prstGeom prst="rect">
            <a:avLst/>
          </a:prstGeom>
        </p:spPr>
      </p:pic>
      <p:sp>
        <p:nvSpPr>
          <p:cNvPr id="18" name="Text 13"/>
          <p:cNvSpPr txBox="1"/>
          <p:nvPr/>
        </p:nvSpPr>
        <p:spPr>
          <a:xfrm>
            <a:off x="1453896" y="5943600"/>
            <a:ext cx="7754112" cy="841248"/>
          </a:xfrm>
          <a:prstGeom prst="rect">
            <a:avLst/>
          </a:prstGeom>
          <a:noFill/>
          <a:ln/>
        </p:spPr>
        <p:txBody>
          <a:bodyPr wrap="square" lIns="0" tIns="0" rIns="0" bIns="0" rtlCol="0" anchor="ctr"/>
          <a:lstStyle/>
          <a:p>
            <a:pPr indent="0" marL="0">
              <a:lnSpc>
                <a:spcPts val="1800"/>
              </a:lnSpc>
              <a:buNone/>
            </a:pPr>
            <a:r>
              <a:rPr lang="en-US" sz="1250" b="1" dirty="0">
                <a:solidFill>
                  <a:srgbClr val="7FD1A6"/>
                </a:solidFill>
                <a:latin typeface="Arial" pitchFamily="34" charset="0"/>
                <a:ea typeface="Arial" pitchFamily="34" charset="-122"/>
                <a:cs typeface="Arial" pitchFamily="34" charset="-120"/>
              </a:rPr>
              <a:t>Impact:  </a:t>
            </a:r>
            <a:pPr indent="0" marL="0">
              <a:lnSpc>
                <a:spcPts val="1800"/>
              </a:lnSpc>
              <a:buNone/>
            </a:pPr>
            <a:r>
              <a:rPr lang="en-US" sz="1250" dirty="0">
                <a:solidFill>
                  <a:srgbClr val="FFFFFF"/>
                </a:solidFill>
                <a:latin typeface="Arial" pitchFamily="34" charset="0"/>
                <a:ea typeface="Arial" pitchFamily="34" charset="-122"/>
                <a:cs typeface="Arial" pitchFamily="34" charset="-120"/>
              </a:rPr>
              <a:t>the same pipeline generalises to warehouse intake checks, retail shelf audits and cold-chain monitoring — anywhere produce is currently graded by eye.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14</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REFLECTION</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Learning outcomes</a:t>
            </a:r>
            <a:endParaRPr lang="en-US" sz="2700" dirty="0"/>
          </a:p>
        </p:txBody>
      </p:sp>
      <p:sp>
        <p:nvSpPr>
          <p:cNvPr id="6" name="Shape 4"/>
          <p:cNvSpPr/>
          <p:nvPr/>
        </p:nvSpPr>
        <p:spPr>
          <a:xfrm>
            <a:off x="594360" y="1572768"/>
            <a:ext cx="4261104" cy="1572768"/>
          </a:xfrm>
          <a:prstGeom prst="roundRect">
            <a:avLst>
              <a:gd name="adj" fmla="val 5233"/>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7" name="Shape 5"/>
          <p:cNvSpPr/>
          <p:nvPr/>
        </p:nvSpPr>
        <p:spPr>
          <a:xfrm>
            <a:off x="868680" y="1847088"/>
            <a:ext cx="457200" cy="457200"/>
          </a:xfrm>
          <a:prstGeom prst="ellipse">
            <a:avLst/>
          </a:prstGeom>
          <a:solidFill>
            <a:srgbClr val="0E5C3A"/>
          </a:solidFill>
          <a:ln w="12700">
            <a:solidFill>
              <a:srgbClr val="0E5C3A"/>
            </a:solidFill>
            <a:prstDash val="solid"/>
          </a:ln>
        </p:spPr>
      </p:sp>
      <p:pic>
        <p:nvPicPr>
          <p:cNvPr id="8" name="Image 0" descr="/home/user/Fresh-Vision/presentation/assets/icons/LuBrainCircuit.png">    </p:cNvPr>
          <p:cNvPicPr>
            <a:picLocks noChangeAspect="1"/>
          </p:cNvPicPr>
          <p:nvPr/>
        </p:nvPicPr>
        <p:blipFill>
          <a:blip r:embed="rId1"/>
          <a:stretch>
            <a:fillRect/>
          </a:stretch>
        </p:blipFill>
        <p:spPr>
          <a:xfrm>
            <a:off x="992124" y="1970532"/>
            <a:ext cx="210312" cy="210312"/>
          </a:xfrm>
          <a:prstGeom prst="rect">
            <a:avLst/>
          </a:prstGeom>
        </p:spPr>
      </p:pic>
      <p:sp>
        <p:nvSpPr>
          <p:cNvPr id="9" name="Text 6"/>
          <p:cNvSpPr txBox="1"/>
          <p:nvPr/>
        </p:nvSpPr>
        <p:spPr>
          <a:xfrm>
            <a:off x="1453896" y="1847088"/>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Deep learning in practice</a:t>
            </a:r>
            <a:endParaRPr lang="en-US" sz="1500" dirty="0"/>
          </a:p>
        </p:txBody>
      </p:sp>
      <p:sp>
        <p:nvSpPr>
          <p:cNvPr id="10" name="Text 7"/>
          <p:cNvSpPr txBox="1"/>
          <p:nvPr/>
        </p:nvSpPr>
        <p:spPr>
          <a:xfrm>
            <a:off x="886968" y="2414016"/>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Built and trained CNN classifiers in Keras — transfer learning, frozen vs. unfrozen backbones, dropout and learning-rate choice for fine-tuning.</a:t>
            </a:r>
            <a:endParaRPr lang="en-US" sz="1150" dirty="0"/>
          </a:p>
        </p:txBody>
      </p:sp>
      <p:sp>
        <p:nvSpPr>
          <p:cNvPr id="11" name="Shape 8"/>
          <p:cNvSpPr/>
          <p:nvPr/>
        </p:nvSpPr>
        <p:spPr>
          <a:xfrm>
            <a:off x="5221224" y="1572768"/>
            <a:ext cx="4261104" cy="1572768"/>
          </a:xfrm>
          <a:prstGeom prst="roundRect">
            <a:avLst>
              <a:gd name="adj" fmla="val 5233"/>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2" name="Shape 9"/>
          <p:cNvSpPr/>
          <p:nvPr/>
        </p:nvSpPr>
        <p:spPr>
          <a:xfrm>
            <a:off x="5495544" y="1847088"/>
            <a:ext cx="457200" cy="457200"/>
          </a:xfrm>
          <a:prstGeom prst="ellipse">
            <a:avLst/>
          </a:prstGeom>
          <a:solidFill>
            <a:srgbClr val="1C9A63"/>
          </a:solidFill>
          <a:ln w="12700">
            <a:solidFill>
              <a:srgbClr val="1C9A63"/>
            </a:solidFill>
            <a:prstDash val="solid"/>
          </a:ln>
        </p:spPr>
      </p:sp>
      <p:pic>
        <p:nvPicPr>
          <p:cNvPr id="13" name="Image 1" descr="/home/user/Fresh-Vision/presentation/assets/icons/LuTags.png">    </p:cNvPr>
          <p:cNvPicPr>
            <a:picLocks noChangeAspect="1"/>
          </p:cNvPicPr>
          <p:nvPr/>
        </p:nvPicPr>
        <p:blipFill>
          <a:blip r:embed="rId2"/>
          <a:stretch>
            <a:fillRect/>
          </a:stretch>
        </p:blipFill>
        <p:spPr>
          <a:xfrm>
            <a:off x="5618988" y="1970532"/>
            <a:ext cx="210312" cy="210312"/>
          </a:xfrm>
          <a:prstGeom prst="rect">
            <a:avLst/>
          </a:prstGeom>
        </p:spPr>
      </p:pic>
      <p:sp>
        <p:nvSpPr>
          <p:cNvPr id="14" name="Text 10"/>
          <p:cNvSpPr txBox="1"/>
          <p:nvPr/>
        </p:nvSpPr>
        <p:spPr>
          <a:xfrm>
            <a:off x="6080760" y="1847088"/>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Working around missing labels</a:t>
            </a:r>
            <a:endParaRPr lang="en-US" sz="1500" dirty="0"/>
          </a:p>
        </p:txBody>
      </p:sp>
      <p:sp>
        <p:nvSpPr>
          <p:cNvPr id="15" name="Text 11"/>
          <p:cNvSpPr txBox="1"/>
          <p:nvPr/>
        </p:nvSpPr>
        <p:spPr>
          <a:xfrm>
            <a:off x="5513832" y="2414016"/>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Data problems are often solved before modelling: classical HSV computer vision generated the five-level labels supervised learning needed.</a:t>
            </a:r>
            <a:endParaRPr lang="en-US" sz="1150" dirty="0"/>
          </a:p>
        </p:txBody>
      </p:sp>
      <p:sp>
        <p:nvSpPr>
          <p:cNvPr id="16" name="Shape 12"/>
          <p:cNvSpPr/>
          <p:nvPr/>
        </p:nvSpPr>
        <p:spPr>
          <a:xfrm>
            <a:off x="594360" y="3328416"/>
            <a:ext cx="4261104" cy="1572768"/>
          </a:xfrm>
          <a:prstGeom prst="roundRect">
            <a:avLst>
              <a:gd name="adj" fmla="val 5233"/>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17" name="Shape 13"/>
          <p:cNvSpPr/>
          <p:nvPr/>
        </p:nvSpPr>
        <p:spPr>
          <a:xfrm>
            <a:off x="868680" y="3602736"/>
            <a:ext cx="457200" cy="457200"/>
          </a:xfrm>
          <a:prstGeom prst="ellipse">
            <a:avLst/>
          </a:prstGeom>
          <a:solidFill>
            <a:srgbClr val="C9871B"/>
          </a:solidFill>
          <a:ln w="12700">
            <a:solidFill>
              <a:srgbClr val="C9871B"/>
            </a:solidFill>
            <a:prstDash val="solid"/>
          </a:ln>
        </p:spPr>
      </p:sp>
      <p:pic>
        <p:nvPicPr>
          <p:cNvPr id="18" name="Image 2" descr="/home/user/Fresh-Vision/presentation/assets/icons/LuChartColumn.png">    </p:cNvPr>
          <p:cNvPicPr>
            <a:picLocks noChangeAspect="1"/>
          </p:cNvPicPr>
          <p:nvPr/>
        </p:nvPicPr>
        <p:blipFill>
          <a:blip r:embed="rId3"/>
          <a:stretch>
            <a:fillRect/>
          </a:stretch>
        </p:blipFill>
        <p:spPr>
          <a:xfrm>
            <a:off x="992124" y="3726180"/>
            <a:ext cx="210312" cy="210312"/>
          </a:xfrm>
          <a:prstGeom prst="rect">
            <a:avLst/>
          </a:prstGeom>
        </p:spPr>
      </p:pic>
      <p:sp>
        <p:nvSpPr>
          <p:cNvPr id="19" name="Text 14"/>
          <p:cNvSpPr txBox="1"/>
          <p:nvPr/>
        </p:nvSpPr>
        <p:spPr>
          <a:xfrm>
            <a:off x="1453896" y="3602736"/>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Evaluation and honesty</a:t>
            </a:r>
            <a:endParaRPr lang="en-US" sz="1500" dirty="0"/>
          </a:p>
        </p:txBody>
      </p:sp>
      <p:sp>
        <p:nvSpPr>
          <p:cNvPr id="20" name="Text 15"/>
          <p:cNvSpPr txBox="1"/>
          <p:nvPr/>
        </p:nvSpPr>
        <p:spPr>
          <a:xfrm>
            <a:off x="886968" y="4169664"/>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Read confusion matrices and per-class precision/recall rather than a single accuracy figure, and recognised a systematic class bias in the raw output.</a:t>
            </a:r>
            <a:endParaRPr lang="en-US" sz="1150" dirty="0"/>
          </a:p>
        </p:txBody>
      </p:sp>
      <p:sp>
        <p:nvSpPr>
          <p:cNvPr id="21" name="Shape 16"/>
          <p:cNvSpPr/>
          <p:nvPr/>
        </p:nvSpPr>
        <p:spPr>
          <a:xfrm>
            <a:off x="5221224" y="3328416"/>
            <a:ext cx="4261104" cy="1572768"/>
          </a:xfrm>
          <a:prstGeom prst="roundRect">
            <a:avLst>
              <a:gd name="adj" fmla="val 5233"/>
            </a:avLst>
          </a:prstGeom>
          <a:solidFill>
            <a:srgbClr val="F4FAF6"/>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2" name="Shape 17"/>
          <p:cNvSpPr/>
          <p:nvPr/>
        </p:nvSpPr>
        <p:spPr>
          <a:xfrm>
            <a:off x="5495544" y="3602736"/>
            <a:ext cx="457200" cy="457200"/>
          </a:xfrm>
          <a:prstGeom prst="ellipse">
            <a:avLst/>
          </a:prstGeom>
          <a:solidFill>
            <a:srgbClr val="0E5C3A"/>
          </a:solidFill>
          <a:ln w="12700">
            <a:solidFill>
              <a:srgbClr val="0E5C3A"/>
            </a:solidFill>
            <a:prstDash val="solid"/>
          </a:ln>
        </p:spPr>
      </p:sp>
      <p:pic>
        <p:nvPicPr>
          <p:cNvPr id="23" name="Image 3" descr="/home/user/Fresh-Vision/presentation/assets/icons/LuShieldCheck.png">    </p:cNvPr>
          <p:cNvPicPr>
            <a:picLocks noChangeAspect="1"/>
          </p:cNvPicPr>
          <p:nvPr/>
        </p:nvPicPr>
        <p:blipFill>
          <a:blip r:embed="rId4"/>
          <a:stretch>
            <a:fillRect/>
          </a:stretch>
        </p:blipFill>
        <p:spPr>
          <a:xfrm>
            <a:off x="5618988" y="3726180"/>
            <a:ext cx="210312" cy="210312"/>
          </a:xfrm>
          <a:prstGeom prst="rect">
            <a:avLst/>
          </a:prstGeom>
        </p:spPr>
      </p:pic>
      <p:sp>
        <p:nvSpPr>
          <p:cNvPr id="24" name="Text 18"/>
          <p:cNvSpPr txBox="1"/>
          <p:nvPr/>
        </p:nvSpPr>
        <p:spPr>
          <a:xfrm>
            <a:off x="6080760" y="3602736"/>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Designing robust ML systems</a:t>
            </a:r>
            <a:endParaRPr lang="en-US" sz="1500" dirty="0"/>
          </a:p>
        </p:txBody>
      </p:sp>
      <p:sp>
        <p:nvSpPr>
          <p:cNvPr id="25" name="Text 19"/>
          <p:cNvSpPr txBox="1"/>
          <p:nvPr/>
        </p:nvSpPr>
        <p:spPr>
          <a:xfrm>
            <a:off x="5513832" y="4169664"/>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A deployed model needs guard rails — an input gatekeeper and a confidence threshold turn a fragile classifier into a system that admits when it does not know.</a:t>
            </a:r>
            <a:endParaRPr lang="en-US" sz="1150" dirty="0"/>
          </a:p>
        </p:txBody>
      </p:sp>
      <p:sp>
        <p:nvSpPr>
          <p:cNvPr id="26" name="Shape 20"/>
          <p:cNvSpPr/>
          <p:nvPr/>
        </p:nvSpPr>
        <p:spPr>
          <a:xfrm>
            <a:off x="594360" y="5084064"/>
            <a:ext cx="4261104" cy="1572768"/>
          </a:xfrm>
          <a:prstGeom prst="roundRect">
            <a:avLst>
              <a:gd name="adj" fmla="val 5233"/>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27" name="Shape 21"/>
          <p:cNvSpPr/>
          <p:nvPr/>
        </p:nvSpPr>
        <p:spPr>
          <a:xfrm>
            <a:off x="868680" y="5358384"/>
            <a:ext cx="457200" cy="457200"/>
          </a:xfrm>
          <a:prstGeom prst="ellipse">
            <a:avLst/>
          </a:prstGeom>
          <a:solidFill>
            <a:srgbClr val="1C9A63"/>
          </a:solidFill>
          <a:ln w="12700">
            <a:solidFill>
              <a:srgbClr val="1C9A63"/>
            </a:solidFill>
            <a:prstDash val="solid"/>
          </a:ln>
        </p:spPr>
      </p:sp>
      <p:pic>
        <p:nvPicPr>
          <p:cNvPr id="28" name="Image 4" descr="/home/user/Fresh-Vision/presentation/assets/icons/LuMonitor.png">    </p:cNvPr>
          <p:cNvPicPr>
            <a:picLocks noChangeAspect="1"/>
          </p:cNvPicPr>
          <p:nvPr/>
        </p:nvPicPr>
        <p:blipFill>
          <a:blip r:embed="rId5"/>
          <a:stretch>
            <a:fillRect/>
          </a:stretch>
        </p:blipFill>
        <p:spPr>
          <a:xfrm>
            <a:off x="992124" y="5481828"/>
            <a:ext cx="210312" cy="210312"/>
          </a:xfrm>
          <a:prstGeom prst="rect">
            <a:avLst/>
          </a:prstGeom>
        </p:spPr>
      </p:pic>
      <p:sp>
        <p:nvSpPr>
          <p:cNvPr id="29" name="Text 22"/>
          <p:cNvSpPr txBox="1"/>
          <p:nvPr/>
        </p:nvSpPr>
        <p:spPr>
          <a:xfrm>
            <a:off x="1453896" y="5358384"/>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Full-stack deployment</a:t>
            </a:r>
            <a:endParaRPr lang="en-US" sz="1500" dirty="0"/>
          </a:p>
        </p:txBody>
      </p:sp>
      <p:sp>
        <p:nvSpPr>
          <p:cNvPr id="30" name="Text 23"/>
          <p:cNvSpPr txBox="1"/>
          <p:nvPr/>
        </p:nvSpPr>
        <p:spPr>
          <a:xfrm>
            <a:off x="886968" y="5925312"/>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Wrapped the models in a FastAPI service and a React + Vite frontend; handled preprocessing parity, file limits, CORS and single-port static serving.</a:t>
            </a:r>
            <a:endParaRPr lang="en-US" sz="1150" dirty="0"/>
          </a:p>
        </p:txBody>
      </p:sp>
      <p:sp>
        <p:nvSpPr>
          <p:cNvPr id="31" name="Shape 24"/>
          <p:cNvSpPr/>
          <p:nvPr/>
        </p:nvSpPr>
        <p:spPr>
          <a:xfrm>
            <a:off x="5221224" y="5084064"/>
            <a:ext cx="4261104" cy="1572768"/>
          </a:xfrm>
          <a:prstGeom prst="roundRect">
            <a:avLst>
              <a:gd name="adj" fmla="val 5233"/>
            </a:avLst>
          </a:prstGeom>
          <a:solidFill>
            <a:srgbClr val="FFFFFF"/>
          </a:solidFill>
          <a:ln w="12700">
            <a:solidFill>
              <a:srgbClr val="DCE7E1"/>
            </a:solidFill>
            <a:prstDash val="solid"/>
          </a:ln>
          <a:effectLst>
            <a:outerShdw sx="100000" sy="100000" kx="0" ky="0" algn="bl" rotWithShape="0" blurRad="127000" dist="25400" dir="5400000">
              <a:srgbClr val="0A1F16">
                <a:alpha val="10000"/>
              </a:srgbClr>
            </a:outerShdw>
          </a:effectLst>
        </p:spPr>
      </p:sp>
      <p:sp>
        <p:nvSpPr>
          <p:cNvPr id="32" name="Shape 25"/>
          <p:cNvSpPr/>
          <p:nvPr/>
        </p:nvSpPr>
        <p:spPr>
          <a:xfrm>
            <a:off x="5495544" y="5358384"/>
            <a:ext cx="457200" cy="457200"/>
          </a:xfrm>
          <a:prstGeom prst="ellipse">
            <a:avLst/>
          </a:prstGeom>
          <a:solidFill>
            <a:srgbClr val="C9871B"/>
          </a:solidFill>
          <a:ln w="12700">
            <a:solidFill>
              <a:srgbClr val="C9871B"/>
            </a:solidFill>
            <a:prstDash val="solid"/>
          </a:ln>
        </p:spPr>
      </p:sp>
      <p:pic>
        <p:nvPicPr>
          <p:cNvPr id="33" name="Image 5" descr="/home/user/Fresh-Vision/presentation/assets/icons/LuMessageSquare.png">    </p:cNvPr>
          <p:cNvPicPr>
            <a:picLocks noChangeAspect="1"/>
          </p:cNvPicPr>
          <p:nvPr/>
        </p:nvPicPr>
        <p:blipFill>
          <a:blip r:embed="rId6"/>
          <a:stretch>
            <a:fillRect/>
          </a:stretch>
        </p:blipFill>
        <p:spPr>
          <a:xfrm>
            <a:off x="5618988" y="5481828"/>
            <a:ext cx="210312" cy="210312"/>
          </a:xfrm>
          <a:prstGeom prst="rect">
            <a:avLst/>
          </a:prstGeom>
        </p:spPr>
      </p:pic>
      <p:sp>
        <p:nvSpPr>
          <p:cNvPr id="34" name="Text 26"/>
          <p:cNvSpPr txBox="1"/>
          <p:nvPr/>
        </p:nvSpPr>
        <p:spPr>
          <a:xfrm>
            <a:off x="6080760" y="5358384"/>
            <a:ext cx="3163824" cy="457200"/>
          </a:xfrm>
          <a:prstGeom prst="rect">
            <a:avLst/>
          </a:prstGeom>
          <a:noFill/>
          <a:ln/>
        </p:spPr>
        <p:txBody>
          <a:bodyPr wrap="square" lIns="0" tIns="0" rIns="0" bIns="0" rtlCol="0" anchor="ctr"/>
          <a:lstStyle/>
          <a:p>
            <a:pPr indent="0" marL="0">
              <a:buNone/>
            </a:pPr>
            <a:r>
              <a:rPr lang="en-US" sz="1500" b="1" dirty="0">
                <a:solidFill>
                  <a:srgbClr val="10201A"/>
                </a:solidFill>
                <a:latin typeface="Arial" pitchFamily="34" charset="0"/>
                <a:ea typeface="Arial" pitchFamily="34" charset="-122"/>
                <a:cs typeface="Arial" pitchFamily="34" charset="-120"/>
              </a:rPr>
              <a:t>Engineering communication</a:t>
            </a:r>
            <a:endParaRPr lang="en-US" sz="1500" dirty="0"/>
          </a:p>
        </p:txBody>
      </p:sp>
      <p:sp>
        <p:nvSpPr>
          <p:cNvPr id="35" name="Text 27"/>
          <p:cNvSpPr txBox="1"/>
          <p:nvPr/>
        </p:nvSpPr>
        <p:spPr>
          <a:xfrm>
            <a:off x="5513832" y="5925312"/>
            <a:ext cx="3675888" cy="621792"/>
          </a:xfrm>
          <a:prstGeom prst="rect">
            <a:avLst/>
          </a:prstGeom>
          <a:noFill/>
          <a:ln/>
        </p:spPr>
        <p:txBody>
          <a:bodyPr wrap="square" lIns="0" tIns="0" rIns="0" bIns="0" rtlCol="0" anchor="ctr"/>
          <a:lstStyle/>
          <a:p>
            <a:pPr indent="0" marL="0">
              <a:lnSpc>
                <a:spcPts val="1600"/>
              </a:lnSpc>
              <a:buNone/>
            </a:pPr>
            <a:r>
              <a:rPr lang="en-US" sz="1150" dirty="0">
                <a:solidFill>
                  <a:srgbClr val="6A7B71"/>
                </a:solidFill>
                <a:latin typeface="Arial" pitchFamily="34" charset="0"/>
                <a:ea typeface="Arial" pitchFamily="34" charset="-122"/>
                <a:cs typeface="Arial" pitchFamily="34" charset="-120"/>
              </a:rPr>
              <a:t>Documented the architecture and its trade-offs so the work is reproducible and explainable to a non-specialist audience.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33688" y="6995160"/>
            <a:ext cx="548640" cy="274320"/>
          </a:xfrm>
          <a:prstGeom prst="rect">
            <a:avLst/>
          </a:prstGeom>
          <a:noFill/>
          <a:ln/>
        </p:spPr>
        <p:txBody>
          <a:bodyPr wrap="square" lIns="0" tIns="0" rIns="0" bIns="0" rtlCol="0" anchor="ctr"/>
          <a:lstStyle/>
          <a:p>
            <a:pPr algn="r" indent="0" marL="0">
              <a:buNone/>
            </a:pPr>
            <a:r>
              <a:rPr lang="en-US" sz="1000" b="1" dirty="0">
                <a:solidFill>
                  <a:srgbClr val="1C9A63"/>
                </a:solidFill>
                <a:latin typeface="Arial" pitchFamily="34" charset="0"/>
                <a:ea typeface="Arial" pitchFamily="34" charset="-122"/>
                <a:cs typeface="Arial" pitchFamily="34" charset="-120"/>
              </a:rPr>
              <a:t>15</a:t>
            </a:r>
            <a:endParaRPr lang="en-US" sz="1000" dirty="0"/>
          </a:p>
        </p:txBody>
      </p:sp>
      <p:sp>
        <p:nvSpPr>
          <p:cNvPr id="3" name="Text 1"/>
          <p:cNvSpPr txBox="1"/>
          <p:nvPr/>
        </p:nvSpPr>
        <p:spPr>
          <a:xfrm>
            <a:off x="594360" y="6995160"/>
            <a:ext cx="4572000" cy="274320"/>
          </a:xfrm>
          <a:prstGeom prst="rect">
            <a:avLst/>
          </a:prstGeom>
          <a:noFill/>
          <a:ln/>
        </p:spPr>
        <p:txBody>
          <a:bodyPr wrap="square" lIns="0" tIns="0" rIns="0" bIns="0" rtlCol="0" anchor="ctr"/>
          <a:lstStyle/>
          <a:p>
            <a:pPr indent="0" marL="0">
              <a:buNone/>
            </a:pPr>
            <a:r>
              <a:rPr lang="en-US" sz="950" dirty="0">
                <a:solidFill>
                  <a:srgbClr val="6A7B71"/>
                </a:solidFill>
                <a:latin typeface="Arial" pitchFamily="34" charset="0"/>
                <a:ea typeface="Arial" pitchFamily="34" charset="-122"/>
                <a:cs typeface="Arial" pitchFamily="34" charset="-120"/>
              </a:rPr>
              <a:t>Fresh Vision  ·  Practice School-II</a:t>
            </a:r>
            <a:endParaRPr lang="en-US" sz="950" dirty="0"/>
          </a:p>
        </p:txBody>
      </p:sp>
      <p:sp>
        <p:nvSpPr>
          <p:cNvPr id="4" name="Text 2"/>
          <p:cNvSpPr txBox="1"/>
          <p:nvPr/>
        </p:nvSpPr>
        <p:spPr>
          <a:xfrm>
            <a:off x="594360" y="457200"/>
            <a:ext cx="8887968" cy="237744"/>
          </a:xfrm>
          <a:prstGeom prst="rect">
            <a:avLst/>
          </a:prstGeom>
          <a:noFill/>
          <a:ln/>
        </p:spPr>
        <p:txBody>
          <a:bodyPr wrap="square" lIns="0" tIns="0" rIns="0" bIns="0" rtlCol="0" anchor="ctr"/>
          <a:lstStyle/>
          <a:p>
            <a:pPr indent="0" marL="0">
              <a:buNone/>
            </a:pPr>
            <a:r>
              <a:rPr lang="en-US" sz="1050" b="1" spc="240" kern="0" dirty="0">
                <a:solidFill>
                  <a:srgbClr val="1C9A63"/>
                </a:solidFill>
                <a:latin typeface="Arial" pitchFamily="34" charset="0"/>
                <a:ea typeface="Arial" pitchFamily="34" charset="-122"/>
                <a:cs typeface="Arial" pitchFamily="34" charset="-120"/>
              </a:rPr>
              <a:t>SOURCES</a:t>
            </a:r>
            <a:endParaRPr lang="en-US" sz="1050" dirty="0"/>
          </a:p>
        </p:txBody>
      </p:sp>
      <p:sp>
        <p:nvSpPr>
          <p:cNvPr id="5" name="Text 3"/>
          <p:cNvSpPr txBox="1"/>
          <p:nvPr/>
        </p:nvSpPr>
        <p:spPr>
          <a:xfrm>
            <a:off x="594360" y="694944"/>
            <a:ext cx="8887968" cy="475488"/>
          </a:xfrm>
          <a:prstGeom prst="rect">
            <a:avLst/>
          </a:prstGeom>
          <a:noFill/>
          <a:ln/>
        </p:spPr>
        <p:txBody>
          <a:bodyPr wrap="square" lIns="0" tIns="0" rIns="0" bIns="0" rtlCol="0" anchor="ctr"/>
          <a:lstStyle/>
          <a:p>
            <a:pPr indent="0" marL="0">
              <a:buNone/>
            </a:pPr>
            <a:r>
              <a:rPr lang="en-US" sz="2700" b="1" dirty="0">
                <a:solidFill>
                  <a:srgbClr val="10201A"/>
                </a:solidFill>
                <a:latin typeface="Arial" pitchFamily="34" charset="0"/>
                <a:ea typeface="Arial" pitchFamily="34" charset="-122"/>
                <a:cs typeface="Arial" pitchFamily="34" charset="-120"/>
              </a:rPr>
              <a:t>References</a:t>
            </a:r>
            <a:endParaRPr lang="en-US" sz="2700" dirty="0"/>
          </a:p>
        </p:txBody>
      </p:sp>
      <p:sp>
        <p:nvSpPr>
          <p:cNvPr id="6" name="Shape 4"/>
          <p:cNvSpPr/>
          <p:nvPr/>
        </p:nvSpPr>
        <p:spPr>
          <a:xfrm>
            <a:off x="594360" y="1609344"/>
            <a:ext cx="8887968" cy="640080"/>
          </a:xfrm>
          <a:prstGeom prst="roundRect">
            <a:avLst>
              <a:gd name="adj" fmla="val 12857"/>
            </a:avLst>
          </a:prstGeom>
          <a:solidFill>
            <a:srgbClr val="F4FAF6"/>
          </a:solidFill>
          <a:ln w="12700">
            <a:solidFill>
              <a:srgbClr val="DCE7E1"/>
            </a:solidFill>
            <a:prstDash val="solid"/>
          </a:ln>
        </p:spPr>
      </p:sp>
      <p:sp>
        <p:nvSpPr>
          <p:cNvPr id="7" name="Text 5"/>
          <p:cNvSpPr txBox="1"/>
          <p:nvPr/>
        </p:nvSpPr>
        <p:spPr>
          <a:xfrm>
            <a:off x="813816" y="1609344"/>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01</a:t>
            </a:r>
            <a:endParaRPr lang="en-US" sz="1250" dirty="0"/>
          </a:p>
        </p:txBody>
      </p:sp>
      <p:sp>
        <p:nvSpPr>
          <p:cNvPr id="8" name="Text 6"/>
          <p:cNvSpPr txBox="1"/>
          <p:nvPr/>
        </p:nvSpPr>
        <p:spPr>
          <a:xfrm>
            <a:off x="1307592" y="1609344"/>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Sandler, M., Howard, A., Zhu, M., Zhmoginov, A., Chen, L.-C. (2018).  </a:t>
            </a:r>
            <a:pPr indent="0" marL="0">
              <a:lnSpc>
                <a:spcPts val="1600"/>
              </a:lnSpc>
              <a:buNone/>
            </a:pPr>
            <a:r>
              <a:rPr lang="en-US" sz="1200" dirty="0">
                <a:solidFill>
                  <a:srgbClr val="6A7B71"/>
                </a:solidFill>
                <a:latin typeface="Arial" pitchFamily="34" charset="0"/>
                <a:ea typeface="Arial" pitchFamily="34" charset="-122"/>
                <a:cs typeface="Arial" pitchFamily="34" charset="-120"/>
              </a:rPr>
              <a:t>MobileNetV2: Inverted Residuals and Linear Bottlenecks. IEEE/CVF CVPR, pp. 4510-4520.</a:t>
            </a:r>
            <a:endParaRPr lang="en-US" sz="1200" dirty="0"/>
          </a:p>
        </p:txBody>
      </p:sp>
      <p:sp>
        <p:nvSpPr>
          <p:cNvPr id="9" name="Shape 7"/>
          <p:cNvSpPr/>
          <p:nvPr/>
        </p:nvSpPr>
        <p:spPr>
          <a:xfrm>
            <a:off x="594360" y="2359152"/>
            <a:ext cx="8887968" cy="640080"/>
          </a:xfrm>
          <a:prstGeom prst="roundRect">
            <a:avLst>
              <a:gd name="adj" fmla="val 12857"/>
            </a:avLst>
          </a:prstGeom>
          <a:solidFill>
            <a:srgbClr val="FFFFFF"/>
          </a:solidFill>
          <a:ln w="12700">
            <a:solidFill>
              <a:srgbClr val="DCE7E1"/>
            </a:solidFill>
            <a:prstDash val="solid"/>
          </a:ln>
        </p:spPr>
      </p:sp>
      <p:sp>
        <p:nvSpPr>
          <p:cNvPr id="10" name="Text 8"/>
          <p:cNvSpPr txBox="1"/>
          <p:nvPr/>
        </p:nvSpPr>
        <p:spPr>
          <a:xfrm>
            <a:off x="813816" y="2359152"/>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02</a:t>
            </a:r>
            <a:endParaRPr lang="en-US" sz="1250" dirty="0"/>
          </a:p>
        </p:txBody>
      </p:sp>
      <p:sp>
        <p:nvSpPr>
          <p:cNvPr id="11" name="Text 9"/>
          <p:cNvSpPr txBox="1"/>
          <p:nvPr/>
        </p:nvSpPr>
        <p:spPr>
          <a:xfrm>
            <a:off x="1307592" y="2359152"/>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Deng, J., Dong, W., Socher, R., Li, L.-J., Li, K., Fei-Fei, L. (2009).  </a:t>
            </a:r>
            <a:pPr indent="0" marL="0">
              <a:lnSpc>
                <a:spcPts val="1600"/>
              </a:lnSpc>
              <a:buNone/>
            </a:pPr>
            <a:r>
              <a:rPr lang="en-US" sz="1200" dirty="0">
                <a:solidFill>
                  <a:srgbClr val="6A7B71"/>
                </a:solidFill>
                <a:latin typeface="Arial" pitchFamily="34" charset="0"/>
                <a:ea typeface="Arial" pitchFamily="34" charset="-122"/>
                <a:cs typeface="Arial" pitchFamily="34" charset="-120"/>
              </a:rPr>
              <a:t>ImageNet: A Large-Scale Hierarchical Image Database. IEEE CVPR.</a:t>
            </a:r>
            <a:endParaRPr lang="en-US" sz="1200" dirty="0"/>
          </a:p>
        </p:txBody>
      </p:sp>
      <p:sp>
        <p:nvSpPr>
          <p:cNvPr id="12" name="Shape 10"/>
          <p:cNvSpPr/>
          <p:nvPr/>
        </p:nvSpPr>
        <p:spPr>
          <a:xfrm>
            <a:off x="594360" y="3108960"/>
            <a:ext cx="8887968" cy="640080"/>
          </a:xfrm>
          <a:prstGeom prst="roundRect">
            <a:avLst>
              <a:gd name="adj" fmla="val 12857"/>
            </a:avLst>
          </a:prstGeom>
          <a:solidFill>
            <a:srgbClr val="F4FAF6"/>
          </a:solidFill>
          <a:ln w="12700">
            <a:solidFill>
              <a:srgbClr val="DCE7E1"/>
            </a:solidFill>
            <a:prstDash val="solid"/>
          </a:ln>
        </p:spPr>
      </p:sp>
      <p:sp>
        <p:nvSpPr>
          <p:cNvPr id="13" name="Text 11"/>
          <p:cNvSpPr txBox="1"/>
          <p:nvPr/>
        </p:nvSpPr>
        <p:spPr>
          <a:xfrm>
            <a:off x="813816" y="3108960"/>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03</a:t>
            </a:r>
            <a:endParaRPr lang="en-US" sz="1250" dirty="0"/>
          </a:p>
        </p:txBody>
      </p:sp>
      <p:sp>
        <p:nvSpPr>
          <p:cNvPr id="14" name="Text 12"/>
          <p:cNvSpPr txBox="1"/>
          <p:nvPr/>
        </p:nvSpPr>
        <p:spPr>
          <a:xfrm>
            <a:off x="1307592" y="3108960"/>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Pan, S. J., Yang, Q. (2010).  </a:t>
            </a:r>
            <a:pPr indent="0" marL="0">
              <a:lnSpc>
                <a:spcPts val="1600"/>
              </a:lnSpc>
              <a:buNone/>
            </a:pPr>
            <a:r>
              <a:rPr lang="en-US" sz="1200" dirty="0">
                <a:solidFill>
                  <a:srgbClr val="6A7B71"/>
                </a:solidFill>
                <a:latin typeface="Arial" pitchFamily="34" charset="0"/>
                <a:ea typeface="Arial" pitchFamily="34" charset="-122"/>
                <a:cs typeface="Arial" pitchFamily="34" charset="-120"/>
              </a:rPr>
              <a:t>A Survey on Transfer Learning. IEEE Transactions on Knowledge and Data Engineering, 22(10), 1345-1359.</a:t>
            </a:r>
            <a:endParaRPr lang="en-US" sz="1200" dirty="0"/>
          </a:p>
        </p:txBody>
      </p:sp>
      <p:sp>
        <p:nvSpPr>
          <p:cNvPr id="15" name="Shape 13"/>
          <p:cNvSpPr/>
          <p:nvPr/>
        </p:nvSpPr>
        <p:spPr>
          <a:xfrm>
            <a:off x="594360" y="3858768"/>
            <a:ext cx="8887968" cy="640080"/>
          </a:xfrm>
          <a:prstGeom prst="roundRect">
            <a:avLst>
              <a:gd name="adj" fmla="val 12857"/>
            </a:avLst>
          </a:prstGeom>
          <a:solidFill>
            <a:srgbClr val="FFFFFF"/>
          </a:solidFill>
          <a:ln w="12700">
            <a:solidFill>
              <a:srgbClr val="DCE7E1"/>
            </a:solidFill>
            <a:prstDash val="solid"/>
          </a:ln>
        </p:spPr>
      </p:sp>
      <p:sp>
        <p:nvSpPr>
          <p:cNvPr id="16" name="Text 14"/>
          <p:cNvSpPr txBox="1"/>
          <p:nvPr/>
        </p:nvSpPr>
        <p:spPr>
          <a:xfrm>
            <a:off x="813816" y="3858768"/>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04</a:t>
            </a:r>
            <a:endParaRPr lang="en-US" sz="1250" dirty="0"/>
          </a:p>
        </p:txBody>
      </p:sp>
      <p:sp>
        <p:nvSpPr>
          <p:cNvPr id="17" name="Text 15"/>
          <p:cNvSpPr txBox="1"/>
          <p:nvPr/>
        </p:nvSpPr>
        <p:spPr>
          <a:xfrm>
            <a:off x="1307592" y="3858768"/>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TensorFlow / Keras documentation.  </a:t>
            </a:r>
            <a:pPr indent="0" marL="0">
              <a:lnSpc>
                <a:spcPts val="1600"/>
              </a:lnSpc>
              <a:buNone/>
            </a:pPr>
            <a:r>
              <a:rPr lang="en-US" sz="1200" dirty="0">
                <a:solidFill>
                  <a:srgbClr val="6A7B71"/>
                </a:solidFill>
                <a:latin typeface="Arial" pitchFamily="34" charset="0"/>
                <a:ea typeface="Arial" pitchFamily="34" charset="-122"/>
                <a:cs typeface="Arial" pitchFamily="34" charset="-120"/>
              </a:rPr>
              <a:t>Transfer learning and fine-tuning — tensorflow.org/tutorials/images/transfer_learning</a:t>
            </a:r>
            <a:endParaRPr lang="en-US" sz="1200" dirty="0"/>
          </a:p>
        </p:txBody>
      </p:sp>
      <p:sp>
        <p:nvSpPr>
          <p:cNvPr id="18" name="Shape 16"/>
          <p:cNvSpPr/>
          <p:nvPr/>
        </p:nvSpPr>
        <p:spPr>
          <a:xfrm>
            <a:off x="594360" y="4608576"/>
            <a:ext cx="8887968" cy="640080"/>
          </a:xfrm>
          <a:prstGeom prst="roundRect">
            <a:avLst>
              <a:gd name="adj" fmla="val 12857"/>
            </a:avLst>
          </a:prstGeom>
          <a:solidFill>
            <a:srgbClr val="F4FAF6"/>
          </a:solidFill>
          <a:ln w="12700">
            <a:solidFill>
              <a:srgbClr val="DCE7E1"/>
            </a:solidFill>
            <a:prstDash val="solid"/>
          </a:ln>
        </p:spPr>
      </p:sp>
      <p:sp>
        <p:nvSpPr>
          <p:cNvPr id="19" name="Text 17"/>
          <p:cNvSpPr txBox="1"/>
          <p:nvPr/>
        </p:nvSpPr>
        <p:spPr>
          <a:xfrm>
            <a:off x="813816" y="4608576"/>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05</a:t>
            </a:r>
            <a:endParaRPr lang="en-US" sz="1250" dirty="0"/>
          </a:p>
        </p:txBody>
      </p:sp>
      <p:sp>
        <p:nvSpPr>
          <p:cNvPr id="20" name="Text 18"/>
          <p:cNvSpPr txBox="1"/>
          <p:nvPr/>
        </p:nvSpPr>
        <p:spPr>
          <a:xfrm>
            <a:off x="1307592" y="4608576"/>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FastAPI documentation.  </a:t>
            </a:r>
            <a:pPr indent="0" marL="0">
              <a:lnSpc>
                <a:spcPts val="1600"/>
              </a:lnSpc>
              <a:buNone/>
            </a:pPr>
            <a:r>
              <a:rPr lang="en-US" sz="1200" dirty="0">
                <a:solidFill>
                  <a:srgbClr val="6A7B71"/>
                </a:solidFill>
                <a:latin typeface="Arial" pitchFamily="34" charset="0"/>
                <a:ea typeface="Arial" pitchFamily="34" charset="-122"/>
                <a:cs typeface="Arial" pitchFamily="34" charset="-120"/>
              </a:rPr>
              <a:t>Modern high-performance Python web framework — fastapi.tiangolo.com</a:t>
            </a:r>
            <a:endParaRPr lang="en-US" sz="1200" dirty="0"/>
          </a:p>
        </p:txBody>
      </p:sp>
      <p:sp>
        <p:nvSpPr>
          <p:cNvPr id="21" name="Shape 19"/>
          <p:cNvSpPr/>
          <p:nvPr/>
        </p:nvSpPr>
        <p:spPr>
          <a:xfrm>
            <a:off x="594360" y="5358384"/>
            <a:ext cx="8887968" cy="640080"/>
          </a:xfrm>
          <a:prstGeom prst="roundRect">
            <a:avLst>
              <a:gd name="adj" fmla="val 12857"/>
            </a:avLst>
          </a:prstGeom>
          <a:solidFill>
            <a:srgbClr val="FFFFFF"/>
          </a:solidFill>
          <a:ln w="12700">
            <a:solidFill>
              <a:srgbClr val="DCE7E1"/>
            </a:solidFill>
            <a:prstDash val="solid"/>
          </a:ln>
        </p:spPr>
      </p:sp>
      <p:sp>
        <p:nvSpPr>
          <p:cNvPr id="22" name="Text 20"/>
          <p:cNvSpPr txBox="1"/>
          <p:nvPr/>
        </p:nvSpPr>
        <p:spPr>
          <a:xfrm>
            <a:off x="813816" y="5358384"/>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06</a:t>
            </a:r>
            <a:endParaRPr lang="en-US" sz="1250" dirty="0"/>
          </a:p>
        </p:txBody>
      </p:sp>
      <p:sp>
        <p:nvSpPr>
          <p:cNvPr id="23" name="Text 21"/>
          <p:cNvSpPr txBox="1"/>
          <p:nvPr/>
        </p:nvSpPr>
        <p:spPr>
          <a:xfrm>
            <a:off x="1307592" y="5358384"/>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React and Vite documentation.  </a:t>
            </a:r>
            <a:pPr indent="0" marL="0">
              <a:lnSpc>
                <a:spcPts val="1600"/>
              </a:lnSpc>
              <a:buNone/>
            </a:pPr>
            <a:r>
              <a:rPr lang="en-US" sz="1200" dirty="0">
                <a:solidFill>
                  <a:srgbClr val="6A7B71"/>
                </a:solidFill>
                <a:latin typeface="Arial" pitchFamily="34" charset="0"/>
                <a:ea typeface="Arial" pitchFamily="34" charset="-122"/>
                <a:cs typeface="Arial" pitchFamily="34" charset="-120"/>
              </a:rPr>
              <a:t>react.dev  ·  vite.dev</a:t>
            </a:r>
            <a:endParaRPr lang="en-US" sz="1200" dirty="0"/>
          </a:p>
        </p:txBody>
      </p:sp>
      <p:sp>
        <p:nvSpPr>
          <p:cNvPr id="24" name="Shape 22"/>
          <p:cNvSpPr/>
          <p:nvPr/>
        </p:nvSpPr>
        <p:spPr>
          <a:xfrm>
            <a:off x="594360" y="6108192"/>
            <a:ext cx="8887968" cy="640080"/>
          </a:xfrm>
          <a:prstGeom prst="roundRect">
            <a:avLst>
              <a:gd name="adj" fmla="val 12857"/>
            </a:avLst>
          </a:prstGeom>
          <a:solidFill>
            <a:srgbClr val="F4FAF6"/>
          </a:solidFill>
          <a:ln w="12700">
            <a:solidFill>
              <a:srgbClr val="DCE7E1"/>
            </a:solidFill>
            <a:prstDash val="solid"/>
          </a:ln>
        </p:spPr>
      </p:sp>
      <p:sp>
        <p:nvSpPr>
          <p:cNvPr id="25" name="Text 23"/>
          <p:cNvSpPr txBox="1"/>
          <p:nvPr/>
        </p:nvSpPr>
        <p:spPr>
          <a:xfrm>
            <a:off x="813816" y="6108192"/>
            <a:ext cx="384048" cy="640080"/>
          </a:xfrm>
          <a:prstGeom prst="rect">
            <a:avLst/>
          </a:prstGeom>
          <a:noFill/>
          <a:ln/>
        </p:spPr>
        <p:txBody>
          <a:bodyPr wrap="square" lIns="0" tIns="0" rIns="0" bIns="0" rtlCol="0" anchor="ctr"/>
          <a:lstStyle/>
          <a:p>
            <a:pPr indent="0" marL="0">
              <a:buNone/>
            </a:pPr>
            <a:r>
              <a:rPr lang="en-US" sz="1250" b="1" dirty="0">
                <a:solidFill>
                  <a:srgbClr val="1C9A63"/>
                </a:solidFill>
                <a:latin typeface="Arial" pitchFamily="34" charset="0"/>
                <a:ea typeface="Arial" pitchFamily="34" charset="-122"/>
                <a:cs typeface="Arial" pitchFamily="34" charset="-120"/>
              </a:rPr>
              <a:t>07</a:t>
            </a:r>
            <a:endParaRPr lang="en-US" sz="1250" dirty="0"/>
          </a:p>
        </p:txBody>
      </p:sp>
      <p:sp>
        <p:nvSpPr>
          <p:cNvPr id="26" name="Text 24"/>
          <p:cNvSpPr txBox="1"/>
          <p:nvPr/>
        </p:nvSpPr>
        <p:spPr>
          <a:xfrm>
            <a:off x="1307592" y="6108192"/>
            <a:ext cx="7973568" cy="640080"/>
          </a:xfrm>
          <a:prstGeom prst="rect">
            <a:avLst/>
          </a:prstGeom>
          <a:noFill/>
          <a:ln/>
        </p:spPr>
        <p:txBody>
          <a:bodyPr wrap="square" lIns="0" tIns="0" rIns="0" bIns="0" rtlCol="0" anchor="ctr"/>
          <a:lstStyle/>
          <a:p>
            <a:pPr indent="0" marL="0">
              <a:lnSpc>
                <a:spcPts val="1600"/>
              </a:lnSpc>
              <a:buNone/>
            </a:pPr>
            <a:r>
              <a:rPr lang="en-US" sz="1200" b="1" dirty="0">
                <a:solidFill>
                  <a:srgbClr val="10201A"/>
                </a:solidFill>
                <a:latin typeface="Arial" pitchFamily="34" charset="0"/>
                <a:ea typeface="Arial" pitchFamily="34" charset="-122"/>
                <a:cs typeface="Arial" pitchFamily="34" charset="-120"/>
              </a:rPr>
              <a:t>Fresh and Rotten Fruits/Vegetables image dataset.  </a:t>
            </a:r>
            <a:pPr indent="0" marL="0">
              <a:lnSpc>
                <a:spcPts val="1600"/>
              </a:lnSpc>
              <a:buNone/>
            </a:pPr>
            <a:r>
              <a:rPr lang="en-US" sz="1200" dirty="0">
                <a:solidFill>
                  <a:srgbClr val="6A7B71"/>
                </a:solidFill>
                <a:latin typeface="Arial" pitchFamily="34" charset="0"/>
                <a:ea typeface="Arial" pitchFamily="34" charset="-122"/>
                <a:cs typeface="Arial" pitchFamily="34" charset="-120"/>
              </a:rPr>
              <a:t>Public image dataset, unified into 14 produce classes with fresh/rotten subfolders.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718304" y="1572768"/>
            <a:ext cx="640080" cy="640080"/>
          </a:xfrm>
          <a:prstGeom prst="ellipse">
            <a:avLst/>
          </a:prstGeom>
          <a:solidFill>
            <a:srgbClr val="1C9A63"/>
          </a:solidFill>
          <a:ln w="12700">
            <a:solidFill>
              <a:srgbClr val="1C9A63"/>
            </a:solidFill>
            <a:prstDash val="solid"/>
          </a:ln>
        </p:spPr>
      </p:sp>
      <p:pic>
        <p:nvPicPr>
          <p:cNvPr id="3" name="Image 0" descr="/home/user/Fresh-Vision/presentation/assets/icons/LuLeaf.png">    </p:cNvPr>
          <p:cNvPicPr>
            <a:picLocks noChangeAspect="1"/>
          </p:cNvPicPr>
          <p:nvPr/>
        </p:nvPicPr>
        <p:blipFill>
          <a:blip r:embed="rId2"/>
          <a:stretch>
            <a:fillRect/>
          </a:stretch>
        </p:blipFill>
        <p:spPr>
          <a:xfrm>
            <a:off x="4891126" y="1745590"/>
            <a:ext cx="294437" cy="294437"/>
          </a:xfrm>
          <a:prstGeom prst="rect">
            <a:avLst/>
          </a:prstGeom>
        </p:spPr>
      </p:pic>
      <p:sp>
        <p:nvSpPr>
          <p:cNvPr id="4" name="Text 1"/>
          <p:cNvSpPr txBox="1"/>
          <p:nvPr/>
        </p:nvSpPr>
        <p:spPr>
          <a:xfrm>
            <a:off x="594360" y="2487168"/>
            <a:ext cx="8887968" cy="786384"/>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5" name="Text 2"/>
          <p:cNvSpPr txBox="1"/>
          <p:nvPr/>
        </p:nvSpPr>
        <p:spPr>
          <a:xfrm>
            <a:off x="594360" y="3310128"/>
            <a:ext cx="8887968" cy="329184"/>
          </a:xfrm>
          <a:prstGeom prst="rect">
            <a:avLst/>
          </a:prstGeom>
          <a:noFill/>
          <a:ln/>
        </p:spPr>
        <p:txBody>
          <a:bodyPr wrap="square" lIns="0" tIns="0" rIns="0" bIns="0" rtlCol="0" anchor="ctr"/>
          <a:lstStyle/>
          <a:p>
            <a:pPr algn="ctr" indent="0" marL="0">
              <a:buNone/>
            </a:pPr>
            <a:r>
              <a:rPr lang="en-US" sz="1600" dirty="0">
                <a:solidFill>
                  <a:srgbClr val="7FD1A6"/>
                </a:solidFill>
                <a:latin typeface="Arial" pitchFamily="34" charset="0"/>
                <a:ea typeface="Arial" pitchFamily="34" charset="-122"/>
                <a:cs typeface="Arial" pitchFamily="34" charset="-120"/>
              </a:rPr>
              <a:t>Questions and discussion</a:t>
            </a:r>
            <a:endParaRPr lang="en-US" sz="1600" dirty="0"/>
          </a:p>
        </p:txBody>
      </p:sp>
      <p:sp>
        <p:nvSpPr>
          <p:cNvPr id="6" name="Shape 3"/>
          <p:cNvSpPr/>
          <p:nvPr/>
        </p:nvSpPr>
        <p:spPr>
          <a:xfrm>
            <a:off x="2423160" y="4041648"/>
            <a:ext cx="987552" cy="201168"/>
          </a:xfrm>
          <a:prstGeom prst="roundRect">
            <a:avLst>
              <a:gd name="adj" fmla="val 27273"/>
            </a:avLst>
          </a:prstGeom>
          <a:solidFill>
            <a:srgbClr val="0F7A4A"/>
          </a:solidFill>
          <a:ln w="12700">
            <a:solidFill>
              <a:srgbClr val="0F7A4A"/>
            </a:solidFill>
            <a:prstDash val="solid"/>
          </a:ln>
        </p:spPr>
      </p:sp>
      <p:sp>
        <p:nvSpPr>
          <p:cNvPr id="7" name="Text 4"/>
          <p:cNvSpPr txBox="1"/>
          <p:nvPr/>
        </p:nvSpPr>
        <p:spPr>
          <a:xfrm>
            <a:off x="2423160" y="4297680"/>
            <a:ext cx="98755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Very fresh</a:t>
            </a:r>
            <a:endParaRPr lang="en-US" sz="900" dirty="0"/>
          </a:p>
        </p:txBody>
      </p:sp>
      <p:sp>
        <p:nvSpPr>
          <p:cNvPr id="8" name="Shape 5"/>
          <p:cNvSpPr/>
          <p:nvPr/>
        </p:nvSpPr>
        <p:spPr>
          <a:xfrm>
            <a:off x="3483864" y="4041648"/>
            <a:ext cx="987552" cy="201168"/>
          </a:xfrm>
          <a:prstGeom prst="roundRect">
            <a:avLst>
              <a:gd name="adj" fmla="val 27273"/>
            </a:avLst>
          </a:prstGeom>
          <a:solidFill>
            <a:srgbClr val="3FA76B"/>
          </a:solidFill>
          <a:ln w="12700">
            <a:solidFill>
              <a:srgbClr val="3FA76B"/>
            </a:solidFill>
            <a:prstDash val="solid"/>
          </a:ln>
        </p:spPr>
      </p:sp>
      <p:sp>
        <p:nvSpPr>
          <p:cNvPr id="9" name="Text 6"/>
          <p:cNvSpPr txBox="1"/>
          <p:nvPr/>
        </p:nvSpPr>
        <p:spPr>
          <a:xfrm>
            <a:off x="3483864" y="4297680"/>
            <a:ext cx="98755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Fresh</a:t>
            </a:r>
            <a:endParaRPr lang="en-US" sz="900" dirty="0"/>
          </a:p>
        </p:txBody>
      </p:sp>
      <p:sp>
        <p:nvSpPr>
          <p:cNvPr id="10" name="Shape 7"/>
          <p:cNvSpPr/>
          <p:nvPr/>
        </p:nvSpPr>
        <p:spPr>
          <a:xfrm>
            <a:off x="4544568" y="4041648"/>
            <a:ext cx="987552" cy="201168"/>
          </a:xfrm>
          <a:prstGeom prst="roundRect">
            <a:avLst>
              <a:gd name="adj" fmla="val 27273"/>
            </a:avLst>
          </a:prstGeom>
          <a:solidFill>
            <a:srgbClr val="D9A227"/>
          </a:solidFill>
          <a:ln w="12700">
            <a:solidFill>
              <a:srgbClr val="D9A227"/>
            </a:solidFill>
            <a:prstDash val="solid"/>
          </a:ln>
        </p:spPr>
      </p:sp>
      <p:sp>
        <p:nvSpPr>
          <p:cNvPr id="11" name="Text 8"/>
          <p:cNvSpPr txBox="1"/>
          <p:nvPr/>
        </p:nvSpPr>
        <p:spPr>
          <a:xfrm>
            <a:off x="4544568" y="4297680"/>
            <a:ext cx="98755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Slightly rotten</a:t>
            </a:r>
            <a:endParaRPr lang="en-US" sz="900" dirty="0"/>
          </a:p>
        </p:txBody>
      </p:sp>
      <p:sp>
        <p:nvSpPr>
          <p:cNvPr id="12" name="Shape 9"/>
          <p:cNvSpPr/>
          <p:nvPr/>
        </p:nvSpPr>
        <p:spPr>
          <a:xfrm>
            <a:off x="5605272" y="4041648"/>
            <a:ext cx="987552" cy="201168"/>
          </a:xfrm>
          <a:prstGeom prst="roundRect">
            <a:avLst>
              <a:gd name="adj" fmla="val 27273"/>
            </a:avLst>
          </a:prstGeom>
          <a:solidFill>
            <a:srgbClr val="C4652A"/>
          </a:solidFill>
          <a:ln w="12700">
            <a:solidFill>
              <a:srgbClr val="C4652A"/>
            </a:solidFill>
            <a:prstDash val="solid"/>
          </a:ln>
        </p:spPr>
      </p:sp>
      <p:sp>
        <p:nvSpPr>
          <p:cNvPr id="13" name="Text 10"/>
          <p:cNvSpPr txBox="1"/>
          <p:nvPr/>
        </p:nvSpPr>
        <p:spPr>
          <a:xfrm>
            <a:off x="5605272" y="4297680"/>
            <a:ext cx="98755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Rotten</a:t>
            </a:r>
            <a:endParaRPr lang="en-US" sz="900" dirty="0"/>
          </a:p>
        </p:txBody>
      </p:sp>
      <p:sp>
        <p:nvSpPr>
          <p:cNvPr id="14" name="Shape 11"/>
          <p:cNvSpPr/>
          <p:nvPr/>
        </p:nvSpPr>
        <p:spPr>
          <a:xfrm>
            <a:off x="6665976" y="4041648"/>
            <a:ext cx="987552" cy="201168"/>
          </a:xfrm>
          <a:prstGeom prst="roundRect">
            <a:avLst>
              <a:gd name="adj" fmla="val 27273"/>
            </a:avLst>
          </a:prstGeom>
          <a:solidFill>
            <a:srgbClr val="8E2F22"/>
          </a:solidFill>
          <a:ln w="12700">
            <a:solidFill>
              <a:srgbClr val="8E2F22"/>
            </a:solidFill>
            <a:prstDash val="solid"/>
          </a:ln>
        </p:spPr>
      </p:sp>
      <p:sp>
        <p:nvSpPr>
          <p:cNvPr id="15" name="Text 12"/>
          <p:cNvSpPr txBox="1"/>
          <p:nvPr/>
        </p:nvSpPr>
        <p:spPr>
          <a:xfrm>
            <a:off x="6665976" y="4297680"/>
            <a:ext cx="98755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Very rotten</a:t>
            </a:r>
            <a:endParaRPr lang="en-US" sz="900" dirty="0"/>
          </a:p>
        </p:txBody>
      </p:sp>
      <p:sp>
        <p:nvSpPr>
          <p:cNvPr id="16" name="Text 13"/>
          <p:cNvSpPr txBox="1"/>
          <p:nvPr/>
        </p:nvSpPr>
        <p:spPr>
          <a:xfrm>
            <a:off x="594360" y="5358384"/>
            <a:ext cx="8887968" cy="274320"/>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Fresh Vision  ·  Practice School-II  ·  School of Engineering &amp; Technology, BML Munjal University</a:t>
            </a:r>
            <a:endParaRPr lang="en-US" sz="1200" dirty="0"/>
          </a:p>
        </p:txBody>
      </p:sp>
      <p:sp>
        <p:nvSpPr>
          <p:cNvPr id="17" name="Text 14"/>
          <p:cNvSpPr txBox="1"/>
          <p:nvPr/>
        </p:nvSpPr>
        <p:spPr>
          <a:xfrm>
            <a:off x="594360" y="5650992"/>
            <a:ext cx="8887968" cy="274320"/>
          </a:xfrm>
          <a:prstGeom prst="rect">
            <a:avLst/>
          </a:prstGeom>
          <a:noFill/>
          <a:ln/>
        </p:spPr>
        <p:txBody>
          <a:bodyPr wrap="square" lIns="0" tIns="0" rIns="0" bIns="0" rtlCol="0" anchor="ctr"/>
          <a:lstStyle/>
          <a:p>
            <a:pPr algn="ctr" indent="0" marL="0">
              <a:buNone/>
            </a:pPr>
            <a:r>
              <a:rPr lang="en-US" sz="1100" dirty="0">
                <a:solidFill>
                  <a:srgbClr val="A6BCAF"/>
                </a:solidFill>
                <a:latin typeface="Arial" pitchFamily="34" charset="0"/>
                <a:ea typeface="Arial" pitchFamily="34" charset="-122"/>
                <a:cs typeface="Arial" pitchFamily="34" charset="-120"/>
              </a:rPr>
              <a:t>Faculty Mentor: Dr. XYZ   ·   Industry Mentor: Mr. ABC   ·   August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BML Munjal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Vision — Practice School-II</dc:title>
  <dc:subject>PptxGenJS Presentation</dc:subject>
  <dc:creator>Fresh Vision</dc:creator>
  <cp:lastModifiedBy>Fresh Vision</cp:lastModifiedBy>
  <cp:revision>1</cp:revision>
  <dcterms:created xsi:type="dcterms:W3CDTF">2026-08-31T08:38:37Z</dcterms:created>
  <dcterms:modified xsi:type="dcterms:W3CDTF">2026-08-31T08:38:37Z</dcterms:modified>
</cp:coreProperties>
</file>