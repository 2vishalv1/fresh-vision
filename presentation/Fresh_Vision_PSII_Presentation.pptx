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0076688" cy="7562088"/>
  <p:notesSz cx="7562088" cy="100766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Freshness classifier — validation accuracy</a:t>
            </a:r>
          </a:p>
        </c:rich>
      </c:tx>
      <c:layout/>
      <c:overlay val="0"/>
    </c:title>
    <c:autoTitleDeleted val="0"/>
    <c:plotArea>
      <c:layout/>
      <c:barChart>
        <c:barDir val="col"/>
        <c:grouping val="clustered"/>
        <c:varyColors val="0"/>
        <c:ser>
          <c:idx val="0"/>
          <c:order val="0"/>
          <c:tx>
            <c:strRef>
              <c:f>Sheet1!$B$1</c:f>
              <c:strCache>
                <c:ptCount val="1"/>
                <c:pt idx="0">
                  <c:v>Validation accuracy (%)</c:v>
                </c:pt>
              </c:strCache>
            </c:strRef>
          </c:tx>
          <c:spPr>
            <a:solidFill>
              <a:srgbClr val="0070C0"/>
            </a:solidFill>
            <a:effectLst/>
          </c:spPr>
          <c:invertIfNegative val="0"/>
          <c:dLbls>
            <c:numFmt formatCode="0.0&quot;%&quot;"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0C0"/>
              </a:solidFill>
              <a:effectLst/>
            </c:spPr>
          </c:dPt>
          <c:dPt>
            <c:idx val="1"/>
            <c:invertIfNegative val="0"/>
            <c:bubble3D val="0"/>
            <c:spPr>
              <a:solidFill>
                <a:srgbClr val="1F8A4C"/>
              </a:solidFill>
              <a:effectLst/>
            </c:spPr>
          </c:dPt>
          <c:cat>
            <c:multiLvlStrRef>
              <c:f>Sheet1!$A$2:$A$3</c:f>
              <c:multiLvlStrCache>
                <c:ptCount val="2"/>
                <c:lvl>
                  <c:pt idx="0">
                    <c:v>Phase 1
(frozen backbone)</c:v>
                  </c:pt>
                  <c:pt idx="1">
                    <c:v>Phase 2
(fine-tuned)</c:v>
                  </c:pt>
                </c:lvl>
              </c:multiLvlStrCache>
            </c:multiLvlStrRef>
          </c:cat>
          <c:val>
            <c:numRef>
              <c:f>Sheet1!$B$2:$B$3</c:f>
              <c:numCache>
                <c:formatCode>General</c:formatCode>
                <c:ptCount val="2"/>
                <c:pt idx="0">
                  <c:v>77.8</c:v>
                </c:pt>
                <c:pt idx="1">
                  <c:v>80.4</c:v>
                </c:pt>
              </c:numCache>
            </c:numRef>
          </c:val>
        </c:ser>
        <c:dLbls>
          <c:numFmt formatCode="0.0&quot;%&quot;"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2"/>
        <c:crosses val="autoZero"/>
        <c:auto val="1"/>
        <c:lblAlgn val="ctr"/>
        <c:noMultiLvlLbl val="1"/>
      </c:catAx>
      <c:valAx>
        <c:axId val="2094734552"/>
        <c:scaling>
          <c:orientation val="minMax"/>
          <c:max val="85"/>
          <c:min val="70"/>
        </c:scaling>
        <c:delete val="0"/>
        <c:axPos val="l"/>
        <c:majorGridlines>
          <c:spPr>
            <a:ln w="12700" cap="flat">
              <a:solidFill>
                <a:srgbClr val="EDF1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Inference-time calibration weights</a:t>
            </a:r>
          </a:p>
        </c:rich>
      </c:tx>
      <c:layout/>
      <c:overlay val="0"/>
    </c:title>
    <c:autoTitleDeleted val="0"/>
    <c:plotArea>
      <c:layout/>
      <c:barChart>
        <c:barDir val="col"/>
        <c:grouping val="clustered"/>
        <c:varyColors val="0"/>
        <c:ser>
          <c:idx val="0"/>
          <c:order val="0"/>
          <c:tx>
            <c:strRef>
              <c:f>Sheet1!$B$1</c:f>
              <c:strCache>
                <c:ptCount val="1"/>
                <c:pt idx="0">
                  <c:v>Calibration multiplier</c:v>
                </c:pt>
              </c:strCache>
            </c:strRef>
          </c:tx>
          <c:spPr>
            <a:solidFill>
              <a:srgbClr val="C77700"/>
            </a:solidFill>
            <a:effectLst/>
          </c:spPr>
          <c:invertIfNegative val="0"/>
          <c:dLbls>
            <c:numFmt formatCode="0.0&quot;x&quot;"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C77700"/>
              </a:solidFill>
              <a:effectLst/>
            </c:spPr>
          </c:dPt>
          <c:dPt>
            <c:idx val="1"/>
            <c:invertIfNegative val="0"/>
            <c:bubble3D val="0"/>
            <c:spPr>
              <a:solidFill>
                <a:srgbClr val="B3261E"/>
              </a:solidFill>
              <a:effectLst/>
            </c:spPr>
          </c:dPt>
          <c:dPt>
            <c:idx val="2"/>
            <c:invertIfNegative val="0"/>
            <c:bubble3D val="0"/>
            <c:spPr>
              <a:solidFill>
                <a:srgbClr val="7A1512"/>
              </a:solidFill>
              <a:effectLst/>
            </c:spPr>
          </c:dPt>
          <c:cat>
            <c:multiLvlStrRef>
              <c:f>Sheet1!$A$2:$A$4</c:f>
              <c:multiLvlStrCache>
                <c:ptCount val="3"/>
                <c:lvl>
                  <c:pt idx="0">
                    <c:v>Slightly rotten</c:v>
                  </c:pt>
                  <c:pt idx="1">
                    <c:v>Rotten</c:v>
                  </c:pt>
                  <c:pt idx="2">
                    <c:v>Very rotten</c:v>
                  </c:pt>
                </c:lvl>
              </c:multiLvlStrCache>
            </c:multiLvlStrRef>
          </c:cat>
          <c:val>
            <c:numRef>
              <c:f>Sheet1!$B$2:$B$4</c:f>
              <c:numCache>
                <c:formatCode>General</c:formatCode>
                <c:ptCount val="3"/>
                <c:pt idx="0">
                  <c:v>0.3</c:v>
                </c:pt>
                <c:pt idx="1">
                  <c:v>1.5</c:v>
                </c:pt>
                <c:pt idx="2">
                  <c:v>2.5</c:v>
                </c:pt>
              </c:numCache>
            </c:numRef>
          </c:val>
        </c:ser>
        <c:dLbls>
          <c:numFmt formatCode="0.0&quot;x&quot;"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2"/>
        <c:crosses val="autoZero"/>
        <c:auto val="1"/>
        <c:lblAlgn val="ctr"/>
        <c:noMultiLvlLbl val="1"/>
      </c:catAx>
      <c:valAx>
        <c:axId val="2094734552"/>
        <c:scaling>
          <c:orientation val="minMax"/>
          <c:max val="3"/>
          <c:min val="0"/>
        </c:scaling>
        <c:delete val="0"/>
        <c:axPos val="l"/>
        <c:majorGridlines>
          <c:spPr>
            <a:ln w="12700" cap="flat">
              <a:solidFill>
                <a:srgbClr val="EDF1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Fresh Vision identifies a fruit or vegetable from a photo and grades how fresh it is, using three neural networks behind a web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sections, following the PS-II template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station, department and faculty mentor details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weekly lines mirror the actual build order of the project; add the real start and end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guard rails run before any verdict is shown: the gatekeeper rejects non-produce, and an identification confidence below 65% is reported as uncertain rather than guessed.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to Phase 2 is a 2.6 point gain. The calibration weights multiply the three under- or over-fired classes before renormalising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Uploads are capped at 10 MB and held in memory only — nothing is written to disk. When frontend/dist exists the backend serves the built UI itself, so the whole app runs on a single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603504"/>
            <a:ext cx="8942832" cy="777240"/>
          </a:xfrm>
          <a:prstGeom prst="rect">
            <a:avLst/>
          </a:prstGeom>
          <a:noFill/>
          <a:ln/>
        </p:spPr>
        <p:txBody>
          <a:bodyPr wrap="square" lIns="0" tIns="0" rIns="0" bIns="0" rtlCol="0" anchor="ctr"/>
          <a:lstStyle/>
          <a:p>
            <a:pPr algn="ctr" indent="0" marL="0">
              <a:buNone/>
            </a:pPr>
            <a:r>
              <a:rPr lang="en-US" sz="4400" b="1" spc="100" kern="0" dirty="0">
                <a:solidFill>
                  <a:srgbClr val="0070C0"/>
                </a:solidFill>
                <a:latin typeface="Arial" pitchFamily="34" charset="0"/>
                <a:ea typeface="Arial" pitchFamily="34" charset="-122"/>
                <a:cs typeface="Arial" pitchFamily="34" charset="-120"/>
              </a:rPr>
              <a:t>FRESH VISION</a:t>
            </a:r>
            <a:endParaRPr lang="en-US" sz="4400" dirty="0"/>
          </a:p>
        </p:txBody>
      </p:sp>
      <p:sp>
        <p:nvSpPr>
          <p:cNvPr id="3" name="Text 1"/>
          <p:cNvSpPr txBox="1"/>
          <p:nvPr/>
        </p:nvSpPr>
        <p:spPr>
          <a:xfrm>
            <a:off x="566928" y="1371600"/>
            <a:ext cx="8942832" cy="365760"/>
          </a:xfrm>
          <a:prstGeom prst="rect">
            <a:avLst/>
          </a:prstGeom>
          <a:noFill/>
          <a:ln/>
        </p:spPr>
        <p:txBody>
          <a:bodyPr wrap="square" lIns="0" tIns="0" rIns="0" bIns="0" rtlCol="0" anchor="ctr"/>
          <a:lstStyle/>
          <a:p>
            <a:pPr algn="ctr" indent="0" marL="0">
              <a:buNone/>
            </a:pPr>
            <a:r>
              <a:rPr lang="en-US" sz="1800" dirty="0">
                <a:solidFill>
                  <a:srgbClr val="1A1A1A"/>
                </a:solidFill>
                <a:latin typeface="Arial" pitchFamily="34" charset="0"/>
                <a:ea typeface="Arial" pitchFamily="34" charset="-122"/>
                <a:cs typeface="Arial" pitchFamily="34" charset="-120"/>
              </a:rPr>
              <a:t>An AI-Powered Fruit &amp; Vegetable Freshness Analyzer</a:t>
            </a:r>
            <a:endParaRPr lang="en-US" sz="1800" dirty="0"/>
          </a:p>
        </p:txBody>
      </p:sp>
      <p:sp>
        <p:nvSpPr>
          <p:cNvPr id="4" name="Text 2"/>
          <p:cNvSpPr txBox="1"/>
          <p:nvPr/>
        </p:nvSpPr>
        <p:spPr>
          <a:xfrm>
            <a:off x="566928" y="1737360"/>
            <a:ext cx="8942832" cy="274320"/>
          </a:xfrm>
          <a:prstGeom prst="rect">
            <a:avLst/>
          </a:prstGeom>
          <a:noFill/>
          <a:ln/>
        </p:spPr>
        <p:txBody>
          <a:bodyPr wrap="square" lIns="0" tIns="0" rIns="0" bIns="0" rtlCol="0" anchor="ctr"/>
          <a:lstStyle/>
          <a:p>
            <a:pPr algn="ctr" indent="0" marL="0">
              <a:buNone/>
            </a:pPr>
            <a:r>
              <a:rPr lang="en-US" sz="1250" i="1" dirty="0">
                <a:solidFill>
                  <a:srgbClr val="5A6472"/>
                </a:solidFill>
                <a:latin typeface="Arial" pitchFamily="34" charset="0"/>
                <a:ea typeface="Arial" pitchFamily="34" charset="-122"/>
                <a:cs typeface="Arial" pitchFamily="34" charset="-120"/>
              </a:rPr>
              <a:t>Deep-learning pipeline · MobileNetV2 transfer learning · FastAPI + React deployment</a:t>
            </a:r>
            <a:endParaRPr lang="en-US" sz="1250" dirty="0"/>
          </a:p>
        </p:txBody>
      </p:sp>
      <p:sp>
        <p:nvSpPr>
          <p:cNvPr id="5" name="Shape 3"/>
          <p:cNvSpPr/>
          <p:nvPr/>
        </p:nvSpPr>
        <p:spPr>
          <a:xfrm>
            <a:off x="3200400" y="2240280"/>
            <a:ext cx="3675888" cy="960120"/>
          </a:xfrm>
          <a:prstGeom prst="roundRect">
            <a:avLst>
              <a:gd name="adj" fmla="val 7619"/>
            </a:avLst>
          </a:prstGeom>
          <a:solidFill>
            <a:srgbClr val="EAF3FB"/>
          </a:solidFill>
          <a:ln w="12700">
            <a:solidFill>
              <a:srgbClr val="D6DEE8"/>
            </a:solidFill>
            <a:prstDash val="solid"/>
          </a:ln>
        </p:spPr>
      </p:sp>
      <p:sp>
        <p:nvSpPr>
          <p:cNvPr id="6" name="Text 4"/>
          <p:cNvSpPr txBox="1"/>
          <p:nvPr/>
        </p:nvSpPr>
        <p:spPr>
          <a:xfrm>
            <a:off x="3291840" y="2313432"/>
            <a:ext cx="3493008" cy="822960"/>
          </a:xfrm>
          <a:prstGeom prst="rect">
            <a:avLst/>
          </a:prstGeom>
          <a:noFill/>
          <a:ln/>
        </p:spPr>
        <p:txBody>
          <a:bodyPr wrap="square" lIns="0" tIns="0" rIns="0" bIns="0" rtlCol="0" anchor="ctr"/>
          <a:lstStyle/>
          <a:p>
            <a:pPr algn="ctr" indent="0" marL="0">
              <a:lnSpc>
                <a:spcPts val="1900"/>
              </a:lnSpc>
              <a:buNone/>
            </a:pPr>
            <a:r>
              <a:rPr lang="en-US" sz="1400" b="1" dirty="0">
                <a:solidFill>
                  <a:srgbClr val="0070C0"/>
                </a:solidFill>
                <a:latin typeface="Arial" pitchFamily="34" charset="0"/>
                <a:ea typeface="Arial" pitchFamily="34" charset="-122"/>
                <a:cs typeface="Arial" pitchFamily="34" charset="-120"/>
              </a:rPr>
              <a:t>Submitted by</a:t>
            </a:r>
            <a:endParaRPr lang="en-US" sz="1400" dirty="0"/>
          </a:p>
          <a:p>
            <a:pPr algn="ctr" indent="0" marL="0">
              <a:lnSpc>
                <a:spcPts val="1900"/>
              </a:lnSpc>
              <a:buNone/>
            </a:pPr>
            <a:r>
              <a:rPr lang="en-US" sz="1300" dirty="0">
                <a:solidFill>
                  <a:srgbClr val="1A1A1A"/>
                </a:solidFill>
                <a:latin typeface="Arial" pitchFamily="34" charset="0"/>
                <a:ea typeface="Arial" pitchFamily="34" charset="-122"/>
                <a:cs typeface="Arial" pitchFamily="34" charset="-120"/>
              </a:rPr>
              <a:t>Name:  ______________________</a:t>
            </a:r>
            <a:endParaRPr lang="en-US" sz="1400" dirty="0"/>
          </a:p>
          <a:p>
            <a:pPr algn="ctr" indent="0" marL="0">
              <a:lnSpc>
                <a:spcPts val="1900"/>
              </a:lnSpc>
              <a:buNone/>
            </a:pPr>
            <a:r>
              <a:rPr lang="en-US" sz="1300" dirty="0">
                <a:solidFill>
                  <a:srgbClr val="1A1A1A"/>
                </a:solidFill>
                <a:latin typeface="Arial" pitchFamily="34" charset="0"/>
                <a:ea typeface="Arial" pitchFamily="34" charset="-122"/>
                <a:cs typeface="Arial" pitchFamily="34" charset="-120"/>
              </a:rPr>
              <a:t>ID:  ______________________</a:t>
            </a:r>
            <a:endParaRPr lang="en-US" sz="1400" dirty="0"/>
          </a:p>
        </p:txBody>
      </p:sp>
      <p:sp>
        <p:nvSpPr>
          <p:cNvPr id="7" name="Shape 5"/>
          <p:cNvSpPr/>
          <p:nvPr/>
        </p:nvSpPr>
        <p:spPr>
          <a:xfrm>
            <a:off x="566928" y="3566160"/>
            <a:ext cx="4297680" cy="1371600"/>
          </a:xfrm>
          <a:prstGeom prst="roundRect">
            <a:avLst>
              <a:gd name="adj" fmla="val 5333"/>
            </a:avLst>
          </a:prstGeom>
          <a:solidFill>
            <a:srgbClr val="FFFFFF"/>
          </a:solidFill>
          <a:ln w="12700">
            <a:solidFill>
              <a:srgbClr val="D6DEE8"/>
            </a:solidFill>
            <a:prstDash val="solid"/>
          </a:ln>
        </p:spPr>
      </p:sp>
      <p:sp>
        <p:nvSpPr>
          <p:cNvPr id="8" name="Shape 6"/>
          <p:cNvSpPr/>
          <p:nvPr/>
        </p:nvSpPr>
        <p:spPr>
          <a:xfrm>
            <a:off x="5212080" y="3566160"/>
            <a:ext cx="4297680" cy="1371600"/>
          </a:xfrm>
          <a:prstGeom prst="roundRect">
            <a:avLst>
              <a:gd name="adj" fmla="val 5333"/>
            </a:avLst>
          </a:prstGeom>
          <a:solidFill>
            <a:srgbClr val="FFFFFF"/>
          </a:solidFill>
          <a:ln w="12700">
            <a:solidFill>
              <a:srgbClr val="D6DEE8"/>
            </a:solidFill>
            <a:prstDash val="solid"/>
          </a:ln>
        </p:spPr>
      </p:sp>
      <p:sp>
        <p:nvSpPr>
          <p:cNvPr id="9" name="Text 7"/>
          <p:cNvSpPr txBox="1"/>
          <p:nvPr/>
        </p:nvSpPr>
        <p:spPr>
          <a:xfrm>
            <a:off x="795528" y="3694176"/>
            <a:ext cx="3840480" cy="1143000"/>
          </a:xfrm>
          <a:prstGeom prst="rect">
            <a:avLst/>
          </a:prstGeom>
          <a:noFill/>
          <a:ln/>
        </p:spPr>
        <p:txBody>
          <a:bodyPr wrap="square" lIns="0" tIns="0" rIns="0" bIns="0" rtlCol="0" anchor="ctr"/>
          <a:lstStyle/>
          <a:p>
            <a:pPr indent="0" marL="0">
              <a:lnSpc>
                <a:spcPts val="1900"/>
              </a:lnSpc>
              <a:buNone/>
            </a:pPr>
            <a:r>
              <a:rPr lang="en-US" sz="1500" b="1" dirty="0">
                <a:solidFill>
                  <a:srgbClr val="0070C0"/>
                </a:solidFill>
                <a:latin typeface="Arial" pitchFamily="34" charset="0"/>
                <a:ea typeface="Arial" pitchFamily="34" charset="-122"/>
                <a:cs typeface="Arial" pitchFamily="34" charset="-120"/>
              </a:rPr>
              <a:t>Faculty Mentor</a:t>
            </a:r>
            <a:endParaRPr lang="en-US" sz="1500" dirty="0"/>
          </a:p>
          <a:p>
            <a:pPr indent="0" marL="0">
              <a:lnSpc>
                <a:spcPts val="1900"/>
              </a:lnSpc>
              <a:buNone/>
            </a:pPr>
            <a:r>
              <a:rPr lang="en-US" sz="1350" dirty="0">
                <a:solidFill>
                  <a:srgbClr val="1A1A1A"/>
                </a:solidFill>
                <a:latin typeface="Arial" pitchFamily="34" charset="0"/>
                <a:ea typeface="Arial" pitchFamily="34" charset="-122"/>
                <a:cs typeface="Arial" pitchFamily="34" charset="-120"/>
              </a:rPr>
              <a:t>Dr. XYZ</a:t>
            </a:r>
            <a:endParaRPr lang="en-US" sz="1500" dirty="0"/>
          </a:p>
          <a:p>
            <a:pPr indent="0" marL="0">
              <a:lnSpc>
                <a:spcPts val="1900"/>
              </a:lnSpc>
              <a:buNone/>
            </a:pPr>
            <a:r>
              <a:rPr lang="en-US" sz="1350" dirty="0">
                <a:solidFill>
                  <a:srgbClr val="1A1A1A"/>
                </a:solidFill>
                <a:latin typeface="Arial" pitchFamily="34" charset="0"/>
                <a:ea typeface="Arial" pitchFamily="34" charset="-122"/>
                <a:cs typeface="Arial" pitchFamily="34" charset="-120"/>
              </a:rPr>
              <a:t>Designation</a:t>
            </a:r>
            <a:endParaRPr lang="en-US" sz="1500" dirty="0"/>
          </a:p>
          <a:p>
            <a:pPr indent="0" marL="0">
              <a:lnSpc>
                <a:spcPts val="1900"/>
              </a:lnSpc>
              <a:buNone/>
            </a:pPr>
            <a:r>
              <a:rPr lang="en-US" sz="1350" dirty="0">
                <a:solidFill>
                  <a:srgbClr val="1A1A1A"/>
                </a:solidFill>
                <a:latin typeface="Arial" pitchFamily="34" charset="0"/>
                <a:ea typeface="Arial" pitchFamily="34" charset="-122"/>
                <a:cs typeface="Arial" pitchFamily="34" charset="-120"/>
              </a:rPr>
              <a:t>SOET, BMU</a:t>
            </a:r>
            <a:endParaRPr lang="en-US" sz="1500" dirty="0"/>
          </a:p>
        </p:txBody>
      </p:sp>
      <p:sp>
        <p:nvSpPr>
          <p:cNvPr id="10" name="Text 8"/>
          <p:cNvSpPr txBox="1"/>
          <p:nvPr/>
        </p:nvSpPr>
        <p:spPr>
          <a:xfrm>
            <a:off x="5440680" y="3694176"/>
            <a:ext cx="3840480" cy="1143000"/>
          </a:xfrm>
          <a:prstGeom prst="rect">
            <a:avLst/>
          </a:prstGeom>
          <a:noFill/>
          <a:ln/>
        </p:spPr>
        <p:txBody>
          <a:bodyPr wrap="square" lIns="0" tIns="0" rIns="0" bIns="0" rtlCol="0" anchor="ctr"/>
          <a:lstStyle/>
          <a:p>
            <a:pPr indent="0" marL="0">
              <a:lnSpc>
                <a:spcPts val="1900"/>
              </a:lnSpc>
              <a:buNone/>
            </a:pPr>
            <a:r>
              <a:rPr lang="en-US" sz="1500" b="1" dirty="0">
                <a:solidFill>
                  <a:srgbClr val="0070C0"/>
                </a:solidFill>
                <a:latin typeface="Arial" pitchFamily="34" charset="0"/>
                <a:ea typeface="Arial" pitchFamily="34" charset="-122"/>
                <a:cs typeface="Arial" pitchFamily="34" charset="-120"/>
              </a:rPr>
              <a:t>Industry Mentor</a:t>
            </a:r>
            <a:endParaRPr lang="en-US" sz="1500" dirty="0"/>
          </a:p>
          <a:p>
            <a:pPr indent="0" marL="0">
              <a:lnSpc>
                <a:spcPts val="1900"/>
              </a:lnSpc>
              <a:buNone/>
            </a:pPr>
            <a:r>
              <a:rPr lang="en-US" sz="1350" dirty="0">
                <a:solidFill>
                  <a:srgbClr val="1A1A1A"/>
                </a:solidFill>
                <a:latin typeface="Arial" pitchFamily="34" charset="0"/>
                <a:ea typeface="Arial" pitchFamily="34" charset="-122"/>
                <a:cs typeface="Arial" pitchFamily="34" charset="-120"/>
              </a:rPr>
              <a:t>Mr. ABC</a:t>
            </a:r>
            <a:endParaRPr lang="en-US" sz="1500" dirty="0"/>
          </a:p>
          <a:p>
            <a:pPr indent="0" marL="0">
              <a:lnSpc>
                <a:spcPts val="1900"/>
              </a:lnSpc>
              <a:buNone/>
            </a:pPr>
            <a:r>
              <a:rPr lang="en-US" sz="1350" dirty="0">
                <a:solidFill>
                  <a:srgbClr val="1A1A1A"/>
                </a:solidFill>
                <a:latin typeface="Arial" pitchFamily="34" charset="0"/>
                <a:ea typeface="Arial" pitchFamily="34" charset="-122"/>
                <a:cs typeface="Arial" pitchFamily="34" charset="-120"/>
              </a:rPr>
              <a:t>Designation</a:t>
            </a:r>
            <a:endParaRPr lang="en-US" sz="1500" dirty="0"/>
          </a:p>
          <a:p>
            <a:pPr indent="0" marL="0">
              <a:lnSpc>
                <a:spcPts val="1900"/>
              </a:lnSpc>
              <a:buNone/>
            </a:pPr>
            <a:r>
              <a:rPr lang="en-US" sz="1350" dirty="0">
                <a:solidFill>
                  <a:srgbClr val="1A1A1A"/>
                </a:solidFill>
                <a:latin typeface="Arial" pitchFamily="34" charset="0"/>
                <a:ea typeface="Arial" pitchFamily="34" charset="-122"/>
                <a:cs typeface="Arial" pitchFamily="34" charset="-120"/>
              </a:rPr>
              <a:t>Organization name</a:t>
            </a:r>
            <a:endParaRPr lang="en-US" sz="1500" dirty="0"/>
          </a:p>
        </p:txBody>
      </p:sp>
      <p:sp>
        <p:nvSpPr>
          <p:cNvPr id="11" name="Text 9"/>
          <p:cNvSpPr txBox="1"/>
          <p:nvPr/>
        </p:nvSpPr>
        <p:spPr>
          <a:xfrm>
            <a:off x="566928" y="5504688"/>
            <a:ext cx="8942832" cy="365760"/>
          </a:xfrm>
          <a:prstGeom prst="rect">
            <a:avLst/>
          </a:prstGeom>
          <a:noFill/>
          <a:ln/>
        </p:spPr>
        <p:txBody>
          <a:bodyPr wrap="square" lIns="0" tIns="0" rIns="0" bIns="0" rtlCol="0" anchor="ctr"/>
          <a:lstStyle/>
          <a:p>
            <a:pPr algn="ctr" indent="0" marL="0">
              <a:buNone/>
            </a:pPr>
            <a:r>
              <a:rPr lang="en-US" sz="2000" b="1" dirty="0">
                <a:solidFill>
                  <a:srgbClr val="0070C0"/>
                </a:solidFill>
                <a:latin typeface="Arial" pitchFamily="34" charset="0"/>
                <a:ea typeface="Arial" pitchFamily="34" charset="-122"/>
                <a:cs typeface="Arial" pitchFamily="34" charset="-120"/>
              </a:rPr>
              <a:t>PRACTICE SCHOOL-II</a:t>
            </a:r>
            <a:endParaRPr lang="en-US" sz="2000" dirty="0"/>
          </a:p>
        </p:txBody>
      </p:sp>
      <p:sp>
        <p:nvSpPr>
          <p:cNvPr id="12" name="Text 10"/>
          <p:cNvSpPr txBox="1"/>
          <p:nvPr/>
        </p:nvSpPr>
        <p:spPr>
          <a:xfrm>
            <a:off x="566928" y="5888736"/>
            <a:ext cx="8942832" cy="292608"/>
          </a:xfrm>
          <a:prstGeom prst="rect">
            <a:avLst/>
          </a:prstGeom>
          <a:noFill/>
          <a:ln/>
        </p:spPr>
        <p:txBody>
          <a:bodyPr wrap="square" lIns="0" tIns="0" rIns="0" bIns="0" rtlCol="0" anchor="ctr"/>
          <a:lstStyle/>
          <a:p>
            <a:pPr algn="ctr" indent="0" marL="0">
              <a:buNone/>
            </a:pPr>
            <a:r>
              <a:rPr lang="en-US" sz="1500" dirty="0">
                <a:solidFill>
                  <a:srgbClr val="1A1A1A"/>
                </a:solidFill>
                <a:latin typeface="Arial" pitchFamily="34" charset="0"/>
                <a:ea typeface="Arial" pitchFamily="34" charset="-122"/>
                <a:cs typeface="Arial" pitchFamily="34" charset="-120"/>
              </a:rPr>
              <a:t>School of Engineering &amp; Technology,</a:t>
            </a:r>
            <a:endParaRPr lang="en-US" sz="1500" dirty="0"/>
          </a:p>
        </p:txBody>
      </p:sp>
      <p:sp>
        <p:nvSpPr>
          <p:cNvPr id="13" name="Text 11"/>
          <p:cNvSpPr txBox="1"/>
          <p:nvPr/>
        </p:nvSpPr>
        <p:spPr>
          <a:xfrm>
            <a:off x="566928" y="6199632"/>
            <a:ext cx="8942832" cy="292608"/>
          </a:xfrm>
          <a:prstGeom prst="rect">
            <a:avLst/>
          </a:prstGeom>
          <a:noFill/>
          <a:ln/>
        </p:spPr>
        <p:txBody>
          <a:bodyPr wrap="square" lIns="0" tIns="0" rIns="0" bIns="0" rtlCol="0" anchor="ctr"/>
          <a:lstStyle/>
          <a:p>
            <a:pPr algn="ctr" indent="0" marL="0">
              <a:buNone/>
            </a:pPr>
            <a:r>
              <a:rPr lang="en-US" sz="1300" i="1" dirty="0">
                <a:solidFill>
                  <a:srgbClr val="1A1A1A"/>
                </a:solidFill>
                <a:latin typeface="Arial" pitchFamily="34" charset="0"/>
                <a:ea typeface="Arial" pitchFamily="34" charset="-122"/>
                <a:cs typeface="Arial" pitchFamily="34" charset="-120"/>
              </a:rPr>
              <a:t>BML Munjal University, 67th KM Stone, NH-8, Gurugram, Haryana 122413</a:t>
            </a:r>
            <a:endParaRPr lang="en-US" sz="1300" dirty="0"/>
          </a:p>
        </p:txBody>
      </p:sp>
      <p:sp>
        <p:nvSpPr>
          <p:cNvPr id="14" name="Text 12"/>
          <p:cNvSpPr txBox="1"/>
          <p:nvPr/>
        </p:nvSpPr>
        <p:spPr>
          <a:xfrm>
            <a:off x="566928" y="6547104"/>
            <a:ext cx="8942832" cy="292608"/>
          </a:xfrm>
          <a:prstGeom prst="rect">
            <a:avLst/>
          </a:prstGeom>
          <a:noFill/>
          <a:ln/>
        </p:spPr>
        <p:txBody>
          <a:bodyPr wrap="square" lIns="0" tIns="0" rIns="0" bIns="0" rtlCol="0" anchor="ctr"/>
          <a:lstStyle/>
          <a:p>
            <a:pPr algn="ctr" indent="0" marL="0">
              <a:buNone/>
            </a:pPr>
            <a:r>
              <a:rPr lang="en-US" sz="1500" b="1" dirty="0">
                <a:solidFill>
                  <a:srgbClr val="1A1A1A"/>
                </a:solidFill>
                <a:latin typeface="Arial" pitchFamily="34" charset="0"/>
                <a:ea typeface="Arial" pitchFamily="34" charset="-122"/>
                <a:cs typeface="Arial" pitchFamily="34" charset="-120"/>
              </a:rPr>
              <a:t>August 2025</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OUTLINE OF THE PRESENTATION</a:t>
            </a:r>
            <a:endParaRPr lang="en-US" sz="3000" dirty="0"/>
          </a:p>
        </p:txBody>
      </p:sp>
      <p:sp>
        <p:nvSpPr>
          <p:cNvPr id="3" name="Shape 1"/>
          <p:cNvSpPr/>
          <p:nvPr/>
        </p:nvSpPr>
        <p:spPr>
          <a:xfrm>
            <a:off x="566928" y="1389888"/>
            <a:ext cx="4288536" cy="932688"/>
          </a:xfrm>
          <a:prstGeom prst="roundRect">
            <a:avLst>
              <a:gd name="adj" fmla="val 7843"/>
            </a:avLst>
          </a:prstGeom>
          <a:solidFill>
            <a:srgbClr val="EAF3FB"/>
          </a:solidFill>
          <a:ln w="12700">
            <a:solidFill>
              <a:srgbClr val="D6DEE8"/>
            </a:solidFill>
            <a:prstDash val="solid"/>
          </a:ln>
        </p:spPr>
      </p:sp>
      <p:sp>
        <p:nvSpPr>
          <p:cNvPr id="4" name="Shape 2"/>
          <p:cNvSpPr/>
          <p:nvPr/>
        </p:nvSpPr>
        <p:spPr>
          <a:xfrm>
            <a:off x="768096" y="1664208"/>
            <a:ext cx="384048" cy="384048"/>
          </a:xfrm>
          <a:prstGeom prst="ellipse">
            <a:avLst/>
          </a:prstGeom>
          <a:solidFill>
            <a:srgbClr val="0070C0"/>
          </a:solidFill>
          <a:ln w="12700">
            <a:solidFill>
              <a:srgbClr val="0070C0"/>
            </a:solidFill>
            <a:prstDash val="solid"/>
          </a:ln>
        </p:spPr>
      </p:sp>
      <p:sp>
        <p:nvSpPr>
          <p:cNvPr id="5" name="Text 3"/>
          <p:cNvSpPr txBox="1"/>
          <p:nvPr/>
        </p:nvSpPr>
        <p:spPr>
          <a:xfrm>
            <a:off x="768096"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298448" y="1572768"/>
            <a:ext cx="3383280" cy="292608"/>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About the PS-II station</a:t>
            </a:r>
            <a:endParaRPr lang="en-US" sz="1500" dirty="0"/>
          </a:p>
        </p:txBody>
      </p:sp>
      <p:sp>
        <p:nvSpPr>
          <p:cNvPr id="7" name="Text 5"/>
          <p:cNvSpPr txBox="1"/>
          <p:nvPr/>
        </p:nvSpPr>
        <p:spPr>
          <a:xfrm>
            <a:off x="1298448" y="1883664"/>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Arial" pitchFamily="34" charset="0"/>
                <a:ea typeface="Arial" pitchFamily="34" charset="-122"/>
                <a:cs typeface="Arial" pitchFamily="34" charset="-120"/>
              </a:rPr>
              <a:t>Organisation, department and mentors</a:t>
            </a:r>
            <a:endParaRPr lang="en-US" sz="1200" dirty="0"/>
          </a:p>
        </p:txBody>
      </p:sp>
      <p:sp>
        <p:nvSpPr>
          <p:cNvPr id="8" name="Shape 6"/>
          <p:cNvSpPr/>
          <p:nvPr/>
        </p:nvSpPr>
        <p:spPr>
          <a:xfrm>
            <a:off x="566928" y="2505456"/>
            <a:ext cx="4288536" cy="932688"/>
          </a:xfrm>
          <a:prstGeom prst="roundRect">
            <a:avLst>
              <a:gd name="adj" fmla="val 7843"/>
            </a:avLst>
          </a:prstGeom>
          <a:solidFill>
            <a:srgbClr val="FFFFFF"/>
          </a:solidFill>
          <a:ln w="12700">
            <a:solidFill>
              <a:srgbClr val="D6DEE8"/>
            </a:solidFill>
            <a:prstDash val="solid"/>
          </a:ln>
        </p:spPr>
      </p:sp>
      <p:sp>
        <p:nvSpPr>
          <p:cNvPr id="9" name="Shape 7"/>
          <p:cNvSpPr/>
          <p:nvPr/>
        </p:nvSpPr>
        <p:spPr>
          <a:xfrm>
            <a:off x="768096" y="2779776"/>
            <a:ext cx="384048" cy="384048"/>
          </a:xfrm>
          <a:prstGeom prst="ellipse">
            <a:avLst/>
          </a:prstGeom>
          <a:solidFill>
            <a:srgbClr val="0070C0"/>
          </a:solidFill>
          <a:ln w="12700">
            <a:solidFill>
              <a:srgbClr val="0070C0"/>
            </a:solidFill>
            <a:prstDash val="solid"/>
          </a:ln>
        </p:spPr>
      </p:sp>
      <p:sp>
        <p:nvSpPr>
          <p:cNvPr id="10" name="Text 8"/>
          <p:cNvSpPr txBox="1"/>
          <p:nvPr/>
        </p:nvSpPr>
        <p:spPr>
          <a:xfrm>
            <a:off x="768096"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1298448" y="2688336"/>
            <a:ext cx="3383280" cy="292608"/>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Visit summary</a:t>
            </a:r>
            <a:endParaRPr lang="en-US" sz="1500" dirty="0"/>
          </a:p>
        </p:txBody>
      </p:sp>
      <p:sp>
        <p:nvSpPr>
          <p:cNvPr id="12" name="Text 10"/>
          <p:cNvSpPr txBox="1"/>
          <p:nvPr/>
        </p:nvSpPr>
        <p:spPr>
          <a:xfrm>
            <a:off x="1298448" y="2999232"/>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Arial" pitchFamily="34" charset="0"/>
                <a:ea typeface="Arial" pitchFamily="34" charset="-122"/>
                <a:cs typeface="Arial" pitchFamily="34" charset="-120"/>
              </a:rPr>
              <a:t>Eight-week work log</a:t>
            </a:r>
            <a:endParaRPr lang="en-US" sz="1200" dirty="0"/>
          </a:p>
        </p:txBody>
      </p:sp>
      <p:sp>
        <p:nvSpPr>
          <p:cNvPr id="13" name="Shape 11"/>
          <p:cNvSpPr/>
          <p:nvPr/>
        </p:nvSpPr>
        <p:spPr>
          <a:xfrm>
            <a:off x="566928" y="3621024"/>
            <a:ext cx="4288536" cy="932688"/>
          </a:xfrm>
          <a:prstGeom prst="roundRect">
            <a:avLst>
              <a:gd name="adj" fmla="val 7843"/>
            </a:avLst>
          </a:prstGeom>
          <a:solidFill>
            <a:srgbClr val="EAF3FB"/>
          </a:solidFill>
          <a:ln w="12700">
            <a:solidFill>
              <a:srgbClr val="D6DEE8"/>
            </a:solidFill>
            <a:prstDash val="solid"/>
          </a:ln>
        </p:spPr>
      </p:sp>
      <p:sp>
        <p:nvSpPr>
          <p:cNvPr id="14" name="Shape 12"/>
          <p:cNvSpPr/>
          <p:nvPr/>
        </p:nvSpPr>
        <p:spPr>
          <a:xfrm>
            <a:off x="768096" y="3895344"/>
            <a:ext cx="384048" cy="384048"/>
          </a:xfrm>
          <a:prstGeom prst="ellipse">
            <a:avLst/>
          </a:prstGeom>
          <a:solidFill>
            <a:srgbClr val="0070C0"/>
          </a:solidFill>
          <a:ln w="12700">
            <a:solidFill>
              <a:srgbClr val="0070C0"/>
            </a:solidFill>
            <a:prstDash val="solid"/>
          </a:ln>
        </p:spPr>
      </p:sp>
      <p:sp>
        <p:nvSpPr>
          <p:cNvPr id="15" name="Text 13"/>
          <p:cNvSpPr txBox="1"/>
          <p:nvPr/>
        </p:nvSpPr>
        <p:spPr>
          <a:xfrm>
            <a:off x="768096" y="3895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1298448" y="3803904"/>
            <a:ext cx="3383280" cy="292608"/>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Problem identification</a:t>
            </a:r>
            <a:endParaRPr lang="en-US" sz="1500" dirty="0"/>
          </a:p>
        </p:txBody>
      </p:sp>
      <p:sp>
        <p:nvSpPr>
          <p:cNvPr id="17" name="Text 15"/>
          <p:cNvSpPr txBox="1"/>
          <p:nvPr/>
        </p:nvSpPr>
        <p:spPr>
          <a:xfrm>
            <a:off x="1298448" y="4114800"/>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Arial" pitchFamily="34" charset="0"/>
                <a:ea typeface="Arial" pitchFamily="34" charset="-122"/>
                <a:cs typeface="Arial" pitchFamily="34" charset="-120"/>
              </a:rPr>
              <a:t>Why manual freshness checking fails</a:t>
            </a:r>
            <a:endParaRPr lang="en-US" sz="1200" dirty="0"/>
          </a:p>
        </p:txBody>
      </p:sp>
      <p:sp>
        <p:nvSpPr>
          <p:cNvPr id="18" name="Shape 16"/>
          <p:cNvSpPr/>
          <p:nvPr/>
        </p:nvSpPr>
        <p:spPr>
          <a:xfrm>
            <a:off x="566928" y="4736592"/>
            <a:ext cx="4288536" cy="932688"/>
          </a:xfrm>
          <a:prstGeom prst="roundRect">
            <a:avLst>
              <a:gd name="adj" fmla="val 7843"/>
            </a:avLst>
          </a:prstGeom>
          <a:solidFill>
            <a:srgbClr val="FFFFFF"/>
          </a:solidFill>
          <a:ln w="12700">
            <a:solidFill>
              <a:srgbClr val="D6DEE8"/>
            </a:solidFill>
            <a:prstDash val="solid"/>
          </a:ln>
        </p:spPr>
      </p:sp>
      <p:sp>
        <p:nvSpPr>
          <p:cNvPr id="19" name="Shape 17"/>
          <p:cNvSpPr/>
          <p:nvPr/>
        </p:nvSpPr>
        <p:spPr>
          <a:xfrm>
            <a:off x="768096" y="5010912"/>
            <a:ext cx="384048" cy="384048"/>
          </a:xfrm>
          <a:prstGeom prst="ellipse">
            <a:avLst/>
          </a:prstGeom>
          <a:solidFill>
            <a:srgbClr val="0070C0"/>
          </a:solidFill>
          <a:ln w="12700">
            <a:solidFill>
              <a:srgbClr val="0070C0"/>
            </a:solidFill>
            <a:prstDash val="solid"/>
          </a:ln>
        </p:spPr>
      </p:sp>
      <p:sp>
        <p:nvSpPr>
          <p:cNvPr id="20" name="Text 18"/>
          <p:cNvSpPr txBox="1"/>
          <p:nvPr/>
        </p:nvSpPr>
        <p:spPr>
          <a:xfrm>
            <a:off x="768096" y="50109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1" name="Text 19"/>
          <p:cNvSpPr txBox="1"/>
          <p:nvPr/>
        </p:nvSpPr>
        <p:spPr>
          <a:xfrm>
            <a:off x="1298448" y="4919472"/>
            <a:ext cx="3383280" cy="292608"/>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Problem statement</a:t>
            </a:r>
            <a:endParaRPr lang="en-US" sz="1500" dirty="0"/>
          </a:p>
        </p:txBody>
      </p:sp>
      <p:sp>
        <p:nvSpPr>
          <p:cNvPr id="22" name="Text 20"/>
          <p:cNvSpPr txBox="1"/>
          <p:nvPr/>
        </p:nvSpPr>
        <p:spPr>
          <a:xfrm>
            <a:off x="1298448" y="5230368"/>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Arial" pitchFamily="34" charset="0"/>
                <a:ea typeface="Arial" pitchFamily="34" charset="-122"/>
                <a:cs typeface="Arial" pitchFamily="34" charset="-120"/>
              </a:rPr>
              <a:t>What the system must solve</a:t>
            </a:r>
            <a:endParaRPr lang="en-US" sz="1200" dirty="0"/>
          </a:p>
        </p:txBody>
      </p:sp>
      <p:sp>
        <p:nvSpPr>
          <p:cNvPr id="23" name="Shape 21"/>
          <p:cNvSpPr/>
          <p:nvPr/>
        </p:nvSpPr>
        <p:spPr>
          <a:xfrm>
            <a:off x="566928" y="5852160"/>
            <a:ext cx="4288536" cy="932688"/>
          </a:xfrm>
          <a:prstGeom prst="roundRect">
            <a:avLst>
              <a:gd name="adj" fmla="val 7843"/>
            </a:avLst>
          </a:prstGeom>
          <a:solidFill>
            <a:srgbClr val="EAF3FB"/>
          </a:solidFill>
          <a:ln w="12700">
            <a:solidFill>
              <a:srgbClr val="D6DEE8"/>
            </a:solidFill>
            <a:prstDash val="solid"/>
          </a:ln>
        </p:spPr>
      </p:sp>
      <p:sp>
        <p:nvSpPr>
          <p:cNvPr id="24" name="Shape 22"/>
          <p:cNvSpPr/>
          <p:nvPr/>
        </p:nvSpPr>
        <p:spPr>
          <a:xfrm>
            <a:off x="768096" y="6126480"/>
            <a:ext cx="384048" cy="384048"/>
          </a:xfrm>
          <a:prstGeom prst="ellipse">
            <a:avLst/>
          </a:prstGeom>
          <a:solidFill>
            <a:srgbClr val="0070C0"/>
          </a:solidFill>
          <a:ln w="12700">
            <a:solidFill>
              <a:srgbClr val="0070C0"/>
            </a:solidFill>
            <a:prstDash val="solid"/>
          </a:ln>
        </p:spPr>
      </p:sp>
      <p:sp>
        <p:nvSpPr>
          <p:cNvPr id="25" name="Text 23"/>
          <p:cNvSpPr txBox="1"/>
          <p:nvPr/>
        </p:nvSpPr>
        <p:spPr>
          <a:xfrm>
            <a:off x="768096" y="6126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298448" y="6035040"/>
            <a:ext cx="3383280" cy="292608"/>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Objectives of the work</a:t>
            </a:r>
            <a:endParaRPr lang="en-US" sz="1500" dirty="0"/>
          </a:p>
        </p:txBody>
      </p:sp>
      <p:sp>
        <p:nvSpPr>
          <p:cNvPr id="27" name="Text 25"/>
          <p:cNvSpPr txBox="1"/>
          <p:nvPr/>
        </p:nvSpPr>
        <p:spPr>
          <a:xfrm>
            <a:off x="1298448" y="6345936"/>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Arial" pitchFamily="34" charset="0"/>
                <a:ea typeface="Arial" pitchFamily="34" charset="-122"/>
                <a:cs typeface="Arial" pitchFamily="34" charset="-120"/>
              </a:rPr>
              <a:t>Six measurable goals</a:t>
            </a:r>
            <a:endParaRPr lang="en-US" sz="1200" dirty="0"/>
          </a:p>
        </p:txBody>
      </p:sp>
      <p:sp>
        <p:nvSpPr>
          <p:cNvPr id="28" name="Shape 26"/>
          <p:cNvSpPr/>
          <p:nvPr/>
        </p:nvSpPr>
        <p:spPr>
          <a:xfrm>
            <a:off x="5221224" y="1389888"/>
            <a:ext cx="4288536" cy="932688"/>
          </a:xfrm>
          <a:prstGeom prst="roundRect">
            <a:avLst>
              <a:gd name="adj" fmla="val 7843"/>
            </a:avLst>
          </a:prstGeom>
          <a:solidFill>
            <a:srgbClr val="FFFFFF"/>
          </a:solidFill>
          <a:ln w="12700">
            <a:solidFill>
              <a:srgbClr val="D6DEE8"/>
            </a:solidFill>
            <a:prstDash val="solid"/>
          </a:ln>
        </p:spPr>
      </p:sp>
      <p:sp>
        <p:nvSpPr>
          <p:cNvPr id="29" name="Shape 27"/>
          <p:cNvSpPr/>
          <p:nvPr/>
        </p:nvSpPr>
        <p:spPr>
          <a:xfrm>
            <a:off x="5422392" y="1664208"/>
            <a:ext cx="384048" cy="384048"/>
          </a:xfrm>
          <a:prstGeom prst="ellipse">
            <a:avLst/>
          </a:prstGeom>
          <a:solidFill>
            <a:srgbClr val="0070C0"/>
          </a:solidFill>
          <a:ln w="12700">
            <a:solidFill>
              <a:srgbClr val="0070C0"/>
            </a:solidFill>
            <a:prstDash val="solid"/>
          </a:ln>
        </p:spPr>
      </p:sp>
      <p:sp>
        <p:nvSpPr>
          <p:cNvPr id="30" name="Text 28"/>
          <p:cNvSpPr txBox="1"/>
          <p:nvPr/>
        </p:nvSpPr>
        <p:spPr>
          <a:xfrm>
            <a:off x="542239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1" name="Text 29"/>
          <p:cNvSpPr txBox="1"/>
          <p:nvPr/>
        </p:nvSpPr>
        <p:spPr>
          <a:xfrm>
            <a:off x="5952744" y="1572768"/>
            <a:ext cx="3383280" cy="292608"/>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Methodology</a:t>
            </a:r>
            <a:endParaRPr lang="en-US" sz="1500" dirty="0"/>
          </a:p>
        </p:txBody>
      </p:sp>
      <p:sp>
        <p:nvSpPr>
          <p:cNvPr id="32" name="Text 30"/>
          <p:cNvSpPr txBox="1"/>
          <p:nvPr/>
        </p:nvSpPr>
        <p:spPr>
          <a:xfrm>
            <a:off x="5952744" y="1883664"/>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Arial" pitchFamily="34" charset="0"/>
                <a:ea typeface="Arial" pitchFamily="34" charset="-122"/>
                <a:cs typeface="Arial" pitchFamily="34" charset="-120"/>
              </a:rPr>
              <a:t>Data, pseudo-labelling, training, deployment</a:t>
            </a:r>
            <a:endParaRPr lang="en-US" sz="1200" dirty="0"/>
          </a:p>
        </p:txBody>
      </p:sp>
      <p:sp>
        <p:nvSpPr>
          <p:cNvPr id="33" name="Shape 31"/>
          <p:cNvSpPr/>
          <p:nvPr/>
        </p:nvSpPr>
        <p:spPr>
          <a:xfrm>
            <a:off x="5221224" y="2505456"/>
            <a:ext cx="4288536" cy="932688"/>
          </a:xfrm>
          <a:prstGeom prst="roundRect">
            <a:avLst>
              <a:gd name="adj" fmla="val 7843"/>
            </a:avLst>
          </a:prstGeom>
          <a:solidFill>
            <a:srgbClr val="EAF3FB"/>
          </a:solidFill>
          <a:ln w="12700">
            <a:solidFill>
              <a:srgbClr val="D6DEE8"/>
            </a:solidFill>
            <a:prstDash val="solid"/>
          </a:ln>
        </p:spPr>
      </p:sp>
      <p:sp>
        <p:nvSpPr>
          <p:cNvPr id="34" name="Shape 32"/>
          <p:cNvSpPr/>
          <p:nvPr/>
        </p:nvSpPr>
        <p:spPr>
          <a:xfrm>
            <a:off x="5422392" y="2779776"/>
            <a:ext cx="384048" cy="384048"/>
          </a:xfrm>
          <a:prstGeom prst="ellipse">
            <a:avLst/>
          </a:prstGeom>
          <a:solidFill>
            <a:srgbClr val="0070C0"/>
          </a:solidFill>
          <a:ln w="12700">
            <a:solidFill>
              <a:srgbClr val="0070C0"/>
            </a:solidFill>
            <a:prstDash val="solid"/>
          </a:ln>
        </p:spPr>
      </p:sp>
      <p:sp>
        <p:nvSpPr>
          <p:cNvPr id="35" name="Text 33"/>
          <p:cNvSpPr txBox="1"/>
          <p:nvPr/>
        </p:nvSpPr>
        <p:spPr>
          <a:xfrm>
            <a:off x="5422392"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a:t>
            </a:r>
            <a:endParaRPr lang="en-US" sz="1400" dirty="0"/>
          </a:p>
        </p:txBody>
      </p:sp>
      <p:sp>
        <p:nvSpPr>
          <p:cNvPr id="36" name="Text 34"/>
          <p:cNvSpPr txBox="1"/>
          <p:nvPr/>
        </p:nvSpPr>
        <p:spPr>
          <a:xfrm>
            <a:off x="5952744" y="2688336"/>
            <a:ext cx="3383280" cy="292608"/>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Results &amp; discussions</a:t>
            </a:r>
            <a:endParaRPr lang="en-US" sz="1500" dirty="0"/>
          </a:p>
        </p:txBody>
      </p:sp>
      <p:sp>
        <p:nvSpPr>
          <p:cNvPr id="37" name="Text 35"/>
          <p:cNvSpPr txBox="1"/>
          <p:nvPr/>
        </p:nvSpPr>
        <p:spPr>
          <a:xfrm>
            <a:off x="5952744" y="2999232"/>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Arial" pitchFamily="34" charset="0"/>
                <a:ea typeface="Arial" pitchFamily="34" charset="-122"/>
                <a:cs typeface="Arial" pitchFamily="34" charset="-120"/>
              </a:rPr>
              <a:t>Accuracy, calibration, working app</a:t>
            </a:r>
            <a:endParaRPr lang="en-US" sz="1200" dirty="0"/>
          </a:p>
        </p:txBody>
      </p:sp>
      <p:sp>
        <p:nvSpPr>
          <p:cNvPr id="38" name="Shape 36"/>
          <p:cNvSpPr/>
          <p:nvPr/>
        </p:nvSpPr>
        <p:spPr>
          <a:xfrm>
            <a:off x="5221224" y="3621024"/>
            <a:ext cx="4288536" cy="932688"/>
          </a:xfrm>
          <a:prstGeom prst="roundRect">
            <a:avLst>
              <a:gd name="adj" fmla="val 7843"/>
            </a:avLst>
          </a:prstGeom>
          <a:solidFill>
            <a:srgbClr val="FFFFFF"/>
          </a:solidFill>
          <a:ln w="12700">
            <a:solidFill>
              <a:srgbClr val="D6DEE8"/>
            </a:solidFill>
            <a:prstDash val="solid"/>
          </a:ln>
        </p:spPr>
      </p:sp>
      <p:sp>
        <p:nvSpPr>
          <p:cNvPr id="39" name="Shape 37"/>
          <p:cNvSpPr/>
          <p:nvPr/>
        </p:nvSpPr>
        <p:spPr>
          <a:xfrm>
            <a:off x="5422392" y="3895344"/>
            <a:ext cx="384048" cy="384048"/>
          </a:xfrm>
          <a:prstGeom prst="ellipse">
            <a:avLst/>
          </a:prstGeom>
          <a:solidFill>
            <a:srgbClr val="0070C0"/>
          </a:solidFill>
          <a:ln w="12700">
            <a:solidFill>
              <a:srgbClr val="0070C0"/>
            </a:solidFill>
            <a:prstDash val="solid"/>
          </a:ln>
        </p:spPr>
      </p:sp>
      <p:sp>
        <p:nvSpPr>
          <p:cNvPr id="40" name="Text 38"/>
          <p:cNvSpPr txBox="1"/>
          <p:nvPr/>
        </p:nvSpPr>
        <p:spPr>
          <a:xfrm>
            <a:off x="5422392" y="3895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8</a:t>
            </a:r>
            <a:endParaRPr lang="en-US" sz="1400" dirty="0"/>
          </a:p>
        </p:txBody>
      </p:sp>
      <p:sp>
        <p:nvSpPr>
          <p:cNvPr id="41" name="Text 39"/>
          <p:cNvSpPr txBox="1"/>
          <p:nvPr/>
        </p:nvSpPr>
        <p:spPr>
          <a:xfrm>
            <a:off x="5952744" y="3803904"/>
            <a:ext cx="3383280" cy="292608"/>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Learning outcomes</a:t>
            </a:r>
            <a:endParaRPr lang="en-US" sz="1500" dirty="0"/>
          </a:p>
        </p:txBody>
      </p:sp>
      <p:sp>
        <p:nvSpPr>
          <p:cNvPr id="42" name="Text 40"/>
          <p:cNvSpPr txBox="1"/>
          <p:nvPr/>
        </p:nvSpPr>
        <p:spPr>
          <a:xfrm>
            <a:off x="5952744" y="4114800"/>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Arial" pitchFamily="34" charset="0"/>
                <a:ea typeface="Arial" pitchFamily="34" charset="-122"/>
                <a:cs typeface="Arial" pitchFamily="34" charset="-120"/>
              </a:rPr>
              <a:t>Technical and professional takeaways</a:t>
            </a:r>
            <a:endParaRPr lang="en-US" sz="1200" dirty="0"/>
          </a:p>
        </p:txBody>
      </p:sp>
      <p:sp>
        <p:nvSpPr>
          <p:cNvPr id="43" name="Shape 41"/>
          <p:cNvSpPr/>
          <p:nvPr/>
        </p:nvSpPr>
        <p:spPr>
          <a:xfrm>
            <a:off x="5221224" y="4736592"/>
            <a:ext cx="4288536" cy="932688"/>
          </a:xfrm>
          <a:prstGeom prst="roundRect">
            <a:avLst>
              <a:gd name="adj" fmla="val 7843"/>
            </a:avLst>
          </a:prstGeom>
          <a:solidFill>
            <a:srgbClr val="EAF3FB"/>
          </a:solidFill>
          <a:ln w="12700">
            <a:solidFill>
              <a:srgbClr val="D6DEE8"/>
            </a:solidFill>
            <a:prstDash val="solid"/>
          </a:ln>
        </p:spPr>
      </p:sp>
      <p:sp>
        <p:nvSpPr>
          <p:cNvPr id="44" name="Shape 42"/>
          <p:cNvSpPr/>
          <p:nvPr/>
        </p:nvSpPr>
        <p:spPr>
          <a:xfrm>
            <a:off x="5422392" y="5010912"/>
            <a:ext cx="384048" cy="384048"/>
          </a:xfrm>
          <a:prstGeom prst="ellipse">
            <a:avLst/>
          </a:prstGeom>
          <a:solidFill>
            <a:srgbClr val="0070C0"/>
          </a:solidFill>
          <a:ln w="12700">
            <a:solidFill>
              <a:srgbClr val="0070C0"/>
            </a:solidFill>
            <a:prstDash val="solid"/>
          </a:ln>
        </p:spPr>
      </p:sp>
      <p:sp>
        <p:nvSpPr>
          <p:cNvPr id="45" name="Text 43"/>
          <p:cNvSpPr txBox="1"/>
          <p:nvPr/>
        </p:nvSpPr>
        <p:spPr>
          <a:xfrm>
            <a:off x="5422392" y="50109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9</a:t>
            </a:r>
            <a:endParaRPr lang="en-US" sz="1400" dirty="0"/>
          </a:p>
        </p:txBody>
      </p:sp>
      <p:sp>
        <p:nvSpPr>
          <p:cNvPr id="46" name="Text 44"/>
          <p:cNvSpPr txBox="1"/>
          <p:nvPr/>
        </p:nvSpPr>
        <p:spPr>
          <a:xfrm>
            <a:off x="5952744" y="4919472"/>
            <a:ext cx="3383280" cy="292608"/>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References</a:t>
            </a:r>
            <a:endParaRPr lang="en-US" sz="1500" dirty="0"/>
          </a:p>
        </p:txBody>
      </p:sp>
      <p:sp>
        <p:nvSpPr>
          <p:cNvPr id="47" name="Text 45"/>
          <p:cNvSpPr txBox="1"/>
          <p:nvPr/>
        </p:nvSpPr>
        <p:spPr>
          <a:xfrm>
            <a:off x="5952744" y="5230368"/>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Arial" pitchFamily="34" charset="0"/>
                <a:ea typeface="Arial" pitchFamily="34" charset="-122"/>
                <a:cs typeface="Arial" pitchFamily="34" charset="-120"/>
              </a:rPr>
              <a:t>Papers, datasets and documentation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ABOUT THE PS-II STATION</a:t>
            </a:r>
            <a:endParaRPr lang="en-US" sz="3000" dirty="0"/>
          </a:p>
        </p:txBody>
      </p:sp>
      <p:sp>
        <p:nvSpPr>
          <p:cNvPr id="3" name="Shape 1"/>
          <p:cNvSpPr/>
          <p:nvPr/>
        </p:nvSpPr>
        <p:spPr>
          <a:xfrm>
            <a:off x="566928" y="1371600"/>
            <a:ext cx="8942832" cy="1645920"/>
          </a:xfrm>
          <a:prstGeom prst="roundRect">
            <a:avLst>
              <a:gd name="adj" fmla="val 4444"/>
            </a:avLst>
          </a:prstGeom>
          <a:solidFill>
            <a:srgbClr val="EAF3FB"/>
          </a:solidFill>
          <a:ln w="12700">
            <a:solidFill>
              <a:srgbClr val="D6DEE8"/>
            </a:solidFill>
            <a:prstDash val="solid"/>
          </a:ln>
        </p:spPr>
      </p:sp>
      <p:sp>
        <p:nvSpPr>
          <p:cNvPr id="4" name="Shape 2"/>
          <p:cNvSpPr/>
          <p:nvPr/>
        </p:nvSpPr>
        <p:spPr>
          <a:xfrm>
            <a:off x="768096" y="1517904"/>
            <a:ext cx="384048" cy="384048"/>
          </a:xfrm>
          <a:prstGeom prst="ellipse">
            <a:avLst/>
          </a:prstGeom>
          <a:solidFill>
            <a:srgbClr val="0070C0"/>
          </a:solidFill>
          <a:ln w="12700">
            <a:solidFill>
              <a:srgbClr val="0070C0"/>
            </a:solidFill>
            <a:prstDash val="solid"/>
          </a:ln>
        </p:spPr>
      </p:sp>
      <p:sp>
        <p:nvSpPr>
          <p:cNvPr id="5" name="Text 3"/>
          <p:cNvSpPr txBox="1"/>
          <p:nvPr/>
        </p:nvSpPr>
        <p:spPr>
          <a:xfrm>
            <a:off x="768096" y="15179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280160" y="1517904"/>
            <a:ext cx="8028432" cy="365760"/>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About the Company</a:t>
            </a:r>
            <a:endParaRPr lang="en-US" sz="1600" dirty="0"/>
          </a:p>
        </p:txBody>
      </p:sp>
      <p:sp>
        <p:nvSpPr>
          <p:cNvPr id="7" name="Text 5"/>
          <p:cNvSpPr txBox="1"/>
          <p:nvPr/>
        </p:nvSpPr>
        <p:spPr>
          <a:xfrm>
            <a:off x="1280160" y="2029968"/>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Est. date:</a:t>
            </a:r>
            <a:endParaRPr lang="en-US" sz="1350" dirty="0"/>
          </a:p>
        </p:txBody>
      </p:sp>
      <p:sp>
        <p:nvSpPr>
          <p:cNvPr id="8" name="Shape 6"/>
          <p:cNvSpPr/>
          <p:nvPr/>
        </p:nvSpPr>
        <p:spPr>
          <a:xfrm>
            <a:off x="1280160" y="2295144"/>
            <a:ext cx="3694176" cy="0"/>
          </a:xfrm>
          <a:prstGeom prst="line">
            <a:avLst/>
          </a:prstGeom>
          <a:noFill/>
          <a:ln w="12700">
            <a:solidFill>
              <a:srgbClr val="D6DEE8"/>
            </a:solidFill>
            <a:prstDash val="solid"/>
          </a:ln>
        </p:spPr>
      </p:sp>
      <p:sp>
        <p:nvSpPr>
          <p:cNvPr id="9" name="Text 7"/>
          <p:cNvSpPr txBox="1"/>
          <p:nvPr/>
        </p:nvSpPr>
        <p:spPr>
          <a:xfrm>
            <a:off x="5248656" y="2029968"/>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Turnover:</a:t>
            </a:r>
            <a:endParaRPr lang="en-US" sz="1350" dirty="0"/>
          </a:p>
        </p:txBody>
      </p:sp>
      <p:sp>
        <p:nvSpPr>
          <p:cNvPr id="10" name="Shape 8"/>
          <p:cNvSpPr/>
          <p:nvPr/>
        </p:nvSpPr>
        <p:spPr>
          <a:xfrm>
            <a:off x="5248656" y="2295144"/>
            <a:ext cx="3694176" cy="0"/>
          </a:xfrm>
          <a:prstGeom prst="line">
            <a:avLst/>
          </a:prstGeom>
          <a:noFill/>
          <a:ln w="12700">
            <a:solidFill>
              <a:srgbClr val="D6DEE8"/>
            </a:solidFill>
            <a:prstDash val="solid"/>
          </a:ln>
        </p:spPr>
      </p:sp>
      <p:sp>
        <p:nvSpPr>
          <p:cNvPr id="11" name="Text 9"/>
          <p:cNvSpPr txBox="1"/>
          <p:nvPr/>
        </p:nvSpPr>
        <p:spPr>
          <a:xfrm>
            <a:off x="1280160" y="2523744"/>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Product type:</a:t>
            </a:r>
            <a:endParaRPr lang="en-US" sz="1350" dirty="0"/>
          </a:p>
        </p:txBody>
      </p:sp>
      <p:sp>
        <p:nvSpPr>
          <p:cNvPr id="12" name="Shape 10"/>
          <p:cNvSpPr/>
          <p:nvPr/>
        </p:nvSpPr>
        <p:spPr>
          <a:xfrm>
            <a:off x="1280160" y="2788920"/>
            <a:ext cx="3694176" cy="0"/>
          </a:xfrm>
          <a:prstGeom prst="line">
            <a:avLst/>
          </a:prstGeom>
          <a:noFill/>
          <a:ln w="12700">
            <a:solidFill>
              <a:srgbClr val="D6DEE8"/>
            </a:solidFill>
            <a:prstDash val="solid"/>
          </a:ln>
        </p:spPr>
      </p:sp>
      <p:sp>
        <p:nvSpPr>
          <p:cNvPr id="13" name="Text 11"/>
          <p:cNvSpPr txBox="1"/>
          <p:nvPr/>
        </p:nvSpPr>
        <p:spPr>
          <a:xfrm>
            <a:off x="5248656" y="2523744"/>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Number of employees:</a:t>
            </a:r>
            <a:endParaRPr lang="en-US" sz="1350" dirty="0"/>
          </a:p>
        </p:txBody>
      </p:sp>
      <p:sp>
        <p:nvSpPr>
          <p:cNvPr id="14" name="Shape 12"/>
          <p:cNvSpPr/>
          <p:nvPr/>
        </p:nvSpPr>
        <p:spPr>
          <a:xfrm>
            <a:off x="5248656" y="2788920"/>
            <a:ext cx="3694176" cy="0"/>
          </a:xfrm>
          <a:prstGeom prst="line">
            <a:avLst/>
          </a:prstGeom>
          <a:noFill/>
          <a:ln w="12700">
            <a:solidFill>
              <a:srgbClr val="D6DEE8"/>
            </a:solidFill>
            <a:prstDash val="solid"/>
          </a:ln>
        </p:spPr>
      </p:sp>
      <p:sp>
        <p:nvSpPr>
          <p:cNvPr id="15" name="Shape 13"/>
          <p:cNvSpPr/>
          <p:nvPr/>
        </p:nvSpPr>
        <p:spPr>
          <a:xfrm>
            <a:off x="566928" y="3200400"/>
            <a:ext cx="8942832" cy="1645920"/>
          </a:xfrm>
          <a:prstGeom prst="roundRect">
            <a:avLst>
              <a:gd name="adj" fmla="val 4444"/>
            </a:avLst>
          </a:prstGeom>
          <a:solidFill>
            <a:srgbClr val="FFFFFF"/>
          </a:solidFill>
          <a:ln w="12700">
            <a:solidFill>
              <a:srgbClr val="D6DEE8"/>
            </a:solidFill>
            <a:prstDash val="solid"/>
          </a:ln>
        </p:spPr>
      </p:sp>
      <p:sp>
        <p:nvSpPr>
          <p:cNvPr id="16" name="Shape 14"/>
          <p:cNvSpPr/>
          <p:nvPr/>
        </p:nvSpPr>
        <p:spPr>
          <a:xfrm>
            <a:off x="768096" y="3346704"/>
            <a:ext cx="384048" cy="384048"/>
          </a:xfrm>
          <a:prstGeom prst="ellipse">
            <a:avLst/>
          </a:prstGeom>
          <a:solidFill>
            <a:srgbClr val="0070C0"/>
          </a:solidFill>
          <a:ln w="12700">
            <a:solidFill>
              <a:srgbClr val="0070C0"/>
            </a:solidFill>
            <a:prstDash val="solid"/>
          </a:ln>
        </p:spPr>
      </p:sp>
      <p:sp>
        <p:nvSpPr>
          <p:cNvPr id="17" name="Text 15"/>
          <p:cNvSpPr txBox="1"/>
          <p:nvPr/>
        </p:nvSpPr>
        <p:spPr>
          <a:xfrm>
            <a:off x="768096" y="33467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8" name="Text 16"/>
          <p:cNvSpPr txBox="1"/>
          <p:nvPr/>
        </p:nvSpPr>
        <p:spPr>
          <a:xfrm>
            <a:off x="1280160" y="3346704"/>
            <a:ext cx="8028432" cy="365760"/>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Department Visited</a:t>
            </a:r>
            <a:endParaRPr lang="en-US" sz="1600" dirty="0"/>
          </a:p>
        </p:txBody>
      </p:sp>
      <p:sp>
        <p:nvSpPr>
          <p:cNvPr id="19" name="Text 17"/>
          <p:cNvSpPr txBox="1"/>
          <p:nvPr/>
        </p:nvSpPr>
        <p:spPr>
          <a:xfrm>
            <a:off x="1280160" y="3858768"/>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Name of department:</a:t>
            </a:r>
            <a:endParaRPr lang="en-US" sz="1350" dirty="0"/>
          </a:p>
        </p:txBody>
      </p:sp>
      <p:sp>
        <p:nvSpPr>
          <p:cNvPr id="20" name="Shape 18"/>
          <p:cNvSpPr/>
          <p:nvPr/>
        </p:nvSpPr>
        <p:spPr>
          <a:xfrm>
            <a:off x="1280160" y="4123944"/>
            <a:ext cx="3694176" cy="0"/>
          </a:xfrm>
          <a:prstGeom prst="line">
            <a:avLst/>
          </a:prstGeom>
          <a:noFill/>
          <a:ln w="12700">
            <a:solidFill>
              <a:srgbClr val="D6DEE8"/>
            </a:solidFill>
            <a:prstDash val="solid"/>
          </a:ln>
        </p:spPr>
      </p:sp>
      <p:sp>
        <p:nvSpPr>
          <p:cNvPr id="21" name="Text 19"/>
          <p:cNvSpPr txBox="1"/>
          <p:nvPr/>
        </p:nvSpPr>
        <p:spPr>
          <a:xfrm>
            <a:off x="5248656" y="3858768"/>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Nature of work:</a:t>
            </a:r>
            <a:endParaRPr lang="en-US" sz="1350" dirty="0"/>
          </a:p>
        </p:txBody>
      </p:sp>
      <p:sp>
        <p:nvSpPr>
          <p:cNvPr id="22" name="Shape 20"/>
          <p:cNvSpPr/>
          <p:nvPr/>
        </p:nvSpPr>
        <p:spPr>
          <a:xfrm>
            <a:off x="5248656" y="4123944"/>
            <a:ext cx="3694176" cy="0"/>
          </a:xfrm>
          <a:prstGeom prst="line">
            <a:avLst/>
          </a:prstGeom>
          <a:noFill/>
          <a:ln w="12700">
            <a:solidFill>
              <a:srgbClr val="D6DEE8"/>
            </a:solidFill>
            <a:prstDash val="solid"/>
          </a:ln>
        </p:spPr>
      </p:sp>
      <p:sp>
        <p:nvSpPr>
          <p:cNvPr id="23" name="Text 21"/>
          <p:cNvSpPr txBox="1"/>
          <p:nvPr/>
        </p:nvSpPr>
        <p:spPr>
          <a:xfrm>
            <a:off x="1280160" y="4352544"/>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Task allocated:</a:t>
            </a:r>
            <a:endParaRPr lang="en-US" sz="1350" dirty="0"/>
          </a:p>
        </p:txBody>
      </p:sp>
      <p:sp>
        <p:nvSpPr>
          <p:cNvPr id="24" name="Shape 22"/>
          <p:cNvSpPr/>
          <p:nvPr/>
        </p:nvSpPr>
        <p:spPr>
          <a:xfrm>
            <a:off x="1280160" y="4617720"/>
            <a:ext cx="3694176" cy="0"/>
          </a:xfrm>
          <a:prstGeom prst="line">
            <a:avLst/>
          </a:prstGeom>
          <a:noFill/>
          <a:ln w="12700">
            <a:solidFill>
              <a:srgbClr val="D6DEE8"/>
            </a:solidFill>
            <a:prstDash val="solid"/>
          </a:ln>
        </p:spPr>
      </p:sp>
      <p:sp>
        <p:nvSpPr>
          <p:cNvPr id="25" name="Shape 23"/>
          <p:cNvSpPr/>
          <p:nvPr/>
        </p:nvSpPr>
        <p:spPr>
          <a:xfrm>
            <a:off x="566928" y="5029200"/>
            <a:ext cx="8942832" cy="1645920"/>
          </a:xfrm>
          <a:prstGeom prst="roundRect">
            <a:avLst>
              <a:gd name="adj" fmla="val 4444"/>
            </a:avLst>
          </a:prstGeom>
          <a:solidFill>
            <a:srgbClr val="EAF3FB"/>
          </a:solidFill>
          <a:ln w="12700">
            <a:solidFill>
              <a:srgbClr val="D6DEE8"/>
            </a:solidFill>
            <a:prstDash val="solid"/>
          </a:ln>
        </p:spPr>
      </p:sp>
      <p:sp>
        <p:nvSpPr>
          <p:cNvPr id="26" name="Shape 24"/>
          <p:cNvSpPr/>
          <p:nvPr/>
        </p:nvSpPr>
        <p:spPr>
          <a:xfrm>
            <a:off x="768096" y="5175504"/>
            <a:ext cx="384048" cy="384048"/>
          </a:xfrm>
          <a:prstGeom prst="ellipse">
            <a:avLst/>
          </a:prstGeom>
          <a:solidFill>
            <a:srgbClr val="0070C0"/>
          </a:solidFill>
          <a:ln w="12700">
            <a:solidFill>
              <a:srgbClr val="0070C0"/>
            </a:solidFill>
            <a:prstDash val="solid"/>
          </a:ln>
        </p:spPr>
      </p:sp>
      <p:sp>
        <p:nvSpPr>
          <p:cNvPr id="27" name="Text 25"/>
          <p:cNvSpPr txBox="1"/>
          <p:nvPr/>
        </p:nvSpPr>
        <p:spPr>
          <a:xfrm>
            <a:off x="768096" y="5175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8" name="Text 26"/>
          <p:cNvSpPr txBox="1"/>
          <p:nvPr/>
        </p:nvSpPr>
        <p:spPr>
          <a:xfrm>
            <a:off x="1280160" y="5175504"/>
            <a:ext cx="8028432" cy="365760"/>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Faculty Mentor Details</a:t>
            </a:r>
            <a:endParaRPr lang="en-US" sz="1600" dirty="0"/>
          </a:p>
        </p:txBody>
      </p:sp>
      <p:sp>
        <p:nvSpPr>
          <p:cNvPr id="29" name="Text 27"/>
          <p:cNvSpPr txBox="1"/>
          <p:nvPr/>
        </p:nvSpPr>
        <p:spPr>
          <a:xfrm>
            <a:off x="1280160" y="5687568"/>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Name:</a:t>
            </a:r>
            <a:endParaRPr lang="en-US" sz="1350" dirty="0"/>
          </a:p>
        </p:txBody>
      </p:sp>
      <p:sp>
        <p:nvSpPr>
          <p:cNvPr id="30" name="Shape 28"/>
          <p:cNvSpPr/>
          <p:nvPr/>
        </p:nvSpPr>
        <p:spPr>
          <a:xfrm>
            <a:off x="1280160" y="5952744"/>
            <a:ext cx="3694176" cy="0"/>
          </a:xfrm>
          <a:prstGeom prst="line">
            <a:avLst/>
          </a:prstGeom>
          <a:noFill/>
          <a:ln w="12700">
            <a:solidFill>
              <a:srgbClr val="D6DEE8"/>
            </a:solidFill>
            <a:prstDash val="solid"/>
          </a:ln>
        </p:spPr>
      </p:sp>
      <p:sp>
        <p:nvSpPr>
          <p:cNvPr id="31" name="Text 29"/>
          <p:cNvSpPr txBox="1"/>
          <p:nvPr/>
        </p:nvSpPr>
        <p:spPr>
          <a:xfrm>
            <a:off x="5248656" y="5687568"/>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Department:</a:t>
            </a:r>
            <a:endParaRPr lang="en-US" sz="1350" dirty="0"/>
          </a:p>
        </p:txBody>
      </p:sp>
      <p:sp>
        <p:nvSpPr>
          <p:cNvPr id="32" name="Shape 30"/>
          <p:cNvSpPr/>
          <p:nvPr/>
        </p:nvSpPr>
        <p:spPr>
          <a:xfrm>
            <a:off x="5248656" y="5952744"/>
            <a:ext cx="3694176" cy="0"/>
          </a:xfrm>
          <a:prstGeom prst="line">
            <a:avLst/>
          </a:prstGeom>
          <a:noFill/>
          <a:ln w="12700">
            <a:solidFill>
              <a:srgbClr val="D6DEE8"/>
            </a:solidFill>
            <a:prstDash val="solid"/>
          </a:ln>
        </p:spPr>
      </p:sp>
      <p:sp>
        <p:nvSpPr>
          <p:cNvPr id="33" name="Text 31"/>
          <p:cNvSpPr txBox="1"/>
          <p:nvPr/>
        </p:nvSpPr>
        <p:spPr>
          <a:xfrm>
            <a:off x="1280160" y="6181344"/>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Designation:</a:t>
            </a:r>
            <a:endParaRPr lang="en-US" sz="1350" dirty="0"/>
          </a:p>
        </p:txBody>
      </p:sp>
      <p:sp>
        <p:nvSpPr>
          <p:cNvPr id="34" name="Shape 32"/>
          <p:cNvSpPr/>
          <p:nvPr/>
        </p:nvSpPr>
        <p:spPr>
          <a:xfrm>
            <a:off x="1280160" y="6446520"/>
            <a:ext cx="3694176" cy="0"/>
          </a:xfrm>
          <a:prstGeom prst="line">
            <a:avLst/>
          </a:prstGeom>
          <a:noFill/>
          <a:ln w="12700">
            <a:solidFill>
              <a:srgbClr val="D6DEE8"/>
            </a:solidFill>
            <a:prstDash val="solid"/>
          </a:ln>
        </p:spPr>
      </p:sp>
      <p:sp>
        <p:nvSpPr>
          <p:cNvPr id="35" name="Text 33"/>
          <p:cNvSpPr txBox="1"/>
          <p:nvPr/>
        </p:nvSpPr>
        <p:spPr>
          <a:xfrm>
            <a:off x="5248656" y="6181344"/>
            <a:ext cx="3694176" cy="274320"/>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Contact info:</a:t>
            </a:r>
            <a:endParaRPr lang="en-US" sz="1350" dirty="0"/>
          </a:p>
        </p:txBody>
      </p:sp>
      <p:sp>
        <p:nvSpPr>
          <p:cNvPr id="36" name="Shape 34"/>
          <p:cNvSpPr/>
          <p:nvPr/>
        </p:nvSpPr>
        <p:spPr>
          <a:xfrm>
            <a:off x="5248656" y="6446520"/>
            <a:ext cx="3694176" cy="0"/>
          </a:xfrm>
          <a:prstGeom prst="line">
            <a:avLst/>
          </a:prstGeom>
          <a:noFill/>
          <a:ln w="12700">
            <a:solidFill>
              <a:srgbClr val="D6DEE8"/>
            </a:solidFill>
            <a:prstDash val="solid"/>
          </a:ln>
        </p:spPr>
      </p:sp>
      <p:sp>
        <p:nvSpPr>
          <p:cNvPr id="37" name="Text 35"/>
          <p:cNvSpPr txBox="1"/>
          <p:nvPr/>
        </p:nvSpPr>
        <p:spPr>
          <a:xfrm>
            <a:off x="566928" y="6766560"/>
            <a:ext cx="8942832" cy="274320"/>
          </a:xfrm>
          <a:prstGeom prst="rect">
            <a:avLst/>
          </a:prstGeom>
          <a:noFill/>
          <a:ln/>
        </p:spPr>
        <p:txBody>
          <a:bodyPr wrap="square" lIns="0" tIns="0" rIns="0" bIns="0" rtlCol="0" anchor="ctr"/>
          <a:lstStyle/>
          <a:p>
            <a:pPr algn="ctr" indent="0" marL="0">
              <a:buNone/>
            </a:pPr>
            <a:r>
              <a:rPr lang="en-US" sz="1100" i="1" dirty="0">
                <a:solidFill>
                  <a:srgbClr val="5A6472"/>
                </a:solidFill>
                <a:latin typeface="Arial" pitchFamily="34" charset="0"/>
                <a:ea typeface="Arial" pitchFamily="34" charset="-122"/>
                <a:cs typeface="Arial" pitchFamily="34" charset="-120"/>
              </a:rPr>
              <a:t>To be completed with the PS-II station details before submission.</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VISIT SUMMARY</a:t>
            </a:r>
            <a:endParaRPr lang="en-US" sz="3000" dirty="0"/>
          </a:p>
        </p:txBody>
      </p:sp>
      <p:sp>
        <p:nvSpPr>
          <p:cNvPr id="3" name="Shape 1"/>
          <p:cNvSpPr/>
          <p:nvPr/>
        </p:nvSpPr>
        <p:spPr>
          <a:xfrm>
            <a:off x="566928" y="1371600"/>
            <a:ext cx="4334256" cy="512064"/>
          </a:xfrm>
          <a:prstGeom prst="roundRect">
            <a:avLst>
              <a:gd name="adj" fmla="val 14286"/>
            </a:avLst>
          </a:prstGeom>
          <a:solidFill>
            <a:srgbClr val="EAF3FB"/>
          </a:solidFill>
          <a:ln w="12700">
            <a:solidFill>
              <a:srgbClr val="D6DEE8"/>
            </a:solidFill>
            <a:prstDash val="solid"/>
          </a:ln>
        </p:spPr>
      </p:sp>
      <p:sp>
        <p:nvSpPr>
          <p:cNvPr id="4" name="Shape 2"/>
          <p:cNvSpPr/>
          <p:nvPr/>
        </p:nvSpPr>
        <p:spPr>
          <a:xfrm>
            <a:off x="5175504" y="1371600"/>
            <a:ext cx="4334256" cy="512064"/>
          </a:xfrm>
          <a:prstGeom prst="roundRect">
            <a:avLst>
              <a:gd name="adj" fmla="val 14286"/>
            </a:avLst>
          </a:prstGeom>
          <a:solidFill>
            <a:srgbClr val="EAF3FB"/>
          </a:solidFill>
          <a:ln w="12700">
            <a:solidFill>
              <a:srgbClr val="D6DEE8"/>
            </a:solidFill>
            <a:prstDash val="solid"/>
          </a:ln>
        </p:spPr>
      </p:sp>
      <p:sp>
        <p:nvSpPr>
          <p:cNvPr id="5" name="Text 3"/>
          <p:cNvSpPr txBox="1"/>
          <p:nvPr/>
        </p:nvSpPr>
        <p:spPr>
          <a:xfrm>
            <a:off x="795528" y="1371600"/>
            <a:ext cx="3968496" cy="512064"/>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Start date:  ____________________</a:t>
            </a:r>
            <a:endParaRPr lang="en-US" sz="1400" dirty="0"/>
          </a:p>
        </p:txBody>
      </p:sp>
      <p:sp>
        <p:nvSpPr>
          <p:cNvPr id="6" name="Text 4"/>
          <p:cNvSpPr txBox="1"/>
          <p:nvPr/>
        </p:nvSpPr>
        <p:spPr>
          <a:xfrm>
            <a:off x="5404104" y="1371600"/>
            <a:ext cx="3968496" cy="512064"/>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End date:  ____________________</a:t>
            </a:r>
            <a:endParaRPr lang="en-US" sz="1400" dirty="0"/>
          </a:p>
        </p:txBody>
      </p:sp>
      <p:sp>
        <p:nvSpPr>
          <p:cNvPr id="7" name="Text 5"/>
          <p:cNvSpPr txBox="1"/>
          <p:nvPr/>
        </p:nvSpPr>
        <p:spPr>
          <a:xfrm>
            <a:off x="566928" y="2103120"/>
            <a:ext cx="8942832" cy="292608"/>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Weekly Summary</a:t>
            </a:r>
            <a:endParaRPr lang="en-US" sz="1600" dirty="0"/>
          </a:p>
        </p:txBody>
      </p:sp>
      <p:sp>
        <p:nvSpPr>
          <p:cNvPr id="8" name="Shape 6"/>
          <p:cNvSpPr/>
          <p:nvPr/>
        </p:nvSpPr>
        <p:spPr>
          <a:xfrm>
            <a:off x="566928" y="2487168"/>
            <a:ext cx="8942832" cy="566928"/>
          </a:xfrm>
          <a:prstGeom prst="rect">
            <a:avLst/>
          </a:prstGeom>
          <a:solidFill>
            <a:srgbClr val="EAF3FB"/>
          </a:solidFill>
          <a:ln w="12700">
            <a:solidFill>
              <a:srgbClr val="EAF3FB"/>
            </a:solidFill>
            <a:prstDash val="solid"/>
          </a:ln>
        </p:spPr>
      </p:sp>
      <p:sp>
        <p:nvSpPr>
          <p:cNvPr id="9" name="Text 7"/>
          <p:cNvSpPr txBox="1"/>
          <p:nvPr/>
        </p:nvSpPr>
        <p:spPr>
          <a:xfrm>
            <a:off x="694944" y="2487168"/>
            <a:ext cx="868680" cy="566928"/>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Week-1:</a:t>
            </a:r>
            <a:endParaRPr lang="en-US" sz="1300" dirty="0"/>
          </a:p>
        </p:txBody>
      </p:sp>
      <p:sp>
        <p:nvSpPr>
          <p:cNvPr id="10" name="Text 8"/>
          <p:cNvSpPr txBox="1"/>
          <p:nvPr/>
        </p:nvSpPr>
        <p:spPr>
          <a:xfrm>
            <a:off x="1591056" y="2487168"/>
            <a:ext cx="7772400" cy="566928"/>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Studied the problem domain and surveyed CNN architectures for produce quality inspection.</a:t>
            </a:r>
            <a:endParaRPr lang="en-US" sz="1300" dirty="0"/>
          </a:p>
        </p:txBody>
      </p:sp>
      <p:sp>
        <p:nvSpPr>
          <p:cNvPr id="11" name="Text 9"/>
          <p:cNvSpPr txBox="1"/>
          <p:nvPr/>
        </p:nvSpPr>
        <p:spPr>
          <a:xfrm>
            <a:off x="694944" y="3054096"/>
            <a:ext cx="868680" cy="566928"/>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Week-2:</a:t>
            </a:r>
            <a:endParaRPr lang="en-US" sz="1300" dirty="0"/>
          </a:p>
        </p:txBody>
      </p:sp>
      <p:sp>
        <p:nvSpPr>
          <p:cNvPr id="12" name="Text 10"/>
          <p:cNvSpPr txBox="1"/>
          <p:nvPr/>
        </p:nvSpPr>
        <p:spPr>
          <a:xfrm>
            <a:off x="1591056" y="3054096"/>
            <a:ext cx="7772400" cy="566928"/>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Collected and unified the fruit/vegetable dataset — 14 classes, each with fresh and rotten images.</a:t>
            </a:r>
            <a:endParaRPr lang="en-US" sz="1300" dirty="0"/>
          </a:p>
        </p:txBody>
      </p:sp>
      <p:sp>
        <p:nvSpPr>
          <p:cNvPr id="13" name="Shape 11"/>
          <p:cNvSpPr/>
          <p:nvPr/>
        </p:nvSpPr>
        <p:spPr>
          <a:xfrm>
            <a:off x="566928" y="3621024"/>
            <a:ext cx="8942832" cy="566928"/>
          </a:xfrm>
          <a:prstGeom prst="rect">
            <a:avLst/>
          </a:prstGeom>
          <a:solidFill>
            <a:srgbClr val="EAF3FB"/>
          </a:solidFill>
          <a:ln w="12700">
            <a:solidFill>
              <a:srgbClr val="EAF3FB"/>
            </a:solidFill>
            <a:prstDash val="solid"/>
          </a:ln>
        </p:spPr>
      </p:sp>
      <p:sp>
        <p:nvSpPr>
          <p:cNvPr id="14" name="Text 12"/>
          <p:cNvSpPr txBox="1"/>
          <p:nvPr/>
        </p:nvSpPr>
        <p:spPr>
          <a:xfrm>
            <a:off x="694944" y="3621024"/>
            <a:ext cx="868680" cy="566928"/>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Week-3:</a:t>
            </a:r>
            <a:endParaRPr lang="en-US" sz="1300" dirty="0"/>
          </a:p>
        </p:txBody>
      </p:sp>
      <p:sp>
        <p:nvSpPr>
          <p:cNvPr id="15" name="Text 13"/>
          <p:cNvSpPr txBox="1"/>
          <p:nvPr/>
        </p:nvSpPr>
        <p:spPr>
          <a:xfrm>
            <a:off x="1591056" y="3621024"/>
            <a:ext cx="7772400" cy="566928"/>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Built the data pipeline: stratified 80/20 split and MobileNetV2 preprocessing generators.</a:t>
            </a:r>
            <a:endParaRPr lang="en-US" sz="1300" dirty="0"/>
          </a:p>
        </p:txBody>
      </p:sp>
      <p:sp>
        <p:nvSpPr>
          <p:cNvPr id="16" name="Text 14"/>
          <p:cNvSpPr txBox="1"/>
          <p:nvPr/>
        </p:nvSpPr>
        <p:spPr>
          <a:xfrm>
            <a:off x="694944" y="4187952"/>
            <a:ext cx="868680" cy="566928"/>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Week-4:</a:t>
            </a:r>
            <a:endParaRPr lang="en-US" sz="1300" dirty="0"/>
          </a:p>
        </p:txBody>
      </p:sp>
      <p:sp>
        <p:nvSpPr>
          <p:cNvPr id="17" name="Text 15"/>
          <p:cNvSpPr txBox="1"/>
          <p:nvPr/>
        </p:nvSpPr>
        <p:spPr>
          <a:xfrm>
            <a:off x="1591056" y="4187952"/>
            <a:ext cx="7772400" cy="566928"/>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Trained the 14-class produce identifier by transfer learning on a frozen MobileNetV2 backbone.</a:t>
            </a:r>
            <a:endParaRPr lang="en-US" sz="1300" dirty="0"/>
          </a:p>
        </p:txBody>
      </p:sp>
      <p:sp>
        <p:nvSpPr>
          <p:cNvPr id="18" name="Shape 16"/>
          <p:cNvSpPr/>
          <p:nvPr/>
        </p:nvSpPr>
        <p:spPr>
          <a:xfrm>
            <a:off x="566928" y="4754880"/>
            <a:ext cx="8942832" cy="566928"/>
          </a:xfrm>
          <a:prstGeom prst="rect">
            <a:avLst/>
          </a:prstGeom>
          <a:solidFill>
            <a:srgbClr val="EAF3FB"/>
          </a:solidFill>
          <a:ln w="12700">
            <a:solidFill>
              <a:srgbClr val="EAF3FB"/>
            </a:solidFill>
            <a:prstDash val="solid"/>
          </a:ln>
        </p:spPr>
      </p:sp>
      <p:sp>
        <p:nvSpPr>
          <p:cNvPr id="19" name="Text 17"/>
          <p:cNvSpPr txBox="1"/>
          <p:nvPr/>
        </p:nvSpPr>
        <p:spPr>
          <a:xfrm>
            <a:off x="694944" y="4754880"/>
            <a:ext cx="868680" cy="566928"/>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Week-5:</a:t>
            </a:r>
            <a:endParaRPr lang="en-US" sz="1300" dirty="0"/>
          </a:p>
        </p:txBody>
      </p:sp>
      <p:sp>
        <p:nvSpPr>
          <p:cNvPr id="20" name="Text 18"/>
          <p:cNvSpPr txBox="1"/>
          <p:nvPr/>
        </p:nvSpPr>
        <p:spPr>
          <a:xfrm>
            <a:off x="1591056" y="4754880"/>
            <a:ext cx="7772400" cy="566928"/>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Generated 5-level freshness pseudo-labels using HSV decay scoring; trained the freshness head.</a:t>
            </a:r>
            <a:endParaRPr lang="en-US" sz="1300" dirty="0"/>
          </a:p>
        </p:txBody>
      </p:sp>
      <p:sp>
        <p:nvSpPr>
          <p:cNvPr id="21" name="Text 19"/>
          <p:cNvSpPr txBox="1"/>
          <p:nvPr/>
        </p:nvSpPr>
        <p:spPr>
          <a:xfrm>
            <a:off x="694944" y="5321808"/>
            <a:ext cx="868680" cy="566928"/>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Week-6:</a:t>
            </a:r>
            <a:endParaRPr lang="en-US" sz="1300" dirty="0"/>
          </a:p>
        </p:txBody>
      </p:sp>
      <p:sp>
        <p:nvSpPr>
          <p:cNvPr id="22" name="Text 20"/>
          <p:cNvSpPr txBox="1"/>
          <p:nvPr/>
        </p:nvSpPr>
        <p:spPr>
          <a:xfrm>
            <a:off x="1591056" y="5321808"/>
            <a:ext cx="7772400" cy="566928"/>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Fine-tuned the last 30 backbone layers and added inference-time confidence calibration.</a:t>
            </a:r>
            <a:endParaRPr lang="en-US" sz="1300" dirty="0"/>
          </a:p>
        </p:txBody>
      </p:sp>
      <p:sp>
        <p:nvSpPr>
          <p:cNvPr id="23" name="Shape 21"/>
          <p:cNvSpPr/>
          <p:nvPr/>
        </p:nvSpPr>
        <p:spPr>
          <a:xfrm>
            <a:off x="566928" y="5888736"/>
            <a:ext cx="8942832" cy="566928"/>
          </a:xfrm>
          <a:prstGeom prst="rect">
            <a:avLst/>
          </a:prstGeom>
          <a:solidFill>
            <a:srgbClr val="EAF3FB"/>
          </a:solidFill>
          <a:ln w="12700">
            <a:solidFill>
              <a:srgbClr val="EAF3FB"/>
            </a:solidFill>
            <a:prstDash val="solid"/>
          </a:ln>
        </p:spPr>
      </p:sp>
      <p:sp>
        <p:nvSpPr>
          <p:cNvPr id="24" name="Text 22"/>
          <p:cNvSpPr txBox="1"/>
          <p:nvPr/>
        </p:nvSpPr>
        <p:spPr>
          <a:xfrm>
            <a:off x="694944" y="5888736"/>
            <a:ext cx="868680" cy="566928"/>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Week-7:</a:t>
            </a:r>
            <a:endParaRPr lang="en-US" sz="1300" dirty="0"/>
          </a:p>
        </p:txBody>
      </p:sp>
      <p:sp>
        <p:nvSpPr>
          <p:cNvPr id="25" name="Text 23"/>
          <p:cNvSpPr txBox="1"/>
          <p:nvPr/>
        </p:nvSpPr>
        <p:spPr>
          <a:xfrm>
            <a:off x="1591056" y="5888736"/>
            <a:ext cx="7772400" cy="566928"/>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Added the ImageNet gatekeeper and exposed the pipeline as a FastAPI service.</a:t>
            </a:r>
            <a:endParaRPr lang="en-US" sz="1300" dirty="0"/>
          </a:p>
        </p:txBody>
      </p:sp>
      <p:sp>
        <p:nvSpPr>
          <p:cNvPr id="26" name="Text 24"/>
          <p:cNvSpPr txBox="1"/>
          <p:nvPr/>
        </p:nvSpPr>
        <p:spPr>
          <a:xfrm>
            <a:off x="694944" y="6455664"/>
            <a:ext cx="868680" cy="566928"/>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Week-8:</a:t>
            </a:r>
            <a:endParaRPr lang="en-US" sz="1300" dirty="0"/>
          </a:p>
        </p:txBody>
      </p:sp>
      <p:sp>
        <p:nvSpPr>
          <p:cNvPr id="27" name="Text 25"/>
          <p:cNvSpPr txBox="1"/>
          <p:nvPr/>
        </p:nvSpPr>
        <p:spPr>
          <a:xfrm>
            <a:off x="1591056" y="6455664"/>
            <a:ext cx="7772400" cy="566928"/>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Built the React + Vite frontend, ran end-to-end testing and documented the project.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PROBLEM IDENTIFICATION</a:t>
            </a:r>
            <a:endParaRPr lang="en-US" sz="3000" dirty="0"/>
          </a:p>
        </p:txBody>
      </p:sp>
      <p:sp>
        <p:nvSpPr>
          <p:cNvPr id="3" name="Shape 1"/>
          <p:cNvSpPr/>
          <p:nvPr/>
        </p:nvSpPr>
        <p:spPr>
          <a:xfrm>
            <a:off x="566928" y="1298448"/>
            <a:ext cx="8942832" cy="1554480"/>
          </a:xfrm>
          <a:prstGeom prst="roundRect">
            <a:avLst>
              <a:gd name="adj" fmla="val 4706"/>
            </a:avLst>
          </a:prstGeom>
          <a:solidFill>
            <a:srgbClr val="EAF3FB"/>
          </a:solidFill>
          <a:ln w="12700">
            <a:solidFill>
              <a:srgbClr val="D6DEE8"/>
            </a:solidFill>
            <a:prstDash val="solid"/>
          </a:ln>
        </p:spPr>
      </p:sp>
      <p:sp>
        <p:nvSpPr>
          <p:cNvPr id="4" name="Text 2"/>
          <p:cNvSpPr txBox="1"/>
          <p:nvPr/>
        </p:nvSpPr>
        <p:spPr>
          <a:xfrm>
            <a:off x="822960" y="1444752"/>
            <a:ext cx="2743200" cy="274320"/>
          </a:xfrm>
          <a:prstGeom prst="rect">
            <a:avLst/>
          </a:prstGeom>
          <a:noFill/>
          <a:ln/>
        </p:spPr>
        <p:txBody>
          <a:bodyPr wrap="square" lIns="0" tIns="0" rIns="0" bIns="0" rtlCol="0" anchor="ctr"/>
          <a:lstStyle/>
          <a:p>
            <a:pPr indent="0" marL="0">
              <a:buNone/>
            </a:pPr>
            <a:r>
              <a:rPr lang="en-US" sz="1400" b="1" dirty="0">
                <a:solidFill>
                  <a:srgbClr val="0070C0"/>
                </a:solidFill>
                <a:latin typeface="Arial" pitchFamily="34" charset="0"/>
                <a:ea typeface="Arial" pitchFamily="34" charset="-122"/>
                <a:cs typeface="Arial" pitchFamily="34" charset="-120"/>
              </a:rPr>
              <a:t>Statement</a:t>
            </a:r>
            <a:endParaRPr lang="en-US" sz="1400" dirty="0"/>
          </a:p>
        </p:txBody>
      </p:sp>
      <p:sp>
        <p:nvSpPr>
          <p:cNvPr id="5" name="Text 3"/>
          <p:cNvSpPr txBox="1"/>
          <p:nvPr/>
        </p:nvSpPr>
        <p:spPr>
          <a:xfrm>
            <a:off x="822960" y="1773936"/>
            <a:ext cx="8430768" cy="1005840"/>
          </a:xfrm>
          <a:prstGeom prst="rect">
            <a:avLst/>
          </a:prstGeom>
          <a:noFill/>
          <a:ln/>
        </p:spPr>
        <p:txBody>
          <a:bodyPr wrap="square" lIns="0" tIns="0" rIns="0" bIns="0" rtlCol="0" anchor="ctr"/>
          <a:lstStyle/>
          <a:p>
            <a:pPr indent="0" marL="0">
              <a:lnSpc>
                <a:spcPts val="2100"/>
              </a:lnSpc>
              <a:buNone/>
            </a:pPr>
            <a:r>
              <a:rPr lang="en-US" sz="1400" dirty="0">
                <a:solidFill>
                  <a:srgbClr val="1A1A1A"/>
                </a:solidFill>
                <a:latin typeface="Arial" pitchFamily="34" charset="0"/>
                <a:ea typeface="Arial" pitchFamily="34" charset="-122"/>
                <a:cs typeface="Arial" pitchFamily="34" charset="-120"/>
              </a:rPr>
              <a:t>Fruit and vegetable quality across retail stores, warehouses and the cold-chain is still judged by eye. Manual inspection is slow, subjective and inconsistent between graders, so spoiled produce reaches customers while sellable produce is discarded. There is no cheap, objective tool that grades produce from an ordinary photo.</a:t>
            </a:r>
            <a:endParaRPr lang="en-US" sz="1400" dirty="0"/>
          </a:p>
        </p:txBody>
      </p:sp>
      <p:sp>
        <p:nvSpPr>
          <p:cNvPr id="6" name="Shape 4"/>
          <p:cNvSpPr/>
          <p:nvPr/>
        </p:nvSpPr>
        <p:spPr>
          <a:xfrm>
            <a:off x="566928" y="3035808"/>
            <a:ext cx="2798064" cy="1600200"/>
          </a:xfrm>
          <a:prstGeom prst="roundRect">
            <a:avLst>
              <a:gd name="adj" fmla="val 4571"/>
            </a:avLst>
          </a:prstGeom>
          <a:solidFill>
            <a:srgbClr val="FFFFFF"/>
          </a:solidFill>
          <a:ln w="12700">
            <a:solidFill>
              <a:srgbClr val="D6DEE8"/>
            </a:solidFill>
            <a:prstDash val="solid"/>
          </a:ln>
        </p:spPr>
      </p:sp>
      <p:sp>
        <p:nvSpPr>
          <p:cNvPr id="7" name="Shape 5"/>
          <p:cNvSpPr/>
          <p:nvPr/>
        </p:nvSpPr>
        <p:spPr>
          <a:xfrm>
            <a:off x="768096" y="3255264"/>
            <a:ext cx="329184" cy="329184"/>
          </a:xfrm>
          <a:prstGeom prst="ellipse">
            <a:avLst/>
          </a:prstGeom>
          <a:solidFill>
            <a:srgbClr val="0070C0"/>
          </a:solidFill>
          <a:ln w="12700">
            <a:solidFill>
              <a:srgbClr val="0070C0"/>
            </a:solidFill>
            <a:prstDash val="solid"/>
          </a:ln>
        </p:spPr>
      </p:sp>
      <p:sp>
        <p:nvSpPr>
          <p:cNvPr id="8" name="Text 6"/>
          <p:cNvSpPr txBox="1"/>
          <p:nvPr/>
        </p:nvSpPr>
        <p:spPr>
          <a:xfrm>
            <a:off x="1188720" y="3255264"/>
            <a:ext cx="1975104" cy="329184"/>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Subjective</a:t>
            </a:r>
            <a:endParaRPr lang="en-US" sz="1500" dirty="0"/>
          </a:p>
        </p:txBody>
      </p:sp>
      <p:sp>
        <p:nvSpPr>
          <p:cNvPr id="9" name="Text 7"/>
          <p:cNvSpPr txBox="1"/>
          <p:nvPr/>
        </p:nvSpPr>
        <p:spPr>
          <a:xfrm>
            <a:off x="768096" y="3694176"/>
            <a:ext cx="2395728" cy="822960"/>
          </a:xfrm>
          <a:prstGeom prst="rect">
            <a:avLst/>
          </a:prstGeom>
          <a:noFill/>
          <a:ln/>
        </p:spPr>
        <p:txBody>
          <a:bodyPr wrap="square" lIns="0" tIns="0" rIns="0" bIns="0" rtlCol="0" anchor="ctr"/>
          <a:lstStyle/>
          <a:p>
            <a:pPr indent="0" marL="0">
              <a:lnSpc>
                <a:spcPts val="1700"/>
              </a:lnSpc>
              <a:buNone/>
            </a:pPr>
            <a:r>
              <a:rPr lang="en-US" sz="1250" dirty="0">
                <a:solidFill>
                  <a:srgbClr val="5A6472"/>
                </a:solidFill>
                <a:latin typeface="Arial" pitchFamily="34" charset="0"/>
                <a:ea typeface="Arial" pitchFamily="34" charset="-122"/>
                <a:cs typeface="Arial" pitchFamily="34" charset="-120"/>
              </a:rPr>
              <a:t>Two graders disagree on the same crate; "slightly spoiled" has no shared definition.</a:t>
            </a:r>
            <a:endParaRPr lang="en-US" sz="1250" dirty="0"/>
          </a:p>
        </p:txBody>
      </p:sp>
      <p:sp>
        <p:nvSpPr>
          <p:cNvPr id="10" name="Shape 8"/>
          <p:cNvSpPr/>
          <p:nvPr/>
        </p:nvSpPr>
        <p:spPr>
          <a:xfrm>
            <a:off x="3639312" y="3035808"/>
            <a:ext cx="2798064" cy="1600200"/>
          </a:xfrm>
          <a:prstGeom prst="roundRect">
            <a:avLst>
              <a:gd name="adj" fmla="val 4571"/>
            </a:avLst>
          </a:prstGeom>
          <a:solidFill>
            <a:srgbClr val="FFFFFF"/>
          </a:solidFill>
          <a:ln w="12700">
            <a:solidFill>
              <a:srgbClr val="D6DEE8"/>
            </a:solidFill>
            <a:prstDash val="solid"/>
          </a:ln>
        </p:spPr>
      </p:sp>
      <p:sp>
        <p:nvSpPr>
          <p:cNvPr id="11" name="Shape 9"/>
          <p:cNvSpPr/>
          <p:nvPr/>
        </p:nvSpPr>
        <p:spPr>
          <a:xfrm>
            <a:off x="3840480" y="3255264"/>
            <a:ext cx="329184" cy="329184"/>
          </a:xfrm>
          <a:prstGeom prst="ellipse">
            <a:avLst/>
          </a:prstGeom>
          <a:solidFill>
            <a:srgbClr val="C77700"/>
          </a:solidFill>
          <a:ln w="12700">
            <a:solidFill>
              <a:srgbClr val="C77700"/>
            </a:solidFill>
            <a:prstDash val="solid"/>
          </a:ln>
        </p:spPr>
      </p:sp>
      <p:sp>
        <p:nvSpPr>
          <p:cNvPr id="12" name="Text 10"/>
          <p:cNvSpPr txBox="1"/>
          <p:nvPr/>
        </p:nvSpPr>
        <p:spPr>
          <a:xfrm>
            <a:off x="4261104" y="3255264"/>
            <a:ext cx="1975104" cy="329184"/>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Not scalable</a:t>
            </a:r>
            <a:endParaRPr lang="en-US" sz="1500" dirty="0"/>
          </a:p>
        </p:txBody>
      </p:sp>
      <p:sp>
        <p:nvSpPr>
          <p:cNvPr id="13" name="Text 11"/>
          <p:cNvSpPr txBox="1"/>
          <p:nvPr/>
        </p:nvSpPr>
        <p:spPr>
          <a:xfrm>
            <a:off x="3840480" y="3694176"/>
            <a:ext cx="2395728" cy="822960"/>
          </a:xfrm>
          <a:prstGeom prst="rect">
            <a:avLst/>
          </a:prstGeom>
          <a:noFill/>
          <a:ln/>
        </p:spPr>
        <p:txBody>
          <a:bodyPr wrap="square" lIns="0" tIns="0" rIns="0" bIns="0" rtlCol="0" anchor="ctr"/>
          <a:lstStyle/>
          <a:p>
            <a:pPr indent="0" marL="0">
              <a:lnSpc>
                <a:spcPts val="1700"/>
              </a:lnSpc>
              <a:buNone/>
            </a:pPr>
            <a:r>
              <a:rPr lang="en-US" sz="1250" dirty="0">
                <a:solidFill>
                  <a:srgbClr val="5A6472"/>
                </a:solidFill>
                <a:latin typeface="Arial" pitchFamily="34" charset="0"/>
                <a:ea typeface="Arial" pitchFamily="34" charset="-122"/>
                <a:cs typeface="Arial" pitchFamily="34" charset="-120"/>
              </a:rPr>
              <a:t>Every unit has to be picked up and looked at — impossible at warehouse volumes.</a:t>
            </a:r>
            <a:endParaRPr lang="en-US" sz="1250" dirty="0"/>
          </a:p>
        </p:txBody>
      </p:sp>
      <p:sp>
        <p:nvSpPr>
          <p:cNvPr id="14" name="Shape 12"/>
          <p:cNvSpPr/>
          <p:nvPr/>
        </p:nvSpPr>
        <p:spPr>
          <a:xfrm>
            <a:off x="6711696" y="3035808"/>
            <a:ext cx="2798064" cy="1600200"/>
          </a:xfrm>
          <a:prstGeom prst="roundRect">
            <a:avLst>
              <a:gd name="adj" fmla="val 4571"/>
            </a:avLst>
          </a:prstGeom>
          <a:solidFill>
            <a:srgbClr val="FFFFFF"/>
          </a:solidFill>
          <a:ln w="12700">
            <a:solidFill>
              <a:srgbClr val="D6DEE8"/>
            </a:solidFill>
            <a:prstDash val="solid"/>
          </a:ln>
        </p:spPr>
      </p:sp>
      <p:sp>
        <p:nvSpPr>
          <p:cNvPr id="15" name="Shape 13"/>
          <p:cNvSpPr/>
          <p:nvPr/>
        </p:nvSpPr>
        <p:spPr>
          <a:xfrm>
            <a:off x="6912864" y="3255264"/>
            <a:ext cx="329184" cy="329184"/>
          </a:xfrm>
          <a:prstGeom prst="ellipse">
            <a:avLst/>
          </a:prstGeom>
          <a:solidFill>
            <a:srgbClr val="1F8A4C"/>
          </a:solidFill>
          <a:ln w="12700">
            <a:solidFill>
              <a:srgbClr val="1F8A4C"/>
            </a:solidFill>
            <a:prstDash val="solid"/>
          </a:ln>
        </p:spPr>
      </p:sp>
      <p:sp>
        <p:nvSpPr>
          <p:cNvPr id="16" name="Text 14"/>
          <p:cNvSpPr txBox="1"/>
          <p:nvPr/>
        </p:nvSpPr>
        <p:spPr>
          <a:xfrm>
            <a:off x="7333488" y="3255264"/>
            <a:ext cx="1975104" cy="329184"/>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Binary only</a:t>
            </a:r>
            <a:endParaRPr lang="en-US" sz="1500" dirty="0"/>
          </a:p>
        </p:txBody>
      </p:sp>
      <p:sp>
        <p:nvSpPr>
          <p:cNvPr id="17" name="Text 15"/>
          <p:cNvSpPr txBox="1"/>
          <p:nvPr/>
        </p:nvSpPr>
        <p:spPr>
          <a:xfrm>
            <a:off x="6912864" y="3694176"/>
            <a:ext cx="2395728" cy="822960"/>
          </a:xfrm>
          <a:prstGeom prst="rect">
            <a:avLst/>
          </a:prstGeom>
          <a:noFill/>
          <a:ln/>
        </p:spPr>
        <p:txBody>
          <a:bodyPr wrap="square" lIns="0" tIns="0" rIns="0" bIns="0" rtlCol="0" anchor="ctr"/>
          <a:lstStyle/>
          <a:p>
            <a:pPr indent="0" marL="0">
              <a:lnSpc>
                <a:spcPts val="1700"/>
              </a:lnSpc>
              <a:buNone/>
            </a:pPr>
            <a:r>
              <a:rPr lang="en-US" sz="1250" dirty="0">
                <a:solidFill>
                  <a:srgbClr val="5A6472"/>
                </a:solidFill>
                <a:latin typeface="Arial" pitchFamily="34" charset="0"/>
                <a:ea typeface="Arial" pitchFamily="34" charset="-122"/>
                <a:cs typeface="Arial" pitchFamily="34" charset="-120"/>
              </a:rPr>
              <a:t>Existing fresh/rotten datasets label just two states, so no shelf-life guidance is possible.</a:t>
            </a:r>
            <a:endParaRPr lang="en-US" sz="1250" dirty="0"/>
          </a:p>
        </p:txBody>
      </p:sp>
      <p:sp>
        <p:nvSpPr>
          <p:cNvPr id="18" name="Shape 16"/>
          <p:cNvSpPr/>
          <p:nvPr/>
        </p:nvSpPr>
        <p:spPr>
          <a:xfrm>
            <a:off x="566928" y="4846320"/>
            <a:ext cx="8942832" cy="1965960"/>
          </a:xfrm>
          <a:prstGeom prst="roundRect">
            <a:avLst>
              <a:gd name="adj" fmla="val 3721"/>
            </a:avLst>
          </a:prstGeom>
          <a:solidFill>
            <a:srgbClr val="EAF3FB"/>
          </a:solidFill>
          <a:ln w="12700">
            <a:solidFill>
              <a:srgbClr val="D6DEE8"/>
            </a:solidFill>
            <a:prstDash val="solid"/>
          </a:ln>
        </p:spPr>
      </p:sp>
      <p:sp>
        <p:nvSpPr>
          <p:cNvPr id="19" name="Text 17"/>
          <p:cNvSpPr txBox="1"/>
          <p:nvPr/>
        </p:nvSpPr>
        <p:spPr>
          <a:xfrm>
            <a:off x="822960" y="4992624"/>
            <a:ext cx="3657600" cy="274320"/>
          </a:xfrm>
          <a:prstGeom prst="rect">
            <a:avLst/>
          </a:prstGeom>
          <a:noFill/>
          <a:ln/>
        </p:spPr>
        <p:txBody>
          <a:bodyPr wrap="square" lIns="0" tIns="0" rIns="0" bIns="0" rtlCol="0" anchor="ctr"/>
          <a:lstStyle/>
          <a:p>
            <a:pPr indent="0" marL="0">
              <a:buNone/>
            </a:pPr>
            <a:r>
              <a:rPr lang="en-US" sz="1400" b="1" dirty="0">
                <a:solidFill>
                  <a:srgbClr val="0070C0"/>
                </a:solidFill>
                <a:latin typeface="Arial" pitchFamily="34" charset="0"/>
                <a:ea typeface="Arial" pitchFamily="34" charset="-122"/>
                <a:cs typeface="Arial" pitchFamily="34" charset="-120"/>
              </a:rPr>
              <a:t>Problem Statement</a:t>
            </a:r>
            <a:endParaRPr lang="en-US" sz="1400" dirty="0"/>
          </a:p>
        </p:txBody>
      </p:sp>
      <p:sp>
        <p:nvSpPr>
          <p:cNvPr id="20" name="Text 18"/>
          <p:cNvSpPr txBox="1"/>
          <p:nvPr/>
        </p:nvSpPr>
        <p:spPr>
          <a:xfrm>
            <a:off x="822960" y="5321808"/>
            <a:ext cx="8430768" cy="1005840"/>
          </a:xfrm>
          <a:prstGeom prst="rect">
            <a:avLst/>
          </a:prstGeom>
          <a:noFill/>
          <a:ln/>
        </p:spPr>
        <p:txBody>
          <a:bodyPr wrap="square" lIns="0" tIns="0" rIns="0" bIns="0" rtlCol="0" anchor="ctr"/>
          <a:lstStyle/>
          <a:p>
            <a:pPr indent="0" marL="0">
              <a:lnSpc>
                <a:spcPts val="2100"/>
              </a:lnSpc>
              <a:buNone/>
            </a:pPr>
            <a:r>
              <a:rPr lang="en-US" sz="1400" dirty="0">
                <a:solidFill>
                  <a:srgbClr val="1A1A1A"/>
                </a:solidFill>
                <a:latin typeface="Arial" pitchFamily="34" charset="0"/>
                <a:ea typeface="Arial" pitchFamily="34" charset="-122"/>
                <a:cs typeface="Arial" pitchFamily="34" charset="-120"/>
              </a:rPr>
              <a:t>Design and deploy a system that, from a single ordinary photograph, (a) verifies that the subject is actually produce, (b) identifies which fruit or vegetable it is, and (c) grades its decay on a five-level scale with a confidence score and an estimated shelf life — fast enough to run on commodity hardware inside a web browser.</a:t>
            </a:r>
            <a:endParaRPr lang="en-US" sz="1400" dirty="0"/>
          </a:p>
        </p:txBody>
      </p:sp>
      <p:sp>
        <p:nvSpPr>
          <p:cNvPr id="21" name="Text 19"/>
          <p:cNvSpPr txBox="1"/>
          <p:nvPr/>
        </p:nvSpPr>
        <p:spPr>
          <a:xfrm>
            <a:off x="822960" y="6419088"/>
            <a:ext cx="8430768" cy="274320"/>
          </a:xfrm>
          <a:prstGeom prst="rect">
            <a:avLst/>
          </a:prstGeom>
          <a:noFill/>
          <a:ln/>
        </p:spPr>
        <p:txBody>
          <a:bodyPr wrap="square" lIns="0" tIns="0" rIns="0" bIns="0" rtlCol="0" anchor="ctr"/>
          <a:lstStyle/>
          <a:p>
            <a:pPr indent="0" marL="0">
              <a:buNone/>
            </a:pPr>
            <a:r>
              <a:rPr lang="en-US" sz="1200" i="1" dirty="0">
                <a:solidFill>
                  <a:srgbClr val="0070C0"/>
                </a:solidFill>
                <a:latin typeface="Arial" pitchFamily="34" charset="0"/>
                <a:ea typeface="Arial" pitchFamily="34" charset="-122"/>
                <a:cs typeface="Arial" pitchFamily="34" charset="-120"/>
              </a:rPr>
              <a:t>Deliverable: a browser-accessible tool with an auditable, explainable verdict — not a black-box label.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OBJECTIVES OF THE WORK</a:t>
            </a:r>
            <a:endParaRPr lang="en-US" sz="3000" dirty="0"/>
          </a:p>
        </p:txBody>
      </p:sp>
      <p:sp>
        <p:nvSpPr>
          <p:cNvPr id="3" name="Shape 1"/>
          <p:cNvSpPr/>
          <p:nvPr/>
        </p:nvSpPr>
        <p:spPr>
          <a:xfrm>
            <a:off x="566928" y="1371600"/>
            <a:ext cx="4315968" cy="1627632"/>
          </a:xfrm>
          <a:prstGeom prst="roundRect">
            <a:avLst>
              <a:gd name="adj" fmla="val 4494"/>
            </a:avLst>
          </a:prstGeom>
          <a:solidFill>
            <a:srgbClr val="FFFFFF"/>
          </a:solidFill>
          <a:ln w="12700">
            <a:solidFill>
              <a:srgbClr val="D6DEE8"/>
            </a:solidFill>
            <a:prstDash val="solid"/>
          </a:ln>
        </p:spPr>
      </p:sp>
      <p:sp>
        <p:nvSpPr>
          <p:cNvPr id="4" name="Shape 2"/>
          <p:cNvSpPr/>
          <p:nvPr/>
        </p:nvSpPr>
        <p:spPr>
          <a:xfrm>
            <a:off x="804672" y="1645920"/>
            <a:ext cx="384048" cy="384048"/>
          </a:xfrm>
          <a:prstGeom prst="ellipse">
            <a:avLst/>
          </a:prstGeom>
          <a:solidFill>
            <a:srgbClr val="0070C0"/>
          </a:solidFill>
          <a:ln w="12700">
            <a:solidFill>
              <a:srgbClr val="0070C0"/>
            </a:solidFill>
            <a:prstDash val="solid"/>
          </a:ln>
        </p:spPr>
      </p:sp>
      <p:sp>
        <p:nvSpPr>
          <p:cNvPr id="5" name="Text 3"/>
          <p:cNvSpPr txBox="1"/>
          <p:nvPr/>
        </p:nvSpPr>
        <p:spPr>
          <a:xfrm>
            <a:off x="804672"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335024" y="1645920"/>
            <a:ext cx="3337560" cy="384048"/>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Identify produce</a:t>
            </a:r>
            <a:endParaRPr lang="en-US" sz="1600" dirty="0"/>
          </a:p>
        </p:txBody>
      </p:sp>
      <p:sp>
        <p:nvSpPr>
          <p:cNvPr id="7" name="Text 5"/>
          <p:cNvSpPr txBox="1"/>
          <p:nvPr/>
        </p:nvSpPr>
        <p:spPr>
          <a:xfrm>
            <a:off x="841248" y="2157984"/>
            <a:ext cx="3767328" cy="731520"/>
          </a:xfrm>
          <a:prstGeom prst="rect">
            <a:avLst/>
          </a:prstGeom>
          <a:noFill/>
          <a:ln/>
        </p:spPr>
        <p:txBody>
          <a:bodyPr wrap="square" lIns="0" tIns="0" rIns="0" bIns="0" rtlCol="0" anchor="ctr"/>
          <a:lstStyle/>
          <a:p>
            <a:pPr indent="0" marL="0">
              <a:lnSpc>
                <a:spcPts val="1800"/>
              </a:lnSpc>
              <a:buNone/>
            </a:pPr>
            <a:r>
              <a:rPr lang="en-US" sz="1300" dirty="0">
                <a:solidFill>
                  <a:srgbClr val="1A1A1A"/>
                </a:solidFill>
                <a:latin typeface="Arial" pitchFamily="34" charset="0"/>
                <a:ea typeface="Arial" pitchFamily="34" charset="-122"/>
                <a:cs typeface="Arial" pitchFamily="34" charset="-120"/>
              </a:rPr>
              <a:t>Classify a photo into one of 14 fruit and vegetable categories using transfer learning.</a:t>
            </a:r>
            <a:endParaRPr lang="en-US" sz="1300" dirty="0"/>
          </a:p>
        </p:txBody>
      </p:sp>
      <p:sp>
        <p:nvSpPr>
          <p:cNvPr id="8" name="Shape 6"/>
          <p:cNvSpPr/>
          <p:nvPr/>
        </p:nvSpPr>
        <p:spPr>
          <a:xfrm>
            <a:off x="5193792" y="1371600"/>
            <a:ext cx="4315968" cy="1627632"/>
          </a:xfrm>
          <a:prstGeom prst="roundRect">
            <a:avLst>
              <a:gd name="adj" fmla="val 4494"/>
            </a:avLst>
          </a:prstGeom>
          <a:solidFill>
            <a:srgbClr val="FFFFFF"/>
          </a:solidFill>
          <a:ln w="12700">
            <a:solidFill>
              <a:srgbClr val="D6DEE8"/>
            </a:solidFill>
            <a:prstDash val="solid"/>
          </a:ln>
        </p:spPr>
      </p:sp>
      <p:sp>
        <p:nvSpPr>
          <p:cNvPr id="9" name="Shape 7"/>
          <p:cNvSpPr/>
          <p:nvPr/>
        </p:nvSpPr>
        <p:spPr>
          <a:xfrm>
            <a:off x="5431536" y="1645920"/>
            <a:ext cx="384048" cy="384048"/>
          </a:xfrm>
          <a:prstGeom prst="ellipse">
            <a:avLst/>
          </a:prstGeom>
          <a:solidFill>
            <a:srgbClr val="0070C0"/>
          </a:solidFill>
          <a:ln w="12700">
            <a:solidFill>
              <a:srgbClr val="0070C0"/>
            </a:solidFill>
            <a:prstDash val="solid"/>
          </a:ln>
        </p:spPr>
      </p:sp>
      <p:sp>
        <p:nvSpPr>
          <p:cNvPr id="10" name="Text 8"/>
          <p:cNvSpPr txBox="1"/>
          <p:nvPr/>
        </p:nvSpPr>
        <p:spPr>
          <a:xfrm>
            <a:off x="5431536"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5961888" y="1645920"/>
            <a:ext cx="3337560" cy="384048"/>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Grade freshness</a:t>
            </a:r>
            <a:endParaRPr lang="en-US" sz="1600" dirty="0"/>
          </a:p>
        </p:txBody>
      </p:sp>
      <p:sp>
        <p:nvSpPr>
          <p:cNvPr id="12" name="Text 10"/>
          <p:cNvSpPr txBox="1"/>
          <p:nvPr/>
        </p:nvSpPr>
        <p:spPr>
          <a:xfrm>
            <a:off x="5468112" y="2157984"/>
            <a:ext cx="3767328" cy="731520"/>
          </a:xfrm>
          <a:prstGeom prst="rect">
            <a:avLst/>
          </a:prstGeom>
          <a:noFill/>
          <a:ln/>
        </p:spPr>
        <p:txBody>
          <a:bodyPr wrap="square" lIns="0" tIns="0" rIns="0" bIns="0" rtlCol="0" anchor="ctr"/>
          <a:lstStyle/>
          <a:p>
            <a:pPr indent="0" marL="0">
              <a:lnSpc>
                <a:spcPts val="1800"/>
              </a:lnSpc>
              <a:buNone/>
            </a:pPr>
            <a:r>
              <a:rPr lang="en-US" sz="1300" dirty="0">
                <a:solidFill>
                  <a:srgbClr val="1A1A1A"/>
                </a:solidFill>
                <a:latin typeface="Arial" pitchFamily="34" charset="0"/>
                <a:ea typeface="Arial" pitchFamily="34" charset="-122"/>
                <a:cs typeface="Arial" pitchFamily="34" charset="-120"/>
              </a:rPr>
              <a:t>Predict five decay levels — very fresh, fresh, slightly rotten, rotten, very rotten.</a:t>
            </a:r>
            <a:endParaRPr lang="en-US" sz="1300" dirty="0"/>
          </a:p>
        </p:txBody>
      </p:sp>
      <p:sp>
        <p:nvSpPr>
          <p:cNvPr id="13" name="Shape 11"/>
          <p:cNvSpPr/>
          <p:nvPr/>
        </p:nvSpPr>
        <p:spPr>
          <a:xfrm>
            <a:off x="566928" y="3200400"/>
            <a:ext cx="4315968" cy="1627632"/>
          </a:xfrm>
          <a:prstGeom prst="roundRect">
            <a:avLst>
              <a:gd name="adj" fmla="val 4494"/>
            </a:avLst>
          </a:prstGeom>
          <a:solidFill>
            <a:srgbClr val="EAF3FB"/>
          </a:solidFill>
          <a:ln w="12700">
            <a:solidFill>
              <a:srgbClr val="D6DEE8"/>
            </a:solidFill>
            <a:prstDash val="solid"/>
          </a:ln>
        </p:spPr>
      </p:sp>
      <p:sp>
        <p:nvSpPr>
          <p:cNvPr id="14" name="Shape 12"/>
          <p:cNvSpPr/>
          <p:nvPr/>
        </p:nvSpPr>
        <p:spPr>
          <a:xfrm>
            <a:off x="804672" y="3474720"/>
            <a:ext cx="384048" cy="384048"/>
          </a:xfrm>
          <a:prstGeom prst="ellipse">
            <a:avLst/>
          </a:prstGeom>
          <a:solidFill>
            <a:srgbClr val="0070C0"/>
          </a:solidFill>
          <a:ln w="12700">
            <a:solidFill>
              <a:srgbClr val="0070C0"/>
            </a:solidFill>
            <a:prstDash val="solid"/>
          </a:ln>
        </p:spPr>
      </p:sp>
      <p:sp>
        <p:nvSpPr>
          <p:cNvPr id="15" name="Text 13"/>
          <p:cNvSpPr txBox="1"/>
          <p:nvPr/>
        </p:nvSpPr>
        <p:spPr>
          <a:xfrm>
            <a:off x="804672"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1335024" y="3474720"/>
            <a:ext cx="3337560" cy="384048"/>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Create fine labels</a:t>
            </a:r>
            <a:endParaRPr lang="en-US" sz="1600" dirty="0"/>
          </a:p>
        </p:txBody>
      </p:sp>
      <p:sp>
        <p:nvSpPr>
          <p:cNvPr id="17" name="Text 15"/>
          <p:cNvSpPr txBox="1"/>
          <p:nvPr/>
        </p:nvSpPr>
        <p:spPr>
          <a:xfrm>
            <a:off x="841248" y="3986784"/>
            <a:ext cx="3767328" cy="731520"/>
          </a:xfrm>
          <a:prstGeom prst="rect">
            <a:avLst/>
          </a:prstGeom>
          <a:noFill/>
          <a:ln/>
        </p:spPr>
        <p:txBody>
          <a:bodyPr wrap="square" lIns="0" tIns="0" rIns="0" bIns="0" rtlCol="0" anchor="ctr"/>
          <a:lstStyle/>
          <a:p>
            <a:pPr indent="0" marL="0">
              <a:lnSpc>
                <a:spcPts val="1800"/>
              </a:lnSpc>
              <a:buNone/>
            </a:pPr>
            <a:r>
              <a:rPr lang="en-US" sz="1300" dirty="0">
                <a:solidFill>
                  <a:srgbClr val="1A1A1A"/>
                </a:solidFill>
                <a:latin typeface="Arial" pitchFamily="34" charset="0"/>
                <a:ea typeface="Arial" pitchFamily="34" charset="-122"/>
                <a:cs typeface="Arial" pitchFamily="34" charset="-120"/>
              </a:rPr>
              <a:t>Derive the five levels automatically from binary fresh/rotten data, without manual annotation.</a:t>
            </a:r>
            <a:endParaRPr lang="en-US" sz="1300" dirty="0"/>
          </a:p>
        </p:txBody>
      </p:sp>
      <p:sp>
        <p:nvSpPr>
          <p:cNvPr id="18" name="Shape 16"/>
          <p:cNvSpPr/>
          <p:nvPr/>
        </p:nvSpPr>
        <p:spPr>
          <a:xfrm>
            <a:off x="5193792" y="3200400"/>
            <a:ext cx="4315968" cy="1627632"/>
          </a:xfrm>
          <a:prstGeom prst="roundRect">
            <a:avLst>
              <a:gd name="adj" fmla="val 4494"/>
            </a:avLst>
          </a:prstGeom>
          <a:solidFill>
            <a:srgbClr val="EAF3FB"/>
          </a:solidFill>
          <a:ln w="12700">
            <a:solidFill>
              <a:srgbClr val="D6DEE8"/>
            </a:solidFill>
            <a:prstDash val="solid"/>
          </a:ln>
        </p:spPr>
      </p:sp>
      <p:sp>
        <p:nvSpPr>
          <p:cNvPr id="19" name="Shape 17"/>
          <p:cNvSpPr/>
          <p:nvPr/>
        </p:nvSpPr>
        <p:spPr>
          <a:xfrm>
            <a:off x="5431536" y="3474720"/>
            <a:ext cx="384048" cy="384048"/>
          </a:xfrm>
          <a:prstGeom prst="ellipse">
            <a:avLst/>
          </a:prstGeom>
          <a:solidFill>
            <a:srgbClr val="0070C0"/>
          </a:solidFill>
          <a:ln w="12700">
            <a:solidFill>
              <a:srgbClr val="0070C0"/>
            </a:solidFill>
            <a:prstDash val="solid"/>
          </a:ln>
        </p:spPr>
      </p:sp>
      <p:sp>
        <p:nvSpPr>
          <p:cNvPr id="20" name="Text 18"/>
          <p:cNvSpPr txBox="1"/>
          <p:nvPr/>
        </p:nvSpPr>
        <p:spPr>
          <a:xfrm>
            <a:off x="5431536"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1" name="Text 19"/>
          <p:cNvSpPr txBox="1"/>
          <p:nvPr/>
        </p:nvSpPr>
        <p:spPr>
          <a:xfrm>
            <a:off x="5961888" y="3474720"/>
            <a:ext cx="3337560" cy="384048"/>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Reject bad input</a:t>
            </a:r>
            <a:endParaRPr lang="en-US" sz="1600" dirty="0"/>
          </a:p>
        </p:txBody>
      </p:sp>
      <p:sp>
        <p:nvSpPr>
          <p:cNvPr id="22" name="Text 20"/>
          <p:cNvSpPr txBox="1"/>
          <p:nvPr/>
        </p:nvSpPr>
        <p:spPr>
          <a:xfrm>
            <a:off x="5468112" y="3986784"/>
            <a:ext cx="3767328" cy="731520"/>
          </a:xfrm>
          <a:prstGeom prst="rect">
            <a:avLst/>
          </a:prstGeom>
          <a:noFill/>
          <a:ln/>
        </p:spPr>
        <p:txBody>
          <a:bodyPr wrap="square" lIns="0" tIns="0" rIns="0" bIns="0" rtlCol="0" anchor="ctr"/>
          <a:lstStyle/>
          <a:p>
            <a:pPr indent="0" marL="0">
              <a:lnSpc>
                <a:spcPts val="1800"/>
              </a:lnSpc>
              <a:buNone/>
            </a:pPr>
            <a:r>
              <a:rPr lang="en-US" sz="1300" dirty="0">
                <a:solidFill>
                  <a:srgbClr val="1A1A1A"/>
                </a:solidFill>
                <a:latin typeface="Arial" pitchFamily="34" charset="0"/>
                <a:ea typeface="Arial" pitchFamily="34" charset="-122"/>
                <a:cs typeface="Arial" pitchFamily="34" charset="-120"/>
              </a:rPr>
              <a:t>Use an ImageNet gatekeeper so non-produce photos are refused instead of misclassified.</a:t>
            </a:r>
            <a:endParaRPr lang="en-US" sz="1300" dirty="0"/>
          </a:p>
        </p:txBody>
      </p:sp>
      <p:sp>
        <p:nvSpPr>
          <p:cNvPr id="23" name="Shape 21"/>
          <p:cNvSpPr/>
          <p:nvPr/>
        </p:nvSpPr>
        <p:spPr>
          <a:xfrm>
            <a:off x="566928" y="5029200"/>
            <a:ext cx="4315968" cy="1627632"/>
          </a:xfrm>
          <a:prstGeom prst="roundRect">
            <a:avLst>
              <a:gd name="adj" fmla="val 4494"/>
            </a:avLst>
          </a:prstGeom>
          <a:solidFill>
            <a:srgbClr val="FFFFFF"/>
          </a:solidFill>
          <a:ln w="12700">
            <a:solidFill>
              <a:srgbClr val="D6DEE8"/>
            </a:solidFill>
            <a:prstDash val="solid"/>
          </a:ln>
        </p:spPr>
      </p:sp>
      <p:sp>
        <p:nvSpPr>
          <p:cNvPr id="24" name="Shape 22"/>
          <p:cNvSpPr/>
          <p:nvPr/>
        </p:nvSpPr>
        <p:spPr>
          <a:xfrm>
            <a:off x="804672" y="5303520"/>
            <a:ext cx="384048" cy="384048"/>
          </a:xfrm>
          <a:prstGeom prst="ellipse">
            <a:avLst/>
          </a:prstGeom>
          <a:solidFill>
            <a:srgbClr val="0070C0"/>
          </a:solidFill>
          <a:ln w="12700">
            <a:solidFill>
              <a:srgbClr val="0070C0"/>
            </a:solidFill>
            <a:prstDash val="solid"/>
          </a:ln>
        </p:spPr>
      </p:sp>
      <p:sp>
        <p:nvSpPr>
          <p:cNvPr id="25" name="Text 23"/>
          <p:cNvSpPr txBox="1"/>
          <p:nvPr/>
        </p:nvSpPr>
        <p:spPr>
          <a:xfrm>
            <a:off x="804672"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335024" y="5303520"/>
            <a:ext cx="3337560" cy="384048"/>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Stay explainable</a:t>
            </a:r>
            <a:endParaRPr lang="en-US" sz="1600" dirty="0"/>
          </a:p>
        </p:txBody>
      </p:sp>
      <p:sp>
        <p:nvSpPr>
          <p:cNvPr id="27" name="Text 25"/>
          <p:cNvSpPr txBox="1"/>
          <p:nvPr/>
        </p:nvSpPr>
        <p:spPr>
          <a:xfrm>
            <a:off x="841248" y="5815584"/>
            <a:ext cx="3767328" cy="731520"/>
          </a:xfrm>
          <a:prstGeom prst="rect">
            <a:avLst/>
          </a:prstGeom>
          <a:noFill/>
          <a:ln/>
        </p:spPr>
        <p:txBody>
          <a:bodyPr wrap="square" lIns="0" tIns="0" rIns="0" bIns="0" rtlCol="0" anchor="ctr"/>
          <a:lstStyle/>
          <a:p>
            <a:pPr indent="0" marL="0">
              <a:lnSpc>
                <a:spcPts val="1800"/>
              </a:lnSpc>
              <a:buNone/>
            </a:pPr>
            <a:r>
              <a:rPr lang="en-US" sz="1300" dirty="0">
                <a:solidFill>
                  <a:srgbClr val="1A1A1A"/>
                </a:solidFill>
                <a:latin typeface="Arial" pitchFamily="34" charset="0"/>
                <a:ea typeface="Arial" pitchFamily="34" charset="-122"/>
                <a:cs typeface="Arial" pitchFamily="34" charset="-120"/>
              </a:rPr>
              <a:t>Surface top-3 identity scores, the full freshness distribution, shelf life and latency.</a:t>
            </a:r>
            <a:endParaRPr lang="en-US" sz="1300" dirty="0"/>
          </a:p>
        </p:txBody>
      </p:sp>
      <p:sp>
        <p:nvSpPr>
          <p:cNvPr id="28" name="Shape 26"/>
          <p:cNvSpPr/>
          <p:nvPr/>
        </p:nvSpPr>
        <p:spPr>
          <a:xfrm>
            <a:off x="5193792" y="5029200"/>
            <a:ext cx="4315968" cy="1627632"/>
          </a:xfrm>
          <a:prstGeom prst="roundRect">
            <a:avLst>
              <a:gd name="adj" fmla="val 4494"/>
            </a:avLst>
          </a:prstGeom>
          <a:solidFill>
            <a:srgbClr val="FFFFFF"/>
          </a:solidFill>
          <a:ln w="12700">
            <a:solidFill>
              <a:srgbClr val="D6DEE8"/>
            </a:solidFill>
            <a:prstDash val="solid"/>
          </a:ln>
        </p:spPr>
      </p:sp>
      <p:sp>
        <p:nvSpPr>
          <p:cNvPr id="29" name="Shape 27"/>
          <p:cNvSpPr/>
          <p:nvPr/>
        </p:nvSpPr>
        <p:spPr>
          <a:xfrm>
            <a:off x="5431536" y="5303520"/>
            <a:ext cx="384048" cy="384048"/>
          </a:xfrm>
          <a:prstGeom prst="ellipse">
            <a:avLst/>
          </a:prstGeom>
          <a:solidFill>
            <a:srgbClr val="0070C0"/>
          </a:solidFill>
          <a:ln w="12700">
            <a:solidFill>
              <a:srgbClr val="0070C0"/>
            </a:solidFill>
            <a:prstDash val="solid"/>
          </a:ln>
        </p:spPr>
      </p:sp>
      <p:sp>
        <p:nvSpPr>
          <p:cNvPr id="30" name="Text 28"/>
          <p:cNvSpPr txBox="1"/>
          <p:nvPr/>
        </p:nvSpPr>
        <p:spPr>
          <a:xfrm>
            <a:off x="5431536"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1" name="Text 29"/>
          <p:cNvSpPr txBox="1"/>
          <p:nvPr/>
        </p:nvSpPr>
        <p:spPr>
          <a:xfrm>
            <a:off x="5961888" y="5303520"/>
            <a:ext cx="3337560" cy="384048"/>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Deploy end-to-end</a:t>
            </a:r>
            <a:endParaRPr lang="en-US" sz="1600" dirty="0"/>
          </a:p>
        </p:txBody>
      </p:sp>
      <p:sp>
        <p:nvSpPr>
          <p:cNvPr id="32" name="Text 30"/>
          <p:cNvSpPr txBox="1"/>
          <p:nvPr/>
        </p:nvSpPr>
        <p:spPr>
          <a:xfrm>
            <a:off x="5468112" y="5815584"/>
            <a:ext cx="3767328" cy="731520"/>
          </a:xfrm>
          <a:prstGeom prst="rect">
            <a:avLst/>
          </a:prstGeom>
          <a:noFill/>
          <a:ln/>
        </p:spPr>
        <p:txBody>
          <a:bodyPr wrap="square" lIns="0" tIns="0" rIns="0" bIns="0" rtlCol="0" anchor="ctr"/>
          <a:lstStyle/>
          <a:p>
            <a:pPr indent="0" marL="0">
              <a:lnSpc>
                <a:spcPts val="1800"/>
              </a:lnSpc>
              <a:buNone/>
            </a:pPr>
            <a:r>
              <a:rPr lang="en-US" sz="1300" dirty="0">
                <a:solidFill>
                  <a:srgbClr val="1A1A1A"/>
                </a:solidFill>
                <a:latin typeface="Arial" pitchFamily="34" charset="0"/>
                <a:ea typeface="Arial" pitchFamily="34" charset="-122"/>
                <a:cs typeface="Arial" pitchFamily="34" charset="-120"/>
              </a:rPr>
              <a:t>Serve the pipeline as a REST API behind a responsive single-page web application.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METHODOLOGY — SYSTEM ARCHITECTURE</a:t>
            </a:r>
            <a:endParaRPr lang="en-US" sz="3000" dirty="0"/>
          </a:p>
        </p:txBody>
      </p:sp>
      <p:sp>
        <p:nvSpPr>
          <p:cNvPr id="3" name="Text 1"/>
          <p:cNvSpPr txBox="1"/>
          <p:nvPr/>
        </p:nvSpPr>
        <p:spPr>
          <a:xfrm>
            <a:off x="566928" y="969264"/>
            <a:ext cx="8942832" cy="274320"/>
          </a:xfrm>
          <a:prstGeom prst="rect">
            <a:avLst/>
          </a:prstGeom>
          <a:noFill/>
          <a:ln/>
        </p:spPr>
        <p:txBody>
          <a:bodyPr wrap="square" lIns="0" tIns="0" rIns="0" bIns="0" rtlCol="0" anchor="ctr"/>
          <a:lstStyle/>
          <a:p>
            <a:pPr algn="ctr" indent="0" marL="0">
              <a:buNone/>
            </a:pPr>
            <a:r>
              <a:rPr lang="en-US" sz="1300" i="1" dirty="0">
                <a:solidFill>
                  <a:srgbClr val="5A6472"/>
                </a:solidFill>
                <a:latin typeface="Arial" pitchFamily="34" charset="0"/>
                <a:ea typeface="Arial" pitchFamily="34" charset="-122"/>
                <a:cs typeface="Arial" pitchFamily="34" charset="-120"/>
              </a:rPr>
              <a:t>One image in, three models, one auditable verdict</a:t>
            </a:r>
            <a:endParaRPr lang="en-US" sz="1300" dirty="0"/>
          </a:p>
        </p:txBody>
      </p:sp>
      <p:sp>
        <p:nvSpPr>
          <p:cNvPr id="4" name="Shape 2"/>
          <p:cNvSpPr/>
          <p:nvPr/>
        </p:nvSpPr>
        <p:spPr>
          <a:xfrm>
            <a:off x="2043684" y="1371600"/>
            <a:ext cx="2788920" cy="1005840"/>
          </a:xfrm>
          <a:prstGeom prst="roundRect">
            <a:avLst>
              <a:gd name="adj" fmla="val 7273"/>
            </a:avLst>
          </a:prstGeom>
          <a:solidFill>
            <a:srgbClr val="EAF3FB"/>
          </a:solidFill>
          <a:ln w="12700">
            <a:solidFill>
              <a:srgbClr val="D6DEE8"/>
            </a:solidFill>
            <a:prstDash val="solid"/>
          </a:ln>
        </p:spPr>
      </p:sp>
      <p:sp>
        <p:nvSpPr>
          <p:cNvPr id="5" name="Text 3"/>
          <p:cNvSpPr txBox="1"/>
          <p:nvPr/>
        </p:nvSpPr>
        <p:spPr>
          <a:xfrm>
            <a:off x="2171700" y="1481328"/>
            <a:ext cx="2532888" cy="786384"/>
          </a:xfrm>
          <a:prstGeom prst="rect">
            <a:avLst/>
          </a:prstGeom>
          <a:noFill/>
          <a:ln/>
        </p:spPr>
        <p:txBody>
          <a:bodyPr wrap="square" lIns="0" tIns="0" rIns="0" bIns="0" rtlCol="0" anchor="ctr"/>
          <a:lstStyle/>
          <a:p>
            <a:pPr algn="ctr" indent="0" marL="0">
              <a:lnSpc>
                <a:spcPts val="1700"/>
              </a:lnSpc>
              <a:buNone/>
            </a:pPr>
            <a:r>
              <a:rPr lang="en-US" sz="1400" b="1" dirty="0">
                <a:solidFill>
                  <a:srgbClr val="0070C0"/>
                </a:solidFill>
                <a:latin typeface="Arial" pitchFamily="34" charset="0"/>
                <a:ea typeface="Arial" pitchFamily="34" charset="-122"/>
                <a:cs typeface="Arial" pitchFamily="34" charset="-120"/>
              </a:rPr>
              <a:t>Input image</a:t>
            </a:r>
            <a:endParaRPr lang="en-US" sz="1400" dirty="0"/>
          </a:p>
          <a:p>
            <a:pPr algn="ctr" indent="0" marL="0">
              <a:lnSpc>
                <a:spcPts val="1700"/>
              </a:lnSpc>
              <a:buNone/>
            </a:pPr>
            <a:r>
              <a:rPr lang="en-US" sz="1150" dirty="0">
                <a:solidFill>
                  <a:srgbClr val="5A6472"/>
                </a:solidFill>
                <a:latin typeface="Arial" pitchFamily="34" charset="0"/>
                <a:ea typeface="Arial" pitchFamily="34" charset="-122"/>
                <a:cs typeface="Arial" pitchFamily="34" charset="-120"/>
              </a:rPr>
              <a:t>JPG / PNG / WEBP, up to 10 MB</a:t>
            </a:r>
            <a:endParaRPr lang="en-US" sz="1400" dirty="0"/>
          </a:p>
        </p:txBody>
      </p:sp>
      <p:sp>
        <p:nvSpPr>
          <p:cNvPr id="6" name="Shape 4"/>
          <p:cNvSpPr/>
          <p:nvPr/>
        </p:nvSpPr>
        <p:spPr>
          <a:xfrm>
            <a:off x="5244084" y="1371600"/>
            <a:ext cx="2788920" cy="1005840"/>
          </a:xfrm>
          <a:prstGeom prst="roundRect">
            <a:avLst>
              <a:gd name="adj" fmla="val 7273"/>
            </a:avLst>
          </a:prstGeom>
          <a:solidFill>
            <a:srgbClr val="EAF3FB"/>
          </a:solidFill>
          <a:ln w="12700">
            <a:solidFill>
              <a:srgbClr val="D6DEE8"/>
            </a:solidFill>
            <a:prstDash val="solid"/>
          </a:ln>
        </p:spPr>
      </p:sp>
      <p:sp>
        <p:nvSpPr>
          <p:cNvPr id="7" name="Text 5"/>
          <p:cNvSpPr txBox="1"/>
          <p:nvPr/>
        </p:nvSpPr>
        <p:spPr>
          <a:xfrm>
            <a:off x="5372100" y="1481328"/>
            <a:ext cx="2532888" cy="786384"/>
          </a:xfrm>
          <a:prstGeom prst="rect">
            <a:avLst/>
          </a:prstGeom>
          <a:noFill/>
          <a:ln/>
        </p:spPr>
        <p:txBody>
          <a:bodyPr wrap="square" lIns="0" tIns="0" rIns="0" bIns="0" rtlCol="0" anchor="ctr"/>
          <a:lstStyle/>
          <a:p>
            <a:pPr algn="ctr" indent="0" marL="0">
              <a:lnSpc>
                <a:spcPts val="1700"/>
              </a:lnSpc>
              <a:buNone/>
            </a:pPr>
            <a:r>
              <a:rPr lang="en-US" sz="1400" b="1" dirty="0">
                <a:solidFill>
                  <a:srgbClr val="0070C0"/>
                </a:solidFill>
                <a:latin typeface="Arial" pitchFamily="34" charset="0"/>
                <a:ea typeface="Arial" pitchFamily="34" charset="-122"/>
                <a:cs typeface="Arial" pitchFamily="34" charset="-120"/>
              </a:rPr>
              <a:t>Preprocess</a:t>
            </a:r>
            <a:endParaRPr lang="en-US" sz="1400" dirty="0"/>
          </a:p>
          <a:p>
            <a:pPr algn="ctr" indent="0" marL="0">
              <a:lnSpc>
                <a:spcPts val="1700"/>
              </a:lnSpc>
              <a:buNone/>
            </a:pPr>
            <a:r>
              <a:rPr lang="en-US" sz="1150" dirty="0">
                <a:solidFill>
                  <a:srgbClr val="5A6472"/>
                </a:solidFill>
                <a:latin typeface="Arial" pitchFamily="34" charset="0"/>
                <a:ea typeface="Arial" pitchFamily="34" charset="-122"/>
                <a:cs typeface="Arial" pitchFamily="34" charset="-120"/>
              </a:rPr>
              <a:t>Resize 224x224, MobileNetV2 normalisation</a:t>
            </a:r>
            <a:endParaRPr lang="en-US" sz="1400" dirty="0"/>
          </a:p>
        </p:txBody>
      </p:sp>
      <p:sp>
        <p:nvSpPr>
          <p:cNvPr id="8" name="Shape 6"/>
          <p:cNvSpPr/>
          <p:nvPr/>
        </p:nvSpPr>
        <p:spPr>
          <a:xfrm>
            <a:off x="4905756" y="1737360"/>
            <a:ext cx="265176" cy="274320"/>
          </a:xfrm>
          <a:prstGeom prst="rightArrow">
            <a:avLst/>
          </a:prstGeom>
          <a:solidFill>
            <a:srgbClr val="0070C0"/>
          </a:solidFill>
          <a:ln w="12700">
            <a:solidFill>
              <a:srgbClr val="0070C0"/>
            </a:solidFill>
            <a:prstDash val="solid"/>
          </a:ln>
        </p:spPr>
      </p:sp>
      <p:sp>
        <p:nvSpPr>
          <p:cNvPr id="9" name="Shape 7"/>
          <p:cNvSpPr/>
          <p:nvPr/>
        </p:nvSpPr>
        <p:spPr>
          <a:xfrm>
            <a:off x="6501384" y="2432304"/>
            <a:ext cx="274320" cy="310896"/>
          </a:xfrm>
          <a:prstGeom prst="downArrow">
            <a:avLst/>
          </a:prstGeom>
          <a:solidFill>
            <a:srgbClr val="0070C0"/>
          </a:solidFill>
          <a:ln w="12700">
            <a:solidFill>
              <a:srgbClr val="0070C0"/>
            </a:solidFill>
            <a:prstDash val="solid"/>
          </a:ln>
        </p:spPr>
      </p:sp>
      <p:sp>
        <p:nvSpPr>
          <p:cNvPr id="10" name="Shape 8"/>
          <p:cNvSpPr/>
          <p:nvPr/>
        </p:nvSpPr>
        <p:spPr>
          <a:xfrm>
            <a:off x="566928" y="2999232"/>
            <a:ext cx="2798064" cy="2423160"/>
          </a:xfrm>
          <a:prstGeom prst="roundRect">
            <a:avLst>
              <a:gd name="adj" fmla="val 3019"/>
            </a:avLst>
          </a:prstGeom>
          <a:solidFill>
            <a:srgbClr val="FFFFFF"/>
          </a:solidFill>
          <a:ln w="12700">
            <a:solidFill>
              <a:srgbClr val="0070C0"/>
            </a:solidFill>
            <a:prstDash val="solid"/>
          </a:ln>
        </p:spPr>
      </p:sp>
      <p:sp>
        <p:nvSpPr>
          <p:cNvPr id="11" name="Shape 9"/>
          <p:cNvSpPr/>
          <p:nvPr/>
        </p:nvSpPr>
        <p:spPr>
          <a:xfrm>
            <a:off x="1773936" y="2880360"/>
            <a:ext cx="384048" cy="384048"/>
          </a:xfrm>
          <a:prstGeom prst="ellipse">
            <a:avLst/>
          </a:prstGeom>
          <a:solidFill>
            <a:srgbClr val="0070C0"/>
          </a:solidFill>
          <a:ln w="12700">
            <a:solidFill>
              <a:srgbClr val="0070C0"/>
            </a:solidFill>
            <a:prstDash val="solid"/>
          </a:ln>
        </p:spPr>
      </p:sp>
      <p:sp>
        <p:nvSpPr>
          <p:cNvPr id="12" name="Text 10"/>
          <p:cNvSpPr txBox="1"/>
          <p:nvPr/>
        </p:nvSpPr>
        <p:spPr>
          <a:xfrm>
            <a:off x="1773936" y="2880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3" name="Text 11"/>
          <p:cNvSpPr txBox="1"/>
          <p:nvPr/>
        </p:nvSpPr>
        <p:spPr>
          <a:xfrm>
            <a:off x="731520" y="3383280"/>
            <a:ext cx="2468880" cy="548640"/>
          </a:xfrm>
          <a:prstGeom prst="rect">
            <a:avLst/>
          </a:prstGeom>
          <a:noFill/>
          <a:ln/>
        </p:spPr>
        <p:txBody>
          <a:bodyPr wrap="square" lIns="0" tIns="0" rIns="0" bIns="0" rtlCol="0" anchor="ctr"/>
          <a:lstStyle/>
          <a:p>
            <a:pPr algn="ctr" indent="0" marL="0">
              <a:buNone/>
            </a:pPr>
            <a:r>
              <a:rPr lang="en-US" sz="1450" b="1" dirty="0">
                <a:solidFill>
                  <a:srgbClr val="0070C0"/>
                </a:solidFill>
                <a:latin typeface="Arial" pitchFamily="34" charset="0"/>
                <a:ea typeface="Arial" pitchFamily="34" charset="-122"/>
                <a:cs typeface="Arial" pitchFamily="34" charset="-120"/>
              </a:rPr>
              <a:t>Model 1 — Gatekeeper</a:t>
            </a:r>
            <a:endParaRPr lang="en-US" sz="1450" dirty="0"/>
          </a:p>
        </p:txBody>
      </p:sp>
      <p:sp>
        <p:nvSpPr>
          <p:cNvPr id="14" name="Text 12"/>
          <p:cNvSpPr txBox="1"/>
          <p:nvPr/>
        </p:nvSpPr>
        <p:spPr>
          <a:xfrm>
            <a:off x="749808" y="3968496"/>
            <a:ext cx="2432304" cy="960120"/>
          </a:xfrm>
          <a:prstGeom prst="rect">
            <a:avLst/>
          </a:prstGeom>
          <a:noFill/>
          <a:ln/>
        </p:spPr>
        <p:txBody>
          <a:bodyPr wrap="square" lIns="0" tIns="0" rIns="0" bIns="0" rtlCol="0" anchor="ctr"/>
          <a:lstStyle/>
          <a:p>
            <a:pPr algn="ctr" indent="0" marL="0">
              <a:lnSpc>
                <a:spcPts val="1600"/>
              </a:lnSpc>
              <a:buNone/>
            </a:pPr>
            <a:r>
              <a:rPr lang="en-US" sz="1200" dirty="0">
                <a:solidFill>
                  <a:srgbClr val="1A1A1A"/>
                </a:solidFill>
                <a:latin typeface="Arial" pitchFamily="34" charset="0"/>
                <a:ea typeface="Arial" pitchFamily="34" charset="-122"/>
                <a:cs typeface="Arial" pitchFamily="34" charset="-120"/>
              </a:rPr>
              <a:t>Pretrained MobileNetV2 (ImageNet, 1000 classes). Scans the top-5 labels for food keywords and rejects non-produce photos.</a:t>
            </a:r>
            <a:endParaRPr lang="en-US" sz="1200" dirty="0"/>
          </a:p>
        </p:txBody>
      </p:sp>
      <p:sp>
        <p:nvSpPr>
          <p:cNvPr id="15" name="Text 13"/>
          <p:cNvSpPr txBox="1"/>
          <p:nvPr/>
        </p:nvSpPr>
        <p:spPr>
          <a:xfrm>
            <a:off x="731520" y="5047488"/>
            <a:ext cx="2468880" cy="274320"/>
          </a:xfrm>
          <a:prstGeom prst="rect">
            <a:avLst/>
          </a:prstGeom>
          <a:noFill/>
          <a:ln/>
        </p:spPr>
        <p:txBody>
          <a:bodyPr wrap="square" lIns="0" tIns="0" rIns="0" bIns="0" rtlCol="0" anchor="ctr"/>
          <a:lstStyle/>
          <a:p>
            <a:pPr algn="ctr" indent="0" marL="0">
              <a:buNone/>
            </a:pPr>
            <a:r>
              <a:rPr lang="en-US" sz="1100" i="1" dirty="0">
                <a:solidFill>
                  <a:srgbClr val="5A6472"/>
                </a:solidFill>
                <a:latin typeface="Arial" pitchFamily="34" charset="0"/>
                <a:ea typeface="Arial" pitchFamily="34" charset="-122"/>
                <a:cs typeface="Arial" pitchFamily="34" charset="-120"/>
              </a:rPr>
              <a:t>Off-the-shelf, no training</a:t>
            </a:r>
            <a:endParaRPr lang="en-US" sz="1100" dirty="0"/>
          </a:p>
        </p:txBody>
      </p:sp>
      <p:sp>
        <p:nvSpPr>
          <p:cNvPr id="16" name="Shape 14"/>
          <p:cNvSpPr/>
          <p:nvPr/>
        </p:nvSpPr>
        <p:spPr>
          <a:xfrm>
            <a:off x="3639312" y="2999232"/>
            <a:ext cx="2798064" cy="2423160"/>
          </a:xfrm>
          <a:prstGeom prst="roundRect">
            <a:avLst>
              <a:gd name="adj" fmla="val 3019"/>
            </a:avLst>
          </a:prstGeom>
          <a:solidFill>
            <a:srgbClr val="FFFFFF"/>
          </a:solidFill>
          <a:ln w="12700">
            <a:solidFill>
              <a:srgbClr val="1F8A4C"/>
            </a:solidFill>
            <a:prstDash val="solid"/>
          </a:ln>
        </p:spPr>
      </p:sp>
      <p:sp>
        <p:nvSpPr>
          <p:cNvPr id="17" name="Shape 15"/>
          <p:cNvSpPr/>
          <p:nvPr/>
        </p:nvSpPr>
        <p:spPr>
          <a:xfrm>
            <a:off x="4846320" y="2880360"/>
            <a:ext cx="384048" cy="384048"/>
          </a:xfrm>
          <a:prstGeom prst="ellipse">
            <a:avLst/>
          </a:prstGeom>
          <a:solidFill>
            <a:srgbClr val="1F8A4C"/>
          </a:solidFill>
          <a:ln w="12700">
            <a:solidFill>
              <a:srgbClr val="1F8A4C"/>
            </a:solidFill>
            <a:prstDash val="solid"/>
          </a:ln>
        </p:spPr>
      </p:sp>
      <p:sp>
        <p:nvSpPr>
          <p:cNvPr id="18" name="Text 16"/>
          <p:cNvSpPr txBox="1"/>
          <p:nvPr/>
        </p:nvSpPr>
        <p:spPr>
          <a:xfrm>
            <a:off x="4846320" y="2880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9" name="Text 17"/>
          <p:cNvSpPr txBox="1"/>
          <p:nvPr/>
        </p:nvSpPr>
        <p:spPr>
          <a:xfrm>
            <a:off x="3803904" y="3383280"/>
            <a:ext cx="2468880" cy="548640"/>
          </a:xfrm>
          <a:prstGeom prst="rect">
            <a:avLst/>
          </a:prstGeom>
          <a:noFill/>
          <a:ln/>
        </p:spPr>
        <p:txBody>
          <a:bodyPr wrap="square" lIns="0" tIns="0" rIns="0" bIns="0" rtlCol="0" anchor="ctr"/>
          <a:lstStyle/>
          <a:p>
            <a:pPr algn="ctr" indent="0" marL="0">
              <a:buNone/>
            </a:pPr>
            <a:r>
              <a:rPr lang="en-US" sz="1450" b="1" dirty="0">
                <a:solidFill>
                  <a:srgbClr val="1F8A4C"/>
                </a:solidFill>
                <a:latin typeface="Arial" pitchFamily="34" charset="0"/>
                <a:ea typeface="Arial" pitchFamily="34" charset="-122"/>
                <a:cs typeface="Arial" pitchFamily="34" charset="-120"/>
              </a:rPr>
              <a:t>Model 2 — Produce identifier</a:t>
            </a:r>
            <a:endParaRPr lang="en-US" sz="1450" dirty="0"/>
          </a:p>
        </p:txBody>
      </p:sp>
      <p:sp>
        <p:nvSpPr>
          <p:cNvPr id="20" name="Text 18"/>
          <p:cNvSpPr txBox="1"/>
          <p:nvPr/>
        </p:nvSpPr>
        <p:spPr>
          <a:xfrm>
            <a:off x="3822192" y="3968496"/>
            <a:ext cx="2432304" cy="960120"/>
          </a:xfrm>
          <a:prstGeom prst="rect">
            <a:avLst/>
          </a:prstGeom>
          <a:noFill/>
          <a:ln/>
        </p:spPr>
        <p:txBody>
          <a:bodyPr wrap="square" lIns="0" tIns="0" rIns="0" bIns="0" rtlCol="0" anchor="ctr"/>
          <a:lstStyle/>
          <a:p>
            <a:pPr algn="ctr" indent="0" marL="0">
              <a:lnSpc>
                <a:spcPts val="1600"/>
              </a:lnSpc>
              <a:buNone/>
            </a:pPr>
            <a:r>
              <a:rPr lang="en-US" sz="1200" dirty="0">
                <a:solidFill>
                  <a:srgbClr val="1A1A1A"/>
                </a:solidFill>
                <a:latin typeface="Arial" pitchFamily="34" charset="0"/>
                <a:ea typeface="Arial" pitchFamily="34" charset="-122"/>
                <a:cs typeface="Arial" pitchFamily="34" charset="-120"/>
              </a:rPr>
              <a:t>MobileNetV2 backbone + custom head, fine-tuned on the unified dataset. Outputs 14 produce classes with a top-3 breakdown.</a:t>
            </a:r>
            <a:endParaRPr lang="en-US" sz="1200" dirty="0"/>
          </a:p>
        </p:txBody>
      </p:sp>
      <p:sp>
        <p:nvSpPr>
          <p:cNvPr id="21" name="Text 19"/>
          <p:cNvSpPr txBox="1"/>
          <p:nvPr/>
        </p:nvSpPr>
        <p:spPr>
          <a:xfrm>
            <a:off x="3803904" y="5047488"/>
            <a:ext cx="2468880" cy="274320"/>
          </a:xfrm>
          <a:prstGeom prst="rect">
            <a:avLst/>
          </a:prstGeom>
          <a:noFill/>
          <a:ln/>
        </p:spPr>
        <p:txBody>
          <a:bodyPr wrap="square" lIns="0" tIns="0" rIns="0" bIns="0" rtlCol="0" anchor="ctr"/>
          <a:lstStyle/>
          <a:p>
            <a:pPr algn="ctr" indent="0" marL="0">
              <a:buNone/>
            </a:pPr>
            <a:r>
              <a:rPr lang="en-US" sz="1100" i="1" dirty="0">
                <a:solidFill>
                  <a:srgbClr val="5A6472"/>
                </a:solidFill>
                <a:latin typeface="Arial" pitchFamily="34" charset="0"/>
                <a:ea typeface="Arial" pitchFamily="34" charset="-122"/>
                <a:cs typeface="Arial" pitchFamily="34" charset="-120"/>
              </a:rPr>
              <a:t>Dense(14, softmax)</a:t>
            </a:r>
            <a:endParaRPr lang="en-US" sz="1100" dirty="0"/>
          </a:p>
        </p:txBody>
      </p:sp>
      <p:sp>
        <p:nvSpPr>
          <p:cNvPr id="22" name="Shape 20"/>
          <p:cNvSpPr/>
          <p:nvPr/>
        </p:nvSpPr>
        <p:spPr>
          <a:xfrm>
            <a:off x="6711696" y="2999232"/>
            <a:ext cx="2798064" cy="2423160"/>
          </a:xfrm>
          <a:prstGeom prst="roundRect">
            <a:avLst>
              <a:gd name="adj" fmla="val 3019"/>
            </a:avLst>
          </a:prstGeom>
          <a:solidFill>
            <a:srgbClr val="FFFFFF"/>
          </a:solidFill>
          <a:ln w="12700">
            <a:solidFill>
              <a:srgbClr val="C77700"/>
            </a:solidFill>
            <a:prstDash val="solid"/>
          </a:ln>
        </p:spPr>
      </p:sp>
      <p:sp>
        <p:nvSpPr>
          <p:cNvPr id="23" name="Shape 21"/>
          <p:cNvSpPr/>
          <p:nvPr/>
        </p:nvSpPr>
        <p:spPr>
          <a:xfrm>
            <a:off x="7918704" y="2880360"/>
            <a:ext cx="384048" cy="384048"/>
          </a:xfrm>
          <a:prstGeom prst="ellipse">
            <a:avLst/>
          </a:prstGeom>
          <a:solidFill>
            <a:srgbClr val="C77700"/>
          </a:solidFill>
          <a:ln w="12700">
            <a:solidFill>
              <a:srgbClr val="C77700"/>
            </a:solidFill>
            <a:prstDash val="solid"/>
          </a:ln>
        </p:spPr>
      </p:sp>
      <p:sp>
        <p:nvSpPr>
          <p:cNvPr id="24" name="Text 22"/>
          <p:cNvSpPr txBox="1"/>
          <p:nvPr/>
        </p:nvSpPr>
        <p:spPr>
          <a:xfrm>
            <a:off x="7918704" y="2880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5" name="Text 23"/>
          <p:cNvSpPr txBox="1"/>
          <p:nvPr/>
        </p:nvSpPr>
        <p:spPr>
          <a:xfrm>
            <a:off x="6876288" y="3383280"/>
            <a:ext cx="2468880" cy="548640"/>
          </a:xfrm>
          <a:prstGeom prst="rect">
            <a:avLst/>
          </a:prstGeom>
          <a:noFill/>
          <a:ln/>
        </p:spPr>
        <p:txBody>
          <a:bodyPr wrap="square" lIns="0" tIns="0" rIns="0" bIns="0" rtlCol="0" anchor="ctr"/>
          <a:lstStyle/>
          <a:p>
            <a:pPr algn="ctr" indent="0" marL="0">
              <a:buNone/>
            </a:pPr>
            <a:r>
              <a:rPr lang="en-US" sz="1450" b="1" dirty="0">
                <a:solidFill>
                  <a:srgbClr val="C77700"/>
                </a:solidFill>
                <a:latin typeface="Arial" pitchFamily="34" charset="0"/>
                <a:ea typeface="Arial" pitchFamily="34" charset="-122"/>
                <a:cs typeface="Arial" pitchFamily="34" charset="-120"/>
              </a:rPr>
              <a:t>Model 3 — Freshness classifier</a:t>
            </a:r>
            <a:endParaRPr lang="en-US" sz="1450" dirty="0"/>
          </a:p>
        </p:txBody>
      </p:sp>
      <p:sp>
        <p:nvSpPr>
          <p:cNvPr id="26" name="Text 24"/>
          <p:cNvSpPr txBox="1"/>
          <p:nvPr/>
        </p:nvSpPr>
        <p:spPr>
          <a:xfrm>
            <a:off x="6894576" y="3968496"/>
            <a:ext cx="2432304" cy="960120"/>
          </a:xfrm>
          <a:prstGeom prst="rect">
            <a:avLst/>
          </a:prstGeom>
          <a:noFill/>
          <a:ln/>
        </p:spPr>
        <p:txBody>
          <a:bodyPr wrap="square" lIns="0" tIns="0" rIns="0" bIns="0" rtlCol="0" anchor="ctr"/>
          <a:lstStyle/>
          <a:p>
            <a:pPr algn="ctr" indent="0" marL="0">
              <a:lnSpc>
                <a:spcPts val="1600"/>
              </a:lnSpc>
              <a:buNone/>
            </a:pPr>
            <a:r>
              <a:rPr lang="en-US" sz="1200" dirty="0">
                <a:solidFill>
                  <a:srgbClr val="1A1A1A"/>
                </a:solidFill>
                <a:latin typeface="Arial" pitchFamily="34" charset="0"/>
                <a:ea typeface="Arial" pitchFamily="34" charset="-122"/>
                <a:cs typeface="Arial" pitchFamily="34" charset="-120"/>
              </a:rPr>
              <a:t>Same backbone, trained on pseudo-labelled data. Outputs 5 decay levels, then calibrated at inference time.</a:t>
            </a:r>
            <a:endParaRPr lang="en-US" sz="1200" dirty="0"/>
          </a:p>
        </p:txBody>
      </p:sp>
      <p:sp>
        <p:nvSpPr>
          <p:cNvPr id="27" name="Text 25"/>
          <p:cNvSpPr txBox="1"/>
          <p:nvPr/>
        </p:nvSpPr>
        <p:spPr>
          <a:xfrm>
            <a:off x="6876288" y="5047488"/>
            <a:ext cx="2468880" cy="274320"/>
          </a:xfrm>
          <a:prstGeom prst="rect">
            <a:avLst/>
          </a:prstGeom>
          <a:noFill/>
          <a:ln/>
        </p:spPr>
        <p:txBody>
          <a:bodyPr wrap="square" lIns="0" tIns="0" rIns="0" bIns="0" rtlCol="0" anchor="ctr"/>
          <a:lstStyle/>
          <a:p>
            <a:pPr algn="ctr" indent="0" marL="0">
              <a:buNone/>
            </a:pPr>
            <a:r>
              <a:rPr lang="en-US" sz="1100" i="1" dirty="0">
                <a:solidFill>
                  <a:srgbClr val="5A6472"/>
                </a:solidFill>
                <a:latin typeface="Arial" pitchFamily="34" charset="0"/>
                <a:ea typeface="Arial" pitchFamily="34" charset="-122"/>
                <a:cs typeface="Arial" pitchFamily="34" charset="-120"/>
              </a:rPr>
              <a:t>Dense(5, softmax)</a:t>
            </a:r>
            <a:endParaRPr lang="en-US" sz="1100" dirty="0"/>
          </a:p>
        </p:txBody>
      </p:sp>
      <p:sp>
        <p:nvSpPr>
          <p:cNvPr id="28" name="Shape 26"/>
          <p:cNvSpPr/>
          <p:nvPr/>
        </p:nvSpPr>
        <p:spPr>
          <a:xfrm>
            <a:off x="566928" y="5669280"/>
            <a:ext cx="8942832" cy="1097280"/>
          </a:xfrm>
          <a:prstGeom prst="roundRect">
            <a:avLst>
              <a:gd name="adj" fmla="val 6667"/>
            </a:avLst>
          </a:prstGeom>
          <a:solidFill>
            <a:srgbClr val="EAF3FB"/>
          </a:solidFill>
          <a:ln w="12700">
            <a:solidFill>
              <a:srgbClr val="D6DEE8"/>
            </a:solidFill>
            <a:prstDash val="solid"/>
          </a:ln>
        </p:spPr>
      </p:sp>
      <p:sp>
        <p:nvSpPr>
          <p:cNvPr id="29" name="Text 27"/>
          <p:cNvSpPr txBox="1"/>
          <p:nvPr/>
        </p:nvSpPr>
        <p:spPr>
          <a:xfrm>
            <a:off x="822960" y="5779008"/>
            <a:ext cx="8430768" cy="877824"/>
          </a:xfrm>
          <a:prstGeom prst="rect">
            <a:avLst/>
          </a:prstGeom>
          <a:noFill/>
          <a:ln/>
        </p:spPr>
        <p:txBody>
          <a:bodyPr wrap="square" lIns="0" tIns="0" rIns="0" bIns="0" rtlCol="0" anchor="ctr"/>
          <a:lstStyle/>
          <a:p>
            <a:pPr indent="0" marL="0">
              <a:lnSpc>
                <a:spcPts val="1900"/>
              </a:lnSpc>
              <a:buNone/>
            </a:pPr>
            <a:r>
              <a:rPr lang="en-US" sz="1400" b="1" dirty="0">
                <a:solidFill>
                  <a:srgbClr val="0070C0"/>
                </a:solidFill>
                <a:latin typeface="Arial" pitchFamily="34" charset="0"/>
                <a:ea typeface="Arial" pitchFamily="34" charset="-122"/>
                <a:cs typeface="Arial" pitchFamily="34" charset="-120"/>
              </a:rPr>
              <a:t>Verdict  </a:t>
            </a:r>
            <a:pPr indent="0" marL="0">
              <a:lnSpc>
                <a:spcPts val="1900"/>
              </a:lnSpc>
              <a:buNone/>
            </a:pPr>
            <a:r>
              <a:rPr lang="en-US" sz="1250" dirty="0">
                <a:solidFill>
                  <a:srgbClr val="1A1A1A"/>
                </a:solidFill>
                <a:latin typeface="Arial" pitchFamily="34" charset="0"/>
                <a:ea typeface="Arial" pitchFamily="34" charset="-122"/>
                <a:cs typeface="Arial" pitchFamily="34" charset="-120"/>
              </a:rPr>
              <a:t>status (ok / uncertain / rejected)  ·  produce label + confidence  ·  freshness level + full distribution  ·  estimated shelf life  ·  inference latency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2500" b="1" dirty="0">
                <a:solidFill>
                  <a:srgbClr val="0070C0"/>
                </a:solidFill>
                <a:latin typeface="Arial" pitchFamily="34" charset="0"/>
                <a:ea typeface="Arial" pitchFamily="34" charset="-122"/>
                <a:cs typeface="Arial" pitchFamily="34" charset="-120"/>
              </a:rPr>
              <a:t>METHODOLOGY — DATA &amp; PSEUDO-LABELLING</a:t>
            </a:r>
            <a:endParaRPr lang="en-US" sz="2500" dirty="0"/>
          </a:p>
        </p:txBody>
      </p:sp>
      <p:sp>
        <p:nvSpPr>
          <p:cNvPr id="3" name="Text 1"/>
          <p:cNvSpPr txBox="1"/>
          <p:nvPr/>
        </p:nvSpPr>
        <p:spPr>
          <a:xfrm>
            <a:off x="566928" y="969264"/>
            <a:ext cx="8942832" cy="274320"/>
          </a:xfrm>
          <a:prstGeom prst="rect">
            <a:avLst/>
          </a:prstGeom>
          <a:noFill/>
          <a:ln/>
        </p:spPr>
        <p:txBody>
          <a:bodyPr wrap="square" lIns="0" tIns="0" rIns="0" bIns="0" rtlCol="0" anchor="ctr"/>
          <a:lstStyle/>
          <a:p>
            <a:pPr algn="ctr" indent="0" marL="0">
              <a:buNone/>
            </a:pPr>
            <a:r>
              <a:rPr lang="en-US" sz="1300" i="1" dirty="0">
                <a:solidFill>
                  <a:srgbClr val="5A6472"/>
                </a:solidFill>
                <a:latin typeface="Arial" pitchFamily="34" charset="0"/>
                <a:ea typeface="Arial" pitchFamily="34" charset="-122"/>
                <a:cs typeface="Arial" pitchFamily="34" charset="-120"/>
              </a:rPr>
              <a:t>Turning two labels into five without any manual annotation</a:t>
            </a:r>
            <a:endParaRPr lang="en-US" sz="1300" dirty="0"/>
          </a:p>
        </p:txBody>
      </p:sp>
      <p:sp>
        <p:nvSpPr>
          <p:cNvPr id="4" name="Shape 2"/>
          <p:cNvSpPr/>
          <p:nvPr/>
        </p:nvSpPr>
        <p:spPr>
          <a:xfrm>
            <a:off x="566928" y="1417320"/>
            <a:ext cx="4206240" cy="2148840"/>
          </a:xfrm>
          <a:prstGeom prst="roundRect">
            <a:avLst>
              <a:gd name="adj" fmla="val 3404"/>
            </a:avLst>
          </a:prstGeom>
          <a:solidFill>
            <a:srgbClr val="EAF3FB"/>
          </a:solidFill>
          <a:ln w="12700">
            <a:solidFill>
              <a:srgbClr val="D6DEE8"/>
            </a:solidFill>
            <a:prstDash val="solid"/>
          </a:ln>
        </p:spPr>
      </p:sp>
      <p:sp>
        <p:nvSpPr>
          <p:cNvPr id="5" name="Text 3"/>
          <p:cNvSpPr txBox="1"/>
          <p:nvPr/>
        </p:nvSpPr>
        <p:spPr>
          <a:xfrm>
            <a:off x="786384" y="1554480"/>
            <a:ext cx="2743200" cy="274320"/>
          </a:xfrm>
          <a:prstGeom prst="rect">
            <a:avLst/>
          </a:prstGeom>
          <a:noFill/>
          <a:ln/>
        </p:spPr>
        <p:txBody>
          <a:bodyPr wrap="square" lIns="0" tIns="0" rIns="0" bIns="0" rtlCol="0" anchor="ctr"/>
          <a:lstStyle/>
          <a:p>
            <a:pPr indent="0" marL="0">
              <a:buNone/>
            </a:pPr>
            <a:r>
              <a:rPr lang="en-US" sz="1400" b="1" dirty="0">
                <a:solidFill>
                  <a:srgbClr val="0070C0"/>
                </a:solidFill>
                <a:latin typeface="Arial" pitchFamily="34" charset="0"/>
                <a:ea typeface="Arial" pitchFamily="34" charset="-122"/>
                <a:cs typeface="Arial" pitchFamily="34" charset="-120"/>
              </a:rPr>
              <a:t>Dataset</a:t>
            </a:r>
            <a:endParaRPr lang="en-US" sz="1400" dirty="0"/>
          </a:p>
        </p:txBody>
      </p:sp>
      <p:sp>
        <p:nvSpPr>
          <p:cNvPr id="6" name="Text 4"/>
          <p:cNvSpPr txBox="1"/>
          <p:nvPr/>
        </p:nvSpPr>
        <p:spPr>
          <a:xfrm>
            <a:off x="786384" y="1938528"/>
            <a:ext cx="3785616"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A1A1A"/>
                </a:solidFill>
                <a:latin typeface="Arial" pitchFamily="34" charset="0"/>
                <a:ea typeface="Arial" pitchFamily="34" charset="-122"/>
                <a:cs typeface="Arial" pitchFamily="34" charset="-120"/>
              </a:rPr>
              <a:t>Unified dataset of 14 produce classes</a:t>
            </a:r>
            <a:endParaRPr lang="en-US" sz="1300" dirty="0"/>
          </a:p>
          <a:p>
            <a:pPr marL="342900" indent="-342900">
              <a:lnSpc>
                <a:spcPts val="1900"/>
              </a:lnSpc>
              <a:spcAft>
                <a:spcPts val="600"/>
              </a:spcAft>
              <a:buSzPct val="100000"/>
              <a:buChar char="•"/>
            </a:pPr>
            <a:r>
              <a:rPr lang="en-US" sz="1300" dirty="0">
                <a:solidFill>
                  <a:srgbClr val="1A1A1A"/>
                </a:solidFill>
                <a:latin typeface="Arial" pitchFamily="34" charset="0"/>
                <a:ea typeface="Arial" pitchFamily="34" charset="-122"/>
                <a:cs typeface="Arial" pitchFamily="34" charset="-120"/>
              </a:rPr>
              <a:t>Each class holds fresh and rotten folders</a:t>
            </a:r>
            <a:endParaRPr lang="en-US" sz="1300" dirty="0"/>
          </a:p>
          <a:p>
            <a:pPr marL="342900" indent="-342900">
              <a:lnSpc>
                <a:spcPts val="1900"/>
              </a:lnSpc>
              <a:spcAft>
                <a:spcPts val="600"/>
              </a:spcAft>
              <a:buSzPct val="100000"/>
              <a:buChar char="•"/>
            </a:pPr>
            <a:r>
              <a:rPr lang="en-US" sz="1300" dirty="0">
                <a:solidFill>
                  <a:srgbClr val="1A1A1A"/>
                </a:solidFill>
                <a:latin typeface="Arial" pitchFamily="34" charset="0"/>
                <a:ea typeface="Arial" pitchFamily="34" charset="-122"/>
                <a:cs typeface="Arial" pitchFamily="34" charset="-120"/>
              </a:rPr>
              <a:t>80 / 20 stratified train-validation split</a:t>
            </a:r>
            <a:endParaRPr lang="en-US" sz="1300" dirty="0"/>
          </a:p>
          <a:p>
            <a:pPr marL="342900" indent="-342900">
              <a:lnSpc>
                <a:spcPts val="1900"/>
              </a:lnSpc>
              <a:spcAft>
                <a:spcPts val="600"/>
              </a:spcAft>
              <a:buSzPct val="100000"/>
              <a:buChar char="•"/>
            </a:pPr>
            <a:r>
              <a:rPr lang="en-US" sz="1300" dirty="0">
                <a:solidFill>
                  <a:srgbClr val="1A1A1A"/>
                </a:solidFill>
                <a:latin typeface="Arial" pitchFamily="34" charset="0"/>
                <a:ea typeface="Arial" pitchFamily="34" charset="-122"/>
                <a:cs typeface="Arial" pitchFamily="34" charset="-120"/>
              </a:rPr>
              <a:t>Generators feed 224x224 batches of 32</a:t>
            </a:r>
            <a:endParaRPr lang="en-US" sz="1300" dirty="0"/>
          </a:p>
        </p:txBody>
      </p:sp>
      <p:sp>
        <p:nvSpPr>
          <p:cNvPr id="7" name="Shape 5"/>
          <p:cNvSpPr/>
          <p:nvPr/>
        </p:nvSpPr>
        <p:spPr>
          <a:xfrm>
            <a:off x="5047488" y="1417320"/>
            <a:ext cx="4462272" cy="2148840"/>
          </a:xfrm>
          <a:prstGeom prst="roundRect">
            <a:avLst>
              <a:gd name="adj" fmla="val 3404"/>
            </a:avLst>
          </a:prstGeom>
          <a:solidFill>
            <a:srgbClr val="FFFFFF"/>
          </a:solidFill>
          <a:ln w="12700">
            <a:solidFill>
              <a:srgbClr val="D6DEE8"/>
            </a:solidFill>
            <a:prstDash val="solid"/>
          </a:ln>
        </p:spPr>
      </p:sp>
      <p:sp>
        <p:nvSpPr>
          <p:cNvPr id="8" name="Text 6"/>
          <p:cNvSpPr txBox="1"/>
          <p:nvPr/>
        </p:nvSpPr>
        <p:spPr>
          <a:xfrm>
            <a:off x="5266944" y="1554480"/>
            <a:ext cx="2743200" cy="274320"/>
          </a:xfrm>
          <a:prstGeom prst="rect">
            <a:avLst/>
          </a:prstGeom>
          <a:noFill/>
          <a:ln/>
        </p:spPr>
        <p:txBody>
          <a:bodyPr wrap="square" lIns="0" tIns="0" rIns="0" bIns="0" rtlCol="0" anchor="ctr"/>
          <a:lstStyle/>
          <a:p>
            <a:pPr indent="0" marL="0">
              <a:buNone/>
            </a:pPr>
            <a:r>
              <a:rPr lang="en-US" sz="1400" b="1" dirty="0">
                <a:solidFill>
                  <a:srgbClr val="0070C0"/>
                </a:solidFill>
                <a:latin typeface="Arial" pitchFamily="34" charset="0"/>
                <a:ea typeface="Arial" pitchFamily="34" charset="-122"/>
                <a:cs typeface="Arial" pitchFamily="34" charset="-120"/>
              </a:rPr>
              <a:t>The gap</a:t>
            </a:r>
            <a:endParaRPr lang="en-US" sz="1400" dirty="0"/>
          </a:p>
        </p:txBody>
      </p:sp>
      <p:sp>
        <p:nvSpPr>
          <p:cNvPr id="9" name="Text 7"/>
          <p:cNvSpPr txBox="1"/>
          <p:nvPr/>
        </p:nvSpPr>
        <p:spPr>
          <a:xfrm>
            <a:off x="5266944" y="1938528"/>
            <a:ext cx="4005072" cy="1554480"/>
          </a:xfrm>
          <a:prstGeom prst="rect">
            <a:avLst/>
          </a:prstGeom>
          <a:noFill/>
          <a:ln/>
        </p:spPr>
        <p:txBody>
          <a:bodyPr wrap="square" lIns="0" tIns="0" rIns="0" bIns="0" rtlCol="0" anchor="ctr"/>
          <a:lstStyle/>
          <a:p>
            <a:pPr indent="0" marL="0">
              <a:lnSpc>
                <a:spcPts val="1900"/>
              </a:lnSpc>
              <a:buNone/>
            </a:pPr>
            <a:r>
              <a:rPr lang="en-US" sz="1300" dirty="0">
                <a:solidFill>
                  <a:srgbClr val="1A1A1A"/>
                </a:solidFill>
                <a:latin typeface="Arial" pitchFamily="34" charset="0"/>
                <a:ea typeface="Arial" pitchFamily="34" charset="-122"/>
                <a:cs typeface="Arial" pitchFamily="34" charset="-120"/>
              </a:rPr>
              <a:t>Five decay levels were needed, but the source data carries only two. Hand-labelling thousands of images into five levels was not feasible within the project timeline, so the labels were generated automatically from image colour.</a:t>
            </a:r>
            <a:endParaRPr lang="en-US" sz="1300" dirty="0"/>
          </a:p>
        </p:txBody>
      </p:sp>
      <p:sp>
        <p:nvSpPr>
          <p:cNvPr id="10" name="Text 8"/>
          <p:cNvSpPr txBox="1"/>
          <p:nvPr/>
        </p:nvSpPr>
        <p:spPr>
          <a:xfrm>
            <a:off x="566928" y="3794760"/>
            <a:ext cx="8942832" cy="292608"/>
          </a:xfrm>
          <a:prstGeom prst="rect">
            <a:avLst/>
          </a:prstGeom>
          <a:noFill/>
          <a:ln/>
        </p:spPr>
        <p:txBody>
          <a:bodyPr wrap="square" lIns="0" tIns="0" rIns="0" bIns="0" rtlCol="0" anchor="ctr"/>
          <a:lstStyle/>
          <a:p>
            <a:pPr indent="0" marL="0">
              <a:buNone/>
            </a:pPr>
            <a:r>
              <a:rPr lang="en-US" sz="1600" b="1" dirty="0">
                <a:solidFill>
                  <a:srgbClr val="0070C0"/>
                </a:solidFill>
                <a:latin typeface="Arial" pitchFamily="34" charset="0"/>
                <a:ea typeface="Arial" pitchFamily="34" charset="-122"/>
                <a:cs typeface="Arial" pitchFamily="34" charset="-120"/>
              </a:rPr>
              <a:t>HSV decay-scoring pipeline</a:t>
            </a:r>
            <a:endParaRPr lang="en-US" sz="1600" dirty="0"/>
          </a:p>
        </p:txBody>
      </p:sp>
      <p:sp>
        <p:nvSpPr>
          <p:cNvPr id="11" name="Shape 9"/>
          <p:cNvSpPr/>
          <p:nvPr/>
        </p:nvSpPr>
        <p:spPr>
          <a:xfrm>
            <a:off x="566928" y="4224528"/>
            <a:ext cx="1627632" cy="1691640"/>
          </a:xfrm>
          <a:prstGeom prst="roundRect">
            <a:avLst>
              <a:gd name="adj" fmla="val 4494"/>
            </a:avLst>
          </a:prstGeom>
          <a:solidFill>
            <a:srgbClr val="FFFFFF"/>
          </a:solidFill>
          <a:ln w="12700">
            <a:solidFill>
              <a:srgbClr val="D6DEE8"/>
            </a:solidFill>
            <a:prstDash val="solid"/>
          </a:ln>
        </p:spPr>
      </p:sp>
      <p:sp>
        <p:nvSpPr>
          <p:cNvPr id="12" name="Shape 10"/>
          <p:cNvSpPr/>
          <p:nvPr/>
        </p:nvSpPr>
        <p:spPr>
          <a:xfrm>
            <a:off x="1188720" y="4114800"/>
            <a:ext cx="384048" cy="384048"/>
          </a:xfrm>
          <a:prstGeom prst="ellipse">
            <a:avLst/>
          </a:prstGeom>
          <a:solidFill>
            <a:srgbClr val="0070C0"/>
          </a:solidFill>
          <a:ln w="12700">
            <a:solidFill>
              <a:srgbClr val="0070C0"/>
            </a:solidFill>
            <a:prstDash val="solid"/>
          </a:ln>
        </p:spPr>
      </p:sp>
      <p:sp>
        <p:nvSpPr>
          <p:cNvPr id="13" name="Text 11"/>
          <p:cNvSpPr txBox="1"/>
          <p:nvPr/>
        </p:nvSpPr>
        <p:spPr>
          <a:xfrm>
            <a:off x="11887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4" name="Text 12"/>
          <p:cNvSpPr txBox="1"/>
          <p:nvPr/>
        </p:nvSpPr>
        <p:spPr>
          <a:xfrm>
            <a:off x="658368" y="4608576"/>
            <a:ext cx="1444752" cy="402336"/>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RGB → HSV</a:t>
            </a:r>
            <a:endParaRPr lang="en-US" sz="1300" dirty="0"/>
          </a:p>
        </p:txBody>
      </p:sp>
      <p:sp>
        <p:nvSpPr>
          <p:cNvPr id="15" name="Text 13"/>
          <p:cNvSpPr txBox="1"/>
          <p:nvPr/>
        </p:nvSpPr>
        <p:spPr>
          <a:xfrm>
            <a:off x="658368" y="5029200"/>
            <a:ext cx="1444752"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Arial" pitchFamily="34" charset="0"/>
                <a:ea typeface="Arial" pitchFamily="34" charset="-122"/>
                <a:cs typeface="Arial" pitchFamily="34" charset="-120"/>
              </a:rPr>
              <a:t>Convert each image; hue is stable under lighting change.</a:t>
            </a:r>
            <a:endParaRPr lang="en-US" sz="1100" dirty="0"/>
          </a:p>
        </p:txBody>
      </p:sp>
      <p:sp>
        <p:nvSpPr>
          <p:cNvPr id="16" name="Shape 14"/>
          <p:cNvSpPr/>
          <p:nvPr/>
        </p:nvSpPr>
        <p:spPr>
          <a:xfrm>
            <a:off x="2212848" y="4983480"/>
            <a:ext cx="164592" cy="182880"/>
          </a:xfrm>
          <a:prstGeom prst="rightArrow">
            <a:avLst/>
          </a:prstGeom>
          <a:solidFill>
            <a:srgbClr val="0070C0"/>
          </a:solidFill>
          <a:ln w="12700">
            <a:solidFill>
              <a:srgbClr val="0070C0"/>
            </a:solidFill>
            <a:prstDash val="solid"/>
          </a:ln>
        </p:spPr>
      </p:sp>
      <p:sp>
        <p:nvSpPr>
          <p:cNvPr id="17" name="Shape 15"/>
          <p:cNvSpPr/>
          <p:nvPr/>
        </p:nvSpPr>
        <p:spPr>
          <a:xfrm>
            <a:off x="2395728" y="4224528"/>
            <a:ext cx="1627632" cy="1691640"/>
          </a:xfrm>
          <a:prstGeom prst="roundRect">
            <a:avLst>
              <a:gd name="adj" fmla="val 4494"/>
            </a:avLst>
          </a:prstGeom>
          <a:solidFill>
            <a:srgbClr val="FFFFFF"/>
          </a:solidFill>
          <a:ln w="12700">
            <a:solidFill>
              <a:srgbClr val="D6DEE8"/>
            </a:solidFill>
            <a:prstDash val="solid"/>
          </a:ln>
        </p:spPr>
      </p:sp>
      <p:sp>
        <p:nvSpPr>
          <p:cNvPr id="18" name="Shape 16"/>
          <p:cNvSpPr/>
          <p:nvPr/>
        </p:nvSpPr>
        <p:spPr>
          <a:xfrm>
            <a:off x="3017520" y="4114800"/>
            <a:ext cx="384048" cy="384048"/>
          </a:xfrm>
          <a:prstGeom prst="ellipse">
            <a:avLst/>
          </a:prstGeom>
          <a:solidFill>
            <a:srgbClr val="0070C0"/>
          </a:solidFill>
          <a:ln w="12700">
            <a:solidFill>
              <a:srgbClr val="0070C0"/>
            </a:solidFill>
            <a:prstDash val="solid"/>
          </a:ln>
        </p:spPr>
      </p:sp>
      <p:sp>
        <p:nvSpPr>
          <p:cNvPr id="19" name="Text 17"/>
          <p:cNvSpPr txBox="1"/>
          <p:nvPr/>
        </p:nvSpPr>
        <p:spPr>
          <a:xfrm>
            <a:off x="3017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0" name="Text 18"/>
          <p:cNvSpPr txBox="1"/>
          <p:nvPr/>
        </p:nvSpPr>
        <p:spPr>
          <a:xfrm>
            <a:off x="2487168" y="4608576"/>
            <a:ext cx="1444752" cy="402336"/>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Foreground mask</a:t>
            </a:r>
            <a:endParaRPr lang="en-US" sz="1300" dirty="0"/>
          </a:p>
        </p:txBody>
      </p:sp>
      <p:sp>
        <p:nvSpPr>
          <p:cNvPr id="21" name="Text 19"/>
          <p:cNvSpPr txBox="1"/>
          <p:nvPr/>
        </p:nvSpPr>
        <p:spPr>
          <a:xfrm>
            <a:off x="2487168" y="5029200"/>
            <a:ext cx="1444752"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Arial" pitchFamily="34" charset="0"/>
                <a:ea typeface="Arial" pitchFamily="34" charset="-122"/>
                <a:cs typeface="Arial" pitchFamily="34" charset="-120"/>
              </a:rPr>
              <a:t>Saturation channel separates the fruit from the background.</a:t>
            </a:r>
            <a:endParaRPr lang="en-US" sz="1100" dirty="0"/>
          </a:p>
        </p:txBody>
      </p:sp>
      <p:sp>
        <p:nvSpPr>
          <p:cNvPr id="22" name="Shape 20"/>
          <p:cNvSpPr/>
          <p:nvPr/>
        </p:nvSpPr>
        <p:spPr>
          <a:xfrm>
            <a:off x="4041648" y="4983480"/>
            <a:ext cx="164592" cy="182880"/>
          </a:xfrm>
          <a:prstGeom prst="rightArrow">
            <a:avLst/>
          </a:prstGeom>
          <a:solidFill>
            <a:srgbClr val="0070C0"/>
          </a:solidFill>
          <a:ln w="12700">
            <a:solidFill>
              <a:srgbClr val="0070C0"/>
            </a:solidFill>
            <a:prstDash val="solid"/>
          </a:ln>
        </p:spPr>
      </p:sp>
      <p:sp>
        <p:nvSpPr>
          <p:cNvPr id="23" name="Shape 21"/>
          <p:cNvSpPr/>
          <p:nvPr/>
        </p:nvSpPr>
        <p:spPr>
          <a:xfrm>
            <a:off x="4224528" y="4224528"/>
            <a:ext cx="1627632" cy="1691640"/>
          </a:xfrm>
          <a:prstGeom prst="roundRect">
            <a:avLst>
              <a:gd name="adj" fmla="val 4494"/>
            </a:avLst>
          </a:prstGeom>
          <a:solidFill>
            <a:srgbClr val="FFFFFF"/>
          </a:solidFill>
          <a:ln w="12700">
            <a:solidFill>
              <a:srgbClr val="D6DEE8"/>
            </a:solidFill>
            <a:prstDash val="solid"/>
          </a:ln>
        </p:spPr>
      </p:sp>
      <p:sp>
        <p:nvSpPr>
          <p:cNvPr id="24" name="Shape 22"/>
          <p:cNvSpPr/>
          <p:nvPr/>
        </p:nvSpPr>
        <p:spPr>
          <a:xfrm>
            <a:off x="4846320" y="4114800"/>
            <a:ext cx="384048" cy="384048"/>
          </a:xfrm>
          <a:prstGeom prst="ellipse">
            <a:avLst/>
          </a:prstGeom>
          <a:solidFill>
            <a:srgbClr val="0070C0"/>
          </a:solidFill>
          <a:ln w="12700">
            <a:solidFill>
              <a:srgbClr val="0070C0"/>
            </a:solidFill>
            <a:prstDash val="solid"/>
          </a:ln>
        </p:spPr>
      </p:sp>
      <p:sp>
        <p:nvSpPr>
          <p:cNvPr id="25" name="Text 23"/>
          <p:cNvSpPr txBox="1"/>
          <p:nvPr/>
        </p:nvSpPr>
        <p:spPr>
          <a:xfrm>
            <a:off x="48463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6" name="Text 24"/>
          <p:cNvSpPr txBox="1"/>
          <p:nvPr/>
        </p:nvSpPr>
        <p:spPr>
          <a:xfrm>
            <a:off x="4315968" y="4608576"/>
            <a:ext cx="1444752" cy="402336"/>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Decay mask</a:t>
            </a:r>
            <a:endParaRPr lang="en-US" sz="1300" dirty="0"/>
          </a:p>
        </p:txBody>
      </p:sp>
      <p:sp>
        <p:nvSpPr>
          <p:cNvPr id="27" name="Text 25"/>
          <p:cNvSpPr txBox="1"/>
          <p:nvPr/>
        </p:nvSpPr>
        <p:spPr>
          <a:xfrm>
            <a:off x="4315968" y="5029200"/>
            <a:ext cx="1444752"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Arial" pitchFamily="34" charset="0"/>
                <a:ea typeface="Arial" pitchFamily="34" charset="-122"/>
                <a:cs typeface="Arial" pitchFamily="34" charset="-120"/>
              </a:rPr>
              <a:t>Brown/decayed pixels detected inside the fruit region.</a:t>
            </a:r>
            <a:endParaRPr lang="en-US" sz="1100" dirty="0"/>
          </a:p>
        </p:txBody>
      </p:sp>
      <p:sp>
        <p:nvSpPr>
          <p:cNvPr id="28" name="Shape 26"/>
          <p:cNvSpPr/>
          <p:nvPr/>
        </p:nvSpPr>
        <p:spPr>
          <a:xfrm>
            <a:off x="5870448" y="4983480"/>
            <a:ext cx="164592" cy="182880"/>
          </a:xfrm>
          <a:prstGeom prst="rightArrow">
            <a:avLst/>
          </a:prstGeom>
          <a:solidFill>
            <a:srgbClr val="0070C0"/>
          </a:solidFill>
          <a:ln w="12700">
            <a:solidFill>
              <a:srgbClr val="0070C0"/>
            </a:solidFill>
            <a:prstDash val="solid"/>
          </a:ln>
        </p:spPr>
      </p:sp>
      <p:sp>
        <p:nvSpPr>
          <p:cNvPr id="29" name="Shape 27"/>
          <p:cNvSpPr/>
          <p:nvPr/>
        </p:nvSpPr>
        <p:spPr>
          <a:xfrm>
            <a:off x="6053328" y="4224528"/>
            <a:ext cx="1627632" cy="1691640"/>
          </a:xfrm>
          <a:prstGeom prst="roundRect">
            <a:avLst>
              <a:gd name="adj" fmla="val 4494"/>
            </a:avLst>
          </a:prstGeom>
          <a:solidFill>
            <a:srgbClr val="FFFFFF"/>
          </a:solidFill>
          <a:ln w="12700">
            <a:solidFill>
              <a:srgbClr val="D6DEE8"/>
            </a:solidFill>
            <a:prstDash val="solid"/>
          </a:ln>
        </p:spPr>
      </p:sp>
      <p:sp>
        <p:nvSpPr>
          <p:cNvPr id="30" name="Shape 28"/>
          <p:cNvSpPr/>
          <p:nvPr/>
        </p:nvSpPr>
        <p:spPr>
          <a:xfrm>
            <a:off x="6675120" y="4114800"/>
            <a:ext cx="384048" cy="384048"/>
          </a:xfrm>
          <a:prstGeom prst="ellipse">
            <a:avLst/>
          </a:prstGeom>
          <a:solidFill>
            <a:srgbClr val="0070C0"/>
          </a:solidFill>
          <a:ln w="12700">
            <a:solidFill>
              <a:srgbClr val="0070C0"/>
            </a:solidFill>
            <a:prstDash val="solid"/>
          </a:ln>
        </p:spPr>
      </p:sp>
      <p:sp>
        <p:nvSpPr>
          <p:cNvPr id="31" name="Text 29"/>
          <p:cNvSpPr txBox="1"/>
          <p:nvPr/>
        </p:nvSpPr>
        <p:spPr>
          <a:xfrm>
            <a:off x="66751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2" name="Text 30"/>
          <p:cNvSpPr txBox="1"/>
          <p:nvPr/>
        </p:nvSpPr>
        <p:spPr>
          <a:xfrm>
            <a:off x="6144768" y="4608576"/>
            <a:ext cx="1444752" cy="402336"/>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Decay score</a:t>
            </a:r>
            <a:endParaRPr lang="en-US" sz="1300" dirty="0"/>
          </a:p>
        </p:txBody>
      </p:sp>
      <p:sp>
        <p:nvSpPr>
          <p:cNvPr id="33" name="Text 31"/>
          <p:cNvSpPr txBox="1"/>
          <p:nvPr/>
        </p:nvSpPr>
        <p:spPr>
          <a:xfrm>
            <a:off x="6144768" y="5029200"/>
            <a:ext cx="1444752"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Arial" pitchFamily="34" charset="0"/>
                <a:ea typeface="Arial" pitchFamily="34" charset="-122"/>
                <a:cs typeface="Arial" pitchFamily="34" charset="-120"/>
              </a:rPr>
              <a:t>score = decayed px / fruit px × 100</a:t>
            </a:r>
            <a:endParaRPr lang="en-US" sz="1100" dirty="0"/>
          </a:p>
        </p:txBody>
      </p:sp>
      <p:sp>
        <p:nvSpPr>
          <p:cNvPr id="34" name="Shape 32"/>
          <p:cNvSpPr/>
          <p:nvPr/>
        </p:nvSpPr>
        <p:spPr>
          <a:xfrm>
            <a:off x="7699248" y="4983480"/>
            <a:ext cx="164592" cy="182880"/>
          </a:xfrm>
          <a:prstGeom prst="rightArrow">
            <a:avLst/>
          </a:prstGeom>
          <a:solidFill>
            <a:srgbClr val="0070C0"/>
          </a:solidFill>
          <a:ln w="12700">
            <a:solidFill>
              <a:srgbClr val="0070C0"/>
            </a:solidFill>
            <a:prstDash val="solid"/>
          </a:ln>
        </p:spPr>
      </p:sp>
      <p:sp>
        <p:nvSpPr>
          <p:cNvPr id="35" name="Shape 33"/>
          <p:cNvSpPr/>
          <p:nvPr/>
        </p:nvSpPr>
        <p:spPr>
          <a:xfrm>
            <a:off x="7882128" y="4224528"/>
            <a:ext cx="1627632" cy="1691640"/>
          </a:xfrm>
          <a:prstGeom prst="roundRect">
            <a:avLst>
              <a:gd name="adj" fmla="val 4494"/>
            </a:avLst>
          </a:prstGeom>
          <a:solidFill>
            <a:srgbClr val="FFFFFF"/>
          </a:solidFill>
          <a:ln w="12700">
            <a:solidFill>
              <a:srgbClr val="D6DEE8"/>
            </a:solidFill>
            <a:prstDash val="solid"/>
          </a:ln>
        </p:spPr>
      </p:sp>
      <p:sp>
        <p:nvSpPr>
          <p:cNvPr id="36" name="Shape 34"/>
          <p:cNvSpPr/>
          <p:nvPr/>
        </p:nvSpPr>
        <p:spPr>
          <a:xfrm>
            <a:off x="8503920" y="4114800"/>
            <a:ext cx="384048" cy="384048"/>
          </a:xfrm>
          <a:prstGeom prst="ellipse">
            <a:avLst/>
          </a:prstGeom>
          <a:solidFill>
            <a:srgbClr val="0070C0"/>
          </a:solidFill>
          <a:ln w="12700">
            <a:solidFill>
              <a:srgbClr val="0070C0"/>
            </a:solidFill>
            <a:prstDash val="solid"/>
          </a:ln>
        </p:spPr>
      </p:sp>
      <p:sp>
        <p:nvSpPr>
          <p:cNvPr id="37" name="Text 35"/>
          <p:cNvSpPr txBox="1"/>
          <p:nvPr/>
        </p:nvSpPr>
        <p:spPr>
          <a:xfrm>
            <a:off x="85039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8" name="Text 36"/>
          <p:cNvSpPr txBox="1"/>
          <p:nvPr/>
        </p:nvSpPr>
        <p:spPr>
          <a:xfrm>
            <a:off x="7973568" y="4608576"/>
            <a:ext cx="1444752" cy="402336"/>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Per-fruit buckets</a:t>
            </a:r>
            <a:endParaRPr lang="en-US" sz="1300" dirty="0"/>
          </a:p>
        </p:txBody>
      </p:sp>
      <p:sp>
        <p:nvSpPr>
          <p:cNvPr id="39" name="Text 37"/>
          <p:cNvSpPr txBox="1"/>
          <p:nvPr/>
        </p:nvSpPr>
        <p:spPr>
          <a:xfrm>
            <a:off x="7973568" y="5029200"/>
            <a:ext cx="1444752" cy="777240"/>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Arial" pitchFamily="34" charset="0"/>
                <a:ea typeface="Arial" pitchFamily="34" charset="-122"/>
                <a:cs typeface="Arial" pitchFamily="34" charset="-120"/>
              </a:rPr>
              <a:t>Sorted per class, split into 5 equal groups.</a:t>
            </a:r>
            <a:endParaRPr lang="en-US" sz="1100" dirty="0"/>
          </a:p>
        </p:txBody>
      </p:sp>
      <p:sp>
        <p:nvSpPr>
          <p:cNvPr id="40" name="Shape 38"/>
          <p:cNvSpPr/>
          <p:nvPr/>
        </p:nvSpPr>
        <p:spPr>
          <a:xfrm>
            <a:off x="566928" y="6108192"/>
            <a:ext cx="8942832" cy="731520"/>
          </a:xfrm>
          <a:prstGeom prst="roundRect">
            <a:avLst>
              <a:gd name="adj" fmla="val 10000"/>
            </a:avLst>
          </a:prstGeom>
          <a:solidFill>
            <a:srgbClr val="EAF3FB"/>
          </a:solidFill>
          <a:ln w="12700">
            <a:solidFill>
              <a:srgbClr val="D6DEE8"/>
            </a:solidFill>
            <a:prstDash val="solid"/>
          </a:ln>
        </p:spPr>
      </p:sp>
      <p:sp>
        <p:nvSpPr>
          <p:cNvPr id="41" name="Text 39"/>
          <p:cNvSpPr txBox="1"/>
          <p:nvPr/>
        </p:nvSpPr>
        <p:spPr>
          <a:xfrm>
            <a:off x="822960" y="6199632"/>
            <a:ext cx="8430768" cy="566928"/>
          </a:xfrm>
          <a:prstGeom prst="rect">
            <a:avLst/>
          </a:prstGeom>
          <a:noFill/>
          <a:ln/>
        </p:spPr>
        <p:txBody>
          <a:bodyPr wrap="square" lIns="0" tIns="0" rIns="0" bIns="0" rtlCol="0" anchor="ctr"/>
          <a:lstStyle/>
          <a:p>
            <a:pPr indent="0" marL="0">
              <a:lnSpc>
                <a:spcPts val="1800"/>
              </a:lnSpc>
              <a:buNone/>
            </a:pPr>
            <a:r>
              <a:rPr lang="en-US" sz="1250" b="1" dirty="0">
                <a:solidFill>
                  <a:srgbClr val="0070C0"/>
                </a:solidFill>
                <a:latin typeface="Arial" pitchFamily="34" charset="0"/>
                <a:ea typeface="Arial" pitchFamily="34" charset="-122"/>
                <a:cs typeface="Arial" pitchFamily="34" charset="-120"/>
              </a:rPr>
              <a:t>Why per-fruit buckets:  </a:t>
            </a:r>
            <a:pPr indent="0" marL="0">
              <a:lnSpc>
                <a:spcPts val="1800"/>
              </a:lnSpc>
              <a:buNone/>
            </a:pPr>
            <a:r>
              <a:rPr lang="en-US" sz="1250" dirty="0">
                <a:solidFill>
                  <a:srgbClr val="1A1A1A"/>
                </a:solidFill>
                <a:latin typeface="Arial" pitchFamily="34" charset="0"/>
                <a:ea typeface="Arial" pitchFamily="34" charset="-122"/>
                <a:cs typeface="Arial" pitchFamily="34" charset="-120"/>
              </a:rPr>
              <a:t>a rotten apple and a rotten banana brown at different rates, so a single global threshold mislabels whole classes. Each class is bucketed against its own score distribution.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METHODOLOGY — TRANSFER LEARNING</a:t>
            </a:r>
            <a:endParaRPr lang="en-US" sz="3000" dirty="0"/>
          </a:p>
        </p:txBody>
      </p:sp>
      <p:sp>
        <p:nvSpPr>
          <p:cNvPr id="3" name="Text 1"/>
          <p:cNvSpPr txBox="1"/>
          <p:nvPr/>
        </p:nvSpPr>
        <p:spPr>
          <a:xfrm>
            <a:off x="566928" y="969264"/>
            <a:ext cx="8942832" cy="274320"/>
          </a:xfrm>
          <a:prstGeom prst="rect">
            <a:avLst/>
          </a:prstGeom>
          <a:noFill/>
          <a:ln/>
        </p:spPr>
        <p:txBody>
          <a:bodyPr wrap="square" lIns="0" tIns="0" rIns="0" bIns="0" rtlCol="0" anchor="ctr"/>
          <a:lstStyle/>
          <a:p>
            <a:pPr algn="ctr" indent="0" marL="0">
              <a:buNone/>
            </a:pPr>
            <a:r>
              <a:rPr lang="en-US" sz="1300" i="1" dirty="0">
                <a:solidFill>
                  <a:srgbClr val="5A6472"/>
                </a:solidFill>
                <a:latin typeface="Arial" pitchFamily="34" charset="0"/>
                <a:ea typeface="Arial" pitchFamily="34" charset="-122"/>
                <a:cs typeface="Arial" pitchFamily="34" charset="-120"/>
              </a:rPr>
              <a:t>MobileNetV2 backbone, custom head, two-phase training</a:t>
            </a:r>
            <a:endParaRPr lang="en-US" sz="1300" dirty="0"/>
          </a:p>
        </p:txBody>
      </p:sp>
      <p:sp>
        <p:nvSpPr>
          <p:cNvPr id="4" name="Shape 2"/>
          <p:cNvSpPr/>
          <p:nvPr/>
        </p:nvSpPr>
        <p:spPr>
          <a:xfrm>
            <a:off x="566928" y="1371600"/>
            <a:ext cx="3794760" cy="5440680"/>
          </a:xfrm>
          <a:prstGeom prst="roundRect">
            <a:avLst>
              <a:gd name="adj" fmla="val 1928"/>
            </a:avLst>
          </a:prstGeom>
          <a:solidFill>
            <a:srgbClr val="EAF3FB"/>
          </a:solidFill>
          <a:ln w="12700">
            <a:solidFill>
              <a:srgbClr val="D6DEE8"/>
            </a:solidFill>
            <a:prstDash val="solid"/>
          </a:ln>
        </p:spPr>
      </p:sp>
      <p:sp>
        <p:nvSpPr>
          <p:cNvPr id="5" name="Text 3"/>
          <p:cNvSpPr txBox="1"/>
          <p:nvPr/>
        </p:nvSpPr>
        <p:spPr>
          <a:xfrm>
            <a:off x="786384" y="1517904"/>
            <a:ext cx="3291840" cy="274320"/>
          </a:xfrm>
          <a:prstGeom prst="rect">
            <a:avLst/>
          </a:prstGeom>
          <a:noFill/>
          <a:ln/>
        </p:spPr>
        <p:txBody>
          <a:bodyPr wrap="square" lIns="0" tIns="0" rIns="0" bIns="0" rtlCol="0" anchor="ctr"/>
          <a:lstStyle/>
          <a:p>
            <a:pPr indent="0" marL="0">
              <a:buNone/>
            </a:pPr>
            <a:r>
              <a:rPr lang="en-US" sz="1400" b="1" dirty="0">
                <a:solidFill>
                  <a:srgbClr val="0070C0"/>
                </a:solidFill>
                <a:latin typeface="Arial" pitchFamily="34" charset="0"/>
                <a:ea typeface="Arial" pitchFamily="34" charset="-122"/>
                <a:cs typeface="Arial" pitchFamily="34" charset="-120"/>
              </a:rPr>
              <a:t>Network architecture</a:t>
            </a:r>
            <a:endParaRPr lang="en-US" sz="1400" dirty="0"/>
          </a:p>
        </p:txBody>
      </p:sp>
      <p:sp>
        <p:nvSpPr>
          <p:cNvPr id="6" name="Shape 4"/>
          <p:cNvSpPr/>
          <p:nvPr/>
        </p:nvSpPr>
        <p:spPr>
          <a:xfrm>
            <a:off x="786384" y="1920240"/>
            <a:ext cx="3355848" cy="786384"/>
          </a:xfrm>
          <a:prstGeom prst="roundRect">
            <a:avLst>
              <a:gd name="adj" fmla="val 9302"/>
            </a:avLst>
          </a:prstGeom>
          <a:solidFill>
            <a:srgbClr val="FFFFFF"/>
          </a:solidFill>
          <a:ln w="12700">
            <a:solidFill>
              <a:srgbClr val="D6DEE8"/>
            </a:solidFill>
            <a:prstDash val="solid"/>
          </a:ln>
        </p:spPr>
      </p:sp>
      <p:sp>
        <p:nvSpPr>
          <p:cNvPr id="7" name="Text 5"/>
          <p:cNvSpPr txBox="1"/>
          <p:nvPr/>
        </p:nvSpPr>
        <p:spPr>
          <a:xfrm>
            <a:off x="896112" y="1993392"/>
            <a:ext cx="3136392" cy="274320"/>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MobileNetV2 backbone</a:t>
            </a:r>
            <a:endParaRPr lang="en-US" sz="1300" dirty="0"/>
          </a:p>
        </p:txBody>
      </p:sp>
      <p:sp>
        <p:nvSpPr>
          <p:cNvPr id="8" name="Text 6"/>
          <p:cNvSpPr txBox="1"/>
          <p:nvPr/>
        </p:nvSpPr>
        <p:spPr>
          <a:xfrm>
            <a:off x="896112" y="2267712"/>
            <a:ext cx="3136392" cy="384048"/>
          </a:xfrm>
          <a:prstGeom prst="rect">
            <a:avLst/>
          </a:prstGeom>
          <a:noFill/>
          <a:ln/>
        </p:spPr>
        <p:txBody>
          <a:bodyPr wrap="square" lIns="0" tIns="0" rIns="0" bIns="0" rtlCol="0" anchor="ctr"/>
          <a:lstStyle/>
          <a:p>
            <a:pPr indent="0" marL="0">
              <a:lnSpc>
                <a:spcPts val="1400"/>
              </a:lnSpc>
              <a:buNone/>
            </a:pPr>
            <a:r>
              <a:rPr lang="en-US" sz="1100" dirty="0">
                <a:solidFill>
                  <a:srgbClr val="5A6472"/>
                </a:solidFill>
                <a:latin typeface="Arial" pitchFamily="34" charset="0"/>
                <a:ea typeface="Arial" pitchFamily="34" charset="-122"/>
                <a:cs typeface="Arial" pitchFamily="34" charset="-120"/>
              </a:rPr>
              <a:t>224x224x3 input · ~2.2 M params · depthwise-separable convs, inverted residuals</a:t>
            </a:r>
            <a:endParaRPr lang="en-US" sz="1100" dirty="0"/>
          </a:p>
        </p:txBody>
      </p:sp>
      <p:sp>
        <p:nvSpPr>
          <p:cNvPr id="9" name="Shape 7"/>
          <p:cNvSpPr/>
          <p:nvPr/>
        </p:nvSpPr>
        <p:spPr>
          <a:xfrm>
            <a:off x="2350008" y="2743200"/>
            <a:ext cx="201168" cy="128016"/>
          </a:xfrm>
          <a:prstGeom prst="downArrow">
            <a:avLst/>
          </a:prstGeom>
          <a:solidFill>
            <a:srgbClr val="0070C0"/>
          </a:solidFill>
          <a:ln w="12700">
            <a:solidFill>
              <a:srgbClr val="0070C0"/>
            </a:solidFill>
            <a:prstDash val="solid"/>
          </a:ln>
        </p:spPr>
      </p:sp>
      <p:sp>
        <p:nvSpPr>
          <p:cNvPr id="10" name="Shape 8"/>
          <p:cNvSpPr/>
          <p:nvPr/>
        </p:nvSpPr>
        <p:spPr>
          <a:xfrm>
            <a:off x="786384" y="2889504"/>
            <a:ext cx="3355848" cy="786384"/>
          </a:xfrm>
          <a:prstGeom prst="roundRect">
            <a:avLst>
              <a:gd name="adj" fmla="val 9302"/>
            </a:avLst>
          </a:prstGeom>
          <a:solidFill>
            <a:srgbClr val="FFFFFF"/>
          </a:solidFill>
          <a:ln w="12700">
            <a:solidFill>
              <a:srgbClr val="D6DEE8"/>
            </a:solidFill>
            <a:prstDash val="solid"/>
          </a:ln>
        </p:spPr>
      </p:sp>
      <p:sp>
        <p:nvSpPr>
          <p:cNvPr id="11" name="Text 9"/>
          <p:cNvSpPr txBox="1"/>
          <p:nvPr/>
        </p:nvSpPr>
        <p:spPr>
          <a:xfrm>
            <a:off x="896112" y="2962656"/>
            <a:ext cx="3136392" cy="274320"/>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GlobalAveragePooling2D</a:t>
            </a:r>
            <a:endParaRPr lang="en-US" sz="1300" dirty="0"/>
          </a:p>
        </p:txBody>
      </p:sp>
      <p:sp>
        <p:nvSpPr>
          <p:cNvPr id="12" name="Text 10"/>
          <p:cNvSpPr txBox="1"/>
          <p:nvPr/>
        </p:nvSpPr>
        <p:spPr>
          <a:xfrm>
            <a:off x="896112" y="3236976"/>
            <a:ext cx="3136392" cy="384048"/>
          </a:xfrm>
          <a:prstGeom prst="rect">
            <a:avLst/>
          </a:prstGeom>
          <a:noFill/>
          <a:ln/>
        </p:spPr>
        <p:txBody>
          <a:bodyPr wrap="square" lIns="0" tIns="0" rIns="0" bIns="0" rtlCol="0" anchor="ctr"/>
          <a:lstStyle/>
          <a:p>
            <a:pPr indent="0" marL="0">
              <a:lnSpc>
                <a:spcPts val="1400"/>
              </a:lnSpc>
              <a:buNone/>
            </a:pPr>
            <a:r>
              <a:rPr lang="en-US" sz="1100" dirty="0">
                <a:solidFill>
                  <a:srgbClr val="5A6472"/>
                </a:solidFill>
                <a:latin typeface="Arial" pitchFamily="34" charset="0"/>
                <a:ea typeface="Arial" pitchFamily="34" charset="-122"/>
                <a:cs typeface="Arial" pitchFamily="34" charset="-120"/>
              </a:rPr>
              <a:t>7x7x1280 feature map → 1280-vector</a:t>
            </a:r>
            <a:endParaRPr lang="en-US" sz="1100" dirty="0"/>
          </a:p>
        </p:txBody>
      </p:sp>
      <p:sp>
        <p:nvSpPr>
          <p:cNvPr id="13" name="Shape 11"/>
          <p:cNvSpPr/>
          <p:nvPr/>
        </p:nvSpPr>
        <p:spPr>
          <a:xfrm>
            <a:off x="2350008" y="3712464"/>
            <a:ext cx="201168" cy="128016"/>
          </a:xfrm>
          <a:prstGeom prst="downArrow">
            <a:avLst/>
          </a:prstGeom>
          <a:solidFill>
            <a:srgbClr val="0070C0"/>
          </a:solidFill>
          <a:ln w="12700">
            <a:solidFill>
              <a:srgbClr val="0070C0"/>
            </a:solidFill>
            <a:prstDash val="solid"/>
          </a:ln>
        </p:spPr>
      </p:sp>
      <p:sp>
        <p:nvSpPr>
          <p:cNvPr id="14" name="Shape 12"/>
          <p:cNvSpPr/>
          <p:nvPr/>
        </p:nvSpPr>
        <p:spPr>
          <a:xfrm>
            <a:off x="786384" y="3858768"/>
            <a:ext cx="3355848" cy="786384"/>
          </a:xfrm>
          <a:prstGeom prst="roundRect">
            <a:avLst>
              <a:gd name="adj" fmla="val 9302"/>
            </a:avLst>
          </a:prstGeom>
          <a:solidFill>
            <a:srgbClr val="FFFFFF"/>
          </a:solidFill>
          <a:ln w="12700">
            <a:solidFill>
              <a:srgbClr val="D6DEE8"/>
            </a:solidFill>
            <a:prstDash val="solid"/>
          </a:ln>
        </p:spPr>
      </p:sp>
      <p:sp>
        <p:nvSpPr>
          <p:cNvPr id="15" name="Text 13"/>
          <p:cNvSpPr txBox="1"/>
          <p:nvPr/>
        </p:nvSpPr>
        <p:spPr>
          <a:xfrm>
            <a:off x="896112" y="3931920"/>
            <a:ext cx="3136392" cy="274320"/>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Dense(128, ReLU)</a:t>
            </a:r>
            <a:endParaRPr lang="en-US" sz="1300" dirty="0"/>
          </a:p>
        </p:txBody>
      </p:sp>
      <p:sp>
        <p:nvSpPr>
          <p:cNvPr id="16" name="Text 14"/>
          <p:cNvSpPr txBox="1"/>
          <p:nvPr/>
        </p:nvSpPr>
        <p:spPr>
          <a:xfrm>
            <a:off x="896112" y="4206240"/>
            <a:ext cx="3136392" cy="384048"/>
          </a:xfrm>
          <a:prstGeom prst="rect">
            <a:avLst/>
          </a:prstGeom>
          <a:noFill/>
          <a:ln/>
        </p:spPr>
        <p:txBody>
          <a:bodyPr wrap="square" lIns="0" tIns="0" rIns="0" bIns="0" rtlCol="0" anchor="ctr"/>
          <a:lstStyle/>
          <a:p>
            <a:pPr indent="0" marL="0">
              <a:lnSpc>
                <a:spcPts val="1400"/>
              </a:lnSpc>
              <a:buNone/>
            </a:pPr>
            <a:r>
              <a:rPr lang="en-US" sz="1100" dirty="0">
                <a:solidFill>
                  <a:srgbClr val="5A6472"/>
                </a:solidFill>
                <a:latin typeface="Arial" pitchFamily="34" charset="0"/>
                <a:ea typeface="Arial" pitchFamily="34" charset="-122"/>
                <a:cs typeface="Arial" pitchFamily="34" charset="-120"/>
              </a:rPr>
              <a:t>Task-specific representation</a:t>
            </a:r>
            <a:endParaRPr lang="en-US" sz="1100" dirty="0"/>
          </a:p>
        </p:txBody>
      </p:sp>
      <p:sp>
        <p:nvSpPr>
          <p:cNvPr id="17" name="Shape 15"/>
          <p:cNvSpPr/>
          <p:nvPr/>
        </p:nvSpPr>
        <p:spPr>
          <a:xfrm>
            <a:off x="2350008" y="4681728"/>
            <a:ext cx="201168" cy="128016"/>
          </a:xfrm>
          <a:prstGeom prst="downArrow">
            <a:avLst/>
          </a:prstGeom>
          <a:solidFill>
            <a:srgbClr val="0070C0"/>
          </a:solidFill>
          <a:ln w="12700">
            <a:solidFill>
              <a:srgbClr val="0070C0"/>
            </a:solidFill>
            <a:prstDash val="solid"/>
          </a:ln>
        </p:spPr>
      </p:sp>
      <p:sp>
        <p:nvSpPr>
          <p:cNvPr id="18" name="Shape 16"/>
          <p:cNvSpPr/>
          <p:nvPr/>
        </p:nvSpPr>
        <p:spPr>
          <a:xfrm>
            <a:off x="786384" y="4828032"/>
            <a:ext cx="3355848" cy="786384"/>
          </a:xfrm>
          <a:prstGeom prst="roundRect">
            <a:avLst>
              <a:gd name="adj" fmla="val 9302"/>
            </a:avLst>
          </a:prstGeom>
          <a:solidFill>
            <a:srgbClr val="FFFFFF"/>
          </a:solidFill>
          <a:ln w="12700">
            <a:solidFill>
              <a:srgbClr val="D6DEE8"/>
            </a:solidFill>
            <a:prstDash val="solid"/>
          </a:ln>
        </p:spPr>
      </p:sp>
      <p:sp>
        <p:nvSpPr>
          <p:cNvPr id="19" name="Text 17"/>
          <p:cNvSpPr txBox="1"/>
          <p:nvPr/>
        </p:nvSpPr>
        <p:spPr>
          <a:xfrm>
            <a:off x="896112" y="4901184"/>
            <a:ext cx="3136392" cy="274320"/>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Dropout(0.3)</a:t>
            </a:r>
            <a:endParaRPr lang="en-US" sz="1300" dirty="0"/>
          </a:p>
        </p:txBody>
      </p:sp>
      <p:sp>
        <p:nvSpPr>
          <p:cNvPr id="20" name="Text 18"/>
          <p:cNvSpPr txBox="1"/>
          <p:nvPr/>
        </p:nvSpPr>
        <p:spPr>
          <a:xfrm>
            <a:off x="896112" y="5175504"/>
            <a:ext cx="3136392" cy="384048"/>
          </a:xfrm>
          <a:prstGeom prst="rect">
            <a:avLst/>
          </a:prstGeom>
          <a:noFill/>
          <a:ln/>
        </p:spPr>
        <p:txBody>
          <a:bodyPr wrap="square" lIns="0" tIns="0" rIns="0" bIns="0" rtlCol="0" anchor="ctr"/>
          <a:lstStyle/>
          <a:p>
            <a:pPr indent="0" marL="0">
              <a:lnSpc>
                <a:spcPts val="1400"/>
              </a:lnSpc>
              <a:buNone/>
            </a:pPr>
            <a:r>
              <a:rPr lang="en-US" sz="1100" dirty="0">
                <a:solidFill>
                  <a:srgbClr val="5A6472"/>
                </a:solidFill>
                <a:latin typeface="Arial" pitchFamily="34" charset="0"/>
                <a:ea typeface="Arial" pitchFamily="34" charset="-122"/>
                <a:cs typeface="Arial" pitchFamily="34" charset="-120"/>
              </a:rPr>
              <a:t>Regularisation against overfitting</a:t>
            </a:r>
            <a:endParaRPr lang="en-US" sz="1100" dirty="0"/>
          </a:p>
        </p:txBody>
      </p:sp>
      <p:sp>
        <p:nvSpPr>
          <p:cNvPr id="21" name="Shape 19"/>
          <p:cNvSpPr/>
          <p:nvPr/>
        </p:nvSpPr>
        <p:spPr>
          <a:xfrm>
            <a:off x="2350008" y="5650992"/>
            <a:ext cx="201168" cy="128016"/>
          </a:xfrm>
          <a:prstGeom prst="downArrow">
            <a:avLst/>
          </a:prstGeom>
          <a:solidFill>
            <a:srgbClr val="0070C0"/>
          </a:solidFill>
          <a:ln w="12700">
            <a:solidFill>
              <a:srgbClr val="0070C0"/>
            </a:solidFill>
            <a:prstDash val="solid"/>
          </a:ln>
        </p:spPr>
      </p:sp>
      <p:sp>
        <p:nvSpPr>
          <p:cNvPr id="22" name="Shape 20"/>
          <p:cNvSpPr/>
          <p:nvPr/>
        </p:nvSpPr>
        <p:spPr>
          <a:xfrm>
            <a:off x="786384" y="5797296"/>
            <a:ext cx="3355848" cy="786384"/>
          </a:xfrm>
          <a:prstGeom prst="roundRect">
            <a:avLst>
              <a:gd name="adj" fmla="val 9302"/>
            </a:avLst>
          </a:prstGeom>
          <a:solidFill>
            <a:srgbClr val="FFFFFF"/>
          </a:solidFill>
          <a:ln w="12700">
            <a:solidFill>
              <a:srgbClr val="D6DEE8"/>
            </a:solidFill>
            <a:prstDash val="solid"/>
          </a:ln>
        </p:spPr>
      </p:sp>
      <p:sp>
        <p:nvSpPr>
          <p:cNvPr id="23" name="Text 21"/>
          <p:cNvSpPr txBox="1"/>
          <p:nvPr/>
        </p:nvSpPr>
        <p:spPr>
          <a:xfrm>
            <a:off x="896112" y="5870448"/>
            <a:ext cx="3136392" cy="274320"/>
          </a:xfrm>
          <a:prstGeom prst="rect">
            <a:avLst/>
          </a:prstGeom>
          <a:noFill/>
          <a:ln/>
        </p:spPr>
        <p:txBody>
          <a:bodyPr wrap="square" lIns="0" tIns="0" rIns="0" bIns="0" rtlCol="0" anchor="ctr"/>
          <a:lstStyle/>
          <a:p>
            <a:pPr indent="0" marL="0">
              <a:buNone/>
            </a:pPr>
            <a:r>
              <a:rPr lang="en-US" sz="1300" b="1" dirty="0">
                <a:solidFill>
                  <a:srgbClr val="0070C0"/>
                </a:solidFill>
                <a:latin typeface="Arial" pitchFamily="34" charset="0"/>
                <a:ea typeface="Arial" pitchFamily="34" charset="-122"/>
                <a:cs typeface="Arial" pitchFamily="34" charset="-120"/>
              </a:rPr>
              <a:t>Dense(N, Softmax)</a:t>
            </a:r>
            <a:endParaRPr lang="en-US" sz="1300" dirty="0"/>
          </a:p>
        </p:txBody>
      </p:sp>
      <p:sp>
        <p:nvSpPr>
          <p:cNvPr id="24" name="Text 22"/>
          <p:cNvSpPr txBox="1"/>
          <p:nvPr/>
        </p:nvSpPr>
        <p:spPr>
          <a:xfrm>
            <a:off x="896112" y="6144768"/>
            <a:ext cx="3136392" cy="384048"/>
          </a:xfrm>
          <a:prstGeom prst="rect">
            <a:avLst/>
          </a:prstGeom>
          <a:noFill/>
          <a:ln/>
        </p:spPr>
        <p:txBody>
          <a:bodyPr wrap="square" lIns="0" tIns="0" rIns="0" bIns="0" rtlCol="0" anchor="ctr"/>
          <a:lstStyle/>
          <a:p>
            <a:pPr indent="0" marL="0">
              <a:lnSpc>
                <a:spcPts val="1400"/>
              </a:lnSpc>
              <a:buNone/>
            </a:pPr>
            <a:r>
              <a:rPr lang="en-US" sz="1100" dirty="0">
                <a:solidFill>
                  <a:srgbClr val="5A6472"/>
                </a:solidFill>
                <a:latin typeface="Arial" pitchFamily="34" charset="0"/>
                <a:ea typeface="Arial" pitchFamily="34" charset="-122"/>
                <a:cs typeface="Arial" pitchFamily="34" charset="-120"/>
              </a:rPr>
              <a:t>N = 14 (identifier) or 5 (freshness)</a:t>
            </a:r>
            <a:endParaRPr lang="en-US" sz="1100" dirty="0"/>
          </a:p>
        </p:txBody>
      </p:sp>
      <p:sp>
        <p:nvSpPr>
          <p:cNvPr id="25" name="Shape 23"/>
          <p:cNvSpPr/>
          <p:nvPr/>
        </p:nvSpPr>
        <p:spPr>
          <a:xfrm>
            <a:off x="4636008" y="1371600"/>
            <a:ext cx="4873752" cy="1874520"/>
          </a:xfrm>
          <a:prstGeom prst="roundRect">
            <a:avLst>
              <a:gd name="adj" fmla="val 3902"/>
            </a:avLst>
          </a:prstGeom>
          <a:solidFill>
            <a:srgbClr val="FFFFFF"/>
          </a:solidFill>
          <a:ln w="12700">
            <a:solidFill>
              <a:srgbClr val="0070C0"/>
            </a:solidFill>
            <a:prstDash val="solid"/>
          </a:ln>
        </p:spPr>
      </p:sp>
      <p:sp>
        <p:nvSpPr>
          <p:cNvPr id="26" name="Shape 24"/>
          <p:cNvSpPr/>
          <p:nvPr/>
        </p:nvSpPr>
        <p:spPr>
          <a:xfrm>
            <a:off x="4873752" y="1554480"/>
            <a:ext cx="384048" cy="384048"/>
          </a:xfrm>
          <a:prstGeom prst="ellipse">
            <a:avLst/>
          </a:prstGeom>
          <a:solidFill>
            <a:srgbClr val="0070C0"/>
          </a:solidFill>
          <a:ln w="12700">
            <a:solidFill>
              <a:srgbClr val="0070C0"/>
            </a:solidFill>
            <a:prstDash val="solid"/>
          </a:ln>
        </p:spPr>
      </p:sp>
      <p:sp>
        <p:nvSpPr>
          <p:cNvPr id="27" name="Text 25"/>
          <p:cNvSpPr txBox="1"/>
          <p:nvPr/>
        </p:nvSpPr>
        <p:spPr>
          <a:xfrm>
            <a:off x="4873752"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8" name="Text 26"/>
          <p:cNvSpPr txBox="1"/>
          <p:nvPr/>
        </p:nvSpPr>
        <p:spPr>
          <a:xfrm>
            <a:off x="5404104" y="1554480"/>
            <a:ext cx="3867912" cy="384048"/>
          </a:xfrm>
          <a:prstGeom prst="rect">
            <a:avLst/>
          </a:prstGeom>
          <a:noFill/>
          <a:ln/>
        </p:spPr>
        <p:txBody>
          <a:bodyPr wrap="square" lIns="0" tIns="0" rIns="0" bIns="0" rtlCol="0" anchor="ctr"/>
          <a:lstStyle/>
          <a:p>
            <a:pPr indent="0" marL="0">
              <a:buNone/>
            </a:pPr>
            <a:r>
              <a:rPr lang="en-US" sz="1500" b="1" dirty="0">
                <a:solidFill>
                  <a:srgbClr val="0070C0"/>
                </a:solidFill>
                <a:latin typeface="Arial" pitchFamily="34" charset="0"/>
                <a:ea typeface="Arial" pitchFamily="34" charset="-122"/>
                <a:cs typeface="Arial" pitchFamily="34" charset="-120"/>
              </a:rPr>
              <a:t>Phase 1 — Feature extraction</a:t>
            </a:r>
            <a:endParaRPr lang="en-US" sz="1500" dirty="0"/>
          </a:p>
        </p:txBody>
      </p:sp>
      <p:sp>
        <p:nvSpPr>
          <p:cNvPr id="29" name="Text 27"/>
          <p:cNvSpPr txBox="1"/>
          <p:nvPr/>
        </p:nvSpPr>
        <p:spPr>
          <a:xfrm>
            <a:off x="4910328" y="2084832"/>
            <a:ext cx="4325112" cy="105156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250" dirty="0">
                <a:solidFill>
                  <a:srgbClr val="1A1A1A"/>
                </a:solidFill>
                <a:latin typeface="Arial" pitchFamily="34" charset="0"/>
                <a:ea typeface="Arial" pitchFamily="34" charset="-122"/>
                <a:cs typeface="Arial" pitchFamily="34" charset="-120"/>
              </a:rPr>
              <a:t>Entire backbone frozen — only the new head trains</a:t>
            </a:r>
            <a:endParaRPr lang="en-US" sz="1250" dirty="0"/>
          </a:p>
          <a:p>
            <a:pPr marL="342900" indent="-342900">
              <a:lnSpc>
                <a:spcPts val="1800"/>
              </a:lnSpc>
              <a:spcAft>
                <a:spcPts val="600"/>
              </a:spcAft>
              <a:buSzPct val="100000"/>
              <a:buChar char="•"/>
            </a:pPr>
            <a:r>
              <a:rPr lang="en-US" sz="1250" dirty="0">
                <a:solidFill>
                  <a:srgbClr val="1A1A1A"/>
                </a:solidFill>
                <a:latin typeface="Arial" pitchFamily="34" charset="0"/>
                <a:ea typeface="Arial" pitchFamily="34" charset="-122"/>
                <a:cs typeface="Arial" pitchFamily="34" charset="-120"/>
              </a:rPr>
              <a:t>Adam optimiser, categorical cross-entropy, 5 epochs</a:t>
            </a:r>
            <a:endParaRPr lang="en-US" sz="1250" dirty="0"/>
          </a:p>
          <a:p>
            <a:pPr marL="342900" indent="-342900">
              <a:lnSpc>
                <a:spcPts val="1800"/>
              </a:lnSpc>
              <a:spcAft>
                <a:spcPts val="600"/>
              </a:spcAft>
              <a:buSzPct val="100000"/>
              <a:buChar char="•"/>
            </a:pPr>
            <a:r>
              <a:rPr lang="en-US" sz="1250" dirty="0">
                <a:solidFill>
                  <a:srgbClr val="1A1A1A"/>
                </a:solidFill>
                <a:latin typeface="Arial" pitchFamily="34" charset="0"/>
                <a:ea typeface="Arial" pitchFamily="34" charset="-122"/>
                <a:cs typeface="Arial" pitchFamily="34" charset="-120"/>
              </a:rPr>
              <a:t>Freshness validation accuracy: 77.8%</a:t>
            </a:r>
            <a:endParaRPr lang="en-US" sz="1250" dirty="0"/>
          </a:p>
        </p:txBody>
      </p:sp>
      <p:sp>
        <p:nvSpPr>
          <p:cNvPr id="30" name="Shape 28"/>
          <p:cNvSpPr/>
          <p:nvPr/>
        </p:nvSpPr>
        <p:spPr>
          <a:xfrm>
            <a:off x="4636008" y="3429000"/>
            <a:ext cx="4873752" cy="1874520"/>
          </a:xfrm>
          <a:prstGeom prst="roundRect">
            <a:avLst>
              <a:gd name="adj" fmla="val 3902"/>
            </a:avLst>
          </a:prstGeom>
          <a:solidFill>
            <a:srgbClr val="FFFFFF"/>
          </a:solidFill>
          <a:ln w="12700">
            <a:solidFill>
              <a:srgbClr val="1F8A4C"/>
            </a:solidFill>
            <a:prstDash val="solid"/>
          </a:ln>
        </p:spPr>
      </p:sp>
      <p:sp>
        <p:nvSpPr>
          <p:cNvPr id="31" name="Shape 29"/>
          <p:cNvSpPr/>
          <p:nvPr/>
        </p:nvSpPr>
        <p:spPr>
          <a:xfrm>
            <a:off x="4873752" y="3611880"/>
            <a:ext cx="384048" cy="384048"/>
          </a:xfrm>
          <a:prstGeom prst="ellipse">
            <a:avLst/>
          </a:prstGeom>
          <a:solidFill>
            <a:srgbClr val="1F8A4C"/>
          </a:solidFill>
          <a:ln w="12700">
            <a:solidFill>
              <a:srgbClr val="1F8A4C"/>
            </a:solidFill>
            <a:prstDash val="solid"/>
          </a:ln>
        </p:spPr>
      </p:sp>
      <p:sp>
        <p:nvSpPr>
          <p:cNvPr id="32" name="Text 30"/>
          <p:cNvSpPr txBox="1"/>
          <p:nvPr/>
        </p:nvSpPr>
        <p:spPr>
          <a:xfrm>
            <a:off x="4873752" y="36118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33" name="Text 31"/>
          <p:cNvSpPr txBox="1"/>
          <p:nvPr/>
        </p:nvSpPr>
        <p:spPr>
          <a:xfrm>
            <a:off x="5404104" y="3611880"/>
            <a:ext cx="3867912" cy="384048"/>
          </a:xfrm>
          <a:prstGeom prst="rect">
            <a:avLst/>
          </a:prstGeom>
          <a:noFill/>
          <a:ln/>
        </p:spPr>
        <p:txBody>
          <a:bodyPr wrap="square" lIns="0" tIns="0" rIns="0" bIns="0" rtlCol="0" anchor="ctr"/>
          <a:lstStyle/>
          <a:p>
            <a:pPr indent="0" marL="0">
              <a:buNone/>
            </a:pPr>
            <a:r>
              <a:rPr lang="en-US" sz="1500" b="1" dirty="0">
                <a:solidFill>
                  <a:srgbClr val="1F8A4C"/>
                </a:solidFill>
                <a:latin typeface="Arial" pitchFamily="34" charset="0"/>
                <a:ea typeface="Arial" pitchFamily="34" charset="-122"/>
                <a:cs typeface="Arial" pitchFamily="34" charset="-120"/>
              </a:rPr>
              <a:t>Phase 2 — Fine-tuning</a:t>
            </a:r>
            <a:endParaRPr lang="en-US" sz="1500" dirty="0"/>
          </a:p>
        </p:txBody>
      </p:sp>
      <p:sp>
        <p:nvSpPr>
          <p:cNvPr id="34" name="Text 32"/>
          <p:cNvSpPr txBox="1"/>
          <p:nvPr/>
        </p:nvSpPr>
        <p:spPr>
          <a:xfrm>
            <a:off x="4910328" y="4142232"/>
            <a:ext cx="4325112" cy="105156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250" dirty="0">
                <a:solidFill>
                  <a:srgbClr val="1A1A1A"/>
                </a:solidFill>
                <a:latin typeface="Arial" pitchFamily="34" charset="0"/>
                <a:ea typeface="Arial" pitchFamily="34" charset="-122"/>
                <a:cs typeface="Arial" pitchFamily="34" charset="-120"/>
              </a:rPr>
              <a:t>Last 30 backbone layers unfrozen</a:t>
            </a:r>
            <a:endParaRPr lang="en-US" sz="1250" dirty="0"/>
          </a:p>
          <a:p>
            <a:pPr marL="342900" indent="-342900">
              <a:lnSpc>
                <a:spcPts val="1800"/>
              </a:lnSpc>
              <a:spcAft>
                <a:spcPts val="600"/>
              </a:spcAft>
              <a:buSzPct val="100000"/>
              <a:buChar char="•"/>
            </a:pPr>
            <a:r>
              <a:rPr lang="en-US" sz="1250" dirty="0">
                <a:solidFill>
                  <a:srgbClr val="1A1A1A"/>
                </a:solidFill>
                <a:latin typeface="Arial" pitchFamily="34" charset="0"/>
                <a:ea typeface="Arial" pitchFamily="34" charset="-122"/>
                <a:cs typeface="Arial" pitchFamily="34" charset="-120"/>
              </a:rPr>
              <a:t>Learning rate dropped to 1e-5, 5 further epochs</a:t>
            </a:r>
            <a:endParaRPr lang="en-US" sz="1250" dirty="0"/>
          </a:p>
          <a:p>
            <a:pPr marL="342900" indent="-342900">
              <a:lnSpc>
                <a:spcPts val="1800"/>
              </a:lnSpc>
              <a:spcAft>
                <a:spcPts val="600"/>
              </a:spcAft>
              <a:buSzPct val="100000"/>
              <a:buChar char="•"/>
            </a:pPr>
            <a:r>
              <a:rPr lang="en-US" sz="1250" dirty="0">
                <a:solidFill>
                  <a:srgbClr val="1A1A1A"/>
                </a:solidFill>
                <a:latin typeface="Arial" pitchFamily="34" charset="0"/>
                <a:ea typeface="Arial" pitchFamily="34" charset="-122"/>
                <a:cs typeface="Arial" pitchFamily="34" charset="-120"/>
              </a:rPr>
              <a:t>Freshness validation accuracy: 80.4%</a:t>
            </a:r>
            <a:endParaRPr lang="en-US" sz="1250" dirty="0"/>
          </a:p>
        </p:txBody>
      </p:sp>
      <p:sp>
        <p:nvSpPr>
          <p:cNvPr id="35" name="Shape 33"/>
          <p:cNvSpPr/>
          <p:nvPr/>
        </p:nvSpPr>
        <p:spPr>
          <a:xfrm>
            <a:off x="4636008" y="5486400"/>
            <a:ext cx="4873752" cy="1325880"/>
          </a:xfrm>
          <a:prstGeom prst="roundRect">
            <a:avLst>
              <a:gd name="adj" fmla="val 5517"/>
            </a:avLst>
          </a:prstGeom>
          <a:solidFill>
            <a:srgbClr val="EAF3FB"/>
          </a:solidFill>
          <a:ln w="12700">
            <a:solidFill>
              <a:srgbClr val="D6DEE8"/>
            </a:solidFill>
            <a:prstDash val="solid"/>
          </a:ln>
        </p:spPr>
      </p:sp>
      <p:sp>
        <p:nvSpPr>
          <p:cNvPr id="36" name="Text 34"/>
          <p:cNvSpPr txBox="1"/>
          <p:nvPr/>
        </p:nvSpPr>
        <p:spPr>
          <a:xfrm>
            <a:off x="4873752" y="5614416"/>
            <a:ext cx="4398264" cy="1097280"/>
          </a:xfrm>
          <a:prstGeom prst="rect">
            <a:avLst/>
          </a:prstGeom>
          <a:noFill/>
          <a:ln/>
        </p:spPr>
        <p:txBody>
          <a:bodyPr wrap="square" lIns="0" tIns="0" rIns="0" bIns="0" rtlCol="0" anchor="ctr"/>
          <a:lstStyle/>
          <a:p>
            <a:pPr indent="0" marL="0">
              <a:lnSpc>
                <a:spcPts val="1800"/>
              </a:lnSpc>
              <a:buNone/>
            </a:pPr>
            <a:r>
              <a:rPr lang="en-US" sz="1250" b="1" dirty="0">
                <a:solidFill>
                  <a:srgbClr val="0070C0"/>
                </a:solidFill>
                <a:latin typeface="Arial" pitchFamily="34" charset="0"/>
                <a:ea typeface="Arial" pitchFamily="34" charset="-122"/>
                <a:cs typeface="Arial" pitchFamily="34" charset="-120"/>
              </a:rPr>
              <a:t>Why this order:  </a:t>
            </a:r>
            <a:pPr indent="0" marL="0">
              <a:lnSpc>
                <a:spcPts val="1800"/>
              </a:lnSpc>
              <a:buNone/>
            </a:pPr>
            <a:r>
              <a:rPr lang="en-US" sz="1250" dirty="0">
                <a:solidFill>
                  <a:srgbClr val="1A1A1A"/>
                </a:solidFill>
                <a:latin typeface="Arial" pitchFamily="34" charset="0"/>
                <a:ea typeface="Arial" pitchFamily="34" charset="-122"/>
                <a:cs typeface="Arial" pitchFamily="34" charset="-120"/>
              </a:rPr>
              <a:t>training everything from the start sends large random gradients through pretrained weights and destroys them. Early layers learn generic edges and textures that transfer as-is; only the later, task-specific layers are worth adapting.</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RESULTS &amp; DISCUSSIONS</a:t>
            </a:r>
            <a:endParaRPr lang="en-US" sz="3000" dirty="0"/>
          </a:p>
        </p:txBody>
      </p:sp>
      <p:sp>
        <p:nvSpPr>
          <p:cNvPr id="3" name="Text 1"/>
          <p:cNvSpPr txBox="1"/>
          <p:nvPr/>
        </p:nvSpPr>
        <p:spPr>
          <a:xfrm>
            <a:off x="566928" y="969264"/>
            <a:ext cx="8942832" cy="274320"/>
          </a:xfrm>
          <a:prstGeom prst="rect">
            <a:avLst/>
          </a:prstGeom>
          <a:noFill/>
          <a:ln/>
        </p:spPr>
        <p:txBody>
          <a:bodyPr wrap="square" lIns="0" tIns="0" rIns="0" bIns="0" rtlCol="0" anchor="ctr"/>
          <a:lstStyle/>
          <a:p>
            <a:pPr algn="ctr" indent="0" marL="0">
              <a:buNone/>
            </a:pPr>
            <a:r>
              <a:rPr lang="en-US" sz="1300" i="1" dirty="0">
                <a:solidFill>
                  <a:srgbClr val="5A6472"/>
                </a:solidFill>
                <a:latin typeface="Arial" pitchFamily="34" charset="0"/>
                <a:ea typeface="Arial" pitchFamily="34" charset="-122"/>
                <a:cs typeface="Arial" pitchFamily="34" charset="-120"/>
              </a:rPr>
              <a:t>Freshness classifier accuracy and inference-time calibration</a:t>
            </a:r>
            <a:endParaRPr lang="en-US" sz="1300" dirty="0"/>
          </a:p>
        </p:txBody>
      </p:sp>
      <p:sp>
        <p:nvSpPr>
          <p:cNvPr id="4" name="Shape 2"/>
          <p:cNvSpPr/>
          <p:nvPr/>
        </p:nvSpPr>
        <p:spPr>
          <a:xfrm>
            <a:off x="566928" y="1371600"/>
            <a:ext cx="2071116" cy="1188720"/>
          </a:xfrm>
          <a:prstGeom prst="roundRect">
            <a:avLst>
              <a:gd name="adj" fmla="val 6154"/>
            </a:avLst>
          </a:prstGeom>
          <a:solidFill>
            <a:srgbClr val="FFFFFF"/>
          </a:solidFill>
          <a:ln w="12700">
            <a:solidFill>
              <a:srgbClr val="D6DEE8"/>
            </a:solidFill>
            <a:prstDash val="solid"/>
          </a:ln>
        </p:spPr>
      </p:sp>
      <p:sp>
        <p:nvSpPr>
          <p:cNvPr id="5" name="Text 3"/>
          <p:cNvSpPr txBox="1"/>
          <p:nvPr/>
        </p:nvSpPr>
        <p:spPr>
          <a:xfrm>
            <a:off x="658368" y="1463040"/>
            <a:ext cx="1888236" cy="603504"/>
          </a:xfrm>
          <a:prstGeom prst="rect">
            <a:avLst/>
          </a:prstGeom>
          <a:noFill/>
          <a:ln/>
        </p:spPr>
        <p:txBody>
          <a:bodyPr wrap="square" lIns="0" tIns="0" rIns="0" bIns="0" rtlCol="0" anchor="ctr"/>
          <a:lstStyle/>
          <a:p>
            <a:pPr algn="ctr" indent="0" marL="0">
              <a:buNone/>
            </a:pPr>
            <a:r>
              <a:rPr lang="en-US" sz="3000" b="1" dirty="0">
                <a:solidFill>
                  <a:srgbClr val="1F8A4C"/>
                </a:solidFill>
                <a:latin typeface="Arial" pitchFamily="34" charset="0"/>
                <a:ea typeface="Arial" pitchFamily="34" charset="-122"/>
                <a:cs typeface="Arial" pitchFamily="34" charset="-120"/>
              </a:rPr>
              <a:t>80.4%</a:t>
            </a:r>
            <a:endParaRPr lang="en-US" sz="3000" dirty="0"/>
          </a:p>
        </p:txBody>
      </p:sp>
      <p:sp>
        <p:nvSpPr>
          <p:cNvPr id="6" name="Text 4"/>
          <p:cNvSpPr txBox="1"/>
          <p:nvPr/>
        </p:nvSpPr>
        <p:spPr>
          <a:xfrm>
            <a:off x="658368" y="2084832"/>
            <a:ext cx="1888236" cy="384048"/>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Arial" pitchFamily="34" charset="0"/>
                <a:ea typeface="Arial" pitchFamily="34" charset="-122"/>
                <a:cs typeface="Arial" pitchFamily="34" charset="-120"/>
              </a:rPr>
              <a:t>Freshness validation accuracy</a:t>
            </a:r>
            <a:endParaRPr lang="en-US" sz="1100" dirty="0"/>
          </a:p>
        </p:txBody>
      </p:sp>
      <p:sp>
        <p:nvSpPr>
          <p:cNvPr id="7" name="Shape 5"/>
          <p:cNvSpPr/>
          <p:nvPr/>
        </p:nvSpPr>
        <p:spPr>
          <a:xfrm>
            <a:off x="2857500" y="1371600"/>
            <a:ext cx="2071116" cy="1188720"/>
          </a:xfrm>
          <a:prstGeom prst="roundRect">
            <a:avLst>
              <a:gd name="adj" fmla="val 6154"/>
            </a:avLst>
          </a:prstGeom>
          <a:solidFill>
            <a:srgbClr val="FFFFFF"/>
          </a:solidFill>
          <a:ln w="12700">
            <a:solidFill>
              <a:srgbClr val="D6DEE8"/>
            </a:solidFill>
            <a:prstDash val="solid"/>
          </a:ln>
        </p:spPr>
      </p:sp>
      <p:sp>
        <p:nvSpPr>
          <p:cNvPr id="8" name="Text 6"/>
          <p:cNvSpPr txBox="1"/>
          <p:nvPr/>
        </p:nvSpPr>
        <p:spPr>
          <a:xfrm>
            <a:off x="2948940" y="1463040"/>
            <a:ext cx="1888236" cy="603504"/>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+2.6 pts</a:t>
            </a:r>
            <a:endParaRPr lang="en-US" sz="3000" dirty="0"/>
          </a:p>
        </p:txBody>
      </p:sp>
      <p:sp>
        <p:nvSpPr>
          <p:cNvPr id="9" name="Text 7"/>
          <p:cNvSpPr txBox="1"/>
          <p:nvPr/>
        </p:nvSpPr>
        <p:spPr>
          <a:xfrm>
            <a:off x="2948940" y="2084832"/>
            <a:ext cx="1888236" cy="384048"/>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Arial" pitchFamily="34" charset="0"/>
                <a:ea typeface="Arial" pitchFamily="34" charset="-122"/>
                <a:cs typeface="Arial" pitchFamily="34" charset="-120"/>
              </a:rPr>
              <a:t>Gain from fine-tuning</a:t>
            </a:r>
            <a:endParaRPr lang="en-US" sz="1100" dirty="0"/>
          </a:p>
        </p:txBody>
      </p:sp>
      <p:sp>
        <p:nvSpPr>
          <p:cNvPr id="10" name="Shape 8"/>
          <p:cNvSpPr/>
          <p:nvPr/>
        </p:nvSpPr>
        <p:spPr>
          <a:xfrm>
            <a:off x="5148072" y="1371600"/>
            <a:ext cx="2071116" cy="1188720"/>
          </a:xfrm>
          <a:prstGeom prst="roundRect">
            <a:avLst>
              <a:gd name="adj" fmla="val 6154"/>
            </a:avLst>
          </a:prstGeom>
          <a:solidFill>
            <a:srgbClr val="FFFFFF"/>
          </a:solidFill>
          <a:ln w="12700">
            <a:solidFill>
              <a:srgbClr val="D6DEE8"/>
            </a:solidFill>
            <a:prstDash val="solid"/>
          </a:ln>
        </p:spPr>
      </p:sp>
      <p:sp>
        <p:nvSpPr>
          <p:cNvPr id="11" name="Text 9"/>
          <p:cNvSpPr txBox="1"/>
          <p:nvPr/>
        </p:nvSpPr>
        <p:spPr>
          <a:xfrm>
            <a:off x="5239512" y="1463040"/>
            <a:ext cx="1888236" cy="603504"/>
          </a:xfrm>
          <a:prstGeom prst="rect">
            <a:avLst/>
          </a:prstGeom>
          <a:noFill/>
          <a:ln/>
        </p:spPr>
        <p:txBody>
          <a:bodyPr wrap="square" lIns="0" tIns="0" rIns="0" bIns="0" rtlCol="0" anchor="ctr"/>
          <a:lstStyle/>
          <a:p>
            <a:pPr algn="ctr" indent="0" marL="0">
              <a:buNone/>
            </a:pPr>
            <a:r>
              <a:rPr lang="en-US" sz="3000" b="1" dirty="0">
                <a:solidFill>
                  <a:srgbClr val="C77700"/>
                </a:solidFill>
                <a:latin typeface="Arial" pitchFamily="34" charset="0"/>
                <a:ea typeface="Arial" pitchFamily="34" charset="-122"/>
                <a:cs typeface="Arial" pitchFamily="34" charset="-120"/>
              </a:rPr>
              <a:t>14</a:t>
            </a:r>
            <a:endParaRPr lang="en-US" sz="3000" dirty="0"/>
          </a:p>
        </p:txBody>
      </p:sp>
      <p:sp>
        <p:nvSpPr>
          <p:cNvPr id="12" name="Text 10"/>
          <p:cNvSpPr txBox="1"/>
          <p:nvPr/>
        </p:nvSpPr>
        <p:spPr>
          <a:xfrm>
            <a:off x="5239512" y="2084832"/>
            <a:ext cx="1888236" cy="384048"/>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Arial" pitchFamily="34" charset="0"/>
                <a:ea typeface="Arial" pitchFamily="34" charset="-122"/>
                <a:cs typeface="Arial" pitchFamily="34" charset="-120"/>
              </a:rPr>
              <a:t>Produce classes covered</a:t>
            </a:r>
            <a:endParaRPr lang="en-US" sz="1100" dirty="0"/>
          </a:p>
        </p:txBody>
      </p:sp>
      <p:sp>
        <p:nvSpPr>
          <p:cNvPr id="13" name="Shape 11"/>
          <p:cNvSpPr/>
          <p:nvPr/>
        </p:nvSpPr>
        <p:spPr>
          <a:xfrm>
            <a:off x="7438644" y="1371600"/>
            <a:ext cx="2071116" cy="1188720"/>
          </a:xfrm>
          <a:prstGeom prst="roundRect">
            <a:avLst>
              <a:gd name="adj" fmla="val 6154"/>
            </a:avLst>
          </a:prstGeom>
          <a:solidFill>
            <a:srgbClr val="FFFFFF"/>
          </a:solidFill>
          <a:ln w="12700">
            <a:solidFill>
              <a:srgbClr val="D6DEE8"/>
            </a:solidFill>
            <a:prstDash val="solid"/>
          </a:ln>
        </p:spPr>
      </p:sp>
      <p:sp>
        <p:nvSpPr>
          <p:cNvPr id="14" name="Text 12"/>
          <p:cNvSpPr txBox="1"/>
          <p:nvPr/>
        </p:nvSpPr>
        <p:spPr>
          <a:xfrm>
            <a:off x="7530084" y="1463040"/>
            <a:ext cx="1888236" cy="603504"/>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&lt; 1 s</a:t>
            </a:r>
            <a:endParaRPr lang="en-US" sz="3000" dirty="0"/>
          </a:p>
        </p:txBody>
      </p:sp>
      <p:sp>
        <p:nvSpPr>
          <p:cNvPr id="15" name="Text 13"/>
          <p:cNvSpPr txBox="1"/>
          <p:nvPr/>
        </p:nvSpPr>
        <p:spPr>
          <a:xfrm>
            <a:off x="7530084" y="2084832"/>
            <a:ext cx="1888236" cy="384048"/>
          </a:xfrm>
          <a:prstGeom prst="rect">
            <a:avLst/>
          </a:prstGeom>
          <a:noFill/>
          <a:ln/>
        </p:spPr>
        <p:txBody>
          <a:bodyPr wrap="square" lIns="0" tIns="0" rIns="0" bIns="0" rtlCol="0" anchor="ctr"/>
          <a:lstStyle/>
          <a:p>
            <a:pPr algn="ctr" indent="0" marL="0">
              <a:lnSpc>
                <a:spcPts val="1400"/>
              </a:lnSpc>
              <a:buNone/>
            </a:pPr>
            <a:r>
              <a:rPr lang="en-US" sz="1100" dirty="0">
                <a:solidFill>
                  <a:srgbClr val="5A6472"/>
                </a:solidFill>
                <a:latin typeface="Arial" pitchFamily="34" charset="0"/>
                <a:ea typeface="Arial" pitchFamily="34" charset="-122"/>
                <a:cs typeface="Arial" pitchFamily="34" charset="-120"/>
              </a:rPr>
              <a:t>Typical inference latency</a:t>
            </a:r>
            <a:endParaRPr lang="en-US" sz="1100" dirty="0"/>
          </a:p>
        </p:txBody>
      </p:sp>
      <p:graphicFrame>
        <p:nvGraphicFramePr>
          <p:cNvPr id="16" name="Chart 0" descr=""/>
          <p:cNvGraphicFramePr/>
          <p:nvPr/>
        </p:nvGraphicFramePr>
        <p:xfrm>
          <a:off x="566928" y="2743200"/>
          <a:ext cx="4334256"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Chart 1" descr=""/>
          <p:cNvGraphicFramePr/>
          <p:nvPr/>
        </p:nvGraphicFramePr>
        <p:xfrm>
          <a:off x="5175504" y="2743200"/>
          <a:ext cx="4334256" cy="324612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566928" y="6108192"/>
            <a:ext cx="8942832" cy="640080"/>
          </a:xfrm>
          <a:prstGeom prst="rect">
            <a:avLst/>
          </a:prstGeom>
          <a:noFill/>
          <a:ln/>
        </p:spPr>
        <p:txBody>
          <a:bodyPr wrap="square" lIns="0" tIns="0" rIns="0" bIns="0" rtlCol="0" anchor="ctr"/>
          <a:lstStyle/>
          <a:p>
            <a:pPr indent="0" marL="0">
              <a:lnSpc>
                <a:spcPts val="1800"/>
              </a:lnSpc>
              <a:buNone/>
            </a:pPr>
            <a:r>
              <a:rPr lang="en-US" sz="1250" dirty="0">
                <a:solidFill>
                  <a:srgbClr val="5A6472"/>
                </a:solidFill>
                <a:latin typeface="Arial" pitchFamily="34" charset="0"/>
                <a:ea typeface="Arial" pitchFamily="34" charset="-122"/>
                <a:cs typeface="Arial" pitchFamily="34" charset="-120"/>
              </a:rPr>
              <a:t>The raw freshness head over-predicted "slightly rotten" and almost never fired "very rotten". Rather than retrain, the probability vector is reweighted at inference and renormalised — a practical fix that visibly improved the verdicts.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RESULTS — THE DEPLOYED APPLICATION</a:t>
            </a:r>
            <a:endParaRPr lang="en-US" sz="3000" dirty="0"/>
          </a:p>
        </p:txBody>
      </p:sp>
      <p:sp>
        <p:nvSpPr>
          <p:cNvPr id="3" name="Text 1"/>
          <p:cNvSpPr txBox="1"/>
          <p:nvPr/>
        </p:nvSpPr>
        <p:spPr>
          <a:xfrm>
            <a:off x="566928" y="969264"/>
            <a:ext cx="8942832" cy="274320"/>
          </a:xfrm>
          <a:prstGeom prst="rect">
            <a:avLst/>
          </a:prstGeom>
          <a:noFill/>
          <a:ln/>
        </p:spPr>
        <p:txBody>
          <a:bodyPr wrap="square" lIns="0" tIns="0" rIns="0" bIns="0" rtlCol="0" anchor="ctr"/>
          <a:lstStyle/>
          <a:p>
            <a:pPr algn="ctr" indent="0" marL="0">
              <a:buNone/>
            </a:pPr>
            <a:r>
              <a:rPr lang="en-US" sz="1300" i="1" dirty="0">
                <a:solidFill>
                  <a:srgbClr val="5A6472"/>
                </a:solidFill>
                <a:latin typeface="Arial" pitchFamily="34" charset="0"/>
                <a:ea typeface="Arial" pitchFamily="34" charset="-122"/>
                <a:cs typeface="Arial" pitchFamily="34" charset="-120"/>
              </a:rPr>
              <a:t>FastAPI JSON service behind a React single-page interface</a:t>
            </a:r>
            <a:endParaRPr lang="en-US" sz="1300" dirty="0"/>
          </a:p>
        </p:txBody>
      </p:sp>
      <p:pic>
        <p:nvPicPr>
          <p:cNvPr id="4" name="Image 0" descr="/tmp/claude-0/-home-user-Fresh-Vision/4d94e801-2dcb-5911-b5a3-8c4f34053529/scratchpad/ui_hero.png">    </p:cNvPr>
          <p:cNvPicPr>
            <a:picLocks noChangeAspect="1"/>
          </p:cNvPicPr>
          <p:nvPr/>
        </p:nvPicPr>
        <p:blipFill>
          <a:blip r:embed="rId1"/>
          <a:stretch>
            <a:fillRect/>
          </a:stretch>
        </p:blipFill>
        <p:spPr>
          <a:xfrm>
            <a:off x="566928" y="1371600"/>
            <a:ext cx="5029200" cy="3143250"/>
          </a:xfrm>
          <a:prstGeom prst="rect">
            <a:avLst/>
          </a:prstGeom>
        </p:spPr>
      </p:pic>
      <p:sp>
        <p:nvSpPr>
          <p:cNvPr id="5" name="Text 2"/>
          <p:cNvSpPr txBox="1"/>
          <p:nvPr/>
        </p:nvSpPr>
        <p:spPr>
          <a:xfrm>
            <a:off x="566928" y="4535424"/>
            <a:ext cx="5029200" cy="256032"/>
          </a:xfrm>
          <a:prstGeom prst="rect">
            <a:avLst/>
          </a:prstGeom>
          <a:noFill/>
          <a:ln/>
        </p:spPr>
        <p:txBody>
          <a:bodyPr wrap="square" lIns="0" tIns="0" rIns="0" bIns="0" rtlCol="0" anchor="ctr"/>
          <a:lstStyle/>
          <a:p>
            <a:pPr indent="0" marL="0">
              <a:buNone/>
            </a:pPr>
            <a:r>
              <a:rPr lang="en-US" sz="1100" i="1" dirty="0">
                <a:solidFill>
                  <a:srgbClr val="5A6472"/>
                </a:solidFill>
                <a:latin typeface="Arial" pitchFamily="34" charset="0"/>
                <a:ea typeface="Arial" pitchFamily="34" charset="-122"/>
                <a:cs typeface="Arial" pitchFamily="34" charset="-120"/>
              </a:rPr>
              <a:t>Landing view — model status, headline and coverage stats</a:t>
            </a:r>
            <a:endParaRPr lang="en-US" sz="1100" dirty="0"/>
          </a:p>
        </p:txBody>
      </p:sp>
      <p:pic>
        <p:nvPicPr>
          <p:cNvPr id="6" name="Image 1" descr="/tmp/claude-0/-home-user-Fresh-Vision/4d94e801-2dcb-5911-b5a3-8c4f34053529/scratchpad/shot_upload.png">    </p:cNvPr>
          <p:cNvPicPr>
            <a:picLocks noChangeAspect="1"/>
          </p:cNvPicPr>
          <p:nvPr/>
        </p:nvPicPr>
        <p:blipFill>
          <a:blip r:embed="rId2"/>
          <a:stretch>
            <a:fillRect/>
          </a:stretch>
        </p:blipFill>
        <p:spPr>
          <a:xfrm>
            <a:off x="566928" y="4846320"/>
            <a:ext cx="4480560" cy="1848231"/>
          </a:xfrm>
          <a:prstGeom prst="rect">
            <a:avLst/>
          </a:prstGeom>
        </p:spPr>
      </p:pic>
      <p:sp>
        <p:nvSpPr>
          <p:cNvPr id="7" name="Text 3"/>
          <p:cNvSpPr txBox="1"/>
          <p:nvPr/>
        </p:nvSpPr>
        <p:spPr>
          <a:xfrm>
            <a:off x="566928" y="6766560"/>
            <a:ext cx="5029200" cy="256032"/>
          </a:xfrm>
          <a:prstGeom prst="rect">
            <a:avLst/>
          </a:prstGeom>
          <a:noFill/>
          <a:ln/>
        </p:spPr>
        <p:txBody>
          <a:bodyPr wrap="square" lIns="0" tIns="0" rIns="0" bIns="0" rtlCol="0" anchor="ctr"/>
          <a:lstStyle/>
          <a:p>
            <a:pPr indent="0" marL="0">
              <a:buNone/>
            </a:pPr>
            <a:r>
              <a:rPr lang="en-US" sz="1100" i="1" dirty="0">
                <a:solidFill>
                  <a:srgbClr val="5A6472"/>
                </a:solidFill>
                <a:latin typeface="Arial" pitchFamily="34" charset="0"/>
                <a:ea typeface="Arial" pitchFamily="34" charset="-122"/>
                <a:cs typeface="Arial" pitchFamily="34" charset="-120"/>
              </a:rPr>
              <a:t>Analysis view — drag-and-drop upload beside the verdict panel</a:t>
            </a:r>
            <a:endParaRPr lang="en-US" sz="1100" dirty="0"/>
          </a:p>
        </p:txBody>
      </p:sp>
      <p:sp>
        <p:nvSpPr>
          <p:cNvPr id="8" name="Shape 4"/>
          <p:cNvSpPr/>
          <p:nvPr/>
        </p:nvSpPr>
        <p:spPr>
          <a:xfrm>
            <a:off x="5916168" y="1371600"/>
            <a:ext cx="3593592" cy="2331720"/>
          </a:xfrm>
          <a:prstGeom prst="roundRect">
            <a:avLst>
              <a:gd name="adj" fmla="val 3137"/>
            </a:avLst>
          </a:prstGeom>
          <a:solidFill>
            <a:srgbClr val="EAF3FB"/>
          </a:solidFill>
          <a:ln w="12700">
            <a:solidFill>
              <a:srgbClr val="D6DEE8"/>
            </a:solidFill>
            <a:prstDash val="solid"/>
          </a:ln>
        </p:spPr>
      </p:sp>
      <p:sp>
        <p:nvSpPr>
          <p:cNvPr id="9" name="Text 5"/>
          <p:cNvSpPr txBox="1"/>
          <p:nvPr/>
        </p:nvSpPr>
        <p:spPr>
          <a:xfrm>
            <a:off x="6099048" y="1517904"/>
            <a:ext cx="3227832" cy="274320"/>
          </a:xfrm>
          <a:prstGeom prst="rect">
            <a:avLst/>
          </a:prstGeom>
          <a:noFill/>
          <a:ln/>
        </p:spPr>
        <p:txBody>
          <a:bodyPr wrap="square" lIns="0" tIns="0" rIns="0" bIns="0" rtlCol="0" anchor="ctr"/>
          <a:lstStyle/>
          <a:p>
            <a:pPr indent="0" marL="0">
              <a:buNone/>
            </a:pPr>
            <a:r>
              <a:rPr lang="en-US" sz="1400" b="1" dirty="0">
                <a:solidFill>
                  <a:srgbClr val="0070C0"/>
                </a:solidFill>
                <a:latin typeface="Arial" pitchFamily="34" charset="0"/>
                <a:ea typeface="Arial" pitchFamily="34" charset="-122"/>
                <a:cs typeface="Arial" pitchFamily="34" charset="-120"/>
              </a:rPr>
              <a:t>REST API</a:t>
            </a:r>
            <a:endParaRPr lang="en-US" sz="1400" dirty="0"/>
          </a:p>
        </p:txBody>
      </p:sp>
      <p:sp>
        <p:nvSpPr>
          <p:cNvPr id="10" name="Text 6"/>
          <p:cNvSpPr txBox="1"/>
          <p:nvPr/>
        </p:nvSpPr>
        <p:spPr>
          <a:xfrm>
            <a:off x="6099048" y="1901952"/>
            <a:ext cx="3227832" cy="1691640"/>
          </a:xfrm>
          <a:prstGeom prst="rect">
            <a:avLst/>
          </a:prstGeom>
          <a:noFill/>
          <a:ln/>
        </p:spPr>
        <p:txBody>
          <a:bodyPr wrap="square" lIns="0" tIns="0" rIns="0" bIns="0" rtlCol="0" anchor="ctr"/>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GET /api/health</a:t>
            </a:r>
            <a:endParaRPr lang="en-US" sz="1200" dirty="0"/>
          </a:p>
          <a:p>
            <a:pPr indent="0" marL="0">
              <a:lnSpc>
                <a:spcPts val="1700"/>
              </a:lnSpc>
              <a:buNone/>
            </a:pPr>
            <a:r>
              <a:rPr lang="en-US" sz="1100" dirty="0">
                <a:solidFill>
                  <a:srgbClr val="5A6472"/>
                </a:solidFill>
                <a:latin typeface="Arial" pitchFamily="34" charset="0"/>
                <a:ea typeface="Arial" pitchFamily="34" charset="-122"/>
                <a:cs typeface="Arial" pitchFamily="34" charset="-120"/>
              </a:rPr>
              <a:t>Model load status (503 if a model is missing)</a:t>
            </a:r>
            <a:endParaRPr lang="en-US" sz="1200" dirty="0"/>
          </a:p>
          <a:p>
            <a:pPr indent="0" marL="0">
              <a:lnSpc>
                <a:spcPts val="1700"/>
              </a:lnSpc>
              <a:buNone/>
            </a:pPr>
            <a:r>
              <a:rPr lang="en-US" sz="1200" b="1" dirty="0">
                <a:solidFill>
                  <a:srgbClr val="1A1A1A"/>
                </a:solidFill>
                <a:latin typeface="Arial" pitchFamily="34" charset="0"/>
                <a:ea typeface="Arial" pitchFamily="34" charset="-122"/>
                <a:cs typeface="Arial" pitchFamily="34" charset="-120"/>
              </a:rPr>
              <a:t>GET /api/classes</a:t>
            </a:r>
            <a:endParaRPr lang="en-US" sz="1200" dirty="0"/>
          </a:p>
          <a:p>
            <a:pPr indent="0" marL="0">
              <a:lnSpc>
                <a:spcPts val="1700"/>
              </a:lnSpc>
              <a:buNone/>
            </a:pPr>
            <a:r>
              <a:rPr lang="en-US" sz="1100" dirty="0">
                <a:solidFill>
                  <a:srgbClr val="5A6472"/>
                </a:solidFill>
                <a:latin typeface="Arial" pitchFamily="34" charset="0"/>
                <a:ea typeface="Arial" pitchFamily="34" charset="-122"/>
                <a:cs typeface="Arial" pitchFamily="34" charset="-120"/>
              </a:rPr>
              <a:t>Produce and freshness label lists</a:t>
            </a:r>
            <a:endParaRPr lang="en-US" sz="1200" dirty="0"/>
          </a:p>
          <a:p>
            <a:pPr indent="0" marL="0">
              <a:lnSpc>
                <a:spcPts val="1700"/>
              </a:lnSpc>
              <a:buNone/>
            </a:pPr>
            <a:r>
              <a:rPr lang="en-US" sz="1200" b="1" dirty="0">
                <a:solidFill>
                  <a:srgbClr val="1A1A1A"/>
                </a:solidFill>
                <a:latin typeface="Arial" pitchFamily="34" charset="0"/>
                <a:ea typeface="Arial" pitchFamily="34" charset="-122"/>
                <a:cs typeface="Arial" pitchFamily="34" charset="-120"/>
              </a:rPr>
              <a:t>POST /api/predict</a:t>
            </a:r>
            <a:endParaRPr lang="en-US" sz="1200" dirty="0"/>
          </a:p>
          <a:p>
            <a:pPr indent="0" marL="0">
              <a:lnSpc>
                <a:spcPts val="1700"/>
              </a:lnSpc>
              <a:buNone/>
            </a:pPr>
            <a:r>
              <a:rPr lang="en-US" sz="1100" dirty="0">
                <a:solidFill>
                  <a:srgbClr val="5A6472"/>
                </a:solidFill>
                <a:latin typeface="Arial" pitchFamily="34" charset="0"/>
                <a:ea typeface="Arial" pitchFamily="34" charset="-122"/>
                <a:cs typeface="Arial" pitchFamily="34" charset="-120"/>
              </a:rPr>
              <a:t>Image upload → full analysis JSON</a:t>
            </a:r>
            <a:endParaRPr lang="en-US" sz="1200" dirty="0"/>
          </a:p>
        </p:txBody>
      </p:sp>
      <p:sp>
        <p:nvSpPr>
          <p:cNvPr id="11" name="Shape 7"/>
          <p:cNvSpPr/>
          <p:nvPr/>
        </p:nvSpPr>
        <p:spPr>
          <a:xfrm>
            <a:off x="5916168" y="3886200"/>
            <a:ext cx="3593592" cy="2898648"/>
          </a:xfrm>
          <a:prstGeom prst="roundRect">
            <a:avLst>
              <a:gd name="adj" fmla="val 2524"/>
            </a:avLst>
          </a:prstGeom>
          <a:solidFill>
            <a:srgbClr val="FFFFFF"/>
          </a:solidFill>
          <a:ln w="12700">
            <a:solidFill>
              <a:srgbClr val="D6DEE8"/>
            </a:solidFill>
            <a:prstDash val="solid"/>
          </a:ln>
        </p:spPr>
      </p:sp>
      <p:sp>
        <p:nvSpPr>
          <p:cNvPr id="12" name="Text 8"/>
          <p:cNvSpPr txBox="1"/>
          <p:nvPr/>
        </p:nvSpPr>
        <p:spPr>
          <a:xfrm>
            <a:off x="6099048" y="4041648"/>
            <a:ext cx="3227832" cy="274320"/>
          </a:xfrm>
          <a:prstGeom prst="rect">
            <a:avLst/>
          </a:prstGeom>
          <a:noFill/>
          <a:ln/>
        </p:spPr>
        <p:txBody>
          <a:bodyPr wrap="square" lIns="0" tIns="0" rIns="0" bIns="0" rtlCol="0" anchor="ctr"/>
          <a:lstStyle/>
          <a:p>
            <a:pPr indent="0" marL="0">
              <a:buNone/>
            </a:pPr>
            <a:r>
              <a:rPr lang="en-US" sz="1400" b="1" dirty="0">
                <a:solidFill>
                  <a:srgbClr val="0070C0"/>
                </a:solidFill>
                <a:latin typeface="Arial" pitchFamily="34" charset="0"/>
                <a:ea typeface="Arial" pitchFamily="34" charset="-122"/>
                <a:cs typeface="Arial" pitchFamily="34" charset="-120"/>
              </a:rPr>
              <a:t>What the user sees</a:t>
            </a:r>
            <a:endParaRPr lang="en-US" sz="1400" dirty="0"/>
          </a:p>
        </p:txBody>
      </p:sp>
      <p:sp>
        <p:nvSpPr>
          <p:cNvPr id="13" name="Text 9"/>
          <p:cNvSpPr txBox="1"/>
          <p:nvPr/>
        </p:nvSpPr>
        <p:spPr>
          <a:xfrm>
            <a:off x="6117336" y="4425696"/>
            <a:ext cx="3191256" cy="219456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Headline verdict, e.g. "Fresh Tomato"</a:t>
            </a:r>
            <a:endParaRPr lang="en-US" sz="1200" dirty="0"/>
          </a:p>
          <a:p>
            <a:pPr marL="342900" indent="-342900">
              <a:lnSpc>
                <a:spcPts val="17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Produce and freshness confidence</a:t>
            </a:r>
            <a:endParaRPr lang="en-US" sz="1200" dirty="0"/>
          </a:p>
          <a:p>
            <a:pPr marL="342900" indent="-342900">
              <a:lnSpc>
                <a:spcPts val="17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Top-3 identification scores</a:t>
            </a:r>
            <a:endParaRPr lang="en-US" sz="1200" dirty="0"/>
          </a:p>
          <a:p>
            <a:pPr marL="342900" indent="-342900">
              <a:lnSpc>
                <a:spcPts val="17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Full 5-level freshness distribution</a:t>
            </a:r>
            <a:endParaRPr lang="en-US" sz="1200" dirty="0"/>
          </a:p>
          <a:p>
            <a:pPr marL="342900" indent="-342900">
              <a:lnSpc>
                <a:spcPts val="17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Estimated shelf life (5-7 days → discard)</a:t>
            </a:r>
            <a:endParaRPr lang="en-US" sz="1200" dirty="0"/>
          </a:p>
          <a:p>
            <a:pPr marL="342900" indent="-342900">
              <a:lnSpc>
                <a:spcPts val="17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Gatekeeper's own top ImageNet label</a:t>
            </a:r>
            <a:endParaRPr lang="en-US" sz="1200" dirty="0"/>
          </a:p>
          <a:p>
            <a:pPr marL="342900" indent="-342900">
              <a:lnSpc>
                <a:spcPts val="17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Inference latency in milliseconds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CONCLUSION</a:t>
            </a:r>
            <a:endParaRPr lang="en-US" sz="3000" dirty="0"/>
          </a:p>
        </p:txBody>
      </p:sp>
      <p:sp>
        <p:nvSpPr>
          <p:cNvPr id="3" name="Shape 1"/>
          <p:cNvSpPr/>
          <p:nvPr/>
        </p:nvSpPr>
        <p:spPr>
          <a:xfrm>
            <a:off x="566928" y="1325880"/>
            <a:ext cx="8942832" cy="1371600"/>
          </a:xfrm>
          <a:prstGeom prst="roundRect">
            <a:avLst>
              <a:gd name="adj" fmla="val 5333"/>
            </a:avLst>
          </a:prstGeom>
          <a:solidFill>
            <a:srgbClr val="EAF3FB"/>
          </a:solidFill>
          <a:ln w="12700">
            <a:solidFill>
              <a:srgbClr val="D6DEE8"/>
            </a:solidFill>
            <a:prstDash val="solid"/>
          </a:ln>
        </p:spPr>
      </p:sp>
      <p:sp>
        <p:nvSpPr>
          <p:cNvPr id="4" name="Text 2"/>
          <p:cNvSpPr txBox="1"/>
          <p:nvPr/>
        </p:nvSpPr>
        <p:spPr>
          <a:xfrm>
            <a:off x="822960" y="1481328"/>
            <a:ext cx="8430768" cy="1097280"/>
          </a:xfrm>
          <a:prstGeom prst="rect">
            <a:avLst/>
          </a:prstGeom>
          <a:noFill/>
          <a:ln/>
        </p:spPr>
        <p:txBody>
          <a:bodyPr wrap="square" lIns="0" tIns="0" rIns="0" bIns="0" rtlCol="0" anchor="ctr"/>
          <a:lstStyle/>
          <a:p>
            <a:pPr indent="0" marL="0">
              <a:lnSpc>
                <a:spcPts val="2300"/>
              </a:lnSpc>
              <a:buNone/>
            </a:pPr>
            <a:r>
              <a:rPr lang="en-US" sz="1450" dirty="0">
                <a:solidFill>
                  <a:srgbClr val="1A1A1A"/>
                </a:solidFill>
                <a:latin typeface="Arial" pitchFamily="34" charset="0"/>
                <a:ea typeface="Arial" pitchFamily="34" charset="-122"/>
                <a:cs typeface="Arial" pitchFamily="34" charset="-120"/>
              </a:rPr>
              <a:t>Fresh Vision delivers an end-to-end, browser-accessible produce quality analyser: three cooperating MobileNetV2 models turn one photograph into an identified item, a five-level freshness grade, a confidence breakdown and a shelf-life estimate — in under a second on commodity hardware.</a:t>
            </a:r>
            <a:endParaRPr lang="en-US" sz="1450" dirty="0"/>
          </a:p>
        </p:txBody>
      </p:sp>
      <p:sp>
        <p:nvSpPr>
          <p:cNvPr id="5" name="Shape 3"/>
          <p:cNvSpPr/>
          <p:nvPr/>
        </p:nvSpPr>
        <p:spPr>
          <a:xfrm>
            <a:off x="566928" y="2880360"/>
            <a:ext cx="4315968" cy="3063240"/>
          </a:xfrm>
          <a:prstGeom prst="roundRect">
            <a:avLst>
              <a:gd name="adj" fmla="val 2388"/>
            </a:avLst>
          </a:prstGeom>
          <a:solidFill>
            <a:srgbClr val="E7F5EC"/>
          </a:solidFill>
          <a:ln w="12700">
            <a:solidFill>
              <a:srgbClr val="1F8A4C"/>
            </a:solidFill>
            <a:prstDash val="solid"/>
          </a:ln>
        </p:spPr>
      </p:sp>
      <p:sp>
        <p:nvSpPr>
          <p:cNvPr id="6" name="Shape 4"/>
          <p:cNvSpPr/>
          <p:nvPr/>
        </p:nvSpPr>
        <p:spPr>
          <a:xfrm>
            <a:off x="804672" y="3063240"/>
            <a:ext cx="347472" cy="347472"/>
          </a:xfrm>
          <a:prstGeom prst="ellipse">
            <a:avLst/>
          </a:prstGeom>
          <a:solidFill>
            <a:srgbClr val="1F8A4C"/>
          </a:solidFill>
          <a:ln w="12700">
            <a:solidFill>
              <a:srgbClr val="1F8A4C"/>
            </a:solidFill>
            <a:prstDash val="solid"/>
          </a:ln>
        </p:spPr>
      </p:sp>
      <p:sp>
        <p:nvSpPr>
          <p:cNvPr id="7" name="Text 5"/>
          <p:cNvSpPr txBox="1"/>
          <p:nvPr/>
        </p:nvSpPr>
        <p:spPr>
          <a:xfrm>
            <a:off x="1261872" y="3063240"/>
            <a:ext cx="3401568" cy="347472"/>
          </a:xfrm>
          <a:prstGeom prst="rect">
            <a:avLst/>
          </a:prstGeom>
          <a:noFill/>
          <a:ln/>
        </p:spPr>
        <p:txBody>
          <a:bodyPr wrap="square" lIns="0" tIns="0" rIns="0" bIns="0" rtlCol="0" anchor="ctr"/>
          <a:lstStyle/>
          <a:p>
            <a:pPr indent="0" marL="0">
              <a:buNone/>
            </a:pPr>
            <a:r>
              <a:rPr lang="en-US" sz="1600" b="1" dirty="0">
                <a:solidFill>
                  <a:srgbClr val="1F8A4C"/>
                </a:solidFill>
                <a:latin typeface="Arial" pitchFamily="34" charset="0"/>
                <a:ea typeface="Arial" pitchFamily="34" charset="-122"/>
                <a:cs typeface="Arial" pitchFamily="34" charset="-120"/>
              </a:rPr>
              <a:t>What worked</a:t>
            </a:r>
            <a:endParaRPr lang="en-US" sz="1600" dirty="0"/>
          </a:p>
        </p:txBody>
      </p:sp>
      <p:sp>
        <p:nvSpPr>
          <p:cNvPr id="8" name="Text 6"/>
          <p:cNvSpPr txBox="1"/>
          <p:nvPr/>
        </p:nvSpPr>
        <p:spPr>
          <a:xfrm>
            <a:off x="841248" y="3584448"/>
            <a:ext cx="3767328" cy="2194560"/>
          </a:xfrm>
          <a:prstGeom prst="rect">
            <a:avLst/>
          </a:prstGeom>
          <a:noFill/>
          <a:ln/>
        </p:spPr>
        <p:txBody>
          <a:bodyPr wrap="square" lIns="0" tIns="0" rIns="0" bIns="0" rtlCol="0" anchor="ctr"/>
          <a:lstStyle/>
          <a:p>
            <a:pPr marL="342900" indent="-342900">
              <a:lnSpc>
                <a:spcPts val="1800"/>
              </a:lnSpc>
              <a:spcAft>
                <a:spcPts val="900"/>
              </a:spcAft>
              <a:buSzPct val="100000"/>
              <a:buChar char="•"/>
            </a:pPr>
            <a:r>
              <a:rPr lang="en-US" sz="1250" dirty="0">
                <a:solidFill>
                  <a:srgbClr val="1A1A1A"/>
                </a:solidFill>
                <a:latin typeface="Arial" pitchFamily="34" charset="0"/>
                <a:ea typeface="Arial" pitchFamily="34" charset="-122"/>
                <a:cs typeface="Arial" pitchFamily="34" charset="-120"/>
              </a:rPr>
              <a:t>Transfer learning reached 80.4% validation accuracy on a small dataset</a:t>
            </a:r>
            <a:endParaRPr lang="en-US" sz="1250" dirty="0"/>
          </a:p>
          <a:p>
            <a:pPr marL="342900" indent="-342900">
              <a:lnSpc>
                <a:spcPts val="1800"/>
              </a:lnSpc>
              <a:spcAft>
                <a:spcPts val="900"/>
              </a:spcAft>
              <a:buSzPct val="100000"/>
              <a:buChar char="•"/>
            </a:pPr>
            <a:r>
              <a:rPr lang="en-US" sz="1250" dirty="0">
                <a:solidFill>
                  <a:srgbClr val="1A1A1A"/>
                </a:solidFill>
                <a:latin typeface="Arial" pitchFamily="34" charset="0"/>
                <a:ea typeface="Arial" pitchFamily="34" charset="-122"/>
                <a:cs typeface="Arial" pitchFamily="34" charset="-120"/>
              </a:rPr>
              <a:t>HSV pseudo-labelling produced five levels with zero manual annotation</a:t>
            </a:r>
            <a:endParaRPr lang="en-US" sz="1250" dirty="0"/>
          </a:p>
          <a:p>
            <a:pPr marL="342900" indent="-342900">
              <a:lnSpc>
                <a:spcPts val="1800"/>
              </a:lnSpc>
              <a:spcAft>
                <a:spcPts val="900"/>
              </a:spcAft>
              <a:buSzPct val="100000"/>
              <a:buChar char="•"/>
            </a:pPr>
            <a:r>
              <a:rPr lang="en-US" sz="1250" dirty="0">
                <a:solidFill>
                  <a:srgbClr val="1A1A1A"/>
                </a:solidFill>
                <a:latin typeface="Arial" pitchFamily="34" charset="0"/>
                <a:ea typeface="Arial" pitchFamily="34" charset="-122"/>
                <a:cs typeface="Arial" pitchFamily="34" charset="-120"/>
              </a:rPr>
              <a:t>The gatekeeper stops confident nonsense on out-of-distribution photos</a:t>
            </a:r>
            <a:endParaRPr lang="en-US" sz="1250" dirty="0"/>
          </a:p>
          <a:p>
            <a:pPr marL="342900" indent="-342900">
              <a:lnSpc>
                <a:spcPts val="1800"/>
              </a:lnSpc>
              <a:spcAft>
                <a:spcPts val="900"/>
              </a:spcAft>
              <a:buSzPct val="100000"/>
              <a:buChar char="•"/>
            </a:pPr>
            <a:r>
              <a:rPr lang="en-US" sz="1250" dirty="0">
                <a:solidFill>
                  <a:srgbClr val="1A1A1A"/>
                </a:solidFill>
                <a:latin typeface="Arial" pitchFamily="34" charset="0"/>
                <a:ea typeface="Arial" pitchFamily="34" charset="-122"/>
                <a:cs typeface="Arial" pitchFamily="34" charset="-120"/>
              </a:rPr>
              <a:t>One-port deployment: the API serves the built React UI directly</a:t>
            </a:r>
            <a:endParaRPr lang="en-US" sz="1250" dirty="0"/>
          </a:p>
        </p:txBody>
      </p:sp>
      <p:sp>
        <p:nvSpPr>
          <p:cNvPr id="9" name="Shape 7"/>
          <p:cNvSpPr/>
          <p:nvPr/>
        </p:nvSpPr>
        <p:spPr>
          <a:xfrm>
            <a:off x="5193792" y="2880360"/>
            <a:ext cx="4315968" cy="3063240"/>
          </a:xfrm>
          <a:prstGeom prst="roundRect">
            <a:avLst>
              <a:gd name="adj" fmla="val 2388"/>
            </a:avLst>
          </a:prstGeom>
          <a:solidFill>
            <a:srgbClr val="FCF1E0"/>
          </a:solidFill>
          <a:ln w="12700">
            <a:solidFill>
              <a:srgbClr val="C77700"/>
            </a:solidFill>
            <a:prstDash val="solid"/>
          </a:ln>
        </p:spPr>
      </p:sp>
      <p:sp>
        <p:nvSpPr>
          <p:cNvPr id="10" name="Shape 8"/>
          <p:cNvSpPr/>
          <p:nvPr/>
        </p:nvSpPr>
        <p:spPr>
          <a:xfrm>
            <a:off x="5431536" y="3063240"/>
            <a:ext cx="347472" cy="347472"/>
          </a:xfrm>
          <a:prstGeom prst="ellipse">
            <a:avLst/>
          </a:prstGeom>
          <a:solidFill>
            <a:srgbClr val="C77700"/>
          </a:solidFill>
          <a:ln w="12700">
            <a:solidFill>
              <a:srgbClr val="C77700"/>
            </a:solidFill>
            <a:prstDash val="solid"/>
          </a:ln>
        </p:spPr>
      </p:sp>
      <p:sp>
        <p:nvSpPr>
          <p:cNvPr id="11" name="Text 9"/>
          <p:cNvSpPr txBox="1"/>
          <p:nvPr/>
        </p:nvSpPr>
        <p:spPr>
          <a:xfrm>
            <a:off x="5888736" y="3063240"/>
            <a:ext cx="3401568" cy="347472"/>
          </a:xfrm>
          <a:prstGeom prst="rect">
            <a:avLst/>
          </a:prstGeom>
          <a:noFill/>
          <a:ln/>
        </p:spPr>
        <p:txBody>
          <a:bodyPr wrap="square" lIns="0" tIns="0" rIns="0" bIns="0" rtlCol="0" anchor="ctr"/>
          <a:lstStyle/>
          <a:p>
            <a:pPr indent="0" marL="0">
              <a:buNone/>
            </a:pPr>
            <a:r>
              <a:rPr lang="en-US" sz="1600" b="1" dirty="0">
                <a:solidFill>
                  <a:srgbClr val="C77700"/>
                </a:solidFill>
                <a:latin typeface="Arial" pitchFamily="34" charset="0"/>
                <a:ea typeface="Arial" pitchFamily="34" charset="-122"/>
                <a:cs typeface="Arial" pitchFamily="34" charset="-120"/>
              </a:rPr>
              <a:t>Limitations &amp; next steps</a:t>
            </a:r>
            <a:endParaRPr lang="en-US" sz="1600" dirty="0"/>
          </a:p>
        </p:txBody>
      </p:sp>
      <p:sp>
        <p:nvSpPr>
          <p:cNvPr id="12" name="Text 10"/>
          <p:cNvSpPr txBox="1"/>
          <p:nvPr/>
        </p:nvSpPr>
        <p:spPr>
          <a:xfrm>
            <a:off x="5468112" y="3584448"/>
            <a:ext cx="3767328" cy="2194560"/>
          </a:xfrm>
          <a:prstGeom prst="rect">
            <a:avLst/>
          </a:prstGeom>
          <a:noFill/>
          <a:ln/>
        </p:spPr>
        <p:txBody>
          <a:bodyPr wrap="square" lIns="0" tIns="0" rIns="0" bIns="0" rtlCol="0" anchor="ctr"/>
          <a:lstStyle/>
          <a:p>
            <a:pPr marL="342900" indent="-342900">
              <a:lnSpc>
                <a:spcPts val="1800"/>
              </a:lnSpc>
              <a:spcAft>
                <a:spcPts val="900"/>
              </a:spcAft>
              <a:buSzPct val="100000"/>
              <a:buChar char="•"/>
            </a:pPr>
            <a:r>
              <a:rPr lang="en-US" sz="1250" dirty="0">
                <a:solidFill>
                  <a:srgbClr val="1A1A1A"/>
                </a:solidFill>
                <a:latin typeface="Arial" pitchFamily="34" charset="0"/>
                <a:ea typeface="Arial" pitchFamily="34" charset="-122"/>
                <a:cs typeface="Arial" pitchFamily="34" charset="-120"/>
              </a:rPr>
              <a:t>Pseudo-labels are heuristic, not ground truth — accuracy is bounded by them</a:t>
            </a:r>
            <a:endParaRPr lang="en-US" sz="1250" dirty="0"/>
          </a:p>
          <a:p>
            <a:pPr marL="342900" indent="-342900">
              <a:lnSpc>
                <a:spcPts val="1800"/>
              </a:lnSpc>
              <a:spcAft>
                <a:spcPts val="900"/>
              </a:spcAft>
              <a:buSzPct val="100000"/>
              <a:buChar char="•"/>
            </a:pPr>
            <a:r>
              <a:rPr lang="en-US" sz="1250" dirty="0">
                <a:solidFill>
                  <a:srgbClr val="1A1A1A"/>
                </a:solidFill>
                <a:latin typeface="Arial" pitchFamily="34" charset="0"/>
                <a:ea typeface="Arial" pitchFamily="34" charset="-122"/>
                <a:cs typeface="Arial" pitchFamily="34" charset="-120"/>
              </a:rPr>
              <a:t>Calibration multipliers are hand-tuned; class weights during retraining are the proper fix</a:t>
            </a:r>
            <a:endParaRPr lang="en-US" sz="1250" dirty="0"/>
          </a:p>
          <a:p>
            <a:pPr marL="342900" indent="-342900">
              <a:lnSpc>
                <a:spcPts val="1800"/>
              </a:lnSpc>
              <a:spcAft>
                <a:spcPts val="900"/>
              </a:spcAft>
              <a:buSzPct val="100000"/>
              <a:buChar char="•"/>
            </a:pPr>
            <a:r>
              <a:rPr lang="en-US" sz="1250" dirty="0">
                <a:solidFill>
                  <a:srgbClr val="1A1A1A"/>
                </a:solidFill>
                <a:latin typeface="Arial" pitchFamily="34" charset="0"/>
                <a:ea typeface="Arial" pitchFamily="34" charset="-122"/>
                <a:cs typeface="Arial" pitchFamily="34" charset="-120"/>
              </a:rPr>
              <a:t>The keyword-based gatekeeper can be replaced with a trained binary produce detector</a:t>
            </a:r>
            <a:endParaRPr lang="en-US" sz="1250" dirty="0"/>
          </a:p>
          <a:p>
            <a:pPr marL="342900" indent="-342900">
              <a:lnSpc>
                <a:spcPts val="1800"/>
              </a:lnSpc>
              <a:spcAft>
                <a:spcPts val="900"/>
              </a:spcAft>
              <a:buSzPct val="100000"/>
              <a:buChar char="•"/>
            </a:pPr>
            <a:r>
              <a:rPr lang="en-US" sz="1250" dirty="0">
                <a:solidFill>
                  <a:srgbClr val="1A1A1A"/>
                </a:solidFill>
                <a:latin typeface="Arial" pitchFamily="34" charset="0"/>
                <a:ea typeface="Arial" pitchFamily="34" charset="-122"/>
                <a:cs typeface="Arial" pitchFamily="34" charset="-120"/>
              </a:rPr>
              <a:t>Data augmentation and per-class metrics are the next accuracy levers</a:t>
            </a:r>
            <a:endParaRPr lang="en-US" sz="1250" dirty="0"/>
          </a:p>
        </p:txBody>
      </p:sp>
      <p:sp>
        <p:nvSpPr>
          <p:cNvPr id="13" name="Shape 11"/>
          <p:cNvSpPr/>
          <p:nvPr/>
        </p:nvSpPr>
        <p:spPr>
          <a:xfrm>
            <a:off x="566928" y="6126480"/>
            <a:ext cx="8942832" cy="685800"/>
          </a:xfrm>
          <a:prstGeom prst="roundRect">
            <a:avLst>
              <a:gd name="adj" fmla="val 10667"/>
            </a:avLst>
          </a:prstGeom>
          <a:solidFill>
            <a:srgbClr val="FFFFFF"/>
          </a:solidFill>
          <a:ln w="12700">
            <a:solidFill>
              <a:srgbClr val="D6DEE8"/>
            </a:solidFill>
            <a:prstDash val="solid"/>
          </a:ln>
        </p:spPr>
      </p:sp>
      <p:sp>
        <p:nvSpPr>
          <p:cNvPr id="14" name="Text 12"/>
          <p:cNvSpPr txBox="1"/>
          <p:nvPr/>
        </p:nvSpPr>
        <p:spPr>
          <a:xfrm>
            <a:off x="822960" y="6217920"/>
            <a:ext cx="8430768" cy="530352"/>
          </a:xfrm>
          <a:prstGeom prst="rect">
            <a:avLst/>
          </a:prstGeom>
          <a:noFill/>
          <a:ln/>
        </p:spPr>
        <p:txBody>
          <a:bodyPr wrap="square" lIns="0" tIns="0" rIns="0" bIns="0" rtlCol="0" anchor="ctr"/>
          <a:lstStyle/>
          <a:p>
            <a:pPr indent="0" marL="0">
              <a:lnSpc>
                <a:spcPts val="1800"/>
              </a:lnSpc>
              <a:buNone/>
            </a:pPr>
            <a:r>
              <a:rPr lang="en-US" sz="1250" b="1" dirty="0">
                <a:solidFill>
                  <a:srgbClr val="0070C0"/>
                </a:solidFill>
                <a:latin typeface="Arial" pitchFamily="34" charset="0"/>
                <a:ea typeface="Arial" pitchFamily="34" charset="-122"/>
                <a:cs typeface="Arial" pitchFamily="34" charset="-120"/>
              </a:rPr>
              <a:t>Impact:  </a:t>
            </a:r>
            <a:pPr indent="0" marL="0">
              <a:lnSpc>
                <a:spcPts val="1800"/>
              </a:lnSpc>
              <a:buNone/>
            </a:pPr>
            <a:r>
              <a:rPr lang="en-US" sz="1250" dirty="0">
                <a:solidFill>
                  <a:srgbClr val="1A1A1A"/>
                </a:solidFill>
                <a:latin typeface="Arial" pitchFamily="34" charset="0"/>
                <a:ea typeface="Arial" pitchFamily="34" charset="-122"/>
                <a:cs typeface="Arial" pitchFamily="34" charset="-120"/>
              </a:rPr>
              <a:t>the same pipeline generalises to warehouse intake checks, retail shelf audits and cold-chain monitoring — anywhere produce is currently graded by eye.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LEARNING OUTCOMES</a:t>
            </a:r>
            <a:endParaRPr lang="en-US" sz="3000" dirty="0"/>
          </a:p>
        </p:txBody>
      </p:sp>
      <p:sp>
        <p:nvSpPr>
          <p:cNvPr id="3" name="Shape 1"/>
          <p:cNvSpPr/>
          <p:nvPr/>
        </p:nvSpPr>
        <p:spPr>
          <a:xfrm>
            <a:off x="566928" y="1371600"/>
            <a:ext cx="4315968" cy="1627632"/>
          </a:xfrm>
          <a:prstGeom prst="roundRect">
            <a:avLst>
              <a:gd name="adj" fmla="val 4494"/>
            </a:avLst>
          </a:prstGeom>
          <a:solidFill>
            <a:srgbClr val="FFFFFF"/>
          </a:solidFill>
          <a:ln w="12700">
            <a:solidFill>
              <a:srgbClr val="D6DEE8"/>
            </a:solidFill>
            <a:prstDash val="solid"/>
          </a:ln>
        </p:spPr>
      </p:sp>
      <p:sp>
        <p:nvSpPr>
          <p:cNvPr id="4" name="Shape 2"/>
          <p:cNvSpPr/>
          <p:nvPr/>
        </p:nvSpPr>
        <p:spPr>
          <a:xfrm>
            <a:off x="804672" y="1609344"/>
            <a:ext cx="347472" cy="347472"/>
          </a:xfrm>
          <a:prstGeom prst="ellipse">
            <a:avLst/>
          </a:prstGeom>
          <a:solidFill>
            <a:srgbClr val="0070C0"/>
          </a:solidFill>
          <a:ln w="12700">
            <a:solidFill>
              <a:srgbClr val="0070C0"/>
            </a:solidFill>
            <a:prstDash val="solid"/>
          </a:ln>
        </p:spPr>
      </p:sp>
      <p:sp>
        <p:nvSpPr>
          <p:cNvPr id="5" name="Text 3"/>
          <p:cNvSpPr txBox="1"/>
          <p:nvPr/>
        </p:nvSpPr>
        <p:spPr>
          <a:xfrm>
            <a:off x="804672" y="160934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280160" y="1609344"/>
            <a:ext cx="3383280" cy="347472"/>
          </a:xfrm>
          <a:prstGeom prst="rect">
            <a:avLst/>
          </a:prstGeom>
          <a:noFill/>
          <a:ln/>
        </p:spPr>
        <p:txBody>
          <a:bodyPr wrap="square" lIns="0" tIns="0" rIns="0" bIns="0" rtlCol="0" anchor="ctr"/>
          <a:lstStyle/>
          <a:p>
            <a:pPr indent="0" marL="0">
              <a:buNone/>
            </a:pPr>
            <a:r>
              <a:rPr lang="en-US" sz="1500" b="1" dirty="0">
                <a:solidFill>
                  <a:srgbClr val="0070C0"/>
                </a:solidFill>
                <a:latin typeface="Arial" pitchFamily="34" charset="0"/>
                <a:ea typeface="Arial" pitchFamily="34" charset="-122"/>
                <a:cs typeface="Arial" pitchFamily="34" charset="-120"/>
              </a:rPr>
              <a:t>Deep learning in practice</a:t>
            </a:r>
            <a:endParaRPr lang="en-US" sz="1500" dirty="0"/>
          </a:p>
        </p:txBody>
      </p:sp>
      <p:sp>
        <p:nvSpPr>
          <p:cNvPr id="7" name="Text 5"/>
          <p:cNvSpPr txBox="1"/>
          <p:nvPr/>
        </p:nvSpPr>
        <p:spPr>
          <a:xfrm>
            <a:off x="841248" y="2084832"/>
            <a:ext cx="3767328" cy="82296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Arial" pitchFamily="34" charset="0"/>
                <a:ea typeface="Arial" pitchFamily="34" charset="-122"/>
                <a:cs typeface="Arial" pitchFamily="34" charset="-120"/>
              </a:rPr>
              <a:t>Built and trained CNN classifiers with Keras — transfer learning, frozen vs. unfrozen backbones, dropout regularisation and learning-rate choice for fine-tuning.</a:t>
            </a:r>
            <a:endParaRPr lang="en-US" sz="1200" dirty="0"/>
          </a:p>
        </p:txBody>
      </p:sp>
      <p:sp>
        <p:nvSpPr>
          <p:cNvPr id="8" name="Shape 6"/>
          <p:cNvSpPr/>
          <p:nvPr/>
        </p:nvSpPr>
        <p:spPr>
          <a:xfrm>
            <a:off x="5193792" y="1371600"/>
            <a:ext cx="4315968" cy="1627632"/>
          </a:xfrm>
          <a:prstGeom prst="roundRect">
            <a:avLst>
              <a:gd name="adj" fmla="val 4494"/>
            </a:avLst>
          </a:prstGeom>
          <a:solidFill>
            <a:srgbClr val="FFFFFF"/>
          </a:solidFill>
          <a:ln w="12700">
            <a:solidFill>
              <a:srgbClr val="D6DEE8"/>
            </a:solidFill>
            <a:prstDash val="solid"/>
          </a:ln>
        </p:spPr>
      </p:sp>
      <p:sp>
        <p:nvSpPr>
          <p:cNvPr id="9" name="Shape 7"/>
          <p:cNvSpPr/>
          <p:nvPr/>
        </p:nvSpPr>
        <p:spPr>
          <a:xfrm>
            <a:off x="5431536" y="1609344"/>
            <a:ext cx="347472" cy="347472"/>
          </a:xfrm>
          <a:prstGeom prst="ellipse">
            <a:avLst/>
          </a:prstGeom>
          <a:solidFill>
            <a:srgbClr val="1F8A4C"/>
          </a:solidFill>
          <a:ln w="12700">
            <a:solidFill>
              <a:srgbClr val="1F8A4C"/>
            </a:solidFill>
            <a:prstDash val="solid"/>
          </a:ln>
        </p:spPr>
      </p:sp>
      <p:sp>
        <p:nvSpPr>
          <p:cNvPr id="10" name="Text 8"/>
          <p:cNvSpPr txBox="1"/>
          <p:nvPr/>
        </p:nvSpPr>
        <p:spPr>
          <a:xfrm>
            <a:off x="5431536" y="160934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5907024" y="1609344"/>
            <a:ext cx="3383280" cy="347472"/>
          </a:xfrm>
          <a:prstGeom prst="rect">
            <a:avLst/>
          </a:prstGeom>
          <a:noFill/>
          <a:ln/>
        </p:spPr>
        <p:txBody>
          <a:bodyPr wrap="square" lIns="0" tIns="0" rIns="0" bIns="0" rtlCol="0" anchor="ctr"/>
          <a:lstStyle/>
          <a:p>
            <a:pPr indent="0" marL="0">
              <a:buNone/>
            </a:pPr>
            <a:r>
              <a:rPr lang="en-US" sz="1500" b="1" dirty="0">
                <a:solidFill>
                  <a:srgbClr val="1F8A4C"/>
                </a:solidFill>
                <a:latin typeface="Arial" pitchFamily="34" charset="0"/>
                <a:ea typeface="Arial" pitchFamily="34" charset="-122"/>
                <a:cs typeface="Arial" pitchFamily="34" charset="-120"/>
              </a:rPr>
              <a:t>Working around missing labels</a:t>
            </a:r>
            <a:endParaRPr lang="en-US" sz="1500" dirty="0"/>
          </a:p>
        </p:txBody>
      </p:sp>
      <p:sp>
        <p:nvSpPr>
          <p:cNvPr id="12" name="Text 10"/>
          <p:cNvSpPr txBox="1"/>
          <p:nvPr/>
        </p:nvSpPr>
        <p:spPr>
          <a:xfrm>
            <a:off x="5468112" y="2084832"/>
            <a:ext cx="3767328" cy="82296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Arial" pitchFamily="34" charset="0"/>
                <a:ea typeface="Arial" pitchFamily="34" charset="-122"/>
                <a:cs typeface="Arial" pitchFamily="34" charset="-120"/>
              </a:rPr>
              <a:t>Learned that data problems are often solved before modelling: classical HSV computer vision generated the five-level labels that supervised learning needed.</a:t>
            </a:r>
            <a:endParaRPr lang="en-US" sz="1200" dirty="0"/>
          </a:p>
        </p:txBody>
      </p:sp>
      <p:sp>
        <p:nvSpPr>
          <p:cNvPr id="13" name="Shape 11"/>
          <p:cNvSpPr/>
          <p:nvPr/>
        </p:nvSpPr>
        <p:spPr>
          <a:xfrm>
            <a:off x="566928" y="3200400"/>
            <a:ext cx="4315968" cy="1627632"/>
          </a:xfrm>
          <a:prstGeom prst="roundRect">
            <a:avLst>
              <a:gd name="adj" fmla="val 4494"/>
            </a:avLst>
          </a:prstGeom>
          <a:solidFill>
            <a:srgbClr val="EAF3FB"/>
          </a:solidFill>
          <a:ln w="12700">
            <a:solidFill>
              <a:srgbClr val="D6DEE8"/>
            </a:solidFill>
            <a:prstDash val="solid"/>
          </a:ln>
        </p:spPr>
      </p:sp>
      <p:sp>
        <p:nvSpPr>
          <p:cNvPr id="14" name="Shape 12"/>
          <p:cNvSpPr/>
          <p:nvPr/>
        </p:nvSpPr>
        <p:spPr>
          <a:xfrm>
            <a:off x="804672" y="3438144"/>
            <a:ext cx="347472" cy="347472"/>
          </a:xfrm>
          <a:prstGeom prst="ellipse">
            <a:avLst/>
          </a:prstGeom>
          <a:solidFill>
            <a:srgbClr val="C77700"/>
          </a:solidFill>
          <a:ln w="12700">
            <a:solidFill>
              <a:srgbClr val="C77700"/>
            </a:solidFill>
            <a:prstDash val="solid"/>
          </a:ln>
        </p:spPr>
      </p:sp>
      <p:sp>
        <p:nvSpPr>
          <p:cNvPr id="15" name="Text 13"/>
          <p:cNvSpPr txBox="1"/>
          <p:nvPr/>
        </p:nvSpPr>
        <p:spPr>
          <a:xfrm>
            <a:off x="804672" y="343814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1280160" y="3438144"/>
            <a:ext cx="3383280" cy="347472"/>
          </a:xfrm>
          <a:prstGeom prst="rect">
            <a:avLst/>
          </a:prstGeom>
          <a:noFill/>
          <a:ln/>
        </p:spPr>
        <p:txBody>
          <a:bodyPr wrap="square" lIns="0" tIns="0" rIns="0" bIns="0" rtlCol="0" anchor="ctr"/>
          <a:lstStyle/>
          <a:p>
            <a:pPr indent="0" marL="0">
              <a:buNone/>
            </a:pPr>
            <a:r>
              <a:rPr lang="en-US" sz="1500" b="1" dirty="0">
                <a:solidFill>
                  <a:srgbClr val="C77700"/>
                </a:solidFill>
                <a:latin typeface="Arial" pitchFamily="34" charset="0"/>
                <a:ea typeface="Arial" pitchFamily="34" charset="-122"/>
                <a:cs typeface="Arial" pitchFamily="34" charset="-120"/>
              </a:rPr>
              <a:t>Model evaluation &amp; honesty</a:t>
            </a:r>
            <a:endParaRPr lang="en-US" sz="1500" dirty="0"/>
          </a:p>
        </p:txBody>
      </p:sp>
      <p:sp>
        <p:nvSpPr>
          <p:cNvPr id="17" name="Text 15"/>
          <p:cNvSpPr txBox="1"/>
          <p:nvPr/>
        </p:nvSpPr>
        <p:spPr>
          <a:xfrm>
            <a:off x="841248" y="3913632"/>
            <a:ext cx="3767328" cy="82296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Arial" pitchFamily="34" charset="0"/>
                <a:ea typeface="Arial" pitchFamily="34" charset="-122"/>
                <a:cs typeface="Arial" pitchFamily="34" charset="-120"/>
              </a:rPr>
              <a:t>Read confusion matrices and per-class precision/recall instead of a single accuracy number, and recognised a systematic class bias in the raw output.</a:t>
            </a:r>
            <a:endParaRPr lang="en-US" sz="1200" dirty="0"/>
          </a:p>
        </p:txBody>
      </p:sp>
      <p:sp>
        <p:nvSpPr>
          <p:cNvPr id="18" name="Shape 16"/>
          <p:cNvSpPr/>
          <p:nvPr/>
        </p:nvSpPr>
        <p:spPr>
          <a:xfrm>
            <a:off x="5193792" y="3200400"/>
            <a:ext cx="4315968" cy="1627632"/>
          </a:xfrm>
          <a:prstGeom prst="roundRect">
            <a:avLst>
              <a:gd name="adj" fmla="val 4494"/>
            </a:avLst>
          </a:prstGeom>
          <a:solidFill>
            <a:srgbClr val="EAF3FB"/>
          </a:solidFill>
          <a:ln w="12700">
            <a:solidFill>
              <a:srgbClr val="D6DEE8"/>
            </a:solidFill>
            <a:prstDash val="solid"/>
          </a:ln>
        </p:spPr>
      </p:sp>
      <p:sp>
        <p:nvSpPr>
          <p:cNvPr id="19" name="Shape 17"/>
          <p:cNvSpPr/>
          <p:nvPr/>
        </p:nvSpPr>
        <p:spPr>
          <a:xfrm>
            <a:off x="5431536" y="3438144"/>
            <a:ext cx="347472" cy="347472"/>
          </a:xfrm>
          <a:prstGeom prst="ellipse">
            <a:avLst/>
          </a:prstGeom>
          <a:solidFill>
            <a:srgbClr val="0070C0"/>
          </a:solidFill>
          <a:ln w="12700">
            <a:solidFill>
              <a:srgbClr val="0070C0"/>
            </a:solidFill>
            <a:prstDash val="solid"/>
          </a:ln>
        </p:spPr>
      </p:sp>
      <p:sp>
        <p:nvSpPr>
          <p:cNvPr id="20" name="Text 18"/>
          <p:cNvSpPr txBox="1"/>
          <p:nvPr/>
        </p:nvSpPr>
        <p:spPr>
          <a:xfrm>
            <a:off x="5431536" y="343814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1" name="Text 19"/>
          <p:cNvSpPr txBox="1"/>
          <p:nvPr/>
        </p:nvSpPr>
        <p:spPr>
          <a:xfrm>
            <a:off x="5907024" y="3438144"/>
            <a:ext cx="3383280" cy="347472"/>
          </a:xfrm>
          <a:prstGeom prst="rect">
            <a:avLst/>
          </a:prstGeom>
          <a:noFill/>
          <a:ln/>
        </p:spPr>
        <p:txBody>
          <a:bodyPr wrap="square" lIns="0" tIns="0" rIns="0" bIns="0" rtlCol="0" anchor="ctr"/>
          <a:lstStyle/>
          <a:p>
            <a:pPr indent="0" marL="0">
              <a:buNone/>
            </a:pPr>
            <a:r>
              <a:rPr lang="en-US" sz="1500" b="1" dirty="0">
                <a:solidFill>
                  <a:srgbClr val="0070C0"/>
                </a:solidFill>
                <a:latin typeface="Arial" pitchFamily="34" charset="0"/>
                <a:ea typeface="Arial" pitchFamily="34" charset="-122"/>
                <a:cs typeface="Arial" pitchFamily="34" charset="-120"/>
              </a:rPr>
              <a:t>Designing robust ML systems</a:t>
            </a:r>
            <a:endParaRPr lang="en-US" sz="1500" dirty="0"/>
          </a:p>
        </p:txBody>
      </p:sp>
      <p:sp>
        <p:nvSpPr>
          <p:cNvPr id="22" name="Text 20"/>
          <p:cNvSpPr txBox="1"/>
          <p:nvPr/>
        </p:nvSpPr>
        <p:spPr>
          <a:xfrm>
            <a:off x="5468112" y="3913632"/>
            <a:ext cx="3767328" cy="82296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Arial" pitchFamily="34" charset="0"/>
                <a:ea typeface="Arial" pitchFamily="34" charset="-122"/>
                <a:cs typeface="Arial" pitchFamily="34" charset="-120"/>
              </a:rPr>
              <a:t>A model in production needs guard rails — an input gatekeeper and a confidence threshold turn a fragile classifier into a system that admits when it does not know.</a:t>
            </a:r>
            <a:endParaRPr lang="en-US" sz="1200" dirty="0"/>
          </a:p>
        </p:txBody>
      </p:sp>
      <p:sp>
        <p:nvSpPr>
          <p:cNvPr id="23" name="Shape 21"/>
          <p:cNvSpPr/>
          <p:nvPr/>
        </p:nvSpPr>
        <p:spPr>
          <a:xfrm>
            <a:off x="566928" y="5029200"/>
            <a:ext cx="4315968" cy="1627632"/>
          </a:xfrm>
          <a:prstGeom prst="roundRect">
            <a:avLst>
              <a:gd name="adj" fmla="val 4494"/>
            </a:avLst>
          </a:prstGeom>
          <a:solidFill>
            <a:srgbClr val="FFFFFF"/>
          </a:solidFill>
          <a:ln w="12700">
            <a:solidFill>
              <a:srgbClr val="D6DEE8"/>
            </a:solidFill>
            <a:prstDash val="solid"/>
          </a:ln>
        </p:spPr>
      </p:sp>
      <p:sp>
        <p:nvSpPr>
          <p:cNvPr id="24" name="Shape 22"/>
          <p:cNvSpPr/>
          <p:nvPr/>
        </p:nvSpPr>
        <p:spPr>
          <a:xfrm>
            <a:off x="804672" y="5266944"/>
            <a:ext cx="347472" cy="347472"/>
          </a:xfrm>
          <a:prstGeom prst="ellipse">
            <a:avLst/>
          </a:prstGeom>
          <a:solidFill>
            <a:srgbClr val="1F8A4C"/>
          </a:solidFill>
          <a:ln w="12700">
            <a:solidFill>
              <a:srgbClr val="1F8A4C"/>
            </a:solidFill>
            <a:prstDash val="solid"/>
          </a:ln>
        </p:spPr>
      </p:sp>
      <p:sp>
        <p:nvSpPr>
          <p:cNvPr id="25" name="Text 23"/>
          <p:cNvSpPr txBox="1"/>
          <p:nvPr/>
        </p:nvSpPr>
        <p:spPr>
          <a:xfrm>
            <a:off x="804672" y="526694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6" name="Text 24"/>
          <p:cNvSpPr txBox="1"/>
          <p:nvPr/>
        </p:nvSpPr>
        <p:spPr>
          <a:xfrm>
            <a:off x="1280160" y="5266944"/>
            <a:ext cx="3383280" cy="347472"/>
          </a:xfrm>
          <a:prstGeom prst="rect">
            <a:avLst/>
          </a:prstGeom>
          <a:noFill/>
          <a:ln/>
        </p:spPr>
        <p:txBody>
          <a:bodyPr wrap="square" lIns="0" tIns="0" rIns="0" bIns="0" rtlCol="0" anchor="ctr"/>
          <a:lstStyle/>
          <a:p>
            <a:pPr indent="0" marL="0">
              <a:buNone/>
            </a:pPr>
            <a:r>
              <a:rPr lang="en-US" sz="1500" b="1" dirty="0">
                <a:solidFill>
                  <a:srgbClr val="1F8A4C"/>
                </a:solidFill>
                <a:latin typeface="Arial" pitchFamily="34" charset="0"/>
                <a:ea typeface="Arial" pitchFamily="34" charset="-122"/>
                <a:cs typeface="Arial" pitchFamily="34" charset="-120"/>
              </a:rPr>
              <a:t>Full-stack deployment</a:t>
            </a:r>
            <a:endParaRPr lang="en-US" sz="1500" dirty="0"/>
          </a:p>
        </p:txBody>
      </p:sp>
      <p:sp>
        <p:nvSpPr>
          <p:cNvPr id="27" name="Text 25"/>
          <p:cNvSpPr txBox="1"/>
          <p:nvPr/>
        </p:nvSpPr>
        <p:spPr>
          <a:xfrm>
            <a:off x="841248" y="5742432"/>
            <a:ext cx="3767328" cy="82296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Arial" pitchFamily="34" charset="0"/>
                <a:ea typeface="Arial" pitchFamily="34" charset="-122"/>
                <a:cs typeface="Arial" pitchFamily="34" charset="-120"/>
              </a:rPr>
              <a:t>Wrapped the models in a FastAPI service and a React + Vite frontend; handled preprocessing parity, file limits, CORS and single-port static serving.</a:t>
            </a:r>
            <a:endParaRPr lang="en-US" sz="1200" dirty="0"/>
          </a:p>
        </p:txBody>
      </p:sp>
      <p:sp>
        <p:nvSpPr>
          <p:cNvPr id="28" name="Shape 26"/>
          <p:cNvSpPr/>
          <p:nvPr/>
        </p:nvSpPr>
        <p:spPr>
          <a:xfrm>
            <a:off x="5193792" y="5029200"/>
            <a:ext cx="4315968" cy="1627632"/>
          </a:xfrm>
          <a:prstGeom prst="roundRect">
            <a:avLst>
              <a:gd name="adj" fmla="val 4494"/>
            </a:avLst>
          </a:prstGeom>
          <a:solidFill>
            <a:srgbClr val="FFFFFF"/>
          </a:solidFill>
          <a:ln w="12700">
            <a:solidFill>
              <a:srgbClr val="D6DEE8"/>
            </a:solidFill>
            <a:prstDash val="solid"/>
          </a:ln>
        </p:spPr>
      </p:sp>
      <p:sp>
        <p:nvSpPr>
          <p:cNvPr id="29" name="Shape 27"/>
          <p:cNvSpPr/>
          <p:nvPr/>
        </p:nvSpPr>
        <p:spPr>
          <a:xfrm>
            <a:off x="5431536" y="5266944"/>
            <a:ext cx="347472" cy="347472"/>
          </a:xfrm>
          <a:prstGeom prst="ellipse">
            <a:avLst/>
          </a:prstGeom>
          <a:solidFill>
            <a:srgbClr val="C77700"/>
          </a:solidFill>
          <a:ln w="12700">
            <a:solidFill>
              <a:srgbClr val="C77700"/>
            </a:solidFill>
            <a:prstDash val="solid"/>
          </a:ln>
        </p:spPr>
      </p:sp>
      <p:sp>
        <p:nvSpPr>
          <p:cNvPr id="30" name="Text 28"/>
          <p:cNvSpPr txBox="1"/>
          <p:nvPr/>
        </p:nvSpPr>
        <p:spPr>
          <a:xfrm>
            <a:off x="5431536" y="526694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1" name="Text 29"/>
          <p:cNvSpPr txBox="1"/>
          <p:nvPr/>
        </p:nvSpPr>
        <p:spPr>
          <a:xfrm>
            <a:off x="5907024" y="5266944"/>
            <a:ext cx="3383280" cy="347472"/>
          </a:xfrm>
          <a:prstGeom prst="rect">
            <a:avLst/>
          </a:prstGeom>
          <a:noFill/>
          <a:ln/>
        </p:spPr>
        <p:txBody>
          <a:bodyPr wrap="square" lIns="0" tIns="0" rIns="0" bIns="0" rtlCol="0" anchor="ctr"/>
          <a:lstStyle/>
          <a:p>
            <a:pPr indent="0" marL="0">
              <a:buNone/>
            </a:pPr>
            <a:r>
              <a:rPr lang="en-US" sz="1500" b="1" dirty="0">
                <a:solidFill>
                  <a:srgbClr val="C77700"/>
                </a:solidFill>
                <a:latin typeface="Arial" pitchFamily="34" charset="0"/>
                <a:ea typeface="Arial" pitchFamily="34" charset="-122"/>
                <a:cs typeface="Arial" pitchFamily="34" charset="-120"/>
              </a:rPr>
              <a:t>Engineering communication</a:t>
            </a:r>
            <a:endParaRPr lang="en-US" sz="1500" dirty="0"/>
          </a:p>
        </p:txBody>
      </p:sp>
      <p:sp>
        <p:nvSpPr>
          <p:cNvPr id="32" name="Text 30"/>
          <p:cNvSpPr txBox="1"/>
          <p:nvPr/>
        </p:nvSpPr>
        <p:spPr>
          <a:xfrm>
            <a:off x="5468112" y="5742432"/>
            <a:ext cx="3767328" cy="82296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Arial" pitchFamily="34" charset="0"/>
                <a:ea typeface="Arial" pitchFamily="34" charset="-122"/>
                <a:cs typeface="Arial" pitchFamily="34" charset="-120"/>
              </a:rPr>
              <a:t>Documented architecture and trade-offs so the work is reproducible and explainable to a non-specialist audience.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8942832" cy="658368"/>
          </a:xfrm>
          <a:prstGeom prst="rect">
            <a:avLst/>
          </a:prstGeom>
          <a:noFill/>
          <a:ln/>
        </p:spPr>
        <p:txBody>
          <a:bodyPr wrap="square" lIns="0" tIns="0" rIns="0" bIns="0" rtlCol="0" anchor="ctr"/>
          <a:lstStyle/>
          <a:p>
            <a:pPr algn="ctr" indent="0" marL="0">
              <a:buNone/>
            </a:pPr>
            <a:r>
              <a:rPr lang="en-US" sz="3000" b="1" dirty="0">
                <a:solidFill>
                  <a:srgbClr val="0070C0"/>
                </a:solidFill>
                <a:latin typeface="Arial" pitchFamily="34" charset="0"/>
                <a:ea typeface="Arial" pitchFamily="34" charset="-122"/>
                <a:cs typeface="Arial" pitchFamily="34" charset="-120"/>
              </a:rPr>
              <a:t>REFERENCES</a:t>
            </a:r>
            <a:endParaRPr lang="en-US" sz="3000" dirty="0"/>
          </a:p>
        </p:txBody>
      </p:sp>
      <p:sp>
        <p:nvSpPr>
          <p:cNvPr id="3" name="Shape 1"/>
          <p:cNvSpPr/>
          <p:nvPr/>
        </p:nvSpPr>
        <p:spPr>
          <a:xfrm>
            <a:off x="566928" y="1371600"/>
            <a:ext cx="8942832" cy="676656"/>
          </a:xfrm>
          <a:prstGeom prst="roundRect">
            <a:avLst>
              <a:gd name="adj" fmla="val 10811"/>
            </a:avLst>
          </a:prstGeom>
          <a:solidFill>
            <a:srgbClr val="EAF3FB"/>
          </a:solidFill>
          <a:ln w="12700">
            <a:solidFill>
              <a:srgbClr val="D6DEE8"/>
            </a:solidFill>
            <a:prstDash val="solid"/>
          </a:ln>
        </p:spPr>
      </p:sp>
      <p:sp>
        <p:nvSpPr>
          <p:cNvPr id="4" name="Text 2"/>
          <p:cNvSpPr txBox="1"/>
          <p:nvPr/>
        </p:nvSpPr>
        <p:spPr>
          <a:xfrm>
            <a:off x="749808" y="1371600"/>
            <a:ext cx="310896" cy="676656"/>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1.</a:t>
            </a:r>
            <a:endParaRPr lang="en-US" sz="1350" dirty="0"/>
          </a:p>
        </p:txBody>
      </p:sp>
      <p:sp>
        <p:nvSpPr>
          <p:cNvPr id="5" name="Text 3"/>
          <p:cNvSpPr txBox="1"/>
          <p:nvPr/>
        </p:nvSpPr>
        <p:spPr>
          <a:xfrm>
            <a:off x="1115568" y="1371600"/>
            <a:ext cx="8211312" cy="676656"/>
          </a:xfrm>
          <a:prstGeom prst="rect">
            <a:avLst/>
          </a:prstGeom>
          <a:noFill/>
          <a:ln/>
        </p:spPr>
        <p:txBody>
          <a:bodyPr wrap="square" lIns="0" tIns="0" rIns="0" bIns="0" rtlCol="0" anchor="ctr"/>
          <a:lstStyle/>
          <a:p>
            <a:pPr indent="0" marL="0">
              <a:lnSpc>
                <a:spcPts val="1700"/>
              </a:lnSpc>
              <a:buNone/>
            </a:pPr>
            <a:r>
              <a:rPr lang="en-US" sz="1250" b="1" dirty="0">
                <a:solidFill>
                  <a:srgbClr val="1A1A1A"/>
                </a:solidFill>
                <a:latin typeface="Arial" pitchFamily="34" charset="0"/>
                <a:ea typeface="Arial" pitchFamily="34" charset="-122"/>
                <a:cs typeface="Arial" pitchFamily="34" charset="-120"/>
              </a:rPr>
              <a:t>Sandler, M., Howard, A., Zhu, M., Zhmoginov, A., Chen, L.-C. (2018).  </a:t>
            </a:r>
            <a:pPr indent="0" marL="0">
              <a:lnSpc>
                <a:spcPts val="1700"/>
              </a:lnSpc>
              <a:buNone/>
            </a:pPr>
            <a:r>
              <a:rPr lang="en-US" sz="1250" dirty="0">
                <a:solidFill>
                  <a:srgbClr val="5A6472"/>
                </a:solidFill>
                <a:latin typeface="Arial" pitchFamily="34" charset="0"/>
                <a:ea typeface="Arial" pitchFamily="34" charset="-122"/>
                <a:cs typeface="Arial" pitchFamily="34" charset="-120"/>
              </a:rPr>
              <a:t>MobileNetV2: Inverted Residuals and Linear Bottlenecks. IEEE/CVF CVPR, pp. 4510-4520.</a:t>
            </a:r>
            <a:endParaRPr lang="en-US" sz="1250" dirty="0"/>
          </a:p>
        </p:txBody>
      </p:sp>
      <p:sp>
        <p:nvSpPr>
          <p:cNvPr id="6" name="Shape 4"/>
          <p:cNvSpPr/>
          <p:nvPr/>
        </p:nvSpPr>
        <p:spPr>
          <a:xfrm>
            <a:off x="566928" y="2157984"/>
            <a:ext cx="8942832" cy="676656"/>
          </a:xfrm>
          <a:prstGeom prst="roundRect">
            <a:avLst>
              <a:gd name="adj" fmla="val 10811"/>
            </a:avLst>
          </a:prstGeom>
          <a:solidFill>
            <a:srgbClr val="FFFFFF"/>
          </a:solidFill>
          <a:ln w="12700">
            <a:solidFill>
              <a:srgbClr val="D6DEE8"/>
            </a:solidFill>
            <a:prstDash val="solid"/>
          </a:ln>
        </p:spPr>
      </p:sp>
      <p:sp>
        <p:nvSpPr>
          <p:cNvPr id="7" name="Text 5"/>
          <p:cNvSpPr txBox="1"/>
          <p:nvPr/>
        </p:nvSpPr>
        <p:spPr>
          <a:xfrm>
            <a:off x="749808" y="2157984"/>
            <a:ext cx="310896" cy="676656"/>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2.</a:t>
            </a:r>
            <a:endParaRPr lang="en-US" sz="1350" dirty="0"/>
          </a:p>
        </p:txBody>
      </p:sp>
      <p:sp>
        <p:nvSpPr>
          <p:cNvPr id="8" name="Text 6"/>
          <p:cNvSpPr txBox="1"/>
          <p:nvPr/>
        </p:nvSpPr>
        <p:spPr>
          <a:xfrm>
            <a:off x="1115568" y="2157984"/>
            <a:ext cx="8211312" cy="676656"/>
          </a:xfrm>
          <a:prstGeom prst="rect">
            <a:avLst/>
          </a:prstGeom>
          <a:noFill/>
          <a:ln/>
        </p:spPr>
        <p:txBody>
          <a:bodyPr wrap="square" lIns="0" tIns="0" rIns="0" bIns="0" rtlCol="0" anchor="ctr"/>
          <a:lstStyle/>
          <a:p>
            <a:pPr indent="0" marL="0">
              <a:lnSpc>
                <a:spcPts val="1700"/>
              </a:lnSpc>
              <a:buNone/>
            </a:pPr>
            <a:r>
              <a:rPr lang="en-US" sz="1250" b="1" dirty="0">
                <a:solidFill>
                  <a:srgbClr val="1A1A1A"/>
                </a:solidFill>
                <a:latin typeface="Arial" pitchFamily="34" charset="0"/>
                <a:ea typeface="Arial" pitchFamily="34" charset="-122"/>
                <a:cs typeface="Arial" pitchFamily="34" charset="-120"/>
              </a:rPr>
              <a:t>Deng, J., Dong, W., Socher, R., Li, L.-J., Li, K., Fei-Fei, L. (2009).  </a:t>
            </a:r>
            <a:pPr indent="0" marL="0">
              <a:lnSpc>
                <a:spcPts val="1700"/>
              </a:lnSpc>
              <a:buNone/>
            </a:pPr>
            <a:r>
              <a:rPr lang="en-US" sz="1250" dirty="0">
                <a:solidFill>
                  <a:srgbClr val="5A6472"/>
                </a:solidFill>
                <a:latin typeface="Arial" pitchFamily="34" charset="0"/>
                <a:ea typeface="Arial" pitchFamily="34" charset="-122"/>
                <a:cs typeface="Arial" pitchFamily="34" charset="-120"/>
              </a:rPr>
              <a:t>ImageNet: A Large-Scale Hierarchical Image Database. IEEE CVPR.</a:t>
            </a:r>
            <a:endParaRPr lang="en-US" sz="1250" dirty="0"/>
          </a:p>
        </p:txBody>
      </p:sp>
      <p:sp>
        <p:nvSpPr>
          <p:cNvPr id="9" name="Shape 7"/>
          <p:cNvSpPr/>
          <p:nvPr/>
        </p:nvSpPr>
        <p:spPr>
          <a:xfrm>
            <a:off x="566928" y="2944368"/>
            <a:ext cx="8942832" cy="676656"/>
          </a:xfrm>
          <a:prstGeom prst="roundRect">
            <a:avLst>
              <a:gd name="adj" fmla="val 10811"/>
            </a:avLst>
          </a:prstGeom>
          <a:solidFill>
            <a:srgbClr val="EAF3FB"/>
          </a:solidFill>
          <a:ln w="12700">
            <a:solidFill>
              <a:srgbClr val="D6DEE8"/>
            </a:solidFill>
            <a:prstDash val="solid"/>
          </a:ln>
        </p:spPr>
      </p:sp>
      <p:sp>
        <p:nvSpPr>
          <p:cNvPr id="10" name="Text 8"/>
          <p:cNvSpPr txBox="1"/>
          <p:nvPr/>
        </p:nvSpPr>
        <p:spPr>
          <a:xfrm>
            <a:off x="749808" y="2944368"/>
            <a:ext cx="310896" cy="676656"/>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3.</a:t>
            </a:r>
            <a:endParaRPr lang="en-US" sz="1350" dirty="0"/>
          </a:p>
        </p:txBody>
      </p:sp>
      <p:sp>
        <p:nvSpPr>
          <p:cNvPr id="11" name="Text 9"/>
          <p:cNvSpPr txBox="1"/>
          <p:nvPr/>
        </p:nvSpPr>
        <p:spPr>
          <a:xfrm>
            <a:off x="1115568" y="2944368"/>
            <a:ext cx="8211312" cy="676656"/>
          </a:xfrm>
          <a:prstGeom prst="rect">
            <a:avLst/>
          </a:prstGeom>
          <a:noFill/>
          <a:ln/>
        </p:spPr>
        <p:txBody>
          <a:bodyPr wrap="square" lIns="0" tIns="0" rIns="0" bIns="0" rtlCol="0" anchor="ctr"/>
          <a:lstStyle/>
          <a:p>
            <a:pPr indent="0" marL="0">
              <a:lnSpc>
                <a:spcPts val="1700"/>
              </a:lnSpc>
              <a:buNone/>
            </a:pPr>
            <a:r>
              <a:rPr lang="en-US" sz="1250" b="1" dirty="0">
                <a:solidFill>
                  <a:srgbClr val="1A1A1A"/>
                </a:solidFill>
                <a:latin typeface="Arial" pitchFamily="34" charset="0"/>
                <a:ea typeface="Arial" pitchFamily="34" charset="-122"/>
                <a:cs typeface="Arial" pitchFamily="34" charset="-120"/>
              </a:rPr>
              <a:t>Pan, S. J., Yang, Q. (2010).  </a:t>
            </a:r>
            <a:pPr indent="0" marL="0">
              <a:lnSpc>
                <a:spcPts val="1700"/>
              </a:lnSpc>
              <a:buNone/>
            </a:pPr>
            <a:r>
              <a:rPr lang="en-US" sz="1250" dirty="0">
                <a:solidFill>
                  <a:srgbClr val="5A6472"/>
                </a:solidFill>
                <a:latin typeface="Arial" pitchFamily="34" charset="0"/>
                <a:ea typeface="Arial" pitchFamily="34" charset="-122"/>
                <a:cs typeface="Arial" pitchFamily="34" charset="-120"/>
              </a:rPr>
              <a:t>A Survey on Transfer Learning. IEEE Transactions on Knowledge and Data Engineering, 22(10), 1345-1359.</a:t>
            </a:r>
            <a:endParaRPr lang="en-US" sz="1250" dirty="0"/>
          </a:p>
        </p:txBody>
      </p:sp>
      <p:sp>
        <p:nvSpPr>
          <p:cNvPr id="12" name="Shape 10"/>
          <p:cNvSpPr/>
          <p:nvPr/>
        </p:nvSpPr>
        <p:spPr>
          <a:xfrm>
            <a:off x="566928" y="3730752"/>
            <a:ext cx="8942832" cy="676656"/>
          </a:xfrm>
          <a:prstGeom prst="roundRect">
            <a:avLst>
              <a:gd name="adj" fmla="val 10811"/>
            </a:avLst>
          </a:prstGeom>
          <a:solidFill>
            <a:srgbClr val="FFFFFF"/>
          </a:solidFill>
          <a:ln w="12700">
            <a:solidFill>
              <a:srgbClr val="D6DEE8"/>
            </a:solidFill>
            <a:prstDash val="solid"/>
          </a:ln>
        </p:spPr>
      </p:sp>
      <p:sp>
        <p:nvSpPr>
          <p:cNvPr id="13" name="Text 11"/>
          <p:cNvSpPr txBox="1"/>
          <p:nvPr/>
        </p:nvSpPr>
        <p:spPr>
          <a:xfrm>
            <a:off x="749808" y="3730752"/>
            <a:ext cx="310896" cy="676656"/>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4.</a:t>
            </a:r>
            <a:endParaRPr lang="en-US" sz="1350" dirty="0"/>
          </a:p>
        </p:txBody>
      </p:sp>
      <p:sp>
        <p:nvSpPr>
          <p:cNvPr id="14" name="Text 12"/>
          <p:cNvSpPr txBox="1"/>
          <p:nvPr/>
        </p:nvSpPr>
        <p:spPr>
          <a:xfrm>
            <a:off x="1115568" y="3730752"/>
            <a:ext cx="8211312" cy="676656"/>
          </a:xfrm>
          <a:prstGeom prst="rect">
            <a:avLst/>
          </a:prstGeom>
          <a:noFill/>
          <a:ln/>
        </p:spPr>
        <p:txBody>
          <a:bodyPr wrap="square" lIns="0" tIns="0" rIns="0" bIns="0" rtlCol="0" anchor="ctr"/>
          <a:lstStyle/>
          <a:p>
            <a:pPr indent="0" marL="0">
              <a:lnSpc>
                <a:spcPts val="1700"/>
              </a:lnSpc>
              <a:buNone/>
            </a:pPr>
            <a:r>
              <a:rPr lang="en-US" sz="1250" b="1" dirty="0">
                <a:solidFill>
                  <a:srgbClr val="1A1A1A"/>
                </a:solidFill>
                <a:latin typeface="Arial" pitchFamily="34" charset="0"/>
                <a:ea typeface="Arial" pitchFamily="34" charset="-122"/>
                <a:cs typeface="Arial" pitchFamily="34" charset="-120"/>
              </a:rPr>
              <a:t>TensorFlow / Keras documentation.  </a:t>
            </a:r>
            <a:pPr indent="0" marL="0">
              <a:lnSpc>
                <a:spcPts val="1700"/>
              </a:lnSpc>
              <a:buNone/>
            </a:pPr>
            <a:r>
              <a:rPr lang="en-US" sz="1250" dirty="0">
                <a:solidFill>
                  <a:srgbClr val="5A6472"/>
                </a:solidFill>
                <a:latin typeface="Arial" pitchFamily="34" charset="0"/>
                <a:ea typeface="Arial" pitchFamily="34" charset="-122"/>
                <a:cs typeface="Arial" pitchFamily="34" charset="-120"/>
              </a:rPr>
              <a:t>Transfer learning and fine-tuning — tensorflow.org/tutorials/images/transfer_learning</a:t>
            </a:r>
            <a:endParaRPr lang="en-US" sz="1250" dirty="0"/>
          </a:p>
        </p:txBody>
      </p:sp>
      <p:sp>
        <p:nvSpPr>
          <p:cNvPr id="15" name="Shape 13"/>
          <p:cNvSpPr/>
          <p:nvPr/>
        </p:nvSpPr>
        <p:spPr>
          <a:xfrm>
            <a:off x="566928" y="4517136"/>
            <a:ext cx="8942832" cy="676656"/>
          </a:xfrm>
          <a:prstGeom prst="roundRect">
            <a:avLst>
              <a:gd name="adj" fmla="val 10811"/>
            </a:avLst>
          </a:prstGeom>
          <a:solidFill>
            <a:srgbClr val="EAF3FB"/>
          </a:solidFill>
          <a:ln w="12700">
            <a:solidFill>
              <a:srgbClr val="D6DEE8"/>
            </a:solidFill>
            <a:prstDash val="solid"/>
          </a:ln>
        </p:spPr>
      </p:sp>
      <p:sp>
        <p:nvSpPr>
          <p:cNvPr id="16" name="Text 14"/>
          <p:cNvSpPr txBox="1"/>
          <p:nvPr/>
        </p:nvSpPr>
        <p:spPr>
          <a:xfrm>
            <a:off x="749808" y="4517136"/>
            <a:ext cx="310896" cy="676656"/>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5.</a:t>
            </a:r>
            <a:endParaRPr lang="en-US" sz="1350" dirty="0"/>
          </a:p>
        </p:txBody>
      </p:sp>
      <p:sp>
        <p:nvSpPr>
          <p:cNvPr id="17" name="Text 15"/>
          <p:cNvSpPr txBox="1"/>
          <p:nvPr/>
        </p:nvSpPr>
        <p:spPr>
          <a:xfrm>
            <a:off x="1115568" y="4517136"/>
            <a:ext cx="8211312" cy="676656"/>
          </a:xfrm>
          <a:prstGeom prst="rect">
            <a:avLst/>
          </a:prstGeom>
          <a:noFill/>
          <a:ln/>
        </p:spPr>
        <p:txBody>
          <a:bodyPr wrap="square" lIns="0" tIns="0" rIns="0" bIns="0" rtlCol="0" anchor="ctr"/>
          <a:lstStyle/>
          <a:p>
            <a:pPr indent="0" marL="0">
              <a:lnSpc>
                <a:spcPts val="1700"/>
              </a:lnSpc>
              <a:buNone/>
            </a:pPr>
            <a:r>
              <a:rPr lang="en-US" sz="1250" b="1" dirty="0">
                <a:solidFill>
                  <a:srgbClr val="1A1A1A"/>
                </a:solidFill>
                <a:latin typeface="Arial" pitchFamily="34" charset="0"/>
                <a:ea typeface="Arial" pitchFamily="34" charset="-122"/>
                <a:cs typeface="Arial" pitchFamily="34" charset="-120"/>
              </a:rPr>
              <a:t>FastAPI documentation.  </a:t>
            </a:r>
            <a:pPr indent="0" marL="0">
              <a:lnSpc>
                <a:spcPts val="1700"/>
              </a:lnSpc>
              <a:buNone/>
            </a:pPr>
            <a:r>
              <a:rPr lang="en-US" sz="1250" dirty="0">
                <a:solidFill>
                  <a:srgbClr val="5A6472"/>
                </a:solidFill>
                <a:latin typeface="Arial" pitchFamily="34" charset="0"/>
                <a:ea typeface="Arial" pitchFamily="34" charset="-122"/>
                <a:cs typeface="Arial" pitchFamily="34" charset="-120"/>
              </a:rPr>
              <a:t>Modern high-performance Python web framework — fastapi.tiangolo.com</a:t>
            </a:r>
            <a:endParaRPr lang="en-US" sz="1250" dirty="0"/>
          </a:p>
        </p:txBody>
      </p:sp>
      <p:sp>
        <p:nvSpPr>
          <p:cNvPr id="18" name="Shape 16"/>
          <p:cNvSpPr/>
          <p:nvPr/>
        </p:nvSpPr>
        <p:spPr>
          <a:xfrm>
            <a:off x="566928" y="5303520"/>
            <a:ext cx="8942832" cy="676656"/>
          </a:xfrm>
          <a:prstGeom prst="roundRect">
            <a:avLst>
              <a:gd name="adj" fmla="val 10811"/>
            </a:avLst>
          </a:prstGeom>
          <a:solidFill>
            <a:srgbClr val="FFFFFF"/>
          </a:solidFill>
          <a:ln w="12700">
            <a:solidFill>
              <a:srgbClr val="D6DEE8"/>
            </a:solidFill>
            <a:prstDash val="solid"/>
          </a:ln>
        </p:spPr>
      </p:sp>
      <p:sp>
        <p:nvSpPr>
          <p:cNvPr id="19" name="Text 17"/>
          <p:cNvSpPr txBox="1"/>
          <p:nvPr/>
        </p:nvSpPr>
        <p:spPr>
          <a:xfrm>
            <a:off x="749808" y="5303520"/>
            <a:ext cx="310896" cy="676656"/>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6.</a:t>
            </a:r>
            <a:endParaRPr lang="en-US" sz="1350" dirty="0"/>
          </a:p>
        </p:txBody>
      </p:sp>
      <p:sp>
        <p:nvSpPr>
          <p:cNvPr id="20" name="Text 18"/>
          <p:cNvSpPr txBox="1"/>
          <p:nvPr/>
        </p:nvSpPr>
        <p:spPr>
          <a:xfrm>
            <a:off x="1115568" y="5303520"/>
            <a:ext cx="8211312" cy="676656"/>
          </a:xfrm>
          <a:prstGeom prst="rect">
            <a:avLst/>
          </a:prstGeom>
          <a:noFill/>
          <a:ln/>
        </p:spPr>
        <p:txBody>
          <a:bodyPr wrap="square" lIns="0" tIns="0" rIns="0" bIns="0" rtlCol="0" anchor="ctr"/>
          <a:lstStyle/>
          <a:p>
            <a:pPr indent="0" marL="0">
              <a:lnSpc>
                <a:spcPts val="1700"/>
              </a:lnSpc>
              <a:buNone/>
            </a:pPr>
            <a:r>
              <a:rPr lang="en-US" sz="1250" b="1" dirty="0">
                <a:solidFill>
                  <a:srgbClr val="1A1A1A"/>
                </a:solidFill>
                <a:latin typeface="Arial" pitchFamily="34" charset="0"/>
                <a:ea typeface="Arial" pitchFamily="34" charset="-122"/>
                <a:cs typeface="Arial" pitchFamily="34" charset="-120"/>
              </a:rPr>
              <a:t>React and Vite documentation.  </a:t>
            </a:r>
            <a:pPr indent="0" marL="0">
              <a:lnSpc>
                <a:spcPts val="1700"/>
              </a:lnSpc>
              <a:buNone/>
            </a:pPr>
            <a:r>
              <a:rPr lang="en-US" sz="1250" dirty="0">
                <a:solidFill>
                  <a:srgbClr val="5A6472"/>
                </a:solidFill>
                <a:latin typeface="Arial" pitchFamily="34" charset="0"/>
                <a:ea typeface="Arial" pitchFamily="34" charset="-122"/>
                <a:cs typeface="Arial" pitchFamily="34" charset="-120"/>
              </a:rPr>
              <a:t>react.dev  ·  vite.dev</a:t>
            </a:r>
            <a:endParaRPr lang="en-US" sz="1250" dirty="0"/>
          </a:p>
        </p:txBody>
      </p:sp>
      <p:sp>
        <p:nvSpPr>
          <p:cNvPr id="21" name="Shape 19"/>
          <p:cNvSpPr/>
          <p:nvPr/>
        </p:nvSpPr>
        <p:spPr>
          <a:xfrm>
            <a:off x="566928" y="6089904"/>
            <a:ext cx="8942832" cy="676656"/>
          </a:xfrm>
          <a:prstGeom prst="roundRect">
            <a:avLst>
              <a:gd name="adj" fmla="val 10811"/>
            </a:avLst>
          </a:prstGeom>
          <a:solidFill>
            <a:srgbClr val="EAF3FB"/>
          </a:solidFill>
          <a:ln w="12700">
            <a:solidFill>
              <a:srgbClr val="D6DEE8"/>
            </a:solidFill>
            <a:prstDash val="solid"/>
          </a:ln>
        </p:spPr>
      </p:sp>
      <p:sp>
        <p:nvSpPr>
          <p:cNvPr id="22" name="Text 20"/>
          <p:cNvSpPr txBox="1"/>
          <p:nvPr/>
        </p:nvSpPr>
        <p:spPr>
          <a:xfrm>
            <a:off x="749808" y="6089904"/>
            <a:ext cx="310896" cy="676656"/>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7.</a:t>
            </a:r>
            <a:endParaRPr lang="en-US" sz="1350" dirty="0"/>
          </a:p>
        </p:txBody>
      </p:sp>
      <p:sp>
        <p:nvSpPr>
          <p:cNvPr id="23" name="Text 21"/>
          <p:cNvSpPr txBox="1"/>
          <p:nvPr/>
        </p:nvSpPr>
        <p:spPr>
          <a:xfrm>
            <a:off x="1115568" y="6089904"/>
            <a:ext cx="8211312" cy="676656"/>
          </a:xfrm>
          <a:prstGeom prst="rect">
            <a:avLst/>
          </a:prstGeom>
          <a:noFill/>
          <a:ln/>
        </p:spPr>
        <p:txBody>
          <a:bodyPr wrap="square" lIns="0" tIns="0" rIns="0" bIns="0" rtlCol="0" anchor="ctr"/>
          <a:lstStyle/>
          <a:p>
            <a:pPr indent="0" marL="0">
              <a:lnSpc>
                <a:spcPts val="1700"/>
              </a:lnSpc>
              <a:buNone/>
            </a:pPr>
            <a:r>
              <a:rPr lang="en-US" sz="1250" b="1" dirty="0">
                <a:solidFill>
                  <a:srgbClr val="1A1A1A"/>
                </a:solidFill>
                <a:latin typeface="Arial" pitchFamily="34" charset="0"/>
                <a:ea typeface="Arial" pitchFamily="34" charset="-122"/>
                <a:cs typeface="Arial" pitchFamily="34" charset="-120"/>
              </a:rPr>
              <a:t>Fresh and Rotten Fruits/Vegetables image dataset.  </a:t>
            </a:r>
            <a:pPr indent="0" marL="0">
              <a:lnSpc>
                <a:spcPts val="1700"/>
              </a:lnSpc>
              <a:buNone/>
            </a:pPr>
            <a:r>
              <a:rPr lang="en-US" sz="1250" dirty="0">
                <a:solidFill>
                  <a:srgbClr val="5A6472"/>
                </a:solidFill>
                <a:latin typeface="Arial" pitchFamily="34" charset="0"/>
                <a:ea typeface="Arial" pitchFamily="34" charset="-122"/>
                <a:cs typeface="Arial" pitchFamily="34" charset="-120"/>
              </a:rPr>
              <a:t>Public image dataset unified into 14 produce classes with fresh/rotten subfolders.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Fresh Vision — Practice School-II</dc:title>
  <dc:subject>PptxGenJS Presentation</dc:subject>
  <dc:creator>Fresh Vision</dc:creator>
  <cp:lastModifiedBy>Fresh Vision</cp:lastModifiedBy>
  <cp:revision>1</cp:revision>
  <dcterms:created xsi:type="dcterms:W3CDTF">2026-08-31T08:25:20Z</dcterms:created>
  <dcterms:modified xsi:type="dcterms:W3CDTF">2026-08-31T08:25:20Z</dcterms:modified>
</cp:coreProperties>
</file>